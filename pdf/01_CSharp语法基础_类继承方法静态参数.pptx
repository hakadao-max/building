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今天我们用游戏角色来理解 C# 的几个核心语法。先记住一个最重要的比喻：类像角色说明书，对象是按照说明书真正创建出来的角色。后面所有内容都会围绕 Character、Player 和 enemy 逐步展开。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如果把 Character 看成一张说明书，字段回答“角色拥有什么”，方法回答“角色能做什么”。Name 和 Health 会出现在每一个角色对象里，而 TakeDamage() 和 PrintStatus() 描述可执行的行为。常见误区是把类本身当成一个已经存在的角色；实际上还要用 new 创建对象。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player 和 enemy 都由 Character 创建，但它们保存的是两套独立数据。调用 enemy.TakeDamage(10) 时，只有 enemy 的 Health 从 30 变成 20，player 仍然保持 100。这个例子帮助我们区分“同一种类型”和“同一个对象”。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访问修饰符不是为了让代码看起来完整，而是在定义类的边界。public 对外开放，private 只允许类内部访问，protected 还会把访问权留给子类。入门阶段可以优先把可变数据设为 private，再通过方法控制它如何变化。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继承表达的是“Player 是一种 Character”，所以冒号后面写父类 Character。Player 自动获得父类中允许访问的字段和方法，同时还能增加 UseItem() 这样的独有行为。构造器中的 base(health) 表示把初始化生命值的工作继续交给父类处理。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一条方法声明包含五个部分：访问修饰符、返回类型、方法名、参数列表和方法体。参数是调用者交给方法的输入，return 是方法交还给调用者的输出。把这些部分读顺之后，再长的方法声明也可以按同样顺序拆解。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void 表示方法只执行行为，不交回计算结果；bool IsAlive() 则会返回一个真假值。Heal(int amount) 先检查参数，如果 amount 小于等于零，就用 return 提前结束。这样可以让无效输入停在入口处，避免继续修改对象状态。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static 成员属于类型本身，而不是某一个对象。Mathf.Clamp() 这样的无状态工具方法很适合 static，真正只应存在一份的类型级信息也可以考虑使用。不要为了少写 new 或调用方便，就把大量可变状态和业务逻辑静态化；最后始终用“它属于实例还是属于类型”来判断。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0" y="5133975"/>
            <a:ext cx="12192000" cy="1724025"/>
          </a:xfrm>
          <a:custGeom>
            <a:avLst/>
            <a:gdLst/>
            <a:ahLst/>
            <a:cxnLst/>
            <a:rect l="l" t="t" r="r" b="b"/>
            <a:pathLst>
              <a:path w="12192000" h="1724025">
                <a:moveTo>
                  <a:pt x="0" y="257175"/>
                </a:moveTo>
                <a:cubicBezTo>
                  <a:pt x="1752600" y="66675"/>
                  <a:pt x="3314700" y="485775"/>
                  <a:pt x="4876800" y="276225"/>
                </a:cubicBezTo>
                <a:cubicBezTo>
                  <a:pt x="6838950" y="0"/>
                  <a:pt x="8667750" y="409575"/>
                  <a:pt x="12192000" y="85725"/>
                </a:cubicBezTo>
                <a:lnTo>
                  <a:pt x="12192000" y="1724025"/>
                </a:lnTo>
                <a:lnTo>
                  <a:pt x="0" y="172402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704850" y="847725"/>
            <a:ext cx="2200275" cy="142875"/>
          </a:xfrm>
          <a:custGeom>
            <a:avLst/>
            <a:gdLst/>
            <a:ahLst/>
            <a:cxnLst/>
            <a:rect l="l" t="t" r="r" b="b"/>
            <a:pathLst>
              <a:path w="2200275" h="142875">
                <a:moveTo>
                  <a:pt x="0" y="66675"/>
                </a:moveTo>
                <a:cubicBezTo>
                  <a:pt x="762000" y="0"/>
                  <a:pt x="1438275" y="142875"/>
                  <a:pt x="2200275" y="38100"/>
                </a:cubicBezTo>
              </a:path>
            </a:pathLst>
          </a:custGeom>
          <a:noFill/>
          <a:ln w="66675" cap="rnd">
            <a:solidFill>
              <a:schemeClr val="accent2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66750" y="1217930"/>
            <a:ext cx="6795425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C# 语法基础</a:t>
            </a:r>
            <a:endParaRPr lang="zh-CN" sz="69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742950" y="2657475"/>
            <a:ext cx="4114800" cy="95250"/>
          </a:xfrm>
          <a:custGeom>
            <a:avLst/>
            <a:gdLst/>
            <a:ahLst/>
            <a:cxnLst/>
            <a:rect l="l" t="t" r="r" b="b"/>
            <a:pathLst>
              <a:path w="4114800" h="95250">
                <a:moveTo>
                  <a:pt x="0" y="47625"/>
                </a:moveTo>
                <a:cubicBezTo>
                  <a:pt x="1238250" y="0"/>
                  <a:pt x="2743200" y="95250"/>
                  <a:pt x="4114800" y="19050"/>
                </a:cubicBezTo>
              </a:path>
            </a:pathLst>
          </a:custGeom>
          <a:noFill/>
          <a:ln w="28575" cap="rnd">
            <a:solidFill>
              <a:schemeClr val="accent1"/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346710"/>
            <a:ext cx="574633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类就是“对象说明书”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19506" y="1024890"/>
            <a:ext cx="607618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它同时描述对象拥有什么数据，以及能够执行什么行为。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2705100" y="1657350"/>
            <a:ext cx="5000625" cy="4343400"/>
            <a:chOff x="2705100" y="1657350"/>
            <a:chExt cx="5000625" cy="4343400"/>
          </a:xfrm>
        </p:grpSpPr>
        <p:sp>
          <p:nvSpPr>
            <p:cNvPr id="4" name="Freeform 4"/>
            <p:cNvSpPr/>
            <p:nvPr/>
          </p:nvSpPr>
          <p:spPr>
            <a:xfrm>
              <a:off x="2705100" y="1657350"/>
              <a:ext cx="5000625" cy="4343400"/>
            </a:xfrm>
            <a:custGeom>
              <a:avLst/>
              <a:gdLst/>
              <a:ahLst/>
              <a:cxnLst/>
              <a:rect l="l" t="t" r="r" b="b"/>
              <a:pathLst>
                <a:path w="5000625" h="4343400">
                  <a:moveTo>
                    <a:pt x="28575" y="104775"/>
                  </a:moveTo>
                  <a:cubicBezTo>
                    <a:pt x="1524000" y="0"/>
                    <a:pt x="3324225" y="66675"/>
                    <a:pt x="4838700" y="0"/>
                  </a:cubicBezTo>
                  <a:lnTo>
                    <a:pt x="5000625" y="4210050"/>
                  </a:lnTo>
                  <a:cubicBezTo>
                    <a:pt x="3257550" y="4324350"/>
                    <a:pt x="1562100" y="4248150"/>
                    <a:pt x="0" y="4343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2847975" y="1781175"/>
              <a:ext cx="4714875" cy="4067175"/>
            </a:xfrm>
            <a:custGeom>
              <a:avLst/>
              <a:gdLst/>
              <a:ahLst/>
              <a:cxnLst/>
              <a:rect l="l" t="t" r="r" b="b"/>
              <a:pathLst>
                <a:path w="4714875" h="4067175">
                  <a:moveTo>
                    <a:pt x="57150" y="123825"/>
                  </a:moveTo>
                  <a:cubicBezTo>
                    <a:pt x="1438275" y="0"/>
                    <a:pt x="3028950" y="76200"/>
                    <a:pt x="4610100" y="0"/>
                  </a:cubicBezTo>
                  <a:lnTo>
                    <a:pt x="4714875" y="3952875"/>
                  </a:lnTo>
                  <a:cubicBezTo>
                    <a:pt x="3048000" y="4057650"/>
                    <a:pt x="1466850" y="3981450"/>
                    <a:pt x="0" y="4067175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4067175" y="1781175"/>
              <a:ext cx="2400300" cy="533400"/>
            </a:xfrm>
            <a:custGeom>
              <a:avLst/>
              <a:gdLst/>
              <a:ahLst/>
              <a:cxnLst/>
              <a:rect l="l" t="t" r="r" b="b"/>
              <a:pathLst>
                <a:path w="2400300" h="533400">
                  <a:moveTo>
                    <a:pt x="228600" y="0"/>
                  </a:moveTo>
                  <a:lnTo>
                    <a:pt x="2171700" y="0"/>
                  </a:lnTo>
                  <a:cubicBezTo>
                    <a:pt x="2297952" y="0"/>
                    <a:pt x="2400300" y="102348"/>
                    <a:pt x="2400300" y="228600"/>
                  </a:cubicBezTo>
                  <a:lnTo>
                    <a:pt x="2400300" y="533400"/>
                  </a:lnTo>
                  <a:lnTo>
                    <a:pt x="0" y="53340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410227" y="1884045"/>
              <a:ext cx="17141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DF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Character</a:t>
              </a:r>
              <a:endParaRPr lang="en-US" sz="2400" b="1" dirty="0">
                <a:solidFill>
                  <a:srgbClr val="FFFDF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00781" y="2529840"/>
              <a:ext cx="26548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public class Character</a:t>
              </a:r>
              <a:endParaRPr lang="en-US" sz="18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00781" y="28822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{</a:t>
              </a:r>
              <a:endParaRPr lang="en-US" sz="18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05581" y="3234690"/>
              <a:ext cx="23041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public string Name;</a:t>
              </a:r>
              <a:endParaRPr lang="en-US" sz="18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05581" y="3587115"/>
              <a:ext cx="20614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public int Health;</a:t>
              </a:r>
              <a:endParaRPr lang="en-US" sz="18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05581" y="3977640"/>
              <a:ext cx="27110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public void TakeDamage</a:t>
              </a:r>
              <a:endParaRPr lang="en-US" sz="180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10381" y="42729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(int damage)</a:t>
              </a:r>
              <a:endParaRPr lang="en-US" sz="180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10381" y="4587240"/>
              <a:ext cx="25746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{ Health -= damage; }</a:t>
              </a:r>
              <a:endParaRPr lang="en-US" sz="18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05581" y="4958715"/>
              <a:ext cx="30026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public void PrintStatus()</a:t>
              </a:r>
              <a:endParaRPr lang="en-US" sz="180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10381" y="5263515"/>
              <a:ext cx="8300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{ ... }</a:t>
              </a:r>
              <a:endParaRPr lang="en-US" sz="18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00781" y="55206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en-US" sz="18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" y="1885950"/>
            <a:ext cx="2181225" cy="1239012"/>
            <a:chOff x="666750" y="1885950"/>
            <a:chExt cx="2181225" cy="1239012"/>
          </a:xfrm>
        </p:grpSpPr>
        <p:sp>
          <p:nvSpPr>
            <p:cNvPr id="19" name="Freeform 19"/>
            <p:cNvSpPr/>
            <p:nvPr/>
          </p:nvSpPr>
          <p:spPr>
            <a:xfrm>
              <a:off x="666750" y="1885950"/>
              <a:ext cx="1581150" cy="628650"/>
            </a:xfrm>
            <a:custGeom>
              <a:avLst/>
              <a:gdLst/>
              <a:ahLst/>
              <a:cxnLst/>
              <a:rect l="l" t="t" r="r" b="b"/>
              <a:pathLst>
                <a:path w="1581150" h="628650">
                  <a:moveTo>
                    <a:pt x="0" y="0"/>
                  </a:moveTo>
                  <a:lnTo>
                    <a:pt x="1581150" y="0"/>
                  </a:lnTo>
                  <a:lnTo>
                    <a:pt x="1581150" y="400050"/>
                  </a:lnTo>
                  <a:cubicBezTo>
                    <a:pt x="1581150" y="526302"/>
                    <a:pt x="1478802" y="628650"/>
                    <a:pt x="1352550" y="628650"/>
                  </a:cubicBezTo>
                  <a:lnTo>
                    <a:pt x="228600" y="628650"/>
                  </a:lnTo>
                  <a:cubicBezTo>
                    <a:pt x="102348" y="628650"/>
                    <a:pt x="0" y="526302"/>
                    <a:pt x="0" y="4000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41984" y="1975485"/>
              <a:ext cx="4306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类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3608" y="26555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统一说明书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2266950" y="2200275"/>
              <a:ext cx="581025" cy="409575"/>
            </a:xfrm>
            <a:custGeom>
              <a:avLst/>
              <a:gdLst/>
              <a:ahLst/>
              <a:cxnLst/>
              <a:rect l="l" t="t" r="r" b="b"/>
              <a:pathLst>
                <a:path w="581025" h="409575">
                  <a:moveTo>
                    <a:pt x="0" y="409575"/>
                  </a:moveTo>
                  <a:cubicBezTo>
                    <a:pt x="238125" y="323850"/>
                    <a:pt x="381000" y="190500"/>
                    <a:pt x="581025" y="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7543800" y="2066925"/>
            <a:ext cx="2939339" cy="1605534"/>
            <a:chOff x="7543800" y="2066925"/>
            <a:chExt cx="2939339" cy="1605534"/>
          </a:xfrm>
        </p:grpSpPr>
        <p:sp>
          <p:nvSpPr>
            <p:cNvPr id="24" name="Freeform 24"/>
            <p:cNvSpPr/>
            <p:nvPr/>
          </p:nvSpPr>
          <p:spPr>
            <a:xfrm>
              <a:off x="7953375" y="2066925"/>
              <a:ext cx="2133600" cy="628650"/>
            </a:xfrm>
            <a:custGeom>
              <a:avLst/>
              <a:gdLst/>
              <a:ahLst/>
              <a:cxnLst/>
              <a:rect l="l" t="t" r="r" b="b"/>
              <a:pathLst>
                <a:path w="2133600" h="628650">
                  <a:moveTo>
                    <a:pt x="228600" y="0"/>
                  </a:moveTo>
                  <a:lnTo>
                    <a:pt x="1905000" y="0"/>
                  </a:lnTo>
                  <a:cubicBezTo>
                    <a:pt x="2031252" y="0"/>
                    <a:pt x="2133600" y="102348"/>
                    <a:pt x="2133600" y="228600"/>
                  </a:cubicBezTo>
                  <a:lnTo>
                    <a:pt x="2133600" y="628650"/>
                  </a:lnTo>
                  <a:lnTo>
                    <a:pt x="0" y="62865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03209" y="2165985"/>
              <a:ext cx="8339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字段</a:t>
              </a:r>
              <a:endParaRPr lang="zh-CN" sz="2700" b="1" dirty="0">
                <a:solidFill>
                  <a:srgbClr val="FFFDF6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84058" y="2893695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对象自己的数据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87106" y="3320415"/>
              <a:ext cx="1635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Name · Health</a:t>
              </a:r>
              <a:endParaRPr lang="en-US" sz="1800" dirty="0">
                <a:solidFill>
                  <a:schemeClr val="dk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543800" y="3295650"/>
              <a:ext cx="438150" cy="342900"/>
            </a:xfrm>
            <a:custGeom>
              <a:avLst/>
              <a:gdLst/>
              <a:ahLst/>
              <a:cxnLst/>
              <a:rect l="l" t="t" r="r" b="b"/>
              <a:pathLst>
                <a:path w="438150" h="342900">
                  <a:moveTo>
                    <a:pt x="438150" y="0"/>
                  </a:moveTo>
                  <a:cubicBezTo>
                    <a:pt x="266700" y="9525"/>
                    <a:pt x="142875" y="219075"/>
                    <a:pt x="0" y="3429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572375" y="3895725"/>
            <a:ext cx="4170208" cy="1576959"/>
            <a:chOff x="7572375" y="3895725"/>
            <a:chExt cx="4170208" cy="1576959"/>
          </a:xfrm>
        </p:grpSpPr>
        <p:sp>
          <p:nvSpPr>
            <p:cNvPr id="30" name="Freeform 30"/>
            <p:cNvSpPr/>
            <p:nvPr/>
          </p:nvSpPr>
          <p:spPr>
            <a:xfrm>
              <a:off x="7981950" y="3895725"/>
              <a:ext cx="2133600" cy="628650"/>
            </a:xfrm>
            <a:custGeom>
              <a:avLst/>
              <a:gdLst/>
              <a:ahLst/>
              <a:cxnLst/>
              <a:rect l="l" t="t" r="r" b="b"/>
              <a:pathLst>
                <a:path w="2133600" h="628650">
                  <a:moveTo>
                    <a:pt x="228600" y="0"/>
                  </a:moveTo>
                  <a:lnTo>
                    <a:pt x="1905000" y="0"/>
                  </a:lnTo>
                  <a:cubicBezTo>
                    <a:pt x="2031252" y="0"/>
                    <a:pt x="2133600" y="102348"/>
                    <a:pt x="2133600" y="228600"/>
                  </a:cubicBezTo>
                  <a:lnTo>
                    <a:pt x="2133600" y="628650"/>
                  </a:lnTo>
                  <a:lnTo>
                    <a:pt x="0" y="62865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31784" y="3994785"/>
              <a:ext cx="8339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方法</a:t>
              </a:r>
              <a:endParaRPr lang="zh-CN" sz="2700" b="1" dirty="0">
                <a:solidFill>
                  <a:srgbClr val="FFFDF6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84058" y="46939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对象能做的事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87106" y="5120640"/>
              <a:ext cx="36554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TakeDamage() · PrintStatus()</a:t>
              </a:r>
              <a:endParaRPr lang="en-US" sz="1800" dirty="0">
                <a:solidFill>
                  <a:schemeClr val="dk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Freeform 34"/>
            <p:cNvSpPr/>
            <p:nvPr/>
          </p:nvSpPr>
          <p:spPr>
            <a:xfrm>
              <a:off x="7572375" y="4324350"/>
              <a:ext cx="409575" cy="304800"/>
            </a:xfrm>
            <a:custGeom>
              <a:avLst/>
              <a:gdLst/>
              <a:ahLst/>
              <a:cxnLst/>
              <a:rect l="l" t="t" r="r" b="b"/>
              <a:pathLst>
                <a:path w="409575" h="304800">
                  <a:moveTo>
                    <a:pt x="409575" y="304800"/>
                  </a:moveTo>
                  <a:cubicBezTo>
                    <a:pt x="238125" y="285750"/>
                    <a:pt x="152400" y="152400"/>
                    <a:pt x="0" y="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</p:grpSp>
      <p:sp>
        <p:nvSpPr>
          <p:cNvPr id="46" name="Freeform 46"/>
          <p:cNvSpPr/>
          <p:nvPr/>
        </p:nvSpPr>
        <p:spPr>
          <a:xfrm>
            <a:off x="552450" y="6305550"/>
            <a:ext cx="10668000" cy="76200"/>
          </a:xfrm>
          <a:custGeom>
            <a:avLst/>
            <a:gdLst/>
            <a:ahLst/>
            <a:cxnLst/>
            <a:rect l="l" t="t" r="r" b="b"/>
            <a:pathLst>
              <a:path w="10668000" h="76200">
                <a:moveTo>
                  <a:pt x="0" y="47625"/>
                </a:moveTo>
                <a:cubicBezTo>
                  <a:pt x="2705100" y="0"/>
                  <a:pt x="5334000" y="76200"/>
                  <a:pt x="8077200" y="38100"/>
                </a:cubicBezTo>
                <a:cubicBezTo>
                  <a:pt x="9315450" y="19050"/>
                  <a:pt x="10020300" y="66675"/>
                  <a:pt x="10668000" y="38100"/>
                </a:cubicBez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  <a:endParaRPr lang="en-US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-457200" y="-390525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213360"/>
            <a:ext cx="568360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同一个类，可以创建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71500" y="746760"/>
            <a:ext cx="4429049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互不影响的对象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01231" y="910590"/>
            <a:ext cx="37368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同属 Character，数据各存一份。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552450" y="1600200"/>
            <a:ext cx="4714875" cy="4038600"/>
            <a:chOff x="552450" y="1600200"/>
            <a:chExt cx="4714875" cy="4038600"/>
          </a:xfrm>
        </p:grpSpPr>
        <p:sp>
          <p:nvSpPr>
            <p:cNvPr id="6" name="Freeform 6"/>
            <p:cNvSpPr/>
            <p:nvPr/>
          </p:nvSpPr>
          <p:spPr>
            <a:xfrm>
              <a:off x="552450" y="1600200"/>
              <a:ext cx="4714875" cy="4038600"/>
            </a:xfrm>
            <a:custGeom>
              <a:avLst/>
              <a:gdLst/>
              <a:ahLst/>
              <a:cxnLst/>
              <a:rect l="l" t="t" r="r" b="b"/>
              <a:pathLst>
                <a:path w="4714875" h="4038600">
                  <a:moveTo>
                    <a:pt x="0" y="95250"/>
                  </a:moveTo>
                  <a:cubicBezTo>
                    <a:pt x="1466850" y="0"/>
                    <a:pt x="3267075" y="57150"/>
                    <a:pt x="4648200" y="123825"/>
                  </a:cubicBezTo>
                  <a:lnTo>
                    <a:pt x="4714875" y="3962400"/>
                  </a:lnTo>
                  <a:cubicBezTo>
                    <a:pt x="2981325" y="4038600"/>
                    <a:pt x="1428750" y="4000500"/>
                    <a:pt x="28575" y="3905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695325" y="1733550"/>
              <a:ext cx="4419600" cy="3743325"/>
            </a:xfrm>
            <a:custGeom>
              <a:avLst/>
              <a:gdLst/>
              <a:ahLst/>
              <a:cxnLst/>
              <a:rect l="l" t="t" r="r" b="b"/>
              <a:pathLst>
                <a:path w="4419600" h="3743325">
                  <a:moveTo>
                    <a:pt x="0" y="76200"/>
                  </a:moveTo>
                  <a:cubicBezTo>
                    <a:pt x="1381125" y="0"/>
                    <a:pt x="3057525" y="47625"/>
                    <a:pt x="4391025" y="95250"/>
                  </a:cubicBezTo>
                  <a:lnTo>
                    <a:pt x="4419600" y="3657600"/>
                  </a:lnTo>
                  <a:cubicBezTo>
                    <a:pt x="2914650" y="3743325"/>
                    <a:pt x="1333500" y="3714750"/>
                    <a:pt x="19050" y="3619500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45356" y="2059781"/>
              <a:ext cx="300037" cy="300037"/>
              <a:chOff x="945356" y="2059781"/>
              <a:chExt cx="300037" cy="30003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12031" y="2059781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200025" y="0"/>
                    </a:lnTo>
                    <a:cubicBezTo>
                      <a:pt x="218437" y="0"/>
                      <a:pt x="233362" y="14926"/>
                      <a:pt x="233362" y="33338"/>
                    </a:cubicBezTo>
                    <a:lnTo>
                      <a:pt x="233362" y="200025"/>
                    </a:lnTo>
                    <a:cubicBezTo>
                      <a:pt x="233362" y="218437"/>
                      <a:pt x="218437" y="233362"/>
                      <a:pt x="200025" y="233362"/>
                    </a:cubicBezTo>
                    <a:lnTo>
                      <a:pt x="33338" y="233362"/>
                    </a:lnTo>
                    <a:cubicBezTo>
                      <a:pt x="14926" y="233362"/>
                      <a:pt x="0" y="218437"/>
                      <a:pt x="0" y="200025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45356" y="2126456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233362" y="166688"/>
                    </a:moveTo>
                    <a:lnTo>
                      <a:pt x="233362" y="200025"/>
                    </a:lnTo>
                    <a:cubicBezTo>
                      <a:pt x="233362" y="218437"/>
                      <a:pt x="218437" y="233362"/>
                      <a:pt x="200025" y="233362"/>
                    </a:cubicBezTo>
                    <a:lnTo>
                      <a:pt x="33338" y="233362"/>
                    </a:lnTo>
                    <a:cubicBezTo>
                      <a:pt x="14926" y="233362"/>
                      <a:pt x="0" y="218437"/>
                      <a:pt x="0" y="200025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24559" y="203263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创建两个实例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95350" y="2505075"/>
              <a:ext cx="3914775" cy="85725"/>
            </a:xfrm>
            <a:custGeom>
              <a:avLst/>
              <a:gdLst/>
              <a:ahLst/>
              <a:cxnLst/>
              <a:rect l="l" t="t" r="r" b="b"/>
              <a:pathLst>
                <a:path w="3914775" h="85725">
                  <a:moveTo>
                    <a:pt x="0" y="57150"/>
                  </a:moveTo>
                  <a:cubicBezTo>
                    <a:pt x="1114425" y="0"/>
                    <a:pt x="2466975" y="85725"/>
                    <a:pt x="3914775" y="19050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5256" y="2710815"/>
              <a:ext cx="22438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Character player =</a:t>
              </a:r>
              <a:endParaRPr lang="en-US" sz="18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10056" y="3015615"/>
              <a:ext cx="21485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new Character();</a:t>
              </a:r>
              <a:endParaRPr lang="en-US" sz="18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5256" y="3368040"/>
              <a:ext cx="2650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player.Name = "小明";</a:t>
              </a:r>
              <a:endParaRPr lang="zh-CN" sz="180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5256" y="3701415"/>
              <a:ext cx="24528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player.Health = 100;</a:t>
              </a:r>
              <a:endParaRPr lang="en-US" sz="18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5256" y="4130040"/>
              <a:ext cx="2220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Character enemy =</a:t>
              </a:r>
              <a:endParaRPr lang="en-US" sz="180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10056" y="4434840"/>
              <a:ext cx="21485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new Character();</a:t>
              </a:r>
              <a:endParaRPr lang="en-US" sz="180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5256" y="4787265"/>
              <a:ext cx="28712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enemy.Name = "史莱姆";</a:t>
              </a:r>
              <a:endParaRPr lang="zh-CN" sz="180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5256" y="5120640"/>
              <a:ext cx="22956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enemy.Health = 30;</a:t>
              </a:r>
              <a:endParaRPr lang="en-US" sz="18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0" y="1752600"/>
            <a:ext cx="3762375" cy="1762125"/>
            <a:chOff x="5905500" y="1752600"/>
            <a:chExt cx="3762375" cy="1762125"/>
          </a:xfrm>
        </p:grpSpPr>
        <p:sp>
          <p:nvSpPr>
            <p:cNvPr id="22" name="Freeform 22"/>
            <p:cNvSpPr/>
            <p:nvPr/>
          </p:nvSpPr>
          <p:spPr>
            <a:xfrm>
              <a:off x="5905500" y="1752600"/>
              <a:ext cx="3762375" cy="1762125"/>
            </a:xfrm>
            <a:custGeom>
              <a:avLst/>
              <a:gdLst/>
              <a:ahLst/>
              <a:cxnLst/>
              <a:rect l="l" t="t" r="r" b="b"/>
              <a:pathLst>
                <a:path w="3762375" h="1762125">
                  <a:moveTo>
                    <a:pt x="0" y="104775"/>
                  </a:moveTo>
                  <a:cubicBezTo>
                    <a:pt x="1381125" y="0"/>
                    <a:pt x="2705100" y="57150"/>
                    <a:pt x="3762375" y="142875"/>
                  </a:cubicBezTo>
                  <a:lnTo>
                    <a:pt x="3714750" y="1666875"/>
                  </a:lnTo>
                  <a:cubicBezTo>
                    <a:pt x="2505075" y="1762125"/>
                    <a:pt x="1238250" y="1704975"/>
                    <a:pt x="0" y="1647825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191250" y="2047875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93927" y="2234565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DF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</a:t>
              </a:r>
              <a:endParaRPr lang="en-US" sz="1800" b="1" dirty="0">
                <a:solidFill>
                  <a:srgbClr val="FFFDF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39534" y="2070735"/>
              <a:ext cx="25275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player · 小明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79058" y="2684145"/>
              <a:ext cx="10688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Health</a:t>
              </a:r>
              <a:endParaRPr lang="en-US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Freeform 27"/>
            <p:cNvSpPr/>
            <p:nvPr/>
          </p:nvSpPr>
          <p:spPr>
            <a:xfrm>
              <a:off x="7419975" y="2667000"/>
              <a:ext cx="1933575" cy="495300"/>
            </a:xfrm>
            <a:custGeom>
              <a:avLst/>
              <a:gdLst/>
              <a:ahLst/>
              <a:cxnLst/>
              <a:rect l="l" t="t" r="r" b="b"/>
              <a:pathLst>
                <a:path w="1933575" h="495300">
                  <a:moveTo>
                    <a:pt x="0" y="47625"/>
                  </a:moveTo>
                  <a:cubicBezTo>
                    <a:pt x="676275" y="0"/>
                    <a:pt x="1371600" y="38100"/>
                    <a:pt x="1933575" y="95250"/>
                  </a:cubicBezTo>
                  <a:lnTo>
                    <a:pt x="1914525" y="438150"/>
                  </a:lnTo>
                  <a:cubicBezTo>
                    <a:pt x="1304925" y="495300"/>
                    <a:pt x="657225" y="466725"/>
                    <a:pt x="0" y="428625"/>
                  </a:cubicBezTo>
                  <a:close/>
                </a:path>
              </a:pathLst>
            </a:custGeom>
            <a:solidFill>
              <a:srgbClr val="E9E3D8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419975" y="2667000"/>
              <a:ext cx="1933575" cy="495300"/>
            </a:xfrm>
            <a:custGeom>
              <a:avLst/>
              <a:gdLst/>
              <a:ahLst/>
              <a:cxnLst/>
              <a:rect l="l" t="t" r="r" b="b"/>
              <a:pathLst>
                <a:path w="1933575" h="495300">
                  <a:moveTo>
                    <a:pt x="0" y="47625"/>
                  </a:moveTo>
                  <a:cubicBezTo>
                    <a:pt x="676275" y="0"/>
                    <a:pt x="1371600" y="38100"/>
                    <a:pt x="1933575" y="95250"/>
                  </a:cubicBezTo>
                  <a:lnTo>
                    <a:pt x="1914525" y="438150"/>
                  </a:lnTo>
                  <a:cubicBezTo>
                    <a:pt x="1304925" y="495300"/>
                    <a:pt x="657225" y="466725"/>
                    <a:pt x="0" y="4286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00794" y="2815590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100</a:t>
              </a:r>
              <a:endParaRPr lang="en-US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905500" y="3705225"/>
            <a:ext cx="3924544" cy="1857375"/>
            <a:chOff x="5905500" y="3705225"/>
            <a:chExt cx="3924544" cy="1857375"/>
          </a:xfrm>
        </p:grpSpPr>
        <p:sp>
          <p:nvSpPr>
            <p:cNvPr id="31" name="Freeform 31"/>
            <p:cNvSpPr/>
            <p:nvPr/>
          </p:nvSpPr>
          <p:spPr>
            <a:xfrm>
              <a:off x="5905500" y="3705225"/>
              <a:ext cx="3762375" cy="1857375"/>
            </a:xfrm>
            <a:custGeom>
              <a:avLst/>
              <a:gdLst/>
              <a:ahLst/>
              <a:cxnLst/>
              <a:rect l="l" t="t" r="r" b="b"/>
              <a:pathLst>
                <a:path w="3762375" h="1857375">
                  <a:moveTo>
                    <a:pt x="0" y="104775"/>
                  </a:moveTo>
                  <a:cubicBezTo>
                    <a:pt x="1381125" y="0"/>
                    <a:pt x="2705100" y="57150"/>
                    <a:pt x="3762375" y="142875"/>
                  </a:cubicBezTo>
                  <a:lnTo>
                    <a:pt x="3714750" y="1762125"/>
                  </a:lnTo>
                  <a:cubicBezTo>
                    <a:pt x="2505075" y="1857375"/>
                    <a:pt x="1238250" y="1800225"/>
                    <a:pt x="0" y="1743075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191250" y="4010025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93927" y="4196715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</a:t>
              </a:r>
              <a:endParaRPr lang="en-US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39534" y="4032885"/>
              <a:ext cx="289051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enemy · 史莱姆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79058" y="4712970"/>
              <a:ext cx="10688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Health</a:t>
              </a:r>
              <a:endParaRPr lang="en-US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419975" y="4667250"/>
              <a:ext cx="1933575" cy="495300"/>
            </a:xfrm>
            <a:custGeom>
              <a:avLst/>
              <a:gdLst/>
              <a:ahLst/>
              <a:cxnLst/>
              <a:rect l="l" t="t" r="r" b="b"/>
              <a:pathLst>
                <a:path w="1933575" h="495300">
                  <a:moveTo>
                    <a:pt x="0" y="47625"/>
                  </a:moveTo>
                  <a:cubicBezTo>
                    <a:pt x="676275" y="0"/>
                    <a:pt x="1371600" y="38100"/>
                    <a:pt x="1933575" y="95250"/>
                  </a:cubicBezTo>
                  <a:lnTo>
                    <a:pt x="1914525" y="438150"/>
                  </a:lnTo>
                  <a:cubicBezTo>
                    <a:pt x="1304925" y="495300"/>
                    <a:pt x="657225" y="466725"/>
                    <a:pt x="0" y="428625"/>
                  </a:cubicBezTo>
                  <a:close/>
                </a:path>
              </a:pathLst>
            </a:custGeom>
            <a:solidFill>
              <a:srgbClr val="E9E3D8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419975" y="4676775"/>
              <a:ext cx="1152525" cy="457200"/>
            </a:xfrm>
            <a:custGeom>
              <a:avLst/>
              <a:gdLst/>
              <a:ahLst/>
              <a:cxnLst/>
              <a:rect l="l" t="t" r="r" b="b"/>
              <a:pathLst>
                <a:path w="1152525" h="457200">
                  <a:moveTo>
                    <a:pt x="0" y="38100"/>
                  </a:moveTo>
                  <a:cubicBezTo>
                    <a:pt x="457200" y="0"/>
                    <a:pt x="847725" y="28575"/>
                    <a:pt x="1152525" y="66675"/>
                  </a:cubicBezTo>
                  <a:lnTo>
                    <a:pt x="1133475" y="428625"/>
                  </a:lnTo>
                  <a:cubicBezTo>
                    <a:pt x="752475" y="457200"/>
                    <a:pt x="371475" y="447675"/>
                    <a:pt x="0" y="419100"/>
                  </a:cubicBezTo>
                  <a:close/>
                </a:path>
              </a:pathLst>
            </a:custGeom>
            <a:solidFill>
              <a:srgbClr val="D85C4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40731" y="48158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20</a:t>
              </a:r>
              <a:endParaRPr lang="en-US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058656" y="3676650"/>
            <a:ext cx="2801539" cy="2272284"/>
            <a:chOff x="9058656" y="3676650"/>
            <a:chExt cx="2801539" cy="2272284"/>
          </a:xfrm>
        </p:grpSpPr>
        <p:sp>
          <p:nvSpPr>
            <p:cNvPr id="40" name="Freeform 40"/>
            <p:cNvSpPr/>
            <p:nvPr/>
          </p:nvSpPr>
          <p:spPr>
            <a:xfrm>
              <a:off x="10506075" y="3676650"/>
              <a:ext cx="1238250" cy="752475"/>
            </a:xfrm>
            <a:custGeom>
              <a:avLst/>
              <a:gdLst/>
              <a:ahLst/>
              <a:cxnLst/>
              <a:rect l="l" t="t" r="r" b="b"/>
              <a:pathLst>
                <a:path w="1238250" h="752475">
                  <a:moveTo>
                    <a:pt x="0" y="228600"/>
                  </a:moveTo>
                  <a:cubicBezTo>
                    <a:pt x="438150" y="0"/>
                    <a:pt x="809625" y="76200"/>
                    <a:pt x="1238250" y="342900"/>
                  </a:cubicBezTo>
                  <a:cubicBezTo>
                    <a:pt x="952500" y="581025"/>
                    <a:pt x="628650" y="752475"/>
                    <a:pt x="152400" y="7239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858525" y="4053840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-10</a:t>
              </a:r>
              <a:endParaRPr lang="en-US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753600" y="4086225"/>
              <a:ext cx="590550" cy="552450"/>
            </a:xfrm>
            <a:custGeom>
              <a:avLst/>
              <a:gdLst/>
              <a:ahLst/>
              <a:cxnLst/>
              <a:rect l="l" t="t" r="r" b="b"/>
              <a:pathLst>
                <a:path w="590550" h="552450">
                  <a:moveTo>
                    <a:pt x="590550" y="0"/>
                  </a:moveTo>
                  <a:cubicBezTo>
                    <a:pt x="323850" y="142875"/>
                    <a:pt x="180975" y="352425"/>
                    <a:pt x="0" y="552450"/>
                  </a:cubicBezTo>
                </a:path>
              </a:pathLst>
            </a:custGeom>
            <a:noFill/>
            <a:ln w="47625" cap="rnd">
              <a:solidFill>
                <a:srgbClr val="D85C4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677400" y="4495800"/>
              <a:ext cx="180975" cy="171450"/>
            </a:xfrm>
            <a:custGeom>
              <a:avLst/>
              <a:gdLst/>
              <a:ahLst/>
              <a:cxnLst/>
              <a:rect l="l" t="t" r="r" b="b"/>
              <a:pathLst>
                <a:path w="180975" h="171450">
                  <a:moveTo>
                    <a:pt x="114300" y="0"/>
                  </a:moveTo>
                  <a:lnTo>
                    <a:pt x="0" y="171450"/>
                  </a:lnTo>
                  <a:lnTo>
                    <a:pt x="180975" y="114300"/>
                  </a:lnTo>
                </a:path>
              </a:pathLst>
            </a:custGeom>
            <a:noFill/>
            <a:ln w="47625" cap="rnd">
              <a:solidFill>
                <a:srgbClr val="D85C45"/>
              </a:solidFill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058656" y="5596890"/>
              <a:ext cx="28015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D85C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enemy.TakeDamage(10)</a:t>
              </a:r>
              <a:endParaRPr lang="en-US" sz="1800" dirty="0">
                <a:solidFill>
                  <a:srgbClr val="D85C4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9865233" y="1779270"/>
            <a:ext cx="224674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F8F6A"/>
                </a:solidFill>
                <a:latin typeface="+mj-lt"/>
                <a:ea typeface="+mj-ea"/>
                <a:cs typeface="+mj-cs"/>
              </a:rPr>
              <a:t>player 不变 ✓</a:t>
            </a:r>
            <a:endParaRPr lang="zh-CN" sz="2400" b="1" dirty="0">
              <a:solidFill>
                <a:srgbClr val="2F8F6A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" name="Freeform 47"/>
          <p:cNvSpPr/>
          <p:nvPr/>
        </p:nvSpPr>
        <p:spPr>
          <a:xfrm>
            <a:off x="552450" y="6305550"/>
            <a:ext cx="10668000" cy="76200"/>
          </a:xfrm>
          <a:custGeom>
            <a:avLst/>
            <a:gdLst/>
            <a:ahLst/>
            <a:cxnLst/>
            <a:rect l="l" t="t" r="r" b="b"/>
            <a:pathLst>
              <a:path w="10668000" h="76200">
                <a:moveTo>
                  <a:pt x="0" y="47625"/>
                </a:moveTo>
                <a:cubicBezTo>
                  <a:pt x="2705100" y="0"/>
                  <a:pt x="5334000" y="76200"/>
                  <a:pt x="8077200" y="38100"/>
                </a:cubicBezTo>
                <a:cubicBezTo>
                  <a:pt x="9315450" y="19050"/>
                  <a:pt x="10020300" y="66675"/>
                  <a:pt x="10668000" y="38100"/>
                </a:cubicBez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  <a:endParaRPr lang="en-US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213360"/>
            <a:ext cx="4429049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访问修饰符决定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71500" y="746760"/>
            <a:ext cx="511905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“谁能碰这些成员”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67906" y="891540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它定义的是边界，不是装饰。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514350" y="1600200"/>
            <a:ext cx="3495675" cy="3219450"/>
            <a:chOff x="514350" y="1600200"/>
            <a:chExt cx="3495675" cy="3219450"/>
          </a:xfrm>
        </p:grpSpPr>
        <p:sp>
          <p:nvSpPr>
            <p:cNvPr id="5" name="Freeform 5"/>
            <p:cNvSpPr/>
            <p:nvPr/>
          </p:nvSpPr>
          <p:spPr>
            <a:xfrm>
              <a:off x="514350" y="1600200"/>
              <a:ext cx="3495675" cy="3219450"/>
            </a:xfrm>
            <a:custGeom>
              <a:avLst/>
              <a:gdLst/>
              <a:ahLst/>
              <a:cxnLst/>
              <a:rect l="l" t="t" r="r" b="b"/>
              <a:pathLst>
                <a:path w="3495675" h="3219450">
                  <a:moveTo>
                    <a:pt x="0" y="85725"/>
                  </a:moveTo>
                  <a:cubicBezTo>
                    <a:pt x="1104900" y="0"/>
                    <a:pt x="2419350" y="47625"/>
                    <a:pt x="3495675" y="142875"/>
                  </a:cubicBezTo>
                  <a:lnTo>
                    <a:pt x="3467100" y="3133725"/>
                  </a:lnTo>
                  <a:cubicBezTo>
                    <a:pt x="2276475" y="3219450"/>
                    <a:pt x="1085850" y="3181350"/>
                    <a:pt x="0" y="3105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23900" y="2228850"/>
              <a:ext cx="3076575" cy="2400300"/>
            </a:xfrm>
            <a:custGeom>
              <a:avLst/>
              <a:gdLst/>
              <a:ahLst/>
              <a:cxnLst/>
              <a:rect l="l" t="t" r="r" b="b"/>
              <a:pathLst>
                <a:path w="3076575" h="2400300">
                  <a:moveTo>
                    <a:pt x="0" y="76200"/>
                  </a:moveTo>
                  <a:cubicBezTo>
                    <a:pt x="981075" y="0"/>
                    <a:pt x="2019300" y="47625"/>
                    <a:pt x="3076575" y="114300"/>
                  </a:cubicBezTo>
                  <a:lnTo>
                    <a:pt x="3057525" y="2324100"/>
                  </a:lnTo>
                  <a:cubicBezTo>
                    <a:pt x="1990725" y="2400300"/>
                    <a:pt x="990600" y="2362200"/>
                    <a:pt x="0" y="23050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04900" y="1685925"/>
              <a:ext cx="2305050" cy="619125"/>
            </a:xfrm>
            <a:custGeom>
              <a:avLst/>
              <a:gdLst/>
              <a:ahLst/>
              <a:cxnLst/>
              <a:rect l="l" t="t" r="r" b="b"/>
              <a:pathLst>
                <a:path w="2305050" h="619125">
                  <a:moveTo>
                    <a:pt x="228600" y="0"/>
                  </a:moveTo>
                  <a:lnTo>
                    <a:pt x="2076450" y="0"/>
                  </a:lnTo>
                  <a:cubicBezTo>
                    <a:pt x="2202702" y="0"/>
                    <a:pt x="2305050" y="102348"/>
                    <a:pt x="2305050" y="228600"/>
                  </a:cubicBezTo>
                  <a:lnTo>
                    <a:pt x="2305050" y="619125"/>
                  </a:lnTo>
                  <a:lnTo>
                    <a:pt x="0" y="619125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0294" y="1845945"/>
              <a:ext cx="9742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DF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public</a:t>
              </a:r>
              <a:endParaRPr lang="en-US" sz="2400" b="1" dirty="0">
                <a:solidFill>
                  <a:srgbClr val="FFFDF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48643" y="2673225"/>
              <a:ext cx="375332" cy="355725"/>
              <a:chOff x="948643" y="2673225"/>
              <a:chExt cx="375332" cy="3557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48643" y="2673225"/>
                <a:ext cx="363138" cy="355421"/>
              </a:xfrm>
              <a:custGeom>
                <a:avLst/>
                <a:gdLst/>
                <a:ahLst/>
                <a:cxnLst/>
                <a:rect l="l" t="t" r="r" b="b"/>
                <a:pathLst>
                  <a:path w="363138" h="355421">
                    <a:moveTo>
                      <a:pt x="355178" y="203706"/>
                    </a:moveTo>
                    <a:cubicBezTo>
                      <a:pt x="363138" y="133956"/>
                      <a:pt x="327771" y="66401"/>
                      <a:pt x="265915" y="33200"/>
                    </a:cubicBezTo>
                    <a:cubicBezTo>
                      <a:pt x="204059" y="0"/>
                      <a:pt x="128212" y="7864"/>
                      <a:pt x="74483" y="53049"/>
                    </a:cubicBezTo>
                    <a:cubicBezTo>
                      <a:pt x="20754" y="98233"/>
                      <a:pt x="0" y="171608"/>
                      <a:pt x="22101" y="238241"/>
                    </a:cubicBezTo>
                    <a:cubicBezTo>
                      <a:pt x="44202" y="304874"/>
                      <a:pt x="104692" y="351302"/>
                      <a:pt x="174774" y="355421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73455" y="2800350"/>
                <a:ext cx="32004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0040" h="9525">
                    <a:moveTo>
                      <a:pt x="0" y="0"/>
                    </a:moveTo>
                    <a:lnTo>
                      <a:pt x="32004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73455" y="2914650"/>
                <a:ext cx="18859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8595" h="9525">
                    <a:moveTo>
                      <a:pt x="0" y="0"/>
                    </a:moveTo>
                    <a:lnTo>
                      <a:pt x="18859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58474" y="2686050"/>
                <a:ext cx="65476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65476" h="342900">
                    <a:moveTo>
                      <a:pt x="65476" y="0"/>
                    </a:moveTo>
                    <a:cubicBezTo>
                      <a:pt x="0" y="104923"/>
                      <a:pt x="0" y="237977"/>
                      <a:pt x="65476" y="3429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43000" y="2686050"/>
                <a:ext cx="54045" cy="200730"/>
              </a:xfrm>
              <a:custGeom>
                <a:avLst/>
                <a:gdLst/>
                <a:ahLst/>
                <a:cxnLst/>
                <a:rect l="l" t="t" r="r" b="b"/>
                <a:pathLst>
                  <a:path w="54045" h="200730">
                    <a:moveTo>
                      <a:pt x="0" y="0"/>
                    </a:moveTo>
                    <a:cubicBezTo>
                      <a:pt x="38100" y="61074"/>
                      <a:pt x="54045" y="131693"/>
                      <a:pt x="47777" y="20073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85875" y="295275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90625" y="295275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38100" y="0"/>
                    </a:moveTo>
                    <a:lnTo>
                      <a:pt x="0" y="38100"/>
                    </a:lnTo>
                    <a:lnTo>
                      <a:pt x="38100" y="762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519809" y="2670810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对外开放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5731" y="328231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拿到对象的代码都能访问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5731" y="36347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常用于对外提供的方法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5731" y="4110990"/>
              <a:ext cx="23892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public void Attack()</a:t>
              </a:r>
              <a:endParaRPr lang="en-US" sz="18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33875" y="1600200"/>
            <a:ext cx="3495675" cy="3219450"/>
            <a:chOff x="4333875" y="1600200"/>
            <a:chExt cx="3495675" cy="3219450"/>
          </a:xfrm>
        </p:grpSpPr>
        <p:sp>
          <p:nvSpPr>
            <p:cNvPr id="22" name="Freeform 22"/>
            <p:cNvSpPr/>
            <p:nvPr/>
          </p:nvSpPr>
          <p:spPr>
            <a:xfrm>
              <a:off x="4333875" y="1600200"/>
              <a:ext cx="3495675" cy="3219450"/>
            </a:xfrm>
            <a:custGeom>
              <a:avLst/>
              <a:gdLst/>
              <a:ahLst/>
              <a:cxnLst/>
              <a:rect l="l" t="t" r="r" b="b"/>
              <a:pathLst>
                <a:path w="3495675" h="3219450">
                  <a:moveTo>
                    <a:pt x="0" y="85725"/>
                  </a:moveTo>
                  <a:cubicBezTo>
                    <a:pt x="1104900" y="0"/>
                    <a:pt x="2419350" y="47625"/>
                    <a:pt x="3495675" y="142875"/>
                  </a:cubicBezTo>
                  <a:lnTo>
                    <a:pt x="3467100" y="3133725"/>
                  </a:lnTo>
                  <a:cubicBezTo>
                    <a:pt x="2276475" y="3219450"/>
                    <a:pt x="1085850" y="3181350"/>
                    <a:pt x="0" y="3105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543425" y="2228850"/>
              <a:ext cx="3076575" cy="2400300"/>
            </a:xfrm>
            <a:custGeom>
              <a:avLst/>
              <a:gdLst/>
              <a:ahLst/>
              <a:cxnLst/>
              <a:rect l="l" t="t" r="r" b="b"/>
              <a:pathLst>
                <a:path w="3076575" h="2400300">
                  <a:moveTo>
                    <a:pt x="0" y="76200"/>
                  </a:moveTo>
                  <a:cubicBezTo>
                    <a:pt x="981075" y="0"/>
                    <a:pt x="2019300" y="47625"/>
                    <a:pt x="3076575" y="114300"/>
                  </a:cubicBezTo>
                  <a:lnTo>
                    <a:pt x="3057525" y="2324100"/>
                  </a:lnTo>
                  <a:cubicBezTo>
                    <a:pt x="1990725" y="2400300"/>
                    <a:pt x="990600" y="2362200"/>
                    <a:pt x="0" y="23050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4924425" y="1685925"/>
              <a:ext cx="2305050" cy="619125"/>
            </a:xfrm>
            <a:custGeom>
              <a:avLst/>
              <a:gdLst/>
              <a:ahLst/>
              <a:cxnLst/>
              <a:rect l="l" t="t" r="r" b="b"/>
              <a:pathLst>
                <a:path w="2305050" h="619125">
                  <a:moveTo>
                    <a:pt x="228600" y="0"/>
                  </a:moveTo>
                  <a:lnTo>
                    <a:pt x="2076450" y="0"/>
                  </a:lnTo>
                  <a:cubicBezTo>
                    <a:pt x="2202702" y="0"/>
                    <a:pt x="2305050" y="102348"/>
                    <a:pt x="2305050" y="228600"/>
                  </a:cubicBezTo>
                  <a:lnTo>
                    <a:pt x="2305050" y="619125"/>
                  </a:lnTo>
                  <a:lnTo>
                    <a:pt x="0" y="619125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54122" y="1845945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private</a:t>
              </a:r>
              <a:endParaRPr lang="en-US" sz="24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4819650" y="2686050"/>
              <a:ext cx="266700" cy="342900"/>
              <a:chOff x="4819650" y="2686050"/>
              <a:chExt cx="266700" cy="3429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819650" y="2838450"/>
                <a:ext cx="2667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905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228600" y="0"/>
                    </a:lnTo>
                    <a:cubicBezTo>
                      <a:pt x="249642" y="0"/>
                      <a:pt x="266700" y="17058"/>
                      <a:pt x="266700" y="38100"/>
                    </a:cubicBezTo>
                    <a:lnTo>
                      <a:pt x="266700" y="152400"/>
                    </a:lnTo>
                    <a:cubicBezTo>
                      <a:pt x="266700" y="173442"/>
                      <a:pt x="249642" y="190500"/>
                      <a:pt x="228600" y="190500"/>
                    </a:cubicBezTo>
                    <a:lnTo>
                      <a:pt x="38100" y="190500"/>
                    </a:lnTo>
                    <a:cubicBezTo>
                      <a:pt x="17058" y="190500"/>
                      <a:pt x="0" y="173442"/>
                      <a:pt x="0" y="1524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933950" y="29146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876800" y="26860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15240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ubicBezTo>
                      <a:pt x="118284" y="0"/>
                      <a:pt x="152400" y="34116"/>
                      <a:pt x="152400" y="76200"/>
                    </a:cubicBezTo>
                    <a:lnTo>
                      <a:pt x="152400" y="1524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339334" y="2670810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类内上锁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15256" y="328231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只有当前类内部能访问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15256" y="36347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用于保护内部数据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15256" y="4110990"/>
              <a:ext cx="22475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D85C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private int health;</a:t>
              </a:r>
              <a:endParaRPr lang="en-US" sz="1800" dirty="0">
                <a:solidFill>
                  <a:srgbClr val="D85C4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53400" y="1600200"/>
            <a:ext cx="3495675" cy="3219450"/>
            <a:chOff x="8153400" y="1600200"/>
            <a:chExt cx="3495675" cy="3219450"/>
          </a:xfrm>
        </p:grpSpPr>
        <p:sp>
          <p:nvSpPr>
            <p:cNvPr id="35" name="Freeform 35"/>
            <p:cNvSpPr/>
            <p:nvPr/>
          </p:nvSpPr>
          <p:spPr>
            <a:xfrm>
              <a:off x="8153400" y="1600200"/>
              <a:ext cx="3495675" cy="3219450"/>
            </a:xfrm>
            <a:custGeom>
              <a:avLst/>
              <a:gdLst/>
              <a:ahLst/>
              <a:cxnLst/>
              <a:rect l="l" t="t" r="r" b="b"/>
              <a:pathLst>
                <a:path w="3495675" h="3219450">
                  <a:moveTo>
                    <a:pt x="0" y="85725"/>
                  </a:moveTo>
                  <a:cubicBezTo>
                    <a:pt x="1104900" y="0"/>
                    <a:pt x="2419350" y="47625"/>
                    <a:pt x="3495675" y="142875"/>
                  </a:cubicBezTo>
                  <a:lnTo>
                    <a:pt x="3467100" y="3133725"/>
                  </a:lnTo>
                  <a:cubicBezTo>
                    <a:pt x="2276475" y="3219450"/>
                    <a:pt x="1085850" y="3181350"/>
                    <a:pt x="0" y="3105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362950" y="2228850"/>
              <a:ext cx="3076575" cy="2400300"/>
            </a:xfrm>
            <a:custGeom>
              <a:avLst/>
              <a:gdLst/>
              <a:ahLst/>
              <a:cxnLst/>
              <a:rect l="l" t="t" r="r" b="b"/>
              <a:pathLst>
                <a:path w="3076575" h="2400300">
                  <a:moveTo>
                    <a:pt x="0" y="76200"/>
                  </a:moveTo>
                  <a:cubicBezTo>
                    <a:pt x="981075" y="0"/>
                    <a:pt x="2019300" y="47625"/>
                    <a:pt x="3076575" y="114300"/>
                  </a:cubicBezTo>
                  <a:lnTo>
                    <a:pt x="3057525" y="2324100"/>
                  </a:lnTo>
                  <a:cubicBezTo>
                    <a:pt x="1990725" y="2400300"/>
                    <a:pt x="990600" y="2362200"/>
                    <a:pt x="0" y="23050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743950" y="1685925"/>
              <a:ext cx="2305050" cy="619125"/>
            </a:xfrm>
            <a:custGeom>
              <a:avLst/>
              <a:gdLst/>
              <a:ahLst/>
              <a:cxnLst/>
              <a:rect l="l" t="t" r="r" b="b"/>
              <a:pathLst>
                <a:path w="2305050" h="619125">
                  <a:moveTo>
                    <a:pt x="228600" y="0"/>
                  </a:moveTo>
                  <a:lnTo>
                    <a:pt x="2076450" y="0"/>
                  </a:lnTo>
                  <a:cubicBezTo>
                    <a:pt x="2202702" y="0"/>
                    <a:pt x="2305050" y="102348"/>
                    <a:pt x="2305050" y="228600"/>
                  </a:cubicBezTo>
                  <a:lnTo>
                    <a:pt x="2305050" y="619125"/>
                  </a:lnTo>
                  <a:lnTo>
                    <a:pt x="0" y="619125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44658" y="1845945"/>
              <a:ext cx="17036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DF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protected</a:t>
              </a:r>
              <a:endParaRPr lang="en-US" sz="2400" b="1" dirty="0">
                <a:solidFill>
                  <a:srgbClr val="FFFDF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593142" y="2686050"/>
              <a:ext cx="358767" cy="342900"/>
            </a:xfrm>
            <a:custGeom>
              <a:avLst/>
              <a:gdLst/>
              <a:ahLst/>
              <a:cxnLst/>
              <a:rect l="l" t="t" r="r" b="b"/>
              <a:pathLst>
                <a:path w="358767" h="342900">
                  <a:moveTo>
                    <a:pt x="179383" y="0"/>
                  </a:moveTo>
                  <a:cubicBezTo>
                    <a:pt x="223881" y="39368"/>
                    <a:pt x="281957" y="59866"/>
                    <a:pt x="341308" y="57150"/>
                  </a:cubicBezTo>
                  <a:cubicBezTo>
                    <a:pt x="358767" y="116539"/>
                    <a:pt x="351394" y="180469"/>
                    <a:pt x="320875" y="234325"/>
                  </a:cubicBezTo>
                  <a:cubicBezTo>
                    <a:pt x="290357" y="288181"/>
                    <a:pt x="239302" y="327358"/>
                    <a:pt x="179383" y="342900"/>
                  </a:cubicBezTo>
                  <a:cubicBezTo>
                    <a:pt x="119464" y="327358"/>
                    <a:pt x="68410" y="288181"/>
                    <a:pt x="37891" y="234325"/>
                  </a:cubicBezTo>
                  <a:cubicBezTo>
                    <a:pt x="7373" y="180469"/>
                    <a:pt x="0" y="116539"/>
                    <a:pt x="17458" y="57150"/>
                  </a:cubicBezTo>
                  <a:cubicBezTo>
                    <a:pt x="76809" y="59866"/>
                    <a:pt x="134886" y="39368"/>
                    <a:pt x="179383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58859" y="2670810"/>
              <a:ext cx="20436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对子类开放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34781" y="328231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当前类和它的子类可访问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34781" y="36347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为继承留下扩展点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34781" y="4110990"/>
              <a:ext cx="23808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protected int level;</a:t>
              </a:r>
              <a:endParaRPr lang="en-US" sz="1800" dirty="0">
                <a:solidFill>
                  <a:srgbClr val="2F8F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33450" y="4972050"/>
            <a:ext cx="10191750" cy="1038225"/>
            <a:chOff x="933450" y="4972050"/>
            <a:chExt cx="10191750" cy="1038225"/>
          </a:xfrm>
        </p:grpSpPr>
        <p:sp>
          <p:nvSpPr>
            <p:cNvPr id="45" name="Freeform 45"/>
            <p:cNvSpPr/>
            <p:nvPr/>
          </p:nvSpPr>
          <p:spPr>
            <a:xfrm>
              <a:off x="933450" y="4972050"/>
              <a:ext cx="10191750" cy="1038225"/>
            </a:xfrm>
            <a:custGeom>
              <a:avLst/>
              <a:gdLst/>
              <a:ahLst/>
              <a:cxnLst/>
              <a:rect l="l" t="t" r="r" b="b"/>
              <a:pathLst>
                <a:path w="10191750" h="1038225">
                  <a:moveTo>
                    <a:pt x="95250" y="123825"/>
                  </a:moveTo>
                  <a:cubicBezTo>
                    <a:pt x="2190750" y="9525"/>
                    <a:pt x="5572125" y="85725"/>
                    <a:pt x="10096500" y="0"/>
                  </a:cubicBezTo>
                  <a:lnTo>
                    <a:pt x="10191750" y="933450"/>
                  </a:lnTo>
                  <a:cubicBezTo>
                    <a:pt x="6572250" y="1038225"/>
                    <a:pt x="3076575" y="981075"/>
                    <a:pt x="0" y="914400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45108" y="5208270"/>
              <a:ext cx="7412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推荐</a:t>
              </a:r>
              <a:endParaRPr lang="zh-CN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264283" y="5208270"/>
              <a:ext cx="30436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数据先设为 </a:t>
              </a:r>
              <a:r>
                <a:rPr lang="en-US" sz="2400" b="1" dirty="0">
                  <a:solidFill>
                    <a:srgbClr val="D85C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private</a:t>
              </a:r>
              <a:endParaRPr lang="en-US" sz="2400" b="1" dirty="0">
                <a:solidFill>
                  <a:srgbClr val="D85C4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67331" y="56349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再通过方法控制它如何改变，避免外部代码任意改写。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0" name="Freeform 50"/>
          <p:cNvSpPr/>
          <p:nvPr/>
        </p:nvSpPr>
        <p:spPr>
          <a:xfrm>
            <a:off x="552450" y="6305550"/>
            <a:ext cx="10668000" cy="76200"/>
          </a:xfrm>
          <a:custGeom>
            <a:avLst/>
            <a:gdLst/>
            <a:ahLst/>
            <a:cxnLst/>
            <a:rect l="l" t="t" r="r" b="b"/>
            <a:pathLst>
              <a:path w="10668000" h="76200">
                <a:moveTo>
                  <a:pt x="0" y="47625"/>
                </a:moveTo>
                <a:cubicBezTo>
                  <a:pt x="2705100" y="0"/>
                  <a:pt x="5334000" y="76200"/>
                  <a:pt x="8077200" y="38100"/>
                </a:cubicBezTo>
                <a:cubicBezTo>
                  <a:pt x="9315450" y="19050"/>
                  <a:pt x="10020300" y="66675"/>
                  <a:pt x="10668000" y="38100"/>
                </a:cubicBez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  <a:endParaRPr lang="en-US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346710"/>
            <a:ext cx="637361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继承表达“是一种”关系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19506" y="1024890"/>
            <a:ext cx="700082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Player 是一种 Character：复用共同能力，再增加自己的行为。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724150" y="1581150"/>
            <a:ext cx="4705350" cy="4057650"/>
            <a:chOff x="2724150" y="1581150"/>
            <a:chExt cx="4705350" cy="4057650"/>
          </a:xfrm>
        </p:grpSpPr>
        <p:sp>
          <p:nvSpPr>
            <p:cNvPr id="4" name="Freeform 4"/>
            <p:cNvSpPr/>
            <p:nvPr/>
          </p:nvSpPr>
          <p:spPr>
            <a:xfrm>
              <a:off x="3600450" y="1581150"/>
              <a:ext cx="3400425" cy="1428750"/>
            </a:xfrm>
            <a:custGeom>
              <a:avLst/>
              <a:gdLst/>
              <a:ahLst/>
              <a:cxnLst/>
              <a:rect l="l" t="t" r="r" b="b"/>
              <a:pathLst>
                <a:path w="3400425" h="1428750">
                  <a:moveTo>
                    <a:pt x="0" y="85725"/>
                  </a:moveTo>
                  <a:cubicBezTo>
                    <a:pt x="1095375" y="0"/>
                    <a:pt x="2266950" y="66675"/>
                    <a:pt x="3400425" y="142875"/>
                  </a:cubicBezTo>
                  <a:lnTo>
                    <a:pt x="3381375" y="1333500"/>
                  </a:lnTo>
                  <a:cubicBezTo>
                    <a:pt x="2209800" y="1428750"/>
                    <a:pt x="1076325" y="1381125"/>
                    <a:pt x="9525" y="12858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949700" y="1981200"/>
              <a:ext cx="444499" cy="400049"/>
              <a:chOff x="3949700" y="1981200"/>
              <a:chExt cx="444499" cy="40004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4127500" y="198120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4038600" y="213677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4127500" y="2292349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305299" y="2292349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3949700" y="2292349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4216400" y="213677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4016375" y="2225675"/>
                <a:ext cx="44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6675">
                    <a:moveTo>
                      <a:pt x="0" y="6667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4105275" y="2070100"/>
                <a:ext cx="44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6675">
                    <a:moveTo>
                      <a:pt x="0" y="6667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194175" y="2070100"/>
                <a:ext cx="44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6675">
                    <a:moveTo>
                      <a:pt x="0" y="0"/>
                    </a:moveTo>
                    <a:lnTo>
                      <a:pt x="44450" y="66675"/>
                    </a:ln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283074" y="2225675"/>
                <a:ext cx="44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6675">
                    <a:moveTo>
                      <a:pt x="0" y="0"/>
                    </a:moveTo>
                    <a:lnTo>
                      <a:pt x="44450" y="66675"/>
                    </a:ln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194175" y="2225675"/>
                <a:ext cx="44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6675">
                    <a:moveTo>
                      <a:pt x="4445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105275" y="2225675"/>
                <a:ext cx="44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6675">
                    <a:moveTo>
                      <a:pt x="0" y="0"/>
                    </a:moveTo>
                    <a:lnTo>
                      <a:pt x="44450" y="66675"/>
                    </a:ln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4672584" y="1899285"/>
              <a:ext cx="2104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父类 / 基类</a:t>
              </a:r>
              <a:endParaRPr lang="zh-CN" sz="2700" b="1" dirty="0">
                <a:solidFill>
                  <a:srgbClr val="FFFDF6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74108" y="2369820"/>
              <a:ext cx="17141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DF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Character</a:t>
              </a:r>
              <a:endParaRPr lang="en-US" sz="2400" b="1" dirty="0">
                <a:solidFill>
                  <a:srgbClr val="FFFDF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219700" y="2943225"/>
              <a:ext cx="190500" cy="1143000"/>
            </a:xfrm>
            <a:custGeom>
              <a:avLst/>
              <a:gdLst/>
              <a:ahLst/>
              <a:cxnLst/>
              <a:rect l="l" t="t" r="r" b="b"/>
              <a:pathLst>
                <a:path w="190500" h="1143000">
                  <a:moveTo>
                    <a:pt x="76200" y="0"/>
                  </a:moveTo>
                  <a:cubicBezTo>
                    <a:pt x="0" y="419100"/>
                    <a:pt x="190500" y="733425"/>
                    <a:pt x="95250" y="1143000"/>
                  </a:cubicBezTo>
                </a:path>
              </a:pathLst>
            </a:custGeom>
            <a:noFill/>
            <a:ln w="47625" cap="rnd">
              <a:solidFill>
                <a:srgbClr val="1A1A1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191125" y="3943350"/>
              <a:ext cx="247650" cy="180975"/>
            </a:xfrm>
            <a:custGeom>
              <a:avLst/>
              <a:gdLst/>
              <a:ahLst/>
              <a:cxnLst/>
              <a:rect l="l" t="t" r="r" b="b"/>
              <a:pathLst>
                <a:path w="247650" h="180975">
                  <a:moveTo>
                    <a:pt x="0" y="0"/>
                  </a:moveTo>
                  <a:lnTo>
                    <a:pt x="114300" y="180975"/>
                  </a:lnTo>
                  <a:lnTo>
                    <a:pt x="247650" y="19050"/>
                  </a:lnTo>
                </a:path>
              </a:pathLst>
            </a:custGeom>
            <a:noFill/>
            <a:ln w="47625" cap="rnd">
              <a:solidFill>
                <a:srgbClr val="1A1A1A"/>
              </a:solidFill>
              <a:round/>
            </a:ln>
          </p:spPr>
        </p:sp>
        <p:sp>
          <p:nvSpPr>
            <p:cNvPr id="22" name="Freeform 22"/>
            <p:cNvSpPr/>
            <p:nvPr/>
          </p:nvSpPr>
          <p:spPr>
            <a:xfrm>
              <a:off x="2724150" y="2962275"/>
              <a:ext cx="4333875" cy="1114425"/>
            </a:xfrm>
            <a:custGeom>
              <a:avLst/>
              <a:gdLst/>
              <a:ahLst/>
              <a:cxnLst/>
              <a:rect l="l" t="t" r="r" b="b"/>
              <a:pathLst>
                <a:path w="4333875" h="1114425">
                  <a:moveTo>
                    <a:pt x="0" y="104775"/>
                  </a:moveTo>
                  <a:cubicBezTo>
                    <a:pt x="1276350" y="0"/>
                    <a:pt x="3019425" y="66675"/>
                    <a:pt x="4333875" y="171450"/>
                  </a:cubicBezTo>
                  <a:lnTo>
                    <a:pt x="4286250" y="1019175"/>
                  </a:lnTo>
                  <a:cubicBezTo>
                    <a:pt x="2895600" y="1114425"/>
                    <a:pt x="1352550" y="1076325"/>
                    <a:pt x="0" y="981075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2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43606" y="3177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共享成员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43606" y="3472815"/>
              <a:ext cx="1635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Name · Health</a:t>
              </a:r>
              <a:endParaRPr lang="en-US" sz="1800" dirty="0">
                <a:solidFill>
                  <a:schemeClr val="dk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48606" y="3472815"/>
              <a:ext cx="16846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TakeDamage()</a:t>
              </a:r>
              <a:endParaRPr lang="en-US" sz="1800" dirty="0">
                <a:solidFill>
                  <a:schemeClr val="dk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3238500" y="4095750"/>
              <a:ext cx="4191000" cy="1543050"/>
            </a:xfrm>
            <a:custGeom>
              <a:avLst/>
              <a:gdLst/>
              <a:ahLst/>
              <a:cxnLst/>
              <a:rect l="l" t="t" r="r" b="b"/>
              <a:pathLst>
                <a:path w="4191000" h="1543050">
                  <a:moveTo>
                    <a:pt x="0" y="95250"/>
                  </a:moveTo>
                  <a:cubicBezTo>
                    <a:pt x="1343025" y="0"/>
                    <a:pt x="2838450" y="66675"/>
                    <a:pt x="4191000" y="152400"/>
                  </a:cubicBezTo>
                  <a:lnTo>
                    <a:pt x="4162425" y="1438275"/>
                  </a:lnTo>
                  <a:cubicBezTo>
                    <a:pt x="2781300" y="1543050"/>
                    <a:pt x="1333500" y="1485900"/>
                    <a:pt x="9525" y="139065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91534" y="4328160"/>
              <a:ext cx="250742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子类 / 派生类</a:t>
              </a:r>
              <a:endParaRPr lang="zh-CN" sz="2700" b="1" dirty="0">
                <a:solidFill>
                  <a:srgbClr val="FFFDF6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93058" y="4798695"/>
              <a:ext cx="31518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DF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Player : Character</a:t>
              </a:r>
              <a:endParaRPr lang="en-US" sz="2400" b="1" dirty="0">
                <a:solidFill>
                  <a:srgbClr val="FFFDF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96106" y="5177790"/>
              <a:ext cx="14341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DF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+ UseItem()</a:t>
              </a:r>
              <a:endParaRPr lang="en-US" sz="1800" dirty="0">
                <a:solidFill>
                  <a:srgbClr val="FFFDF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49758" y="1746885"/>
            <a:ext cx="3250387" cy="3925824"/>
            <a:chOff x="349758" y="1746885"/>
            <a:chExt cx="3250387" cy="3925824"/>
          </a:xfrm>
        </p:grpSpPr>
        <p:sp>
          <p:nvSpPr>
            <p:cNvPr id="31" name="TextBox 31"/>
            <p:cNvSpPr txBox="1"/>
            <p:nvPr/>
          </p:nvSpPr>
          <p:spPr>
            <a:xfrm>
              <a:off x="691134" y="174688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冒号就是继承</a:t>
              </a:r>
              <a:endParaRPr lang="zh-CN" sz="270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5706" y="2282190"/>
              <a:ext cx="21942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public class Player</a:t>
              </a:r>
              <a:endParaRPr lang="en-US" sz="18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5706" y="2615565"/>
              <a:ext cx="15032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: Character</a:t>
              </a:r>
              <a:endParaRPr lang="en-US" sz="18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Freeform 34"/>
            <p:cNvSpPr/>
            <p:nvPr/>
          </p:nvSpPr>
          <p:spPr>
            <a:xfrm>
              <a:off x="762000" y="2924175"/>
              <a:ext cx="2124075" cy="114300"/>
            </a:xfrm>
            <a:custGeom>
              <a:avLst/>
              <a:gdLst/>
              <a:ahLst/>
              <a:cxnLst/>
              <a:rect l="l" t="t" r="r" b="b"/>
              <a:pathLst>
                <a:path w="2124075" h="114300">
                  <a:moveTo>
                    <a:pt x="0" y="114300"/>
                  </a:moveTo>
                  <a:cubicBezTo>
                    <a:pt x="762000" y="0"/>
                    <a:pt x="1514475" y="76200"/>
                    <a:pt x="2124075" y="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49758" y="4484370"/>
              <a:ext cx="32503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构造器继续向上交接</a:t>
              </a:r>
              <a:endPara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5706" y="4968240"/>
              <a:ext cx="2183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Player(int health)</a:t>
              </a:r>
              <a:endParaRPr lang="en-US" sz="18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5706" y="5320665"/>
              <a:ext cx="1850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: base(health)</a:t>
              </a:r>
              <a:endParaRPr lang="en-US" sz="180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848600" y="1552575"/>
            <a:ext cx="3686175" cy="3829050"/>
            <a:chOff x="7848600" y="1552575"/>
            <a:chExt cx="3686175" cy="3829050"/>
          </a:xfrm>
        </p:grpSpPr>
        <p:sp>
          <p:nvSpPr>
            <p:cNvPr id="39" name="Freeform 39"/>
            <p:cNvSpPr/>
            <p:nvPr/>
          </p:nvSpPr>
          <p:spPr>
            <a:xfrm>
              <a:off x="7848600" y="1552575"/>
              <a:ext cx="3686175" cy="3829050"/>
            </a:xfrm>
            <a:custGeom>
              <a:avLst/>
              <a:gdLst/>
              <a:ahLst/>
              <a:cxnLst/>
              <a:rect l="l" t="t" r="r" b="b"/>
              <a:pathLst>
                <a:path w="3686175" h="3829050">
                  <a:moveTo>
                    <a:pt x="19050" y="123825"/>
                  </a:moveTo>
                  <a:cubicBezTo>
                    <a:pt x="1190625" y="0"/>
                    <a:pt x="2514600" y="85725"/>
                    <a:pt x="3686175" y="257175"/>
                  </a:cubicBezTo>
                  <a:lnTo>
                    <a:pt x="3638550" y="3667125"/>
                  </a:lnTo>
                  <a:cubicBezTo>
                    <a:pt x="2457450" y="3829050"/>
                    <a:pt x="1209675" y="3762375"/>
                    <a:pt x="0" y="3600450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772525" y="2266950"/>
              <a:ext cx="1828800" cy="1162050"/>
            </a:xfrm>
            <a:custGeom>
              <a:avLst/>
              <a:gdLst/>
              <a:ahLst/>
              <a:cxnLst/>
              <a:rect l="l" t="t" r="r" b="b"/>
              <a:pathLst>
                <a:path w="1828800" h="1162050">
                  <a:moveTo>
                    <a:pt x="914400" y="0"/>
                  </a:moveTo>
                  <a:lnTo>
                    <a:pt x="914400" y="685800"/>
                  </a:lnTo>
                  <a:moveTo>
                    <a:pt x="914400" y="685800"/>
                  </a:moveTo>
                  <a:lnTo>
                    <a:pt x="0" y="1162050"/>
                  </a:lnTo>
                  <a:moveTo>
                    <a:pt x="914400" y="685800"/>
                  </a:moveTo>
                  <a:lnTo>
                    <a:pt x="1828800" y="1162050"/>
                  </a:lnTo>
                </a:path>
              </a:pathLst>
            </a:custGeom>
            <a:noFill/>
            <a:ln w="66675" cap="rnd">
              <a:solidFill>
                <a:schemeClr val="accent1"/>
              </a:solidFill>
              <a:round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991600" y="1943100"/>
              <a:ext cx="1390650" cy="609600"/>
            </a:xfrm>
            <a:prstGeom prst="roundRect">
              <a:avLst>
                <a:gd name="adj" fmla="val 28125"/>
              </a:avLst>
            </a:prstGeom>
            <a:solidFill>
              <a:schemeClr val="accent1"/>
            </a:solidFill>
            <a:ln w="28575">
              <a:solidFill>
                <a:srgbClr val="1A1A1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16561" y="2148840"/>
              <a:ext cx="11407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DF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GameUnit</a:t>
              </a:r>
              <a:endParaRPr lang="en-US" sz="1800" b="1" dirty="0">
                <a:solidFill>
                  <a:srgbClr val="FFFDF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096250" y="3333750"/>
              <a:ext cx="1371600" cy="666750"/>
            </a:xfrm>
            <a:prstGeom prst="roundRect">
              <a:avLst>
                <a:gd name="adj" fmla="val 25714"/>
              </a:avLst>
            </a:prstGeom>
            <a:solidFill>
              <a:schemeClr val="accent3"/>
            </a:solidFill>
            <a:ln w="28575">
              <a:solidFill>
                <a:srgbClr val="1A1A1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81237" y="3549015"/>
              <a:ext cx="801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DF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Player</a:t>
              </a:r>
              <a:endParaRPr lang="en-US" sz="1800" b="1" dirty="0">
                <a:solidFill>
                  <a:srgbClr val="FFFDF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906000" y="3333750"/>
              <a:ext cx="1390650" cy="666750"/>
            </a:xfrm>
            <a:prstGeom prst="roundRect">
              <a:avLst>
                <a:gd name="adj" fmla="val 25714"/>
              </a:avLst>
            </a:prstGeom>
            <a:solidFill>
              <a:schemeClr val="accent2"/>
            </a:solidFill>
            <a:ln w="28575">
              <a:solidFill>
                <a:srgbClr val="1A1A1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212646" y="3549015"/>
              <a:ext cx="7773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Enemy</a:t>
              </a:r>
              <a:endParaRPr lang="en-US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7" name="Freeform 47"/>
            <p:cNvSpPr/>
            <p:nvPr/>
          </p:nvSpPr>
          <p:spPr>
            <a:xfrm>
              <a:off x="8391525" y="4171950"/>
              <a:ext cx="2600325" cy="152400"/>
            </a:xfrm>
            <a:custGeom>
              <a:avLst/>
              <a:gdLst/>
              <a:ahLst/>
              <a:cxnLst/>
              <a:rect l="l" t="t" r="r" b="b"/>
              <a:pathLst>
                <a:path w="2600325" h="152400">
                  <a:moveTo>
                    <a:pt x="0" y="114300"/>
                  </a:moveTo>
                  <a:cubicBezTo>
                    <a:pt x="409575" y="0"/>
                    <a:pt x="914400" y="28575"/>
                    <a:pt x="1295400" y="152400"/>
                  </a:cubicBezTo>
                  <a:cubicBezTo>
                    <a:pt x="1676400" y="28575"/>
                    <a:pt x="2190750" y="0"/>
                    <a:pt x="2600325" y="1238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  <a:custDash>
                <a:ds d="200000" sp="175000"/>
              </a:custDash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40954" y="4503420"/>
              <a:ext cx="28919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共同能力向下复用</a:t>
              </a:r>
              <a:endParaRPr lang="zh-CN" sz="24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sp>
        <p:nvSpPr>
          <p:cNvPr id="50" name="Freeform 50"/>
          <p:cNvSpPr/>
          <p:nvPr/>
        </p:nvSpPr>
        <p:spPr>
          <a:xfrm>
            <a:off x="552450" y="6305550"/>
            <a:ext cx="10668000" cy="76200"/>
          </a:xfrm>
          <a:custGeom>
            <a:avLst/>
            <a:gdLst/>
            <a:ahLst/>
            <a:cxnLst/>
            <a:rect l="l" t="t" r="r" b="b"/>
            <a:pathLst>
              <a:path w="10668000" h="76200">
                <a:moveTo>
                  <a:pt x="0" y="47625"/>
                </a:moveTo>
                <a:cubicBezTo>
                  <a:pt x="2705100" y="0"/>
                  <a:pt x="5334000" y="76200"/>
                  <a:pt x="8077200" y="38100"/>
                </a:cubicBezTo>
                <a:cubicBezTo>
                  <a:pt x="9315450" y="19050"/>
                  <a:pt x="10020300" y="66675"/>
                  <a:pt x="10668000" y="38100"/>
                </a:cubicBez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  <a:endParaRPr lang="en-US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346710"/>
            <a:ext cx="693816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一个方法由哪些部分组成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19506" y="1024890"/>
            <a:ext cx="65608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名称、输入、处理和输出，被包装成一次可重复调用的行为。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552450" y="1409700"/>
            <a:ext cx="11058525" cy="4591050"/>
            <a:chOff x="552450" y="1409700"/>
            <a:chExt cx="11058525" cy="4591050"/>
          </a:xfrm>
        </p:grpSpPr>
        <p:sp>
          <p:nvSpPr>
            <p:cNvPr id="4" name="Freeform 4"/>
            <p:cNvSpPr/>
            <p:nvPr/>
          </p:nvSpPr>
          <p:spPr>
            <a:xfrm>
              <a:off x="552450" y="1409700"/>
              <a:ext cx="11058525" cy="4591050"/>
            </a:xfrm>
            <a:custGeom>
              <a:avLst/>
              <a:gdLst/>
              <a:ahLst/>
              <a:cxnLst/>
              <a:rect l="l" t="t" r="r" b="b"/>
              <a:pathLst>
                <a:path w="11058525" h="4591050">
                  <a:moveTo>
                    <a:pt x="0" y="114300"/>
                  </a:moveTo>
                  <a:cubicBezTo>
                    <a:pt x="2409825" y="0"/>
                    <a:pt x="7867650" y="57150"/>
                    <a:pt x="11058525" y="171450"/>
                  </a:cubicBezTo>
                  <a:lnTo>
                    <a:pt x="11001375" y="4476750"/>
                  </a:lnTo>
                  <a:cubicBezTo>
                    <a:pt x="7743825" y="4591050"/>
                    <a:pt x="2324100" y="4543425"/>
                    <a:pt x="38100" y="4438650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1"/>
              </a:solidFill>
              <a:custDash>
                <a:ds d="333333" sp="266666"/>
              </a:custDash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74192" y="1702118"/>
              <a:ext cx="2201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METHOD · 一次完整行为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Freeform 6"/>
            <p:cNvSpPr/>
            <p:nvPr/>
          </p:nvSpPr>
          <p:spPr>
            <a:xfrm>
              <a:off x="781050" y="1914525"/>
              <a:ext cx="9963150" cy="1114425"/>
            </a:xfrm>
            <a:custGeom>
              <a:avLst/>
              <a:gdLst/>
              <a:ahLst/>
              <a:cxnLst/>
              <a:rect l="l" t="t" r="r" b="b"/>
              <a:pathLst>
                <a:path w="9963150" h="1114425">
                  <a:moveTo>
                    <a:pt x="0" y="104775"/>
                  </a:moveTo>
                  <a:cubicBezTo>
                    <a:pt x="2009775" y="0"/>
                    <a:pt x="6172200" y="57150"/>
                    <a:pt x="9963150" y="123825"/>
                  </a:cubicBezTo>
                  <a:lnTo>
                    <a:pt x="9934575" y="1000125"/>
                  </a:lnTo>
                  <a:cubicBezTo>
                    <a:pt x="6410325" y="1114425"/>
                    <a:pt x="2143125" y="1066800"/>
                    <a:pt x="19050" y="962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028700" y="2232025"/>
              <a:ext cx="400049" cy="355599"/>
              <a:chOff x="1028700" y="2232025"/>
              <a:chExt cx="400049" cy="35559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28700" y="2232025"/>
                <a:ext cx="88900" cy="355599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355599">
                    <a:moveTo>
                      <a:pt x="88900" y="0"/>
                    </a:moveTo>
                    <a:cubicBezTo>
                      <a:pt x="64351" y="0"/>
                      <a:pt x="44450" y="19901"/>
                      <a:pt x="44450" y="44450"/>
                    </a:cubicBezTo>
                    <a:lnTo>
                      <a:pt x="44450" y="111125"/>
                    </a:lnTo>
                    <a:cubicBezTo>
                      <a:pt x="44450" y="147948"/>
                      <a:pt x="24549" y="177800"/>
                      <a:pt x="0" y="177800"/>
                    </a:cubicBezTo>
                    <a:cubicBezTo>
                      <a:pt x="24549" y="177800"/>
                      <a:pt x="44450" y="207651"/>
                      <a:pt x="44450" y="244475"/>
                    </a:cubicBezTo>
                    <a:lnTo>
                      <a:pt x="44450" y="311150"/>
                    </a:lnTo>
                    <a:cubicBezTo>
                      <a:pt x="44450" y="335699"/>
                      <a:pt x="64351" y="355599"/>
                      <a:pt x="88900" y="35559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339849" y="2232025"/>
                <a:ext cx="88900" cy="355599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355599">
                    <a:moveTo>
                      <a:pt x="0" y="0"/>
                    </a:moveTo>
                    <a:cubicBezTo>
                      <a:pt x="24549" y="0"/>
                      <a:pt x="44450" y="19901"/>
                      <a:pt x="44450" y="44450"/>
                    </a:cubicBezTo>
                    <a:lnTo>
                      <a:pt x="44450" y="111125"/>
                    </a:lnTo>
                    <a:cubicBezTo>
                      <a:pt x="44450" y="147948"/>
                      <a:pt x="64351" y="177800"/>
                      <a:pt x="88900" y="177800"/>
                    </a:cubicBezTo>
                    <a:cubicBezTo>
                      <a:pt x="64351" y="177800"/>
                      <a:pt x="44450" y="207651"/>
                      <a:pt x="44450" y="244475"/>
                    </a:cubicBezTo>
                    <a:lnTo>
                      <a:pt x="44450" y="311150"/>
                    </a:lnTo>
                    <a:cubicBezTo>
                      <a:pt x="44450" y="335699"/>
                      <a:pt x="24549" y="355599"/>
                      <a:pt x="0" y="35559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711833" y="2274570"/>
              <a:ext cx="9742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public</a:t>
              </a:r>
              <a:endParaRPr lang="en-US" sz="24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92958" y="2274570"/>
              <a:ext cx="499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</a:t>
              </a:r>
              <a:endParaRPr lang="en-US" sz="24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16858" y="2274570"/>
              <a:ext cx="5946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Add</a:t>
              </a:r>
              <a:endParaRPr lang="en-US" sz="24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78858" y="2274570"/>
              <a:ext cx="221249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(int a, int b)</a:t>
              </a:r>
              <a:endParaRPr lang="en-US" sz="240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45808" y="2274570"/>
              <a:ext cx="27722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{ return a + b; }</a:t>
              </a:r>
              <a:endParaRPr lang="en-US" sz="24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724025" y="2628900"/>
              <a:ext cx="1190625" cy="57150"/>
            </a:xfrm>
            <a:custGeom>
              <a:avLst/>
              <a:gdLst/>
              <a:ahLst/>
              <a:cxnLst/>
              <a:rect l="l" t="t" r="r" b="b"/>
              <a:pathLst>
                <a:path w="1190625" h="57150">
                  <a:moveTo>
                    <a:pt x="0" y="28575"/>
                  </a:moveTo>
                  <a:cubicBezTo>
                    <a:pt x="495300" y="0"/>
                    <a:pt x="952500" y="57150"/>
                    <a:pt x="1190625" y="95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05150" y="2628900"/>
              <a:ext cx="590550" cy="57150"/>
            </a:xfrm>
            <a:custGeom>
              <a:avLst/>
              <a:gdLst/>
              <a:ahLst/>
              <a:cxnLst/>
              <a:rect l="l" t="t" r="r" b="b"/>
              <a:pathLst>
                <a:path w="590550" h="57150">
                  <a:moveTo>
                    <a:pt x="0" y="28575"/>
                  </a:moveTo>
                  <a:cubicBezTo>
                    <a:pt x="228600" y="0"/>
                    <a:pt x="457200" y="57150"/>
                    <a:pt x="590550" y="95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829050" y="2628900"/>
              <a:ext cx="647700" cy="57150"/>
            </a:xfrm>
            <a:custGeom>
              <a:avLst/>
              <a:gdLst/>
              <a:ahLst/>
              <a:cxnLst/>
              <a:rect l="l" t="t" r="r" b="b"/>
              <a:pathLst>
                <a:path w="647700" h="57150">
                  <a:moveTo>
                    <a:pt x="0" y="28575"/>
                  </a:moveTo>
                  <a:cubicBezTo>
                    <a:pt x="295275" y="0"/>
                    <a:pt x="571500" y="57150"/>
                    <a:pt x="647700" y="9525"/>
                  </a:cubicBezTo>
                </a:path>
              </a:pathLst>
            </a:custGeom>
            <a:noFill/>
            <a:ln w="38100" cap="rnd">
              <a:solidFill>
                <a:srgbClr val="1A1A1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591050" y="2609850"/>
              <a:ext cx="2124075" cy="76200"/>
            </a:xfrm>
            <a:custGeom>
              <a:avLst/>
              <a:gdLst/>
              <a:ahLst/>
              <a:cxnLst/>
              <a:rect l="l" t="t" r="r" b="b"/>
              <a:pathLst>
                <a:path w="2124075" h="76200">
                  <a:moveTo>
                    <a:pt x="0" y="47625"/>
                  </a:moveTo>
                  <a:cubicBezTo>
                    <a:pt x="828675" y="0"/>
                    <a:pt x="1600200" y="76200"/>
                    <a:pt x="2124075" y="1905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858000" y="2600325"/>
              <a:ext cx="3657600" cy="85725"/>
            </a:xfrm>
            <a:custGeom>
              <a:avLst/>
              <a:gdLst/>
              <a:ahLst/>
              <a:cxnLst/>
              <a:rect l="l" t="t" r="r" b="b"/>
              <a:pathLst>
                <a:path w="3657600" h="85725">
                  <a:moveTo>
                    <a:pt x="0" y="57150"/>
                  </a:moveTo>
                  <a:cubicBezTo>
                    <a:pt x="1381125" y="0"/>
                    <a:pt x="2743200" y="85725"/>
                    <a:pt x="3657600" y="28575"/>
                  </a:cubicBezTo>
                </a:path>
              </a:pathLst>
            </a:custGeom>
            <a:noFill/>
            <a:ln w="38100" cap="rnd">
              <a:solidFill>
                <a:srgbClr val="1A1A1A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876300" y="3133725"/>
            <a:ext cx="2981325" cy="1047750"/>
            <a:chOff x="876300" y="3133725"/>
            <a:chExt cx="2981325" cy="1047750"/>
          </a:xfrm>
        </p:grpSpPr>
        <p:sp>
          <p:nvSpPr>
            <p:cNvPr id="21" name="Freeform 21"/>
            <p:cNvSpPr/>
            <p:nvPr/>
          </p:nvSpPr>
          <p:spPr>
            <a:xfrm>
              <a:off x="876300" y="3133725"/>
              <a:ext cx="2981325" cy="1047750"/>
            </a:xfrm>
            <a:custGeom>
              <a:avLst/>
              <a:gdLst/>
              <a:ahLst/>
              <a:cxnLst/>
              <a:rect l="l" t="t" r="r" b="b"/>
              <a:pathLst>
                <a:path w="2981325" h="1047750">
                  <a:moveTo>
                    <a:pt x="0" y="76200"/>
                  </a:moveTo>
                  <a:cubicBezTo>
                    <a:pt x="1057275" y="0"/>
                    <a:pt x="2105025" y="57150"/>
                    <a:pt x="2981325" y="123825"/>
                  </a:cubicBezTo>
                  <a:lnTo>
                    <a:pt x="2943225" y="971550"/>
                  </a:lnTo>
                  <a:cubicBezTo>
                    <a:pt x="1962150" y="1047750"/>
                    <a:pt x="990600" y="1019175"/>
                    <a:pt x="0" y="942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314450" y="3209925"/>
              <a:ext cx="2114550" cy="438150"/>
            </a:xfrm>
            <a:custGeom>
              <a:avLst/>
              <a:gdLst/>
              <a:ahLst/>
              <a:cxnLst/>
              <a:rect l="l" t="t" r="r" b="b"/>
              <a:pathLst>
                <a:path w="2114550" h="438150">
                  <a:moveTo>
                    <a:pt x="209550" y="0"/>
                  </a:moveTo>
                  <a:lnTo>
                    <a:pt x="1905000" y="0"/>
                  </a:lnTo>
                  <a:cubicBezTo>
                    <a:pt x="2020731" y="0"/>
                    <a:pt x="2114550" y="93819"/>
                    <a:pt x="2114550" y="209550"/>
                  </a:cubicBezTo>
                  <a:lnTo>
                    <a:pt x="2114550" y="438150"/>
                  </a:lnTo>
                  <a:lnTo>
                    <a:pt x="0" y="43815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63421" y="3274695"/>
              <a:ext cx="18166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访问修饰符</a:t>
              </a:r>
              <a:endParaRPr lang="zh-CN" sz="2400" b="1" dirty="0">
                <a:solidFill>
                  <a:srgbClr val="FFFDF6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6231" y="3749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决定谁能调用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114800" y="3133725"/>
            <a:ext cx="2981325" cy="1047750"/>
            <a:chOff x="4114800" y="3133725"/>
            <a:chExt cx="2981325" cy="1047750"/>
          </a:xfrm>
        </p:grpSpPr>
        <p:sp>
          <p:nvSpPr>
            <p:cNvPr id="26" name="Freeform 26"/>
            <p:cNvSpPr/>
            <p:nvPr/>
          </p:nvSpPr>
          <p:spPr>
            <a:xfrm>
              <a:off x="4114800" y="3133725"/>
              <a:ext cx="2981325" cy="1047750"/>
            </a:xfrm>
            <a:custGeom>
              <a:avLst/>
              <a:gdLst/>
              <a:ahLst/>
              <a:cxnLst/>
              <a:rect l="l" t="t" r="r" b="b"/>
              <a:pathLst>
                <a:path w="2981325" h="1047750">
                  <a:moveTo>
                    <a:pt x="0" y="76200"/>
                  </a:moveTo>
                  <a:cubicBezTo>
                    <a:pt x="1057275" y="0"/>
                    <a:pt x="2105025" y="57150"/>
                    <a:pt x="2981325" y="123825"/>
                  </a:cubicBezTo>
                  <a:lnTo>
                    <a:pt x="2943225" y="971550"/>
                  </a:lnTo>
                  <a:cubicBezTo>
                    <a:pt x="1962150" y="1047750"/>
                    <a:pt x="990600" y="1019175"/>
                    <a:pt x="0" y="942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552950" y="3209925"/>
              <a:ext cx="2114550" cy="438150"/>
            </a:xfrm>
            <a:custGeom>
              <a:avLst/>
              <a:gdLst/>
              <a:ahLst/>
              <a:cxnLst/>
              <a:rect l="l" t="t" r="r" b="b"/>
              <a:pathLst>
                <a:path w="2114550" h="438150">
                  <a:moveTo>
                    <a:pt x="209550" y="0"/>
                  </a:moveTo>
                  <a:lnTo>
                    <a:pt x="1905000" y="0"/>
                  </a:lnTo>
                  <a:cubicBezTo>
                    <a:pt x="2020731" y="0"/>
                    <a:pt x="2114550" y="93819"/>
                    <a:pt x="2114550" y="209550"/>
                  </a:cubicBezTo>
                  <a:lnTo>
                    <a:pt x="2114550" y="438150"/>
                  </a:lnTo>
                  <a:lnTo>
                    <a:pt x="0" y="43815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81143" y="3274695"/>
              <a:ext cx="14581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返回类型</a:t>
              </a:r>
              <a:endParaRPr lang="zh-CN" sz="24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24731" y="37490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说明结果是什么类型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353300" y="3133725"/>
            <a:ext cx="2981325" cy="1047750"/>
            <a:chOff x="7353300" y="3133725"/>
            <a:chExt cx="2981325" cy="1047750"/>
          </a:xfrm>
        </p:grpSpPr>
        <p:sp>
          <p:nvSpPr>
            <p:cNvPr id="31" name="Freeform 31"/>
            <p:cNvSpPr/>
            <p:nvPr/>
          </p:nvSpPr>
          <p:spPr>
            <a:xfrm>
              <a:off x="7353300" y="3133725"/>
              <a:ext cx="2981325" cy="1047750"/>
            </a:xfrm>
            <a:custGeom>
              <a:avLst/>
              <a:gdLst/>
              <a:ahLst/>
              <a:cxnLst/>
              <a:rect l="l" t="t" r="r" b="b"/>
              <a:pathLst>
                <a:path w="2981325" h="1047750">
                  <a:moveTo>
                    <a:pt x="0" y="76200"/>
                  </a:moveTo>
                  <a:cubicBezTo>
                    <a:pt x="1057275" y="0"/>
                    <a:pt x="2105025" y="57150"/>
                    <a:pt x="2981325" y="123825"/>
                  </a:cubicBezTo>
                  <a:lnTo>
                    <a:pt x="2943225" y="971550"/>
                  </a:lnTo>
                  <a:cubicBezTo>
                    <a:pt x="1962150" y="1047750"/>
                    <a:pt x="990600" y="1019175"/>
                    <a:pt x="0" y="942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791450" y="3209925"/>
              <a:ext cx="2114550" cy="438150"/>
            </a:xfrm>
            <a:custGeom>
              <a:avLst/>
              <a:gdLst/>
              <a:ahLst/>
              <a:cxnLst/>
              <a:rect l="l" t="t" r="r" b="b"/>
              <a:pathLst>
                <a:path w="2114550" h="438150">
                  <a:moveTo>
                    <a:pt x="209550" y="0"/>
                  </a:moveTo>
                  <a:lnTo>
                    <a:pt x="1905000" y="0"/>
                  </a:lnTo>
                  <a:cubicBezTo>
                    <a:pt x="2020731" y="0"/>
                    <a:pt x="2114550" y="93819"/>
                    <a:pt x="2114550" y="209550"/>
                  </a:cubicBezTo>
                  <a:lnTo>
                    <a:pt x="2114550" y="438150"/>
                  </a:lnTo>
                  <a:lnTo>
                    <a:pt x="0" y="43815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98866" y="3274695"/>
              <a:ext cx="10997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方法名</a:t>
              </a:r>
              <a:endParaRPr lang="zh-CN" sz="2400" b="1" dirty="0">
                <a:solidFill>
                  <a:srgbClr val="FFFDF6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63231" y="37490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给行为一个可读名字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847850" y="4314825"/>
            <a:ext cx="4010025" cy="1228725"/>
            <a:chOff x="1847850" y="4314825"/>
            <a:chExt cx="4010025" cy="1228725"/>
          </a:xfrm>
        </p:grpSpPr>
        <p:sp>
          <p:nvSpPr>
            <p:cNvPr id="36" name="Freeform 36"/>
            <p:cNvSpPr/>
            <p:nvPr/>
          </p:nvSpPr>
          <p:spPr>
            <a:xfrm>
              <a:off x="1847850" y="4314825"/>
              <a:ext cx="4010025" cy="1228725"/>
            </a:xfrm>
            <a:custGeom>
              <a:avLst/>
              <a:gdLst/>
              <a:ahLst/>
              <a:cxnLst/>
              <a:rect l="l" t="t" r="r" b="b"/>
              <a:pathLst>
                <a:path w="4010025" h="1228725">
                  <a:moveTo>
                    <a:pt x="0" y="95250"/>
                  </a:moveTo>
                  <a:cubicBezTo>
                    <a:pt x="1314450" y="0"/>
                    <a:pt x="2809875" y="57150"/>
                    <a:pt x="4010025" y="142875"/>
                  </a:cubicBezTo>
                  <a:lnTo>
                    <a:pt x="3971925" y="1143000"/>
                  </a:lnTo>
                  <a:cubicBezTo>
                    <a:pt x="2619375" y="1228725"/>
                    <a:pt x="1266825" y="1190625"/>
                    <a:pt x="0" y="1114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2676525" y="4410075"/>
              <a:ext cx="2343150" cy="476250"/>
            </a:xfrm>
            <a:custGeom>
              <a:avLst/>
              <a:gdLst/>
              <a:ahLst/>
              <a:cxnLst/>
              <a:rect l="l" t="t" r="r" b="b"/>
              <a:pathLst>
                <a:path w="2343150" h="476250">
                  <a:moveTo>
                    <a:pt x="209550" y="0"/>
                  </a:moveTo>
                  <a:lnTo>
                    <a:pt x="2133600" y="0"/>
                  </a:lnTo>
                  <a:cubicBezTo>
                    <a:pt x="2249331" y="0"/>
                    <a:pt x="2343150" y="93819"/>
                    <a:pt x="2343150" y="209550"/>
                  </a:cubicBezTo>
                  <a:lnTo>
                    <a:pt x="2343150" y="476250"/>
                  </a:lnTo>
                  <a:lnTo>
                    <a:pt x="0" y="47625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19018" y="4493895"/>
              <a:ext cx="14581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参数列表</a:t>
              </a:r>
              <a:endParaRPr lang="zh-CN" sz="2400" b="1" dirty="0">
                <a:solidFill>
                  <a:srgbClr val="FFFDF6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76831" y="5044440"/>
              <a:ext cx="35318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int a, int b · 调用者交来的输入</a:t>
              </a:r>
              <a:endParaRPr lang="zh-CN" sz="1800" dirty="0">
                <a:solidFill>
                  <a:schemeClr val="dk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172200" y="4314825"/>
            <a:ext cx="4010025" cy="1228725"/>
            <a:chOff x="6172200" y="4314825"/>
            <a:chExt cx="4010025" cy="1228725"/>
          </a:xfrm>
        </p:grpSpPr>
        <p:sp>
          <p:nvSpPr>
            <p:cNvPr id="41" name="Freeform 41"/>
            <p:cNvSpPr/>
            <p:nvPr/>
          </p:nvSpPr>
          <p:spPr>
            <a:xfrm>
              <a:off x="6172200" y="4314825"/>
              <a:ext cx="4010025" cy="1228725"/>
            </a:xfrm>
            <a:custGeom>
              <a:avLst/>
              <a:gdLst/>
              <a:ahLst/>
              <a:cxnLst/>
              <a:rect l="l" t="t" r="r" b="b"/>
              <a:pathLst>
                <a:path w="4010025" h="1228725">
                  <a:moveTo>
                    <a:pt x="0" y="95250"/>
                  </a:moveTo>
                  <a:cubicBezTo>
                    <a:pt x="1314450" y="0"/>
                    <a:pt x="2809875" y="57150"/>
                    <a:pt x="4010025" y="142875"/>
                  </a:cubicBezTo>
                  <a:lnTo>
                    <a:pt x="3971925" y="1143000"/>
                  </a:lnTo>
                  <a:cubicBezTo>
                    <a:pt x="2619375" y="1228725"/>
                    <a:pt x="1266825" y="1190625"/>
                    <a:pt x="0" y="1114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000875" y="4410075"/>
              <a:ext cx="2343150" cy="476250"/>
            </a:xfrm>
            <a:custGeom>
              <a:avLst/>
              <a:gdLst/>
              <a:ahLst/>
              <a:cxnLst/>
              <a:rect l="l" t="t" r="r" b="b"/>
              <a:pathLst>
                <a:path w="2343150" h="476250">
                  <a:moveTo>
                    <a:pt x="209550" y="0"/>
                  </a:moveTo>
                  <a:lnTo>
                    <a:pt x="2133600" y="0"/>
                  </a:lnTo>
                  <a:cubicBezTo>
                    <a:pt x="2249331" y="0"/>
                    <a:pt x="2343150" y="93819"/>
                    <a:pt x="2343150" y="209550"/>
                  </a:cubicBezTo>
                  <a:lnTo>
                    <a:pt x="2343150" y="476250"/>
                  </a:lnTo>
                  <a:lnTo>
                    <a:pt x="0" y="47625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2591" y="4493895"/>
              <a:ext cx="10997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方法体</a:t>
              </a:r>
              <a:endParaRPr lang="zh-CN" sz="2400" b="1" dirty="0">
                <a:solidFill>
                  <a:srgbClr val="FFFDF6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01181" y="5044440"/>
              <a:ext cx="35439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return a + b; · 执行并交还结果</a:t>
              </a:r>
              <a:endParaRPr lang="zh-CN" sz="1800" dirty="0">
                <a:solidFill>
                  <a:schemeClr val="dk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55" name="Freeform 55"/>
          <p:cNvSpPr/>
          <p:nvPr/>
        </p:nvSpPr>
        <p:spPr>
          <a:xfrm>
            <a:off x="552450" y="6305550"/>
            <a:ext cx="10668000" cy="76200"/>
          </a:xfrm>
          <a:custGeom>
            <a:avLst/>
            <a:gdLst/>
            <a:ahLst/>
            <a:cxnLst/>
            <a:rect l="l" t="t" r="r" b="b"/>
            <a:pathLst>
              <a:path w="10668000" h="76200">
                <a:moveTo>
                  <a:pt x="0" y="47625"/>
                </a:moveTo>
                <a:cubicBezTo>
                  <a:pt x="2705100" y="0"/>
                  <a:pt x="5334000" y="76200"/>
                  <a:pt x="8077200" y="38100"/>
                </a:cubicBezTo>
                <a:cubicBezTo>
                  <a:pt x="9315450" y="19050"/>
                  <a:pt x="10020300" y="66675"/>
                  <a:pt x="10668000" y="38100"/>
                </a:cubicBez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  <a:endParaRPr lang="en-US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346710"/>
            <a:ext cx="690679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void</a:t>
            </a:r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、返回值与提前结束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19506" y="1024890"/>
            <a:ext cx="70212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返回类型决定是否交回结果；无效输入可以用 return 立刻止步。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571500" y="1466850"/>
            <a:ext cx="4991100" cy="1771650"/>
            <a:chOff x="571500" y="1466850"/>
            <a:chExt cx="4991100" cy="1771650"/>
          </a:xfrm>
        </p:grpSpPr>
        <p:sp>
          <p:nvSpPr>
            <p:cNvPr id="4" name="Freeform 4"/>
            <p:cNvSpPr/>
            <p:nvPr/>
          </p:nvSpPr>
          <p:spPr>
            <a:xfrm>
              <a:off x="571500" y="1466850"/>
              <a:ext cx="4991100" cy="1771650"/>
            </a:xfrm>
            <a:custGeom>
              <a:avLst/>
              <a:gdLst/>
              <a:ahLst/>
              <a:cxnLst/>
              <a:rect l="l" t="t" r="r" b="b"/>
              <a:pathLst>
                <a:path w="4991100" h="1771650">
                  <a:moveTo>
                    <a:pt x="0" y="114300"/>
                  </a:moveTo>
                  <a:cubicBezTo>
                    <a:pt x="1600200" y="0"/>
                    <a:pt x="3448050" y="76200"/>
                    <a:pt x="4991100" y="161925"/>
                  </a:cubicBezTo>
                  <a:lnTo>
                    <a:pt x="4953000" y="1666875"/>
                  </a:lnTo>
                  <a:cubicBezTo>
                    <a:pt x="3390900" y="1771650"/>
                    <a:pt x="1590675" y="1724025"/>
                    <a:pt x="19050" y="1638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800100" y="1733550"/>
              <a:ext cx="4514850" cy="1314450"/>
            </a:xfrm>
            <a:custGeom>
              <a:avLst/>
              <a:gdLst/>
              <a:ahLst/>
              <a:cxnLst/>
              <a:rect l="l" t="t" r="r" b="b"/>
              <a:pathLst>
                <a:path w="4514850" h="1314450">
                  <a:moveTo>
                    <a:pt x="0" y="85725"/>
                  </a:moveTo>
                  <a:cubicBezTo>
                    <a:pt x="1390650" y="0"/>
                    <a:pt x="3000375" y="66675"/>
                    <a:pt x="4514850" y="133350"/>
                  </a:cubicBezTo>
                  <a:lnTo>
                    <a:pt x="4486275" y="1228725"/>
                  </a:lnTo>
                  <a:cubicBezTo>
                    <a:pt x="3019425" y="1314450"/>
                    <a:pt x="1400175" y="1276350"/>
                    <a:pt x="9525" y="1200150"/>
                  </a:cubicBezTo>
                  <a:close/>
                </a:path>
              </a:pathLst>
            </a:cu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6508" y="1960245"/>
              <a:ext cx="6859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void</a:t>
              </a:r>
              <a:endParaRPr lang="en-US" sz="24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54733" y="1960245"/>
              <a:ext cx="18166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只执行行为</a:t>
              </a:r>
              <a:endParaRPr lang="zh-CN" sz="24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9556" y="2434590"/>
              <a:ext cx="22522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void PrintStatus()</a:t>
              </a:r>
              <a:endParaRPr lang="en-US" sz="18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9556" y="27012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不把结果交给调用者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43600" y="1466850"/>
            <a:ext cx="5657850" cy="1771650"/>
            <a:chOff x="5943600" y="1466850"/>
            <a:chExt cx="5657850" cy="1771650"/>
          </a:xfrm>
        </p:grpSpPr>
        <p:sp>
          <p:nvSpPr>
            <p:cNvPr id="11" name="Freeform 11"/>
            <p:cNvSpPr/>
            <p:nvPr/>
          </p:nvSpPr>
          <p:spPr>
            <a:xfrm>
              <a:off x="5943600" y="1466850"/>
              <a:ext cx="5657850" cy="1771650"/>
            </a:xfrm>
            <a:custGeom>
              <a:avLst/>
              <a:gdLst/>
              <a:ahLst/>
              <a:cxnLst/>
              <a:rect l="l" t="t" r="r" b="b"/>
              <a:pathLst>
                <a:path w="5657850" h="1771650">
                  <a:moveTo>
                    <a:pt x="0" y="114300"/>
                  </a:moveTo>
                  <a:cubicBezTo>
                    <a:pt x="1600200" y="0"/>
                    <a:pt x="3448050" y="76200"/>
                    <a:pt x="5657850" y="161925"/>
                  </a:cubicBezTo>
                  <a:lnTo>
                    <a:pt x="5619750" y="1666875"/>
                  </a:lnTo>
                  <a:cubicBezTo>
                    <a:pt x="3429000" y="1771650"/>
                    <a:pt x="1590675" y="1724025"/>
                    <a:pt x="19050" y="1638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172200" y="1733550"/>
              <a:ext cx="5181600" cy="1314450"/>
            </a:xfrm>
            <a:custGeom>
              <a:avLst/>
              <a:gdLst/>
              <a:ahLst/>
              <a:cxnLst/>
              <a:rect l="l" t="t" r="r" b="b"/>
              <a:pathLst>
                <a:path w="5181600" h="1314450">
                  <a:moveTo>
                    <a:pt x="0" y="85725"/>
                  </a:moveTo>
                  <a:cubicBezTo>
                    <a:pt x="1390650" y="0"/>
                    <a:pt x="3352800" y="66675"/>
                    <a:pt x="5181600" y="133350"/>
                  </a:cubicBezTo>
                  <a:lnTo>
                    <a:pt x="5153025" y="1228725"/>
                  </a:lnTo>
                  <a:cubicBezTo>
                    <a:pt x="3381375" y="1314450"/>
                    <a:pt x="1381125" y="1276350"/>
                    <a:pt x="9525" y="1200150"/>
                  </a:cubicBezTo>
                  <a:close/>
                </a:path>
              </a:pathLst>
            </a:cu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388608" y="1960245"/>
              <a:ext cx="6859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bool</a:t>
              </a:r>
              <a:endParaRPr lang="en-US" sz="240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17308" y="1960245"/>
              <a:ext cx="21750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交回真假结果</a:t>
              </a:r>
              <a:endParaRPr lang="zh-CN" sz="24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91656" y="2434590"/>
              <a:ext cx="1597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bool IsAlive()</a:t>
              </a:r>
              <a:endParaRPr lang="en-US" sz="18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1656" y="2720340"/>
              <a:ext cx="27152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{ return health &gt; 0; }</a:t>
              </a:r>
              <a:endParaRPr lang="en-US" sz="1800" b="1" dirty="0">
                <a:solidFill>
                  <a:srgbClr val="2F8F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3305175"/>
            <a:ext cx="11039475" cy="2705100"/>
            <a:chOff x="571500" y="3305175"/>
            <a:chExt cx="11039475" cy="2705100"/>
          </a:xfrm>
        </p:grpSpPr>
        <p:sp>
          <p:nvSpPr>
            <p:cNvPr id="18" name="Freeform 18"/>
            <p:cNvSpPr/>
            <p:nvPr/>
          </p:nvSpPr>
          <p:spPr>
            <a:xfrm>
              <a:off x="571500" y="3305175"/>
              <a:ext cx="11039475" cy="2705100"/>
            </a:xfrm>
            <a:custGeom>
              <a:avLst/>
              <a:gdLst/>
              <a:ahLst/>
              <a:cxnLst/>
              <a:rect l="l" t="t" r="r" b="b"/>
              <a:pathLst>
                <a:path w="11039475" h="2705100">
                  <a:moveTo>
                    <a:pt x="0" y="133350"/>
                  </a:moveTo>
                  <a:cubicBezTo>
                    <a:pt x="2457450" y="0"/>
                    <a:pt x="7524750" y="76200"/>
                    <a:pt x="11039475" y="180975"/>
                  </a:cubicBezTo>
                  <a:lnTo>
                    <a:pt x="10982325" y="2581275"/>
                  </a:lnTo>
                  <a:cubicBezTo>
                    <a:pt x="7515225" y="2705100"/>
                    <a:pt x="2438400" y="2647950"/>
                    <a:pt x="19050" y="2543175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3534" y="3585210"/>
              <a:ext cx="607618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参数校验：无效输入不再往下执行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47725" y="3962400"/>
              <a:ext cx="7267575" cy="114300"/>
            </a:xfrm>
            <a:custGeom>
              <a:avLst/>
              <a:gdLst/>
              <a:ahLst/>
              <a:cxnLst/>
              <a:rect l="l" t="t" r="r" b="b"/>
              <a:pathLst>
                <a:path w="7267575" h="114300">
                  <a:moveTo>
                    <a:pt x="0" y="114300"/>
                  </a:moveTo>
                  <a:cubicBezTo>
                    <a:pt x="2314575" y="0"/>
                    <a:pt x="5295900" y="76200"/>
                    <a:pt x="7267575" y="2857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156" y="4282440"/>
              <a:ext cx="3321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public void Heal(int amount)</a:t>
              </a:r>
              <a:endParaRPr lang="en-US" sz="18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7156" y="46348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{</a:t>
              </a:r>
              <a:endParaRPr lang="en-US" sz="18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91006" y="4987290"/>
              <a:ext cx="3109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85C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if (amount &lt;= 0) return;</a:t>
              </a:r>
              <a:endParaRPr lang="en-US" sz="1800" b="1" dirty="0">
                <a:solidFill>
                  <a:srgbClr val="D85C4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1006" y="5339715"/>
              <a:ext cx="22572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health += amount;</a:t>
              </a:r>
              <a:endParaRPr lang="en-US" sz="1800" b="1" dirty="0">
                <a:solidFill>
                  <a:srgbClr val="2F8F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7156" y="56159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en-US" sz="18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717631" y="4543425"/>
              <a:ext cx="2978182" cy="1224534"/>
              <a:chOff x="7717631" y="4543425"/>
              <a:chExt cx="2978182" cy="1224534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7717631" y="4586288"/>
                <a:ext cx="464344" cy="371474"/>
                <a:chOff x="7717631" y="4586288"/>
                <a:chExt cx="464344" cy="371474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7717631" y="4586288"/>
                  <a:ext cx="12382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247650">
                      <a:moveTo>
                        <a:pt x="123825" y="247650"/>
                      </a:moveTo>
                      <a:lnTo>
                        <a:pt x="0" y="123825"/>
                      </a:lnTo>
                      <a:lnTo>
                        <a:pt x="123825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7717631" y="4710112"/>
                  <a:ext cx="464344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344" h="247650">
                      <a:moveTo>
                        <a:pt x="0" y="0"/>
                      </a:moveTo>
                      <a:lnTo>
                        <a:pt x="340519" y="0"/>
                      </a:lnTo>
                      <a:cubicBezTo>
                        <a:pt x="408905" y="0"/>
                        <a:pt x="464344" y="55438"/>
                        <a:pt x="464344" y="123825"/>
                      </a:cubicBezTo>
                      <a:cubicBezTo>
                        <a:pt x="464344" y="192212"/>
                        <a:pt x="408905" y="247650"/>
                        <a:pt x="340519" y="247650"/>
                      </a:cubicBezTo>
                      <a:lnTo>
                        <a:pt x="309562" y="24765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</p:grpSp>
          <p:sp>
            <p:nvSpPr>
              <p:cNvPr id="29" name="Freeform 29"/>
              <p:cNvSpPr/>
              <p:nvPr/>
            </p:nvSpPr>
            <p:spPr>
              <a:xfrm>
                <a:off x="8239125" y="4543425"/>
                <a:ext cx="20193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019300" h="266700">
                    <a:moveTo>
                      <a:pt x="0" y="219075"/>
                    </a:moveTo>
                    <a:cubicBezTo>
                      <a:pt x="571500" y="0"/>
                      <a:pt x="1266825" y="28575"/>
                      <a:pt x="2019300" y="266700"/>
                    </a:cubicBezTo>
                  </a:path>
                </a:pathLst>
              </a:custGeom>
              <a:noFill/>
              <a:ln w="38100" cap="rnd">
                <a:solidFill>
                  <a:srgbClr val="D85C45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493633" y="4998720"/>
                <a:ext cx="203167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D85C45"/>
                    </a:solidFill>
                    <a:latin typeface="+mj-lt"/>
                    <a:ea typeface="+mj-ea"/>
                    <a:cs typeface="+mj-cs"/>
                  </a:rPr>
                  <a:t>提前 return</a:t>
                </a:r>
                <a:endParaRPr lang="zh-CN" sz="2400" b="1" dirty="0">
                  <a:solidFill>
                    <a:srgbClr val="D85C45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496681" y="5415915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保护后面的状态修改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4" name="Freeform 34"/>
          <p:cNvSpPr/>
          <p:nvPr/>
        </p:nvSpPr>
        <p:spPr>
          <a:xfrm>
            <a:off x="552450" y="6305550"/>
            <a:ext cx="10668000" cy="76200"/>
          </a:xfrm>
          <a:custGeom>
            <a:avLst/>
            <a:gdLst/>
            <a:ahLst/>
            <a:cxnLst/>
            <a:rect l="l" t="t" r="r" b="b"/>
            <a:pathLst>
              <a:path w="10668000" h="76200">
                <a:moveTo>
                  <a:pt x="0" y="47625"/>
                </a:moveTo>
                <a:cubicBezTo>
                  <a:pt x="2705100" y="0"/>
                  <a:pt x="5334000" y="76200"/>
                  <a:pt x="8077200" y="38100"/>
                </a:cubicBezTo>
                <a:cubicBezTo>
                  <a:pt x="9315450" y="19050"/>
                  <a:pt x="10020300" y="66675"/>
                  <a:pt x="10668000" y="38100"/>
                </a:cubicBez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  <a:endParaRPr lang="en-US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346710"/>
            <a:ext cx="90395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static</a:t>
            </a:r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属于类型，不是调用捷径</a:t>
            </a:r>
            <a:endParaRPr lang="zh-CN" sz="4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619125" y="942975"/>
            <a:ext cx="7477125" cy="104775"/>
          </a:xfrm>
          <a:custGeom>
            <a:avLst/>
            <a:gdLst/>
            <a:ahLst/>
            <a:cxnLst/>
            <a:rect l="l" t="t" r="r" b="b"/>
            <a:pathLst>
              <a:path w="7477125" h="104775">
                <a:moveTo>
                  <a:pt x="0" y="104775"/>
                </a:moveTo>
                <a:cubicBezTo>
                  <a:pt x="2495550" y="0"/>
                  <a:pt x="5267325" y="85725"/>
                  <a:pt x="7477125" y="19050"/>
                </a:cubicBezTo>
              </a:path>
            </a:pathLst>
          </a:custGeom>
          <a:noFill/>
          <a:ln w="47625" cap="rnd">
            <a:solidFill>
              <a:schemeClr val="accent2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485775" y="1598295"/>
            <a:ext cx="4429125" cy="4040505"/>
            <a:chOff x="485775" y="1598295"/>
            <a:chExt cx="4429125" cy="4040505"/>
          </a:xfrm>
        </p:grpSpPr>
        <p:sp>
          <p:nvSpPr>
            <p:cNvPr id="4" name="TextBox 4"/>
            <p:cNvSpPr txBox="1"/>
            <p:nvPr/>
          </p:nvSpPr>
          <p:spPr>
            <a:xfrm>
              <a:off x="704850" y="1598295"/>
              <a:ext cx="3012832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9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static</a:t>
              </a:r>
              <a:endParaRPr lang="en-US" sz="69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7334" y="254698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一个类型，共享一份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485775" y="2962275"/>
              <a:ext cx="4429125" cy="2676525"/>
              <a:chOff x="485775" y="2962275"/>
              <a:chExt cx="4429125" cy="26765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485775" y="2962275"/>
                <a:ext cx="4429125" cy="2676525"/>
              </a:xfrm>
              <a:custGeom>
                <a:avLst/>
                <a:gdLst/>
                <a:ahLst/>
                <a:cxnLst/>
                <a:rect l="l" t="t" r="r" b="b"/>
                <a:pathLst>
                  <a:path w="4429125" h="2676525">
                    <a:moveTo>
                      <a:pt x="200025" y="238125"/>
                    </a:moveTo>
                    <a:cubicBezTo>
                      <a:pt x="1209675" y="0"/>
                      <a:pt x="3009900" y="85725"/>
                      <a:pt x="4229100" y="409575"/>
                    </a:cubicBezTo>
                    <a:cubicBezTo>
                      <a:pt x="4429125" y="1133475"/>
                      <a:pt x="4219575" y="2000250"/>
                      <a:pt x="3390900" y="2390775"/>
                    </a:cubicBezTo>
                    <a:cubicBezTo>
                      <a:pt x="2295525" y="2676525"/>
                      <a:pt x="1057275" y="2447925"/>
                      <a:pt x="285750" y="1857375"/>
                    </a:cubicBezTo>
                    <a:cubicBezTo>
                      <a:pt x="0" y="1304925"/>
                      <a:pt x="28575" y="752475"/>
                      <a:pt x="200025" y="238125"/>
                    </a:cubicBezTo>
                    <a:close/>
                  </a:path>
                </a:pathLst>
              </a:custGeom>
              <a:solidFill>
                <a:srgbClr val="FFF9E9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925847" y="3566352"/>
                <a:ext cx="1485692" cy="1408080"/>
                <a:chOff x="1925847" y="3566352"/>
                <a:chExt cx="1485692" cy="1408080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925847" y="3566352"/>
                  <a:ext cx="1437421" cy="1406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421" h="1406874">
                      <a:moveTo>
                        <a:pt x="1405912" y="806338"/>
                      </a:moveTo>
                      <a:cubicBezTo>
                        <a:pt x="1437421" y="530243"/>
                        <a:pt x="1297429" y="262836"/>
                        <a:pt x="1052581" y="131418"/>
                      </a:cubicBezTo>
                      <a:cubicBezTo>
                        <a:pt x="807733" y="0"/>
                        <a:pt x="507507" y="31129"/>
                        <a:pt x="294830" y="209984"/>
                      </a:cubicBezTo>
                      <a:cubicBezTo>
                        <a:pt x="82152" y="388840"/>
                        <a:pt x="0" y="679281"/>
                        <a:pt x="87483" y="943038"/>
                      </a:cubicBezTo>
                      <a:cubicBezTo>
                        <a:pt x="174966" y="1206795"/>
                        <a:pt x="414406" y="1390570"/>
                        <a:pt x="691814" y="1406874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2024063" y="4069557"/>
                  <a:ext cx="12668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6826" h="9525">
                      <a:moveTo>
                        <a:pt x="0" y="0"/>
                      </a:moveTo>
                      <a:lnTo>
                        <a:pt x="1266826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2024063" y="4521994"/>
                  <a:ext cx="74652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522" h="9525">
                      <a:moveTo>
                        <a:pt x="0" y="0"/>
                      </a:moveTo>
                      <a:lnTo>
                        <a:pt x="746522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2360596" y="3617119"/>
                  <a:ext cx="259176" cy="1357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176" h="1357313">
                      <a:moveTo>
                        <a:pt x="259176" y="0"/>
                      </a:moveTo>
                      <a:cubicBezTo>
                        <a:pt x="0" y="415321"/>
                        <a:pt x="0" y="941992"/>
                        <a:pt x="259176" y="1357313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2695179" y="3617119"/>
                  <a:ext cx="213928" cy="7945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928" h="794556">
                      <a:moveTo>
                        <a:pt x="0" y="0"/>
                      </a:moveTo>
                      <a:cubicBezTo>
                        <a:pt x="150813" y="241753"/>
                        <a:pt x="213928" y="521284"/>
                        <a:pt x="189119" y="794556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3260726" y="4672807"/>
                  <a:ext cx="150813" cy="30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13" h="301625">
                      <a:moveTo>
                        <a:pt x="0" y="301625"/>
                      </a:moveTo>
                      <a:lnTo>
                        <a:pt x="150813" y="15081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883694" y="4672807"/>
                  <a:ext cx="150813" cy="30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13" h="301625">
                      <a:moveTo>
                        <a:pt x="150813" y="0"/>
                      </a:moveTo>
                      <a:lnTo>
                        <a:pt x="0" y="150813"/>
                      </a:lnTo>
                      <a:lnTo>
                        <a:pt x="150813" y="3016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Freeform 15"/>
              <p:cNvSpPr/>
              <p:nvPr/>
            </p:nvSpPr>
            <p:spPr>
              <a:xfrm>
                <a:off x="1104900" y="3133725"/>
                <a:ext cx="3305175" cy="933450"/>
              </a:xfrm>
              <a:custGeom>
                <a:avLst/>
                <a:gdLst/>
                <a:ahLst/>
                <a:cxnLst/>
                <a:rect l="l" t="t" r="r" b="b"/>
                <a:pathLst>
                  <a:path w="3305175" h="933450">
                    <a:moveTo>
                      <a:pt x="0" y="866775"/>
                    </a:moveTo>
                    <a:cubicBezTo>
                      <a:pt x="304800" y="323850"/>
                      <a:pt x="971550" y="0"/>
                      <a:pt x="1628775" y="47625"/>
                    </a:cubicBezTo>
                    <a:cubicBezTo>
                      <a:pt x="2352675" y="66675"/>
                      <a:pt x="2981325" y="400050"/>
                      <a:pt x="3305175" y="933450"/>
                    </a:cubicBezTo>
                  </a:path>
                </a:pathLst>
              </a:custGeom>
              <a:noFill/>
              <a:ln w="38100" cap="rnd">
                <a:solidFill>
                  <a:schemeClr val="accent2"/>
                </a:solidFill>
                <a:custDash>
                  <a:ds d="250000" sp="200000"/>
                </a:custDash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057275" y="3762375"/>
                <a:ext cx="266700" cy="266700"/>
              </a:xfrm>
              <a:prstGeom prst="ellipse">
                <a:avLst/>
              </a:prstGeom>
              <a:solidFill>
                <a:schemeClr val="accent3"/>
              </a:solidFill>
              <a:ln w="28575">
                <a:solidFill>
                  <a:srgbClr val="1A1A1A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4133850" y="3810000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rgbClr val="1A1A1A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47750" y="4972050"/>
                <a:ext cx="326707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3267075" h="352425">
                    <a:moveTo>
                      <a:pt x="0" y="76200"/>
                    </a:moveTo>
                    <a:cubicBezTo>
                      <a:pt x="752475" y="342900"/>
                      <a:pt x="2514600" y="352425"/>
                      <a:pt x="3267075" y="0"/>
                    </a:cubicBezTo>
                  </a:path>
                </a:pathLst>
              </a:custGeom>
              <a:noFill/>
              <a:ln w="38100" cap="rnd">
                <a:solidFill>
                  <a:schemeClr val="accent3"/>
                </a:solidFill>
              </a:ln>
            </p:spPr>
          </p:sp>
        </p:grpSp>
      </p:grpSp>
      <p:grpSp>
        <p:nvGrpSpPr>
          <p:cNvPr id="29" name="Group 29"/>
          <p:cNvGrpSpPr/>
          <p:nvPr/>
        </p:nvGrpSpPr>
        <p:grpSpPr>
          <a:xfrm>
            <a:off x="5334000" y="1457325"/>
            <a:ext cx="3205136" cy="3434334"/>
            <a:chOff x="5334000" y="1457325"/>
            <a:chExt cx="3205136" cy="3434334"/>
          </a:xfrm>
        </p:grpSpPr>
        <p:sp>
          <p:nvSpPr>
            <p:cNvPr id="21" name="Freeform 21"/>
            <p:cNvSpPr/>
            <p:nvPr/>
          </p:nvSpPr>
          <p:spPr>
            <a:xfrm>
              <a:off x="5334000" y="1457325"/>
              <a:ext cx="3200400" cy="704850"/>
            </a:xfrm>
            <a:custGeom>
              <a:avLst/>
              <a:gdLst/>
              <a:ahLst/>
              <a:cxnLst/>
              <a:rect l="l" t="t" r="r" b="b"/>
              <a:pathLst>
                <a:path w="3200400" h="704850">
                  <a:moveTo>
                    <a:pt x="0" y="85725"/>
                  </a:moveTo>
                  <a:cubicBezTo>
                    <a:pt x="1123950" y="0"/>
                    <a:pt x="2200275" y="66675"/>
                    <a:pt x="3200400" y="142875"/>
                  </a:cubicBezTo>
                  <a:lnTo>
                    <a:pt x="3171825" y="619125"/>
                  </a:lnTo>
                  <a:cubicBezTo>
                    <a:pt x="2143125" y="704850"/>
                    <a:pt x="1095375" y="666750"/>
                    <a:pt x="0" y="59055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41789" y="1604010"/>
              <a:ext cx="218482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适合 static</a:t>
              </a:r>
              <a:endParaRPr lang="zh-CN" sz="2700" b="1" dirty="0">
                <a:solidFill>
                  <a:srgbClr val="FFFDF6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05831" y="2396490"/>
              <a:ext cx="22700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无状态的计算工具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01106" y="2729865"/>
              <a:ext cx="18072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Mathf.Clamp()</a:t>
              </a:r>
              <a:endParaRPr lang="en-US" sz="1800" dirty="0">
                <a:solidFill>
                  <a:srgbClr val="2F8F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05831" y="3301365"/>
              <a:ext cx="30333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全局共享且只应存在一份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01106" y="36347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类型级配置或只读信息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05831" y="4206240"/>
              <a:ext cx="1506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类型级统计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01106" y="45396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例如对象创建数量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Freeform 30"/>
          <p:cNvSpPr/>
          <p:nvPr/>
        </p:nvSpPr>
        <p:spPr>
          <a:xfrm>
            <a:off x="8601075" y="1524000"/>
            <a:ext cx="180975" cy="3495675"/>
          </a:xfrm>
          <a:custGeom>
            <a:avLst/>
            <a:gdLst/>
            <a:ahLst/>
            <a:cxnLst/>
            <a:rect l="l" t="t" r="r" b="b"/>
            <a:pathLst>
              <a:path w="180975" h="3495675">
                <a:moveTo>
                  <a:pt x="104775" y="0"/>
                </a:moveTo>
                <a:cubicBezTo>
                  <a:pt x="0" y="1123950"/>
                  <a:pt x="180975" y="2543175"/>
                  <a:pt x="66675" y="3495675"/>
                </a:cubicBezTo>
              </a:path>
            </a:pathLst>
          </a:custGeom>
          <a:noFill/>
          <a:ln w="28575">
            <a:solidFill>
              <a:schemeClr val="accent4"/>
            </a:solidFill>
            <a:custDash>
              <a:ds d="300000" sp="233333"/>
            </a:custDash>
          </a:ln>
        </p:spPr>
      </p:sp>
      <p:grpSp>
        <p:nvGrpSpPr>
          <p:cNvPr id="39" name="Group 39"/>
          <p:cNvGrpSpPr/>
          <p:nvPr/>
        </p:nvGrpSpPr>
        <p:grpSpPr>
          <a:xfrm>
            <a:off x="8896350" y="1457325"/>
            <a:ext cx="2705100" cy="3434334"/>
            <a:chOff x="8896350" y="1457325"/>
            <a:chExt cx="2705100" cy="3434334"/>
          </a:xfrm>
        </p:grpSpPr>
        <p:sp>
          <p:nvSpPr>
            <p:cNvPr id="31" name="Freeform 31"/>
            <p:cNvSpPr/>
            <p:nvPr/>
          </p:nvSpPr>
          <p:spPr>
            <a:xfrm>
              <a:off x="8896350" y="1457325"/>
              <a:ext cx="2705100" cy="704850"/>
            </a:xfrm>
            <a:custGeom>
              <a:avLst/>
              <a:gdLst/>
              <a:ahLst/>
              <a:cxnLst/>
              <a:rect l="l" t="t" r="r" b="b"/>
              <a:pathLst>
                <a:path w="2705100" h="704850">
                  <a:moveTo>
                    <a:pt x="0" y="85725"/>
                  </a:moveTo>
                  <a:cubicBezTo>
                    <a:pt x="962025" y="0"/>
                    <a:pt x="1905000" y="66675"/>
                    <a:pt x="2705100" y="142875"/>
                  </a:cubicBezTo>
                  <a:lnTo>
                    <a:pt x="2676525" y="619125"/>
                  </a:lnTo>
                  <a:cubicBezTo>
                    <a:pt x="1847850" y="704850"/>
                    <a:pt x="933450" y="666750"/>
                    <a:pt x="0" y="590550"/>
                  </a:cubicBezTo>
                  <a:close/>
                </a:path>
              </a:pathLst>
            </a:custGeom>
            <a:solidFill>
              <a:srgbClr val="D85C4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28683" y="1604010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谨慎使用</a:t>
              </a:r>
              <a:endParaRPr lang="zh-CN" sz="2700" b="1" dirty="0">
                <a:solidFill>
                  <a:srgbClr val="FFFDF6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49131" y="2396490"/>
              <a:ext cx="2015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× 场景切换后残留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77731" y="27298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的可变状态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49131" y="3301365"/>
              <a:ext cx="22700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× 任意对象都能改写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77731" y="3634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的全局数据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49131" y="4206240"/>
              <a:ext cx="2041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× 只为“调用方便”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77731" y="45396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静态化大量逻辑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172075" y="5105400"/>
            <a:ext cx="6438900" cy="972312"/>
            <a:chOff x="5172075" y="5105400"/>
            <a:chExt cx="6438900" cy="972312"/>
          </a:xfrm>
        </p:grpSpPr>
        <p:sp>
          <p:nvSpPr>
            <p:cNvPr id="40" name="Freeform 40"/>
            <p:cNvSpPr/>
            <p:nvPr/>
          </p:nvSpPr>
          <p:spPr>
            <a:xfrm>
              <a:off x="5172075" y="5105400"/>
              <a:ext cx="6438900" cy="933450"/>
            </a:xfrm>
            <a:custGeom>
              <a:avLst/>
              <a:gdLst/>
              <a:ahLst/>
              <a:cxnLst/>
              <a:rect l="l" t="t" r="r" b="b"/>
              <a:pathLst>
                <a:path w="6438900" h="933450">
                  <a:moveTo>
                    <a:pt x="0" y="114300"/>
                  </a:moveTo>
                  <a:cubicBezTo>
                    <a:pt x="1704975" y="0"/>
                    <a:pt x="4419600" y="57150"/>
                    <a:pt x="6438900" y="152400"/>
                  </a:cubicBezTo>
                  <a:lnTo>
                    <a:pt x="6400800" y="838200"/>
                  </a:lnTo>
                  <a:cubicBezTo>
                    <a:pt x="4324350" y="933450"/>
                    <a:pt x="1743075" y="904875"/>
                    <a:pt x="28575" y="800100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93258" y="5332095"/>
              <a:ext cx="14581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最后判断</a:t>
              </a:r>
              <a:endPara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45833" y="524637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对象状态属于实例；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45833" y="560832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真正共享才属于类型。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5" name="Freeform 45"/>
          <p:cNvSpPr/>
          <p:nvPr/>
        </p:nvSpPr>
        <p:spPr>
          <a:xfrm>
            <a:off x="552450" y="6305550"/>
            <a:ext cx="10668000" cy="76200"/>
          </a:xfrm>
          <a:custGeom>
            <a:avLst/>
            <a:gdLst/>
            <a:ahLst/>
            <a:cxnLst/>
            <a:rect l="l" t="t" r="r" b="b"/>
            <a:pathLst>
              <a:path w="10668000" h="76200">
                <a:moveTo>
                  <a:pt x="0" y="47625"/>
                </a:moveTo>
                <a:cubicBezTo>
                  <a:pt x="2705100" y="0"/>
                  <a:pt x="5334000" y="76200"/>
                  <a:pt x="8077200" y="38100"/>
                </a:cubicBezTo>
                <a:cubicBezTo>
                  <a:pt x="9315450" y="19050"/>
                  <a:pt x="10020300" y="66675"/>
                  <a:pt x="10668000" y="38100"/>
                </a:cubicBez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1EB1BC23-997C-4DB7-B2C9-45853D0502C0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</a:fld>
            <a:endParaRPr lang="en-US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1583</Words>
  <Application>WPS 演示</Application>
  <PresentationFormat>On-screen Show (16:9)</PresentationFormat>
  <Paragraphs>298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Arial</vt:lpstr>
      <vt:lpstr>Consolas</vt:lpstr>
      <vt:lpstr>微软雅黑</vt:lpstr>
      <vt:lpstr>Trebuchet MS</vt:lpstr>
      <vt:lpstr>楷体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陷入旋流的蚕</cp:lastModifiedBy>
  <cp:revision>2</cp:revision>
  <dcterms:created xsi:type="dcterms:W3CDTF">2026-07-18T10:43:00Z</dcterms:created>
  <dcterms:modified xsi:type="dcterms:W3CDTF">2026-07-19T02:30:54Z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1079E226698442409FFCD44E23E77AAC_12</vt:lpwstr>
  </property>
</Properties>
</file>