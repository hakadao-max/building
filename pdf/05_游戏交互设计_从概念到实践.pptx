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这节课讨论的不是某个按键怎么绑定，而是玩家为什么愿意继续动手。真正的交互是一场对话：玩家提出动作，世界给出回应，回应又产生下一步想法。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输入只是鼠标、键盘或手柄产生的信号，只有被游戏解释并改变世界时，才形成交互。设计时要先回答玩家到底改变了什么，以及这个结果如何影响下一步决策。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会动、发光、发声或与环境不同的东西会吸引玩家尝试，但提示必须有选择性。玩家操作后，完整动作可以慢，确认反馈必须立刻发生，否则玩家会以为输入没有生效。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有深度的交互通常来自多用途、稳定规则、局面变化和合理的自由试验。一个简单功能能在不同场景产生不同结果，比不断增加新按键更容易形成真正的系统性玩法。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新机制先让玩家发现，再用于简单问题，然后与其他机制组合，接着放进压力环境，最后让玩家反向利用。这样不增加输入复杂度，也能不断产生新鲜感。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《超阈限空间》把近大远小的视觉经验变成真实尺度变化。原型的核心是深度比率与等比缩放，稳定性则来自 Kinematic 抓取、体积碰撞检查、尺寸限制和非法位置反馈。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玩家通过摄像机 A 看见 B，再从 B 控制远处设备，观察范围和控制权沿网络移动。摄像机节点只负责连接与目标选择，具体门、灯和升降机通过统一远程接口处理自己的状态。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跳跃高度由按键时长控制，Coyote Time 和 Input Buffer 则为玩家提供隐形宽容。不同上升与下落重力、顶点微调和空中控制，共同让一个基础动作长期保持可用和有趣。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传送门不仅搬运位置，还把方向、旋转和 Rigidbody 速度从入口坐标系转换到出口坐标系。动量被保留后，下落可以变成加速，空间关系就成为解谜资源。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重力枪让场景中的箱子、锯片和油桶获得战术意义。原型可以用 Kinematic 跟随，进阶版本用弹簧力或 PD Controller 保留重量感，再通过 Impulse 完成发射。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对象保存可燃、导电、可冻结等属性，系统统一发送热量、点燃、雷电和冻结事件。组合结果由状态与属性自然产生，避免为每个谜题编写一套专用脚本。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文字方块组成实时规则，玩家每移动一步，系统重新扫描、解析并应用本回合规则。关键难点是规则冲突和处理顺序必须稳定，否则玩家无法形成可靠预期。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《Papers, Please》把文件整理和盖章变成时间、空间与道德决策；《死亡搁浅》把走路变成地形、货物与平衡管理。两者都证明，被忽略的普通动作也能承载完整玩法。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材质转移、力量记忆和视线外行动都只有一条核心规则，却能快速扩展用途。做原型时先在一个房间里验证最小循环，再考虑更多物体、敌人与关卡组合。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原型前先说清改变对象、发现方式、即时反馈、组合空间与最小验证场景。一个房间、一个物体和一条规则已经有趣，才值得继续增加内容和系统复杂度。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95300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619125"/>
                </a:moveTo>
                <a:cubicBezTo>
                  <a:pt x="2190750" y="0"/>
                  <a:pt x="4000500" y="1524000"/>
                  <a:pt x="6324600" y="819150"/>
                </a:cubicBezTo>
                <a:cubicBezTo>
                  <a:pt x="8763000" y="95250"/>
                  <a:pt x="10287000" y="1047750"/>
                  <a:pt x="12192000" y="19050"/>
                </a:cubicBezTo>
                <a:lnTo>
                  <a:pt x="12192000" y="1905000"/>
                </a:lnTo>
                <a:lnTo>
                  <a:pt x="0" y="1905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47700" y="838200"/>
            <a:ext cx="3943350" cy="247650"/>
          </a:xfrm>
          <a:custGeom>
            <a:avLst/>
            <a:gdLst/>
            <a:ahLst/>
            <a:cxnLst/>
            <a:rect l="l" t="t" r="r" b="b"/>
            <a:pathLst>
              <a:path w="3943350" h="247650">
                <a:moveTo>
                  <a:pt x="0" y="247650"/>
                </a:moveTo>
                <a:cubicBezTo>
                  <a:pt x="1543050" y="0"/>
                  <a:pt x="2743200" y="209550"/>
                  <a:pt x="3943350" y="38100"/>
                </a:cubicBezTo>
              </a:path>
            </a:pathLst>
          </a:custGeom>
          <a:noFill/>
          <a:ln w="9525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09600" y="1445895"/>
            <a:ext cx="6221273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游戏交互设计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748" y="2517458"/>
            <a:ext cx="708888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从概念到实践：让玩家真正想动手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3608" y="3265170"/>
            <a:ext cx="680923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交互不是按键，而是玩家与世界之间的一场对话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553325" y="1047750"/>
            <a:ext cx="3867150" cy="3581400"/>
            <a:chOff x="7553325" y="1047750"/>
            <a:chExt cx="3867150" cy="3581400"/>
          </a:xfrm>
        </p:grpSpPr>
        <p:sp>
          <p:nvSpPr>
            <p:cNvPr id="7" name="Ellipse 7"/>
            <p:cNvSpPr/>
            <p:nvPr/>
          </p:nvSpPr>
          <p:spPr>
            <a:xfrm>
              <a:off x="7686675" y="1047750"/>
              <a:ext cx="3581400" cy="35814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477375" y="1352550"/>
              <a:ext cx="1390650" cy="1028700"/>
            </a:xfrm>
            <a:custGeom>
              <a:avLst/>
              <a:gdLst/>
              <a:ahLst/>
              <a:cxnLst/>
              <a:rect l="l" t="t" r="r" b="b"/>
              <a:pathLst>
                <a:path w="1390650" h="1028700">
                  <a:moveTo>
                    <a:pt x="0" y="0"/>
                  </a:moveTo>
                  <a:cubicBezTo>
                    <a:pt x="635937" y="9940"/>
                    <a:pt x="1195031" y="423516"/>
                    <a:pt x="1390650" y="102870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639425" y="21717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23825" y="0"/>
                  </a:moveTo>
                  <a:lnTo>
                    <a:pt x="266700" y="228600"/>
                  </a:lnTo>
                  <a:lnTo>
                    <a:pt x="0" y="266700"/>
                  </a:lnTo>
                </a:path>
              </a:pathLst>
            </a:custGeom>
            <a:noFill/>
            <a:ln w="76200">
              <a:solidFill>
                <a:schemeClr val="accent1"/>
              </a:solidFill>
              <a:round/>
            </a:ln>
          </p:spPr>
        </p:sp>
        <p:sp>
          <p:nvSpPr>
            <p:cNvPr id="10" name="Freeform 10"/>
            <p:cNvSpPr/>
            <p:nvPr/>
          </p:nvSpPr>
          <p:spPr>
            <a:xfrm>
              <a:off x="9934575" y="2838450"/>
              <a:ext cx="1028700" cy="1390650"/>
            </a:xfrm>
            <a:custGeom>
              <a:avLst/>
              <a:gdLst/>
              <a:ahLst/>
              <a:cxnLst/>
              <a:rect l="l" t="t" r="r" b="b"/>
              <a:pathLst>
                <a:path w="1028700" h="1390650">
                  <a:moveTo>
                    <a:pt x="1028700" y="0"/>
                  </a:moveTo>
                  <a:cubicBezTo>
                    <a:pt x="1018760" y="635937"/>
                    <a:pt x="605184" y="1195031"/>
                    <a:pt x="0" y="1390650"/>
                  </a:cubicBezTo>
                </a:path>
              </a:pathLst>
            </a:custGeom>
            <a:noFill/>
            <a:ln w="114300" cap="rnd">
              <a:solidFill>
                <a:schemeClr val="accent3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877425" y="40005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23825"/>
                  </a:moveTo>
                  <a:lnTo>
                    <a:pt x="38100" y="26670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chemeClr val="accent3"/>
              </a:solidFill>
              <a:round/>
            </a:ln>
          </p:spPr>
        </p:sp>
        <p:sp>
          <p:nvSpPr>
            <p:cNvPr id="12" name="Freeform 12"/>
            <p:cNvSpPr/>
            <p:nvPr/>
          </p:nvSpPr>
          <p:spPr>
            <a:xfrm>
              <a:off x="8086725" y="3295650"/>
              <a:ext cx="1390650" cy="1028700"/>
            </a:xfrm>
            <a:custGeom>
              <a:avLst/>
              <a:gdLst/>
              <a:ahLst/>
              <a:cxnLst/>
              <a:rect l="l" t="t" r="r" b="b"/>
              <a:pathLst>
                <a:path w="1390650" h="1028700">
                  <a:moveTo>
                    <a:pt x="1390650" y="1028700"/>
                  </a:moveTo>
                  <a:cubicBezTo>
                    <a:pt x="754713" y="1018760"/>
                    <a:pt x="195619" y="605184"/>
                    <a:pt x="0" y="0"/>
                  </a:cubicBezTo>
                </a:path>
              </a:pathLst>
            </a:custGeom>
            <a:noFill/>
            <a:ln w="114300" cap="rnd">
              <a:solidFill>
                <a:schemeClr val="accent2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048625" y="32385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42875" y="266700"/>
                  </a:moveTo>
                  <a:lnTo>
                    <a:pt x="0" y="38100"/>
                  </a:lnTo>
                  <a:lnTo>
                    <a:pt x="266700" y="0"/>
                  </a:lnTo>
                </a:path>
              </a:pathLst>
            </a:custGeom>
            <a:noFill/>
            <a:ln w="76200">
              <a:solidFill>
                <a:schemeClr val="accent2"/>
              </a:solidFill>
              <a:round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91475" y="1447800"/>
              <a:ext cx="1028700" cy="1390650"/>
            </a:xfrm>
            <a:custGeom>
              <a:avLst/>
              <a:gdLst/>
              <a:ahLst/>
              <a:cxnLst/>
              <a:rect l="l" t="t" r="r" b="b"/>
              <a:pathLst>
                <a:path w="1028700" h="1390650">
                  <a:moveTo>
                    <a:pt x="0" y="1390650"/>
                  </a:moveTo>
                  <a:cubicBezTo>
                    <a:pt x="9940" y="754713"/>
                    <a:pt x="423516" y="195619"/>
                    <a:pt x="1028700" y="0"/>
                  </a:cubicBezTo>
                </a:path>
              </a:pathLst>
            </a:custGeom>
            <a:noFill/>
            <a:ln w="114300" cap="rnd">
              <a:solidFill>
                <a:srgbClr val="D85C4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810625" y="14097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42875"/>
                  </a:moveTo>
                  <a:lnTo>
                    <a:pt x="228600" y="0"/>
                  </a:lnTo>
                  <a:lnTo>
                    <a:pt x="266700" y="266700"/>
                  </a:lnTo>
                </a:path>
              </a:pathLst>
            </a:custGeom>
            <a:noFill/>
            <a:ln w="76200">
              <a:solidFill>
                <a:srgbClr val="D85C45"/>
              </a:solidFill>
              <a:round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553325" y="1104900"/>
              <a:ext cx="3867150" cy="3467100"/>
              <a:chOff x="7553325" y="1104900"/>
              <a:chExt cx="3867150" cy="34671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677275" y="1104900"/>
                <a:ext cx="160020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959367" y="124396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产生想法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0353675" y="2590800"/>
                <a:ext cx="106680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623499" y="2729865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操作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677275" y="4057650"/>
                <a:ext cx="160020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959367" y="419671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世界变化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553325" y="2590800"/>
                <a:ext cx="1066800" cy="514350"/>
              </a:xfrm>
              <a:prstGeom prst="roundRect">
                <a:avLst>
                  <a:gd name="adj" fmla="val 296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823149" y="2729865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反馈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001125" y="2552700"/>
              <a:ext cx="952500" cy="571500"/>
              <a:chOff x="9001125" y="2552700"/>
              <a:chExt cx="952500" cy="571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001125" y="2552700"/>
                <a:ext cx="952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571500">
                    <a:moveTo>
                      <a:pt x="0" y="95250"/>
                    </a:moveTo>
                    <a:cubicBezTo>
                      <a:pt x="0" y="42645"/>
                      <a:pt x="42645" y="0"/>
                      <a:pt x="95250" y="0"/>
                    </a:cubicBezTo>
                    <a:lnTo>
                      <a:pt x="857250" y="0"/>
                    </a:lnTo>
                    <a:cubicBezTo>
                      <a:pt x="909855" y="0"/>
                      <a:pt x="952500" y="42645"/>
                      <a:pt x="952500" y="95250"/>
                    </a:cubicBezTo>
                    <a:lnTo>
                      <a:pt x="952500" y="476250"/>
                    </a:lnTo>
                    <a:cubicBezTo>
                      <a:pt x="952500" y="528855"/>
                      <a:pt x="909855" y="571500"/>
                      <a:pt x="857250" y="571500"/>
                    </a:cubicBezTo>
                    <a:lnTo>
                      <a:pt x="95250" y="571500"/>
                    </a:lnTo>
                    <a:cubicBezTo>
                      <a:pt x="42645" y="571500"/>
                      <a:pt x="0" y="528855"/>
                      <a:pt x="0" y="476250"/>
                    </a:cubicBez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chemeClr val="dk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191625" y="27432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lnTo>
                      <a:pt x="190500" y="95250"/>
                    </a:lnTo>
                    <a:moveTo>
                      <a:pt x="95250" y="0"/>
                    </a:moveTo>
                    <a:lnTo>
                      <a:pt x="95250" y="190500"/>
                    </a:lnTo>
                  </a:path>
                </a:pathLst>
              </a:custGeom>
              <a:noFill/>
              <a:ln w="19050">
                <a:solidFill>
                  <a:schemeClr val="dk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620250" y="27908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476"/>
                    </a:lnTo>
                  </a:path>
                </a:pathLst>
              </a:custGeom>
              <a:noFill/>
              <a:ln w="19050">
                <a:solidFill>
                  <a:schemeClr val="dk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763125" y="2886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476"/>
                    </a:lnTo>
                  </a:path>
                </a:pathLst>
              </a:custGeom>
              <a:noFill/>
              <a:ln w="19050">
                <a:solidFill>
                  <a:schemeClr val="dk1"/>
                </a:solidFill>
              </a:ln>
            </p:spPr>
          </p:sp>
        </p:grpSp>
      </p:grpSp>
      <p:grpSp>
        <p:nvGrpSpPr>
          <p:cNvPr id="37" name="Group 37"/>
          <p:cNvGrpSpPr/>
          <p:nvPr/>
        </p:nvGrpSpPr>
        <p:grpSpPr>
          <a:xfrm>
            <a:off x="666750" y="4686300"/>
            <a:ext cx="5810250" cy="876300"/>
            <a:chOff x="666750" y="4686300"/>
            <a:chExt cx="5810250" cy="876300"/>
          </a:xfrm>
        </p:grpSpPr>
        <p:sp>
          <p:nvSpPr>
            <p:cNvPr id="31" name="Rectangle 31"/>
            <p:cNvSpPr/>
            <p:nvPr/>
          </p:nvSpPr>
          <p:spPr>
            <a:xfrm>
              <a:off x="666750" y="4686300"/>
              <a:ext cx="5810250" cy="876300"/>
            </a:xfrm>
            <a:prstGeom prst="roundRect">
              <a:avLst>
                <a:gd name="adj" fmla="val 23913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50119" y="4960144"/>
              <a:ext cx="328613" cy="328613"/>
              <a:chOff x="950119" y="4960144"/>
              <a:chExt cx="328613" cy="32861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50119" y="4960144"/>
                <a:ext cx="328613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164307">
                    <a:moveTo>
                      <a:pt x="0" y="164307"/>
                    </a:moveTo>
                    <a:lnTo>
                      <a:pt x="18256" y="164307"/>
                    </a:lnTo>
                    <a:moveTo>
                      <a:pt x="164307" y="0"/>
                    </a:moveTo>
                    <a:lnTo>
                      <a:pt x="164307" y="18256"/>
                    </a:lnTo>
                    <a:moveTo>
                      <a:pt x="310357" y="164307"/>
                    </a:moveTo>
                    <a:lnTo>
                      <a:pt x="328613" y="164307"/>
                    </a:lnTo>
                    <a:moveTo>
                      <a:pt x="47466" y="47466"/>
                    </a:moveTo>
                    <a:lnTo>
                      <a:pt x="60246" y="60246"/>
                    </a:lnTo>
                    <a:moveTo>
                      <a:pt x="281147" y="47466"/>
                    </a:moveTo>
                    <a:lnTo>
                      <a:pt x="268367" y="60246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15404" y="5033169"/>
                <a:ext cx="198044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198044" h="255588">
                    <a:moveTo>
                      <a:pt x="44253" y="164307"/>
                    </a:moveTo>
                    <a:cubicBezTo>
                      <a:pt x="12821" y="140732"/>
                      <a:pt x="0" y="99690"/>
                      <a:pt x="12425" y="62416"/>
                    </a:cubicBezTo>
                    <a:cubicBezTo>
                      <a:pt x="24849" y="25142"/>
                      <a:pt x="59732" y="0"/>
                      <a:pt x="99022" y="0"/>
                    </a:cubicBezTo>
                    <a:cubicBezTo>
                      <a:pt x="138312" y="0"/>
                      <a:pt x="173194" y="25142"/>
                      <a:pt x="185619" y="62416"/>
                    </a:cubicBezTo>
                    <a:cubicBezTo>
                      <a:pt x="198044" y="99690"/>
                      <a:pt x="185223" y="140732"/>
                      <a:pt x="153791" y="164307"/>
                    </a:cubicBezTo>
                    <a:cubicBezTo>
                      <a:pt x="139335" y="178616"/>
                      <a:pt x="132555" y="198954"/>
                      <a:pt x="135534" y="219075"/>
                    </a:cubicBezTo>
                    <a:cubicBezTo>
                      <a:pt x="135534" y="239241"/>
                      <a:pt x="119187" y="255588"/>
                      <a:pt x="99022" y="255588"/>
                    </a:cubicBezTo>
                    <a:cubicBezTo>
                      <a:pt x="78856" y="255588"/>
                      <a:pt x="62509" y="239241"/>
                      <a:pt x="62509" y="219075"/>
                    </a:cubicBezTo>
                    <a:cubicBezTo>
                      <a:pt x="65488" y="198954"/>
                      <a:pt x="58709" y="178616"/>
                      <a:pt x="44253" y="164307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2436" y="5215732"/>
                <a:ext cx="8397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3979" h="9525">
                    <a:moveTo>
                      <a:pt x="0" y="0"/>
                    </a:moveTo>
                    <a:lnTo>
                      <a:pt x="83979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530858" y="4970145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玩家到底在改变什么？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78942" y="6274118"/>
            <a:ext cx="216729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游戏设计课程 · 第 05 单元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32911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输入不等于交互：结果要驱动下一步想法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38953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交互是一段持续对话，不是一次按键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66750" y="1809750"/>
            <a:ext cx="10420350" cy="3124200"/>
            <a:chOff x="666750" y="1809750"/>
            <a:chExt cx="10420350" cy="3124200"/>
          </a:xfrm>
        </p:grpSpPr>
        <p:sp>
          <p:nvSpPr>
            <p:cNvPr id="4" name="Polygon 4"/>
            <p:cNvSpPr/>
            <p:nvPr/>
          </p:nvSpPr>
          <p:spPr>
            <a:xfrm>
              <a:off x="666750" y="1809750"/>
              <a:ext cx="2686050" cy="1600200"/>
            </a:xfrm>
            <a:custGeom>
              <a:avLst/>
              <a:gdLst/>
              <a:ahLst/>
              <a:cxnLst/>
              <a:rect l="l" t="t" r="r" b="b"/>
              <a:pathLst>
                <a:path w="2686050" h="1600200">
                  <a:moveTo>
                    <a:pt x="0" y="0"/>
                  </a:moveTo>
                  <a:lnTo>
                    <a:pt x="2286000" y="0"/>
                  </a:lnTo>
                  <a:lnTo>
                    <a:pt x="2686050" y="800100"/>
                  </a:lnTo>
                  <a:lnTo>
                    <a:pt x="2286000" y="1600200"/>
                  </a:lnTo>
                  <a:lnTo>
                    <a:pt x="0" y="1600200"/>
                  </a:lnTo>
                  <a:lnTo>
                    <a:pt x="400050" y="8001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685925" y="2105025"/>
              <a:ext cx="400049" cy="400050"/>
              <a:chOff x="1685925" y="2105025"/>
              <a:chExt cx="400049" cy="4000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685925" y="2105025"/>
                <a:ext cx="400049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200025">
                    <a:moveTo>
                      <a:pt x="0" y="200025"/>
                    </a:moveTo>
                    <a:lnTo>
                      <a:pt x="22225" y="200025"/>
                    </a:lnTo>
                    <a:moveTo>
                      <a:pt x="200025" y="0"/>
                    </a:moveTo>
                    <a:lnTo>
                      <a:pt x="200025" y="22225"/>
                    </a:lnTo>
                    <a:moveTo>
                      <a:pt x="377824" y="200025"/>
                    </a:moveTo>
                    <a:lnTo>
                      <a:pt x="400049" y="200025"/>
                    </a:lnTo>
                    <a:moveTo>
                      <a:pt x="57785" y="57785"/>
                    </a:moveTo>
                    <a:lnTo>
                      <a:pt x="73342" y="73342"/>
                    </a:lnTo>
                    <a:moveTo>
                      <a:pt x="342265" y="57785"/>
                    </a:moveTo>
                    <a:lnTo>
                      <a:pt x="326707" y="7334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765402" y="2193925"/>
                <a:ext cx="241096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241096" h="311150">
                    <a:moveTo>
                      <a:pt x="53873" y="200025"/>
                    </a:moveTo>
                    <a:cubicBezTo>
                      <a:pt x="15608" y="171326"/>
                      <a:pt x="0" y="121361"/>
                      <a:pt x="15126" y="75984"/>
                    </a:cubicBezTo>
                    <a:cubicBezTo>
                      <a:pt x="30251" y="30607"/>
                      <a:pt x="72716" y="0"/>
                      <a:pt x="120548" y="0"/>
                    </a:cubicBezTo>
                    <a:cubicBezTo>
                      <a:pt x="168379" y="0"/>
                      <a:pt x="210845" y="30607"/>
                      <a:pt x="225970" y="75984"/>
                    </a:cubicBezTo>
                    <a:cubicBezTo>
                      <a:pt x="241096" y="121361"/>
                      <a:pt x="225488" y="171326"/>
                      <a:pt x="187223" y="200025"/>
                    </a:cubicBezTo>
                    <a:cubicBezTo>
                      <a:pt x="169624" y="217445"/>
                      <a:pt x="161371" y="242204"/>
                      <a:pt x="164998" y="266700"/>
                    </a:cubicBezTo>
                    <a:cubicBezTo>
                      <a:pt x="164998" y="291249"/>
                      <a:pt x="145097" y="311150"/>
                      <a:pt x="120548" y="311150"/>
                    </a:cubicBezTo>
                    <a:cubicBezTo>
                      <a:pt x="95999" y="311150"/>
                      <a:pt x="76098" y="291249"/>
                      <a:pt x="76098" y="266700"/>
                    </a:cubicBezTo>
                    <a:cubicBezTo>
                      <a:pt x="79725" y="242204"/>
                      <a:pt x="71472" y="217445"/>
                      <a:pt x="53873" y="2000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834832" y="2416174"/>
                <a:ext cx="1022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235" h="9525">
                    <a:moveTo>
                      <a:pt x="0" y="0"/>
                    </a:moveTo>
                    <a:lnTo>
                      <a:pt x="10223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979856" y="2665095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玩家产生想法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3200400" y="1809750"/>
              <a:ext cx="2686050" cy="1600200"/>
            </a:xfrm>
            <a:custGeom>
              <a:avLst/>
              <a:gdLst/>
              <a:ahLst/>
              <a:cxnLst/>
              <a:rect l="l" t="t" r="r" b="b"/>
              <a:pathLst>
                <a:path w="2686050" h="1600200">
                  <a:moveTo>
                    <a:pt x="0" y="0"/>
                  </a:moveTo>
                  <a:lnTo>
                    <a:pt x="2286000" y="0"/>
                  </a:lnTo>
                  <a:lnTo>
                    <a:pt x="2686050" y="800100"/>
                  </a:lnTo>
                  <a:lnTo>
                    <a:pt x="2286000" y="1600200"/>
                  </a:lnTo>
                  <a:lnTo>
                    <a:pt x="0" y="1600200"/>
                  </a:lnTo>
                  <a:lnTo>
                    <a:pt x="400050" y="8001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41800" y="2127250"/>
              <a:ext cx="355545" cy="355545"/>
            </a:xfrm>
            <a:custGeom>
              <a:avLst/>
              <a:gdLst/>
              <a:ahLst/>
              <a:cxnLst/>
              <a:rect l="l" t="t" r="r" b="b"/>
              <a:pathLst>
                <a:path w="355545" h="355545">
                  <a:moveTo>
                    <a:pt x="86766" y="301437"/>
                  </a:moveTo>
                  <a:cubicBezTo>
                    <a:pt x="89187" y="312312"/>
                    <a:pt x="98111" y="320536"/>
                    <a:pt x="109147" y="322061"/>
                  </a:cubicBezTo>
                  <a:cubicBezTo>
                    <a:pt x="120182" y="323587"/>
                    <a:pt x="131004" y="318092"/>
                    <a:pt x="136284" y="308283"/>
                  </a:cubicBezTo>
                  <a:lnTo>
                    <a:pt x="182734" y="239541"/>
                  </a:lnTo>
                  <a:lnTo>
                    <a:pt x="291792" y="348599"/>
                  </a:lnTo>
                  <a:cubicBezTo>
                    <a:pt x="296239" y="353046"/>
                    <a:pt x="302271" y="355545"/>
                    <a:pt x="308560" y="355545"/>
                  </a:cubicBezTo>
                  <a:cubicBezTo>
                    <a:pt x="314850" y="355545"/>
                    <a:pt x="320882" y="353046"/>
                    <a:pt x="325329" y="348599"/>
                  </a:cubicBezTo>
                  <a:lnTo>
                    <a:pt x="348599" y="325329"/>
                  </a:lnTo>
                  <a:cubicBezTo>
                    <a:pt x="353046" y="320882"/>
                    <a:pt x="355545" y="314850"/>
                    <a:pt x="355545" y="308560"/>
                  </a:cubicBezTo>
                  <a:cubicBezTo>
                    <a:pt x="355545" y="302271"/>
                    <a:pt x="353046" y="296239"/>
                    <a:pt x="348599" y="291792"/>
                  </a:cubicBezTo>
                  <a:lnTo>
                    <a:pt x="239541" y="182734"/>
                  </a:lnTo>
                  <a:lnTo>
                    <a:pt x="308727" y="136284"/>
                  </a:lnTo>
                  <a:cubicBezTo>
                    <a:pt x="318537" y="131000"/>
                    <a:pt x="324028" y="120175"/>
                    <a:pt x="322498" y="109139"/>
                  </a:cubicBezTo>
                  <a:cubicBezTo>
                    <a:pt x="320967" y="98102"/>
                    <a:pt x="312737" y="89181"/>
                    <a:pt x="301860" y="86766"/>
                  </a:cubicBezTo>
                  <a:lnTo>
                    <a:pt x="0" y="0"/>
                  </a:lnTo>
                  <a:lnTo>
                    <a:pt x="86766" y="301437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52748" y="26650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做出操作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5734050" y="1809750"/>
              <a:ext cx="2686050" cy="1600200"/>
            </a:xfrm>
            <a:custGeom>
              <a:avLst/>
              <a:gdLst/>
              <a:ahLst/>
              <a:cxnLst/>
              <a:rect l="l" t="t" r="r" b="b"/>
              <a:pathLst>
                <a:path w="2686050" h="1600200">
                  <a:moveTo>
                    <a:pt x="0" y="0"/>
                  </a:moveTo>
                  <a:lnTo>
                    <a:pt x="2286000" y="0"/>
                  </a:lnTo>
                  <a:lnTo>
                    <a:pt x="2686050" y="800100"/>
                  </a:lnTo>
                  <a:lnTo>
                    <a:pt x="2286000" y="1600200"/>
                  </a:lnTo>
                  <a:lnTo>
                    <a:pt x="0" y="1600200"/>
                  </a:lnTo>
                  <a:lnTo>
                    <a:pt x="400050" y="800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753225" y="2171700"/>
              <a:ext cx="400050" cy="266700"/>
              <a:chOff x="6753225" y="2171700"/>
              <a:chExt cx="400050" cy="2667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842125" y="2171700"/>
                <a:ext cx="3111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88900">
                    <a:moveTo>
                      <a:pt x="0" y="88900"/>
                    </a:moveTo>
                    <a:lnTo>
                      <a:pt x="311150" y="88900"/>
                    </a:lnTo>
                    <a:lnTo>
                      <a:pt x="222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753225" y="2349500"/>
                <a:ext cx="3111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88900">
                    <a:moveTo>
                      <a:pt x="311150" y="0"/>
                    </a:moveTo>
                    <a:lnTo>
                      <a:pt x="0" y="0"/>
                    </a:lnTo>
                    <a:lnTo>
                      <a:pt x="88900" y="889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6047156" y="2665095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世界发生变化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8267700" y="1809750"/>
              <a:ext cx="2819400" cy="1600200"/>
            </a:xfrm>
            <a:custGeom>
              <a:avLst/>
              <a:gdLst/>
              <a:ahLst/>
              <a:cxnLst/>
              <a:rect l="l" t="t" r="r" b="b"/>
              <a:pathLst>
                <a:path w="2819400" h="1600200">
                  <a:moveTo>
                    <a:pt x="0" y="0"/>
                  </a:moveTo>
                  <a:lnTo>
                    <a:pt x="2419350" y="0"/>
                  </a:lnTo>
                  <a:lnTo>
                    <a:pt x="2819400" y="800100"/>
                  </a:lnTo>
                  <a:lnTo>
                    <a:pt x="2419350" y="1600200"/>
                  </a:lnTo>
                  <a:lnTo>
                    <a:pt x="0" y="1600200"/>
                  </a:lnTo>
                  <a:lnTo>
                    <a:pt x="400050" y="800100"/>
                  </a:lnTo>
                  <a:close/>
                </a:path>
              </a:pathLst>
            </a:custGeom>
            <a:solidFill>
              <a:srgbClr val="D85C45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9353550" y="2171700"/>
              <a:ext cx="400049" cy="266700"/>
              <a:chOff x="9353550" y="2171700"/>
              <a:chExt cx="400049" cy="2667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509125" y="22606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353550" y="2171700"/>
                <a:ext cx="400049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266700">
                    <a:moveTo>
                      <a:pt x="400049" y="133350"/>
                    </a:moveTo>
                    <a:cubicBezTo>
                      <a:pt x="346710" y="222250"/>
                      <a:pt x="280035" y="266700"/>
                      <a:pt x="200025" y="266700"/>
                    </a:cubicBezTo>
                    <a:cubicBezTo>
                      <a:pt x="120015" y="266700"/>
                      <a:pt x="53340" y="222250"/>
                      <a:pt x="0" y="133350"/>
                    </a:cubicBezTo>
                    <a:cubicBezTo>
                      <a:pt x="53340" y="44450"/>
                      <a:pt x="120015" y="0"/>
                      <a:pt x="200025" y="0"/>
                    </a:cubicBezTo>
                    <a:cubicBezTo>
                      <a:pt x="280035" y="0"/>
                      <a:pt x="346710" y="44450"/>
                      <a:pt x="400049" y="1333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986723" y="26650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看到结果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2009775" y="3714750"/>
              <a:ext cx="7667625" cy="1219200"/>
            </a:xfrm>
            <a:custGeom>
              <a:avLst/>
              <a:gdLst/>
              <a:ahLst/>
              <a:cxnLst/>
              <a:rect l="l" t="t" r="r" b="b"/>
              <a:pathLst>
                <a:path w="7667625" h="1219200">
                  <a:moveTo>
                    <a:pt x="7667625" y="0"/>
                  </a:moveTo>
                  <a:cubicBezTo>
                    <a:pt x="7667625" y="895350"/>
                    <a:pt x="5610225" y="1219200"/>
                    <a:pt x="3876675" y="1219200"/>
                  </a:cubicBezTo>
                  <a:cubicBezTo>
                    <a:pt x="2143125" y="1219200"/>
                    <a:pt x="0" y="876300"/>
                    <a:pt x="0" y="0"/>
                  </a:cubicBezTo>
                </a:path>
              </a:pathLst>
            </a:custGeom>
            <a:noFill/>
            <a:ln w="76200" cap="rnd">
              <a:solidFill>
                <a:schemeClr val="dk2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847850" y="3695700"/>
              <a:ext cx="323850" cy="247650"/>
            </a:xfrm>
            <a:custGeom>
              <a:avLst/>
              <a:gdLst/>
              <a:ahLst/>
              <a:cxnLst/>
              <a:rect l="l" t="t" r="r" b="b"/>
              <a:pathLst>
                <a:path w="323850" h="247650">
                  <a:moveTo>
                    <a:pt x="0" y="247650"/>
                  </a:moveTo>
                  <a:lnTo>
                    <a:pt x="161925" y="0"/>
                  </a:lnTo>
                  <a:lnTo>
                    <a:pt x="323850" y="247650"/>
                  </a:lnTo>
                </a:path>
              </a:pathLst>
            </a:custGeom>
            <a:noFill/>
            <a:ln w="76200">
              <a:solidFill>
                <a:schemeClr val="dk2"/>
              </a:solidFill>
              <a:round/>
            </a:ln>
          </p:spPr>
        </p:sp>
      </p:grpSp>
      <p:sp>
        <p:nvSpPr>
          <p:cNvPr id="26" name="Rectangle 26"/>
          <p:cNvSpPr/>
          <p:nvPr/>
        </p:nvSpPr>
        <p:spPr>
          <a:xfrm>
            <a:off x="1524000" y="5048250"/>
            <a:ext cx="9144000" cy="81915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 w="28575">
            <a:solidFill>
              <a:schemeClr val="accent4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602224" y="51968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设计问题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4904" y="5452110"/>
            <a:ext cx="930219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玩家的动作，改变了路线、状态、能力，还是理解？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29" name="Line 2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4642" y="6521768"/>
              <a:ext cx="2703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交互定义 · 想法—操作—变化—反馈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01911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先让玩家想试，再让玩家立刻知道“成功了”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0761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可感知性吸引第一次操作，即时反馈建立继续尝试的信心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62000" y="1524000"/>
            <a:ext cx="10668000" cy="4171950"/>
            <a:chOff x="762000" y="1524000"/>
            <a:chExt cx="10668000" cy="417195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524000"/>
              <a:ext cx="5048250" cy="4171950"/>
              <a:chOff x="762000" y="1524000"/>
              <a:chExt cx="504825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76200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085850" y="1828800"/>
                <a:ext cx="342900" cy="228600"/>
                <a:chOff x="1085850" y="1828800"/>
                <a:chExt cx="342900" cy="2286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219200" y="1905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085850" y="1828800"/>
                  <a:ext cx="3429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228600">
                      <a:moveTo>
                        <a:pt x="342900" y="114300"/>
                      </a:moveTo>
                      <a:cubicBezTo>
                        <a:pt x="297180" y="190500"/>
                        <a:pt x="240030" y="228600"/>
                        <a:pt x="171450" y="228600"/>
                      </a:cubicBezTo>
                      <a:cubicBezTo>
                        <a:pt x="102870" y="228600"/>
                        <a:pt x="45720" y="190500"/>
                        <a:pt x="0" y="114300"/>
                      </a:cubicBezTo>
                      <a:cubicBezTo>
                        <a:pt x="45720" y="38100"/>
                        <a:pt x="102870" y="0"/>
                        <a:pt x="171450" y="0"/>
                      </a:cubicBezTo>
                      <a:cubicBezTo>
                        <a:pt x="240030" y="0"/>
                        <a:pt x="297180" y="38100"/>
                        <a:pt x="34290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662684" y="1784985"/>
                <a:ext cx="269896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让玩家一眼想试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8606" y="2701290"/>
                <a:ext cx="14241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会动的东西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8606" y="3139440"/>
                <a:ext cx="21511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与周围不同的材质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38606" y="3577590"/>
                <a:ext cx="28780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奇怪声音与不一致的影子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8606" y="4015740"/>
                <a:ext cx="21511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少量、明确的高亮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047750" y="4591050"/>
                <a:ext cx="4476750" cy="762000"/>
              </a:xfrm>
              <a:prstGeom prst="roundRect">
                <a:avLst>
                  <a:gd name="adj" fmla="val 2250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671191" y="471106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提示的目标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08865" y="4960620"/>
                <a:ext cx="175452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“过去看看”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381750" y="1524000"/>
              <a:ext cx="5048250" cy="4171950"/>
              <a:chOff x="6381750" y="1524000"/>
              <a:chExt cx="5048250" cy="41719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38175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38175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724650" y="1790700"/>
                <a:ext cx="304753" cy="304753"/>
              </a:xfrm>
              <a:custGeom>
                <a:avLst/>
                <a:gdLst/>
                <a:ahLst/>
                <a:cxnLst/>
                <a:rect l="l" t="t" r="r" b="b"/>
                <a:pathLst>
                  <a:path w="304753" h="304753">
                    <a:moveTo>
                      <a:pt x="74371" y="258375"/>
                    </a:moveTo>
                    <a:cubicBezTo>
                      <a:pt x="76446" y="267696"/>
                      <a:pt x="84096" y="274745"/>
                      <a:pt x="93555" y="276053"/>
                    </a:cubicBezTo>
                    <a:cubicBezTo>
                      <a:pt x="103014" y="277361"/>
                      <a:pt x="112289" y="272651"/>
                      <a:pt x="116815" y="264243"/>
                    </a:cubicBezTo>
                    <a:lnTo>
                      <a:pt x="156629" y="205321"/>
                    </a:lnTo>
                    <a:lnTo>
                      <a:pt x="250107" y="298799"/>
                    </a:lnTo>
                    <a:cubicBezTo>
                      <a:pt x="253919" y="302611"/>
                      <a:pt x="259090" y="304753"/>
                      <a:pt x="264481" y="304753"/>
                    </a:cubicBezTo>
                    <a:cubicBezTo>
                      <a:pt x="269872" y="304753"/>
                      <a:pt x="275042" y="302611"/>
                      <a:pt x="278854" y="298799"/>
                    </a:cubicBezTo>
                    <a:lnTo>
                      <a:pt x="298799" y="278854"/>
                    </a:lnTo>
                    <a:cubicBezTo>
                      <a:pt x="302611" y="275042"/>
                      <a:pt x="304753" y="269872"/>
                      <a:pt x="304753" y="264481"/>
                    </a:cubicBezTo>
                    <a:cubicBezTo>
                      <a:pt x="304753" y="259090"/>
                      <a:pt x="302611" y="253919"/>
                      <a:pt x="298799" y="250107"/>
                    </a:cubicBezTo>
                    <a:lnTo>
                      <a:pt x="205321" y="156629"/>
                    </a:lnTo>
                    <a:lnTo>
                      <a:pt x="264624" y="116815"/>
                    </a:lnTo>
                    <a:cubicBezTo>
                      <a:pt x="273032" y="112286"/>
                      <a:pt x="277739" y="103007"/>
                      <a:pt x="276427" y="93548"/>
                    </a:cubicBezTo>
                    <a:cubicBezTo>
                      <a:pt x="275115" y="84088"/>
                      <a:pt x="268061" y="76441"/>
                      <a:pt x="258737" y="74371"/>
                    </a:cubicBezTo>
                    <a:lnTo>
                      <a:pt x="0" y="0"/>
                    </a:lnTo>
                    <a:lnTo>
                      <a:pt x="74371" y="2583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282434" y="1784985"/>
                <a:ext cx="308061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操作瞬间必须回应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8356" y="2701290"/>
                <a:ext cx="16664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门把手先压下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58356" y="313944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锁舌与机械声立刻出现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58356" y="3577590"/>
                <a:ext cx="23934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物体轻微震动或变色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58356" y="4015740"/>
                <a:ext cx="31203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完整动作可以随后慢慢完成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6667500" y="4591050"/>
                <a:ext cx="4476750" cy="762000"/>
              </a:xfrm>
              <a:prstGeom prst="roundRect">
                <a:avLst>
                  <a:gd name="adj" fmla="val 22500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290941" y="471106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反馈的目标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89372" y="4960620"/>
                <a:ext cx="243300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“我刚才做对了”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1" name="Line 31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4642" y="65217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吸引力 · 可感知性与即时反馈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7018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交互深度来自四件事，而不是更多按键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5850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简单规则能组合出多种用途，玩家才会把世界当成“真的能玩”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571500" y="1524000"/>
            <a:ext cx="11049000" cy="3962400"/>
            <a:chOff x="571500" y="1524000"/>
            <a:chExt cx="11049000" cy="3962400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524000"/>
              <a:ext cx="5238750" cy="1809750"/>
              <a:chOff x="571500" y="1524000"/>
              <a:chExt cx="5238750" cy="1809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71500" y="1524000"/>
                <a:ext cx="5238750" cy="1809750"/>
              </a:xfrm>
              <a:prstGeom prst="roundRect">
                <a:avLst>
                  <a:gd name="adj" fmla="val 13684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939800" y="1866900"/>
                <a:ext cx="406401" cy="457201"/>
                <a:chOff x="939800" y="1866900"/>
                <a:chExt cx="406401" cy="457201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939800" y="1866900"/>
                  <a:ext cx="406401" cy="457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01" h="457201">
                      <a:moveTo>
                        <a:pt x="203200" y="0"/>
                      </a:moveTo>
                      <a:lnTo>
                        <a:pt x="406401" y="114300"/>
                      </a:lnTo>
                      <a:lnTo>
                        <a:pt x="406401" y="342900"/>
                      </a:lnTo>
                      <a:lnTo>
                        <a:pt x="203200" y="457201"/>
                      </a:lnTo>
                      <a:lnTo>
                        <a:pt x="0" y="342900"/>
                      </a:lnTo>
                      <a:lnTo>
                        <a:pt x="0" y="114300"/>
                      </a:ln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143000" y="198120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114300"/>
                      </a:move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143000" y="2095500"/>
                  <a:ext cx="952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8600">
                      <a:moveTo>
                        <a:pt x="0" y="0"/>
                      </a:moveTo>
                      <a:lnTo>
                        <a:pt x="0" y="2286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939800" y="198120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203200" y="1143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041400" y="192405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2032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662684" y="1765935"/>
                <a:ext cx="346226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一个物体，多种用途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29056" y="2472690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箱子可以堵门、垫脚、压机关、挡激光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29056" y="2853690"/>
                <a:ext cx="33513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玩家把它当“东西”，不是钥匙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381750" y="1524000"/>
              <a:ext cx="5238750" cy="1809750"/>
              <a:chOff x="6381750" y="1524000"/>
              <a:chExt cx="5238750" cy="1809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81750" y="1524000"/>
                <a:ext cx="5238750" cy="1809750"/>
              </a:xfrm>
              <a:prstGeom prst="roundRect">
                <a:avLst>
                  <a:gd name="adj" fmla="val 13684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6699250" y="1866900"/>
                <a:ext cx="508001" cy="457201"/>
                <a:chOff x="6699250" y="1866900"/>
                <a:chExt cx="508001" cy="45720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6902450" y="186690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6800850" y="204470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6902450" y="2222501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105651" y="2222501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6699250" y="2222501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7004050" y="204470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775450" y="2146300"/>
                  <a:ext cx="508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76200">
                      <a:moveTo>
                        <a:pt x="0" y="762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877050" y="1968500"/>
                  <a:ext cx="508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76200">
                      <a:moveTo>
                        <a:pt x="0" y="762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78650" y="1968500"/>
                  <a:ext cx="508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76200">
                      <a:moveTo>
                        <a:pt x="0" y="0"/>
                      </a:moveTo>
                      <a:lnTo>
                        <a:pt x="50800" y="7620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080251" y="2146300"/>
                  <a:ext cx="508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76200">
                      <a:moveTo>
                        <a:pt x="0" y="0"/>
                      </a:moveTo>
                      <a:lnTo>
                        <a:pt x="50800" y="7620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978650" y="2146300"/>
                  <a:ext cx="508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76200">
                      <a:moveTo>
                        <a:pt x="50800" y="0"/>
                      </a:move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877050" y="2146300"/>
                  <a:ext cx="508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76200">
                      <a:moveTo>
                        <a:pt x="0" y="0"/>
                      </a:moveTo>
                      <a:lnTo>
                        <a:pt x="50800" y="7620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472934" y="1765935"/>
                <a:ext cx="346226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规则稳定，结果惊喜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639306" y="2472690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规则始终成立，惊喜来自更深用途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639306" y="2853690"/>
                <a:ext cx="2600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惊喜 ≠ 随机或自相矛盾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3676650"/>
              <a:ext cx="5238750" cy="1809750"/>
              <a:chOff x="571500" y="3676650"/>
              <a:chExt cx="5238750" cy="18097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71500" y="3676650"/>
                <a:ext cx="5238750" cy="1809750"/>
              </a:xfrm>
              <a:prstGeom prst="roundRect">
                <a:avLst>
                  <a:gd name="adj" fmla="val 13684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14400" y="4019550"/>
                <a:ext cx="457201" cy="457201"/>
                <a:chOff x="914400" y="4019550"/>
                <a:chExt cx="457201" cy="457201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914400" y="4375151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270001" y="40195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50800" y="101600"/>
                      </a:move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  <a:cubicBezTo>
                        <a:pt x="0" y="78856"/>
                        <a:pt x="22744" y="101600"/>
                        <a:pt x="50800" y="1016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5200" y="4070350"/>
                  <a:ext cx="381000" cy="35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55600">
                      <a:moveTo>
                        <a:pt x="152400" y="355600"/>
                      </a:moveTo>
                      <a:lnTo>
                        <a:pt x="292100" y="355600"/>
                      </a:lnTo>
                      <a:cubicBezTo>
                        <a:pt x="341199" y="355600"/>
                        <a:pt x="381000" y="315799"/>
                        <a:pt x="381000" y="266700"/>
                      </a:cubicBezTo>
                      <a:cubicBezTo>
                        <a:pt x="381000" y="217602"/>
                        <a:pt x="341199" y="177800"/>
                        <a:pt x="292100" y="177800"/>
                      </a:cubicBezTo>
                      <a:lnTo>
                        <a:pt x="88900" y="177800"/>
                      </a:lnTo>
                      <a:cubicBezTo>
                        <a:pt x="39802" y="177800"/>
                        <a:pt x="0" y="137998"/>
                        <a:pt x="0" y="88900"/>
                      </a:cubicBezTo>
                      <a:cubicBezTo>
                        <a:pt x="0" y="39802"/>
                        <a:pt x="39802" y="0"/>
                        <a:pt x="88900" y="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662684" y="3918585"/>
                <a:ext cx="231731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交互改变局面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29056" y="4625340"/>
                <a:ext cx="38953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改变路线、状态、敌人、视角或能力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9056" y="5006340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动作留下可见结果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381750" y="3676650"/>
              <a:ext cx="5238750" cy="1809750"/>
              <a:chOff x="6381750" y="3676650"/>
              <a:chExt cx="5238750" cy="18097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381750" y="3676650"/>
                <a:ext cx="5238750" cy="1809750"/>
              </a:xfrm>
              <a:prstGeom prst="roundRect">
                <a:avLst>
                  <a:gd name="adj" fmla="val 13684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6772985" y="4044950"/>
                <a:ext cx="360531" cy="410588"/>
                <a:chOff x="6772985" y="4044950"/>
                <a:chExt cx="360531" cy="410588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772985" y="4044950"/>
                  <a:ext cx="360531" cy="410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531" h="410588">
                      <a:moveTo>
                        <a:pt x="2465" y="177800"/>
                      </a:moveTo>
                      <a:cubicBezTo>
                        <a:pt x="2465" y="79604"/>
                        <a:pt x="82069" y="0"/>
                        <a:pt x="180266" y="0"/>
                      </a:cubicBezTo>
                      <a:cubicBezTo>
                        <a:pt x="278462" y="0"/>
                        <a:pt x="358066" y="79604"/>
                        <a:pt x="358066" y="177800"/>
                      </a:cubicBezTo>
                      <a:lnTo>
                        <a:pt x="358066" y="355600"/>
                      </a:lnTo>
                      <a:cubicBezTo>
                        <a:pt x="360531" y="375277"/>
                        <a:pt x="349886" y="394264"/>
                        <a:pt x="331813" y="402426"/>
                      </a:cubicBezTo>
                      <a:cubicBezTo>
                        <a:pt x="313740" y="410588"/>
                        <a:pt x="292458" y="406020"/>
                        <a:pt x="279326" y="391160"/>
                      </a:cubicBezTo>
                      <a:cubicBezTo>
                        <a:pt x="271383" y="380999"/>
                        <a:pt x="259203" y="375060"/>
                        <a:pt x="246306" y="375060"/>
                      </a:cubicBezTo>
                      <a:cubicBezTo>
                        <a:pt x="233408" y="375060"/>
                        <a:pt x="221228" y="380999"/>
                        <a:pt x="213286" y="391160"/>
                      </a:cubicBezTo>
                      <a:cubicBezTo>
                        <a:pt x="205343" y="401322"/>
                        <a:pt x="193163" y="407261"/>
                        <a:pt x="180266" y="407261"/>
                      </a:cubicBezTo>
                      <a:cubicBezTo>
                        <a:pt x="167368" y="407261"/>
                        <a:pt x="155188" y="401322"/>
                        <a:pt x="147246" y="391160"/>
                      </a:cubicBezTo>
                      <a:cubicBezTo>
                        <a:pt x="139303" y="380999"/>
                        <a:pt x="127123" y="375060"/>
                        <a:pt x="114226" y="375060"/>
                      </a:cubicBezTo>
                      <a:cubicBezTo>
                        <a:pt x="101328" y="375060"/>
                        <a:pt x="89148" y="380999"/>
                        <a:pt x="81205" y="391160"/>
                      </a:cubicBezTo>
                      <a:cubicBezTo>
                        <a:pt x="68074" y="406020"/>
                        <a:pt x="46791" y="410588"/>
                        <a:pt x="28718" y="402426"/>
                      </a:cubicBezTo>
                      <a:cubicBezTo>
                        <a:pt x="10645" y="394264"/>
                        <a:pt x="0" y="375277"/>
                        <a:pt x="2465" y="355600"/>
                      </a:cubicBezTo>
                      <a:lnTo>
                        <a:pt x="2465" y="17780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902450" y="4197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254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004050" y="4197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254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902450" y="4298950"/>
                  <a:ext cx="101600" cy="21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21259">
                      <a:moveTo>
                        <a:pt x="0" y="0"/>
                      </a:moveTo>
                      <a:cubicBezTo>
                        <a:pt x="30531" y="21259"/>
                        <a:pt x="71070" y="21259"/>
                        <a:pt x="101600" y="0"/>
                      </a:cubicBez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472934" y="3918585"/>
                <a:ext cx="269896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允许合理地乱玩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639306" y="4625340"/>
                <a:ext cx="41019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快速开关、堵住 NPC、拿机制去战斗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639306" y="5006340"/>
                <a:ext cx="30714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不必都有奖励，至少别崩坏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3" name="Line 53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4642" y="6521768"/>
              <a:ext cx="4220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交互深度 · 多用途、稳定规则、局面变化、乱玩空间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58366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不要急着加新按键，把同一规则玩出五次变化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27079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以“物体放远会变大”为例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66750" y="2000250"/>
            <a:ext cx="10439400" cy="3829050"/>
            <a:chOff x="666750" y="2000250"/>
            <a:chExt cx="10439400" cy="3829050"/>
          </a:xfrm>
        </p:grpSpPr>
        <p:sp>
          <p:nvSpPr>
            <p:cNvPr id="4" name="Line 4"/>
            <p:cNvSpPr/>
            <p:nvPr/>
          </p:nvSpPr>
          <p:spPr>
            <a:xfrm>
              <a:off x="1619250" y="2457450"/>
              <a:ext cx="9372600" cy="9525"/>
            </a:xfrm>
            <a:custGeom>
              <a:avLst/>
              <a:gdLst/>
              <a:ahLst/>
              <a:cxnLst/>
              <a:rect l="l" t="t" r="r" b="b"/>
              <a:pathLst>
                <a:path w="9372600" h="9525">
                  <a:moveTo>
                    <a:pt x="0" y="0"/>
                  </a:moveTo>
                  <a:lnTo>
                    <a:pt x="9372600" y="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66750" y="2000250"/>
              <a:ext cx="1905000" cy="3829050"/>
              <a:chOff x="666750" y="2000250"/>
              <a:chExt cx="1905000" cy="38290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162050" y="2000250"/>
                <a:ext cx="914400" cy="91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513766" y="23126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666750" y="3257550"/>
                <a:ext cx="1905000" cy="2571750"/>
              </a:xfrm>
              <a:prstGeom prst="roundRect">
                <a:avLst>
                  <a:gd name="adj" fmla="val 11000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67816" y="347472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发现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04316" y="40347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小方块放远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25474" y="43967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变成台阶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01242" y="50825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规则能用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800350" y="2000250"/>
              <a:ext cx="1905000" cy="3829050"/>
              <a:chOff x="2800350" y="2000250"/>
              <a:chExt cx="1905000" cy="382905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295650" y="200025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647366" y="23126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800350" y="3257550"/>
                <a:ext cx="1905000" cy="2571750"/>
              </a:xfrm>
              <a:prstGeom prst="roundRect">
                <a:avLst>
                  <a:gd name="adj" fmla="val 11000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62173" y="34747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简单问题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137916" y="40347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大障碍拿近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137916" y="43967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缩小后移走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34842" y="50825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理解方向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933950" y="2000250"/>
              <a:ext cx="1905000" cy="3829050"/>
              <a:chOff x="4933950" y="2000250"/>
              <a:chExt cx="1905000" cy="382905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5429250" y="2000250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780966" y="23126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4933950" y="3257550"/>
                <a:ext cx="1905000" cy="2571750"/>
              </a:xfrm>
              <a:prstGeom prst="roundRect">
                <a:avLst>
                  <a:gd name="adj" fmla="val 11000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535016" y="347472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组合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92674" y="40347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放大物体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392674" y="43967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挡住激光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368442" y="50825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机制相乘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067550" y="2000250"/>
              <a:ext cx="1905000" cy="3829050"/>
              <a:chOff x="7067550" y="2000250"/>
              <a:chExt cx="1905000" cy="382905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7562850" y="2000250"/>
                <a:ext cx="914400" cy="9144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914566" y="23126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067550" y="3257550"/>
                <a:ext cx="1905000" cy="2571750"/>
              </a:xfrm>
              <a:prstGeom prst="roundRect">
                <a:avLst>
                  <a:gd name="adj" fmla="val 11000"/>
                </a:avLst>
              </a:prstGeom>
              <a:solidFill>
                <a:schemeClr val="lt2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68616" y="347472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压力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526274" y="40347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地面下沉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405116" y="43967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快速找落点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02042" y="50825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决策加速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201150" y="2000250"/>
              <a:ext cx="1905000" cy="3829050"/>
              <a:chOff x="9201150" y="2000250"/>
              <a:chExt cx="1905000" cy="382905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9696450" y="2000250"/>
                <a:ext cx="914400" cy="914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048166" y="23126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201150" y="3257550"/>
                <a:ext cx="1905000" cy="2571750"/>
              </a:xfrm>
              <a:prstGeom prst="roundRect">
                <a:avLst>
                  <a:gd name="adj" fmla="val 11000"/>
                </a:avLst>
              </a:prstGeom>
              <a:solidFill>
                <a:srgbClr val="FFFFFF"/>
              </a:solidFill>
              <a:ln w="28575">
                <a:solidFill>
                  <a:schemeClr val="dk2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462973" y="34747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反向利用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659874" y="40347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把门缩小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659874" y="43967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阻挡追兵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381211" y="50825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重新定义问题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6" name="Line 46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4642" y="6521768"/>
              <a:ext cx="3166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教学曲线 · 发现—应用—组合—压力—反转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64639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《超阈限空间》：把“近大远小”变成真实尺度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视角不再只是观察工具，它直接参与解谜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52450" y="1581150"/>
            <a:ext cx="11620500" cy="2381250"/>
            <a:chOff x="552450" y="1581150"/>
            <a:chExt cx="11620500" cy="2381250"/>
          </a:xfrm>
        </p:grpSpPr>
        <p:grpSp>
          <p:nvGrpSpPr>
            <p:cNvPr id="10" name="Group 10"/>
            <p:cNvGrpSpPr/>
            <p:nvPr/>
          </p:nvGrpSpPr>
          <p:grpSpPr>
            <a:xfrm>
              <a:off x="552450" y="1581150"/>
              <a:ext cx="2476500" cy="2381250"/>
              <a:chOff x="552450" y="1581150"/>
              <a:chExt cx="2476500" cy="2381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52450" y="1581150"/>
                <a:ext cx="2476500" cy="2381250"/>
              </a:xfrm>
              <a:prstGeom prst="roundRect">
                <a:avLst>
                  <a:gd name="adj" fmla="val 10400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462087" y="1993900"/>
                <a:ext cx="657224" cy="584199"/>
                <a:chOff x="1462087" y="1993900"/>
                <a:chExt cx="657224" cy="584199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462087" y="1993900"/>
                  <a:ext cx="657224" cy="584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224" h="584199">
                      <a:moveTo>
                        <a:pt x="73025" y="109537"/>
                      </a:moveTo>
                      <a:lnTo>
                        <a:pt x="109537" y="109537"/>
                      </a:lnTo>
                      <a:cubicBezTo>
                        <a:pt x="149868" y="109537"/>
                        <a:pt x="182562" y="76843"/>
                        <a:pt x="182562" y="36512"/>
                      </a:cubicBezTo>
                      <a:cubicBezTo>
                        <a:pt x="182562" y="16347"/>
                        <a:pt x="198910" y="0"/>
                        <a:pt x="219075" y="0"/>
                      </a:cubicBezTo>
                      <a:lnTo>
                        <a:pt x="438150" y="0"/>
                      </a:lnTo>
                      <a:cubicBezTo>
                        <a:pt x="458315" y="0"/>
                        <a:pt x="474662" y="16347"/>
                        <a:pt x="474662" y="36512"/>
                      </a:cubicBezTo>
                      <a:cubicBezTo>
                        <a:pt x="474662" y="76843"/>
                        <a:pt x="507356" y="109537"/>
                        <a:pt x="547687" y="109537"/>
                      </a:cubicBezTo>
                      <a:lnTo>
                        <a:pt x="584199" y="109537"/>
                      </a:lnTo>
                      <a:cubicBezTo>
                        <a:pt x="624530" y="109537"/>
                        <a:pt x="657224" y="142232"/>
                        <a:pt x="657224" y="182562"/>
                      </a:cubicBezTo>
                      <a:lnTo>
                        <a:pt x="657224" y="511175"/>
                      </a:lnTo>
                      <a:cubicBezTo>
                        <a:pt x="657224" y="551505"/>
                        <a:pt x="624530" y="584199"/>
                        <a:pt x="584199" y="584199"/>
                      </a:cubicBezTo>
                      <a:lnTo>
                        <a:pt x="73025" y="584199"/>
                      </a:lnTo>
                      <a:cubicBezTo>
                        <a:pt x="32694" y="584199"/>
                        <a:pt x="0" y="551505"/>
                        <a:pt x="0" y="511175"/>
                      </a:cubicBezTo>
                      <a:lnTo>
                        <a:pt x="0" y="182562"/>
                      </a:lnTo>
                      <a:cubicBezTo>
                        <a:pt x="0" y="142232"/>
                        <a:pt x="32694" y="109537"/>
                        <a:pt x="73025" y="109537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681162" y="2212975"/>
                  <a:ext cx="219075" cy="2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" h="219075">
                      <a:moveTo>
                        <a:pt x="0" y="109537"/>
                      </a:moveTo>
                      <a:cubicBezTo>
                        <a:pt x="0" y="170033"/>
                        <a:pt x="49042" y="219075"/>
                        <a:pt x="109537" y="219075"/>
                      </a:cubicBezTo>
                      <a:cubicBezTo>
                        <a:pt x="170033" y="219075"/>
                        <a:pt x="219075" y="170033"/>
                        <a:pt x="219075" y="109537"/>
                      </a:cubicBezTo>
                      <a:cubicBezTo>
                        <a:pt x="219075" y="49042"/>
                        <a:pt x="170033" y="0"/>
                        <a:pt x="109537" y="0"/>
                      </a:cubicBezTo>
                      <a:cubicBezTo>
                        <a:pt x="49042" y="0"/>
                        <a:pt x="0" y="49042"/>
                        <a:pt x="0" y="109537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591160" y="2903220"/>
                <a:ext cx="23990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摄像机中心射线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96924" y="33870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抓住物体</a:t>
                </a:r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181350" y="2543175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>
                  <a:moveTo>
                    <a:pt x="0" y="228600"/>
                  </a:moveTo>
                  <a:lnTo>
                    <a:pt x="419100" y="228600"/>
                  </a:lnTo>
                  <a:lnTo>
                    <a:pt x="419100" y="0"/>
                  </a:lnTo>
                  <a:lnTo>
                    <a:pt x="838200" y="228600"/>
                  </a:lnTo>
                  <a:lnTo>
                    <a:pt x="419100" y="457200"/>
                  </a:lnTo>
                  <a:lnTo>
                    <a:pt x="4191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886200" y="1581150"/>
              <a:ext cx="2476500" cy="2381250"/>
              <a:chOff x="3886200" y="1581150"/>
              <a:chExt cx="2476500" cy="2381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886200" y="1581150"/>
                <a:ext cx="2476500" cy="2381250"/>
              </a:xfrm>
              <a:prstGeom prst="roundRect">
                <a:avLst>
                  <a:gd name="adj" fmla="val 10400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4795837" y="1957387"/>
                <a:ext cx="657225" cy="657225"/>
                <a:chOff x="4795837" y="1957387"/>
                <a:chExt cx="657225" cy="657225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4795837" y="2030412"/>
                  <a:ext cx="401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637" h="9525">
                      <a:moveTo>
                        <a:pt x="0" y="0"/>
                      </a:moveTo>
                      <a:lnTo>
                        <a:pt x="401637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5124450" y="1957387"/>
                  <a:ext cx="73025" cy="14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146050">
                      <a:moveTo>
                        <a:pt x="0" y="146050"/>
                      </a:moveTo>
                      <a:lnTo>
                        <a:pt x="73025" y="730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4795837" y="1957387"/>
                  <a:ext cx="73025" cy="14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146050">
                      <a:moveTo>
                        <a:pt x="73025" y="0"/>
                      </a:moveTo>
                      <a:lnTo>
                        <a:pt x="0" y="73025"/>
                      </a:lnTo>
                      <a:lnTo>
                        <a:pt x="73025" y="14605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5380037" y="2212975"/>
                  <a:ext cx="9525" cy="401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637">
                      <a:moveTo>
                        <a:pt x="0" y="0"/>
                      </a:moveTo>
                      <a:lnTo>
                        <a:pt x="0" y="401637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5307012" y="2541587"/>
                  <a:ext cx="146050" cy="7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50" h="73025">
                      <a:moveTo>
                        <a:pt x="0" y="0"/>
                      </a:moveTo>
                      <a:lnTo>
                        <a:pt x="73025" y="73025"/>
                      </a:lnTo>
                      <a:lnTo>
                        <a:pt x="14605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5307012" y="2212975"/>
                  <a:ext cx="146050" cy="7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50" h="73025">
                      <a:moveTo>
                        <a:pt x="146050" y="73025"/>
                      </a:moveTo>
                      <a:lnTo>
                        <a:pt x="73025" y="0"/>
                      </a:lnTo>
                      <a:lnTo>
                        <a:pt x="0" y="73025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4795837" y="2212975"/>
                  <a:ext cx="401637" cy="401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637" h="401637">
                      <a:moveTo>
                        <a:pt x="0" y="73025"/>
                      </a:moveTo>
                      <a:cubicBezTo>
                        <a:pt x="0" y="32694"/>
                        <a:pt x="32694" y="0"/>
                        <a:pt x="73025" y="0"/>
                      </a:cubicBezTo>
                      <a:lnTo>
                        <a:pt x="328612" y="0"/>
                      </a:lnTo>
                      <a:cubicBezTo>
                        <a:pt x="368943" y="0"/>
                        <a:pt x="401637" y="32694"/>
                        <a:pt x="401637" y="73025"/>
                      </a:cubicBezTo>
                      <a:lnTo>
                        <a:pt x="401637" y="328612"/>
                      </a:lnTo>
                      <a:cubicBezTo>
                        <a:pt x="401637" y="368943"/>
                        <a:pt x="368943" y="401637"/>
                        <a:pt x="328612" y="401637"/>
                      </a:cubicBezTo>
                      <a:lnTo>
                        <a:pt x="73025" y="401637"/>
                      </a:lnTo>
                      <a:cubicBezTo>
                        <a:pt x="32694" y="401637"/>
                        <a:pt x="0" y="368943"/>
                        <a:pt x="0" y="328612"/>
                      </a:cubicBezTo>
                      <a:lnTo>
                        <a:pt x="0" y="73025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4433773" y="29032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改变深度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91342" y="338709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远大 · 近小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6515100" y="2543175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>
                  <a:moveTo>
                    <a:pt x="0" y="228600"/>
                  </a:moveTo>
                  <a:lnTo>
                    <a:pt x="419100" y="228600"/>
                  </a:lnTo>
                  <a:lnTo>
                    <a:pt x="419100" y="0"/>
                  </a:lnTo>
                  <a:lnTo>
                    <a:pt x="838200" y="228600"/>
                  </a:lnTo>
                  <a:lnTo>
                    <a:pt x="419100" y="457200"/>
                  </a:lnTo>
                  <a:lnTo>
                    <a:pt x="4191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219950" y="1581150"/>
              <a:ext cx="2476500" cy="2381250"/>
              <a:chOff x="7219950" y="1581150"/>
              <a:chExt cx="2476500" cy="23812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219950" y="1581150"/>
                <a:ext cx="2476500" cy="2381250"/>
              </a:xfrm>
              <a:prstGeom prst="roundRect">
                <a:avLst>
                  <a:gd name="adj" fmla="val 10400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8129587" y="1957387"/>
                <a:ext cx="657225" cy="630237"/>
                <a:chOff x="8129587" y="1957387"/>
                <a:chExt cx="657225" cy="630237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8275637" y="2578099"/>
                  <a:ext cx="365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25" h="9525">
                      <a:moveTo>
                        <a:pt x="0" y="0"/>
                      </a:moveTo>
                      <a:lnTo>
                        <a:pt x="3651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239125" y="2030412"/>
                  <a:ext cx="438150" cy="36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50" h="36512">
                      <a:moveTo>
                        <a:pt x="0" y="36512"/>
                      </a:moveTo>
                      <a:lnTo>
                        <a:pt x="219075" y="0"/>
                      </a:lnTo>
                      <a:lnTo>
                        <a:pt x="438150" y="36512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458200" y="1957387"/>
                  <a:ext cx="9525" cy="620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20712">
                      <a:moveTo>
                        <a:pt x="0" y="0"/>
                      </a:moveTo>
                      <a:lnTo>
                        <a:pt x="0" y="620712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129587" y="2066925"/>
                  <a:ext cx="219075" cy="328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" h="328612">
                      <a:moveTo>
                        <a:pt x="219075" y="219075"/>
                      </a:moveTo>
                      <a:lnTo>
                        <a:pt x="109537" y="0"/>
                      </a:lnTo>
                      <a:lnTo>
                        <a:pt x="0" y="219075"/>
                      </a:lnTo>
                      <a:cubicBezTo>
                        <a:pt x="0" y="279571"/>
                        <a:pt x="49042" y="328612"/>
                        <a:pt x="109537" y="328612"/>
                      </a:cubicBezTo>
                      <a:cubicBezTo>
                        <a:pt x="170033" y="328612"/>
                        <a:pt x="219075" y="279571"/>
                        <a:pt x="219075" y="219075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567737" y="2066925"/>
                  <a:ext cx="219075" cy="328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" h="328612">
                      <a:moveTo>
                        <a:pt x="219075" y="219075"/>
                      </a:moveTo>
                      <a:lnTo>
                        <a:pt x="109537" y="0"/>
                      </a:lnTo>
                      <a:lnTo>
                        <a:pt x="0" y="219075"/>
                      </a:lnTo>
                      <a:cubicBezTo>
                        <a:pt x="0" y="279571"/>
                        <a:pt x="49042" y="328612"/>
                        <a:pt x="109537" y="328612"/>
                      </a:cubicBezTo>
                      <a:cubicBezTo>
                        <a:pt x="170033" y="328612"/>
                        <a:pt x="219075" y="279571"/>
                        <a:pt x="219075" y="219075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7767523" y="29032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等比缩放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334402" y="3387090"/>
                <a:ext cx="22475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Consolas"/>
                    <a:ea typeface="Consolas"/>
                    <a:cs typeface="Consolas"/>
                  </a:rPr>
                  <a:t>scale × depth ratio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9848850" y="2543175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>
                  <a:moveTo>
                    <a:pt x="0" y="228600"/>
                  </a:moveTo>
                  <a:lnTo>
                    <a:pt x="419100" y="228600"/>
                  </a:lnTo>
                  <a:lnTo>
                    <a:pt x="419100" y="0"/>
                  </a:lnTo>
                  <a:lnTo>
                    <a:pt x="838200" y="228600"/>
                  </a:lnTo>
                  <a:lnTo>
                    <a:pt x="419100" y="457200"/>
                  </a:lnTo>
                  <a:lnTo>
                    <a:pt x="4191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0553700" y="1581150"/>
              <a:ext cx="1619250" cy="2381250"/>
              <a:chOff x="10553700" y="1581150"/>
              <a:chExt cx="1619250" cy="2381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10553700" y="1581150"/>
                <a:ext cx="1619250" cy="2381250"/>
              </a:xfrm>
              <a:prstGeom prst="roundRect">
                <a:avLst>
                  <a:gd name="adj" fmla="val 15294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1172825" y="1995488"/>
                <a:ext cx="381000" cy="428625"/>
                <a:chOff x="11172825" y="1995488"/>
                <a:chExt cx="381000" cy="42862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11172825" y="1995488"/>
                  <a:ext cx="38100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428625">
                      <a:moveTo>
                        <a:pt x="190500" y="0"/>
                      </a:moveTo>
                      <a:lnTo>
                        <a:pt x="381000" y="107156"/>
                      </a:lnTo>
                      <a:lnTo>
                        <a:pt x="381000" y="321469"/>
                      </a:lnTo>
                      <a:lnTo>
                        <a:pt x="190500" y="428625"/>
                      </a:lnTo>
                      <a:lnTo>
                        <a:pt x="0" y="321469"/>
                      </a:lnTo>
                      <a:lnTo>
                        <a:pt x="0" y="107156"/>
                      </a:ln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363325" y="2102644"/>
                  <a:ext cx="190500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07156">
                      <a:moveTo>
                        <a:pt x="0" y="107156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1363325" y="2209800"/>
                  <a:ext cx="9525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14312">
                      <a:moveTo>
                        <a:pt x="0" y="0"/>
                      </a:moveTo>
                      <a:lnTo>
                        <a:pt x="0" y="214312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1172825" y="2102644"/>
                  <a:ext cx="190500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07156">
                      <a:moveTo>
                        <a:pt x="190500" y="10715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1011891" y="271272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放置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990707" y="319659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合法？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869549" y="3539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否则复位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952500" y="4400550"/>
            <a:ext cx="10287000" cy="1338834"/>
            <a:chOff x="952500" y="4400550"/>
            <a:chExt cx="10287000" cy="1338834"/>
          </a:xfrm>
        </p:grpSpPr>
        <p:sp>
          <p:nvSpPr>
            <p:cNvPr id="47" name="Rectangle 47"/>
            <p:cNvSpPr/>
            <p:nvPr/>
          </p:nvSpPr>
          <p:spPr>
            <a:xfrm>
              <a:off x="952500" y="4400550"/>
              <a:ext cx="10287000" cy="129540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45108" y="45605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原型稳定性的五个护栏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48156" y="5082540"/>
              <a:ext cx="82356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Kinematic 抓取 · 等比缩放 · 沿法线外推 · 体积碰撞检查 · 最小 / 最大尺寸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48156" y="538734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非法位置显示红色幽灵；不要让物体穿进墙里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2" name="Line 52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4642" y="65217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 · 透视缩放与合法放置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32911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《看门狗》：控制权沿着摄像机网络移动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角色身体留在原地，视线与操作范围进入远处空间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38250" y="1638300"/>
            <a:ext cx="10477500" cy="4939284"/>
            <a:chOff x="1238250" y="1638300"/>
            <a:chExt cx="10477500" cy="4939284"/>
          </a:xfrm>
        </p:grpSpPr>
        <p:grpSp>
          <p:nvGrpSpPr>
            <p:cNvPr id="8" name="Group 8"/>
            <p:cNvGrpSpPr/>
            <p:nvPr/>
          </p:nvGrpSpPr>
          <p:grpSpPr>
            <a:xfrm>
              <a:off x="2476500" y="2419350"/>
              <a:ext cx="8477250" cy="1181100"/>
              <a:chOff x="2476500" y="2419350"/>
              <a:chExt cx="8477250" cy="1181100"/>
            </a:xfrm>
          </p:grpSpPr>
          <p:sp>
            <p:nvSpPr>
              <p:cNvPr id="4" name="Line 4"/>
              <p:cNvSpPr/>
              <p:nvPr/>
            </p:nvSpPr>
            <p:spPr>
              <a:xfrm>
                <a:off x="2476500" y="2419350"/>
                <a:ext cx="2286000" cy="11811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1181100">
                    <a:moveTo>
                      <a:pt x="0" y="0"/>
                    </a:moveTo>
                    <a:lnTo>
                      <a:pt x="2286000" y="1181100"/>
                    </a:lnTo>
                  </a:path>
                </a:pathLst>
              </a:custGeom>
              <a:noFill/>
              <a:ln w="47625" cap="rnd">
                <a:solidFill>
                  <a:schemeClr val="dk2"/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4762500" y="2419350"/>
                <a:ext cx="2428875" cy="1181100"/>
              </a:xfrm>
              <a:custGeom>
                <a:avLst/>
                <a:gdLst/>
                <a:ahLst/>
                <a:cxnLst/>
                <a:rect l="l" t="t" r="r" b="b"/>
                <a:pathLst>
                  <a:path w="2428875" h="1181100">
                    <a:moveTo>
                      <a:pt x="0" y="1181100"/>
                    </a:moveTo>
                    <a:lnTo>
                      <a:pt x="2428875" y="0"/>
                    </a:lnTo>
                  </a:path>
                </a:pathLst>
              </a:custGeom>
              <a:noFill/>
              <a:ln w="47625" cap="rnd">
                <a:solidFill>
                  <a:schemeClr val="dk2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7191375" y="2419350"/>
                <a:ext cx="2333625" cy="1181100"/>
              </a:xfrm>
              <a:custGeom>
                <a:avLst/>
                <a:gdLst/>
                <a:ahLst/>
                <a:cxnLst/>
                <a:rect l="l" t="t" r="r" b="b"/>
                <a:pathLst>
                  <a:path w="2333625" h="1181100">
                    <a:moveTo>
                      <a:pt x="0" y="0"/>
                    </a:moveTo>
                    <a:lnTo>
                      <a:pt x="2333625" y="1181100"/>
                    </a:lnTo>
                  </a:path>
                </a:pathLst>
              </a:custGeom>
              <a:noFill/>
              <a:ln w="47625" cap="rnd">
                <a:solidFill>
                  <a:schemeClr val="dk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9525000" y="2419350"/>
                <a:ext cx="1428750" cy="11811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1181100">
                    <a:moveTo>
                      <a:pt x="0" y="1181100"/>
                    </a:moveTo>
                    <a:lnTo>
                      <a:pt x="1428750" y="0"/>
                    </a:lnTo>
                  </a:path>
                </a:pathLst>
              </a:custGeom>
              <a:noFill/>
              <a:ln w="47625" cap="rnd">
                <a:solidFill>
                  <a:schemeClr val="dk2"/>
                </a:solidFill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524000" y="1771650"/>
              <a:ext cx="2093671" cy="1295400"/>
              <a:chOff x="1524000" y="1771650"/>
              <a:chExt cx="2093671" cy="12954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524000" y="1771650"/>
                <a:ext cx="1905000" cy="1295400"/>
              </a:xfrm>
              <a:prstGeom prst="roundRect">
                <a:avLst>
                  <a:gd name="adj" fmla="val 16176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962150" y="2066925"/>
                <a:ext cx="266700" cy="400050"/>
                <a:chOff x="1962150" y="2066925"/>
                <a:chExt cx="266700" cy="4000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2095500" y="206692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499"/>
                        <a:pt x="9950" y="44450"/>
                        <a:pt x="22225" y="44450"/>
                      </a:cubicBezTo>
                      <a:cubicBezTo>
                        <a:pt x="34499" y="44450"/>
                        <a:pt x="44450" y="34499"/>
                        <a:pt x="44450" y="22225"/>
                      </a:cubicBezTo>
                      <a:cubicBezTo>
                        <a:pt x="44450" y="9950"/>
                        <a:pt x="34499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984375" y="2378074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8890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2073275" y="2178050"/>
                  <a:ext cx="111125" cy="28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88925">
                      <a:moveTo>
                        <a:pt x="111125" y="288925"/>
                      </a:moveTo>
                      <a:lnTo>
                        <a:pt x="66675" y="200025"/>
                      </a:lnTo>
                      <a:lnTo>
                        <a:pt x="0" y="133350"/>
                      </a:ln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962150" y="2178050"/>
                  <a:ext cx="2667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88900">
                      <a:moveTo>
                        <a:pt x="0" y="88900"/>
                      </a:moveTo>
                      <a:lnTo>
                        <a:pt x="44450" y="22225"/>
                      </a:lnTo>
                      <a:lnTo>
                        <a:pt x="133350" y="0"/>
                      </a:lnTo>
                      <a:lnTo>
                        <a:pt x="200025" y="66675"/>
                      </a:lnTo>
                      <a:lnTo>
                        <a:pt x="266700" y="889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2581656" y="21107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玩家本体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619250" y="26060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仍然可能受威胁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981450" y="2819400"/>
              <a:ext cx="1562100" cy="1624584"/>
              <a:chOff x="3981450" y="2819400"/>
              <a:chExt cx="1562100" cy="1624584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3981450" y="2819400"/>
                <a:ext cx="1562100" cy="1562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4476750" y="3251200"/>
                <a:ext cx="571499" cy="507999"/>
                <a:chOff x="4476750" y="3251200"/>
                <a:chExt cx="571499" cy="507999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476750" y="3251200"/>
                  <a:ext cx="571499" cy="507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499" h="507999">
                      <a:moveTo>
                        <a:pt x="63500" y="95250"/>
                      </a:moveTo>
                      <a:lnTo>
                        <a:pt x="95250" y="95250"/>
                      </a:lnTo>
                      <a:cubicBezTo>
                        <a:pt x="130320" y="95250"/>
                        <a:pt x="158750" y="66820"/>
                        <a:pt x="158750" y="31750"/>
                      </a:cubicBezTo>
                      <a:cubicBezTo>
                        <a:pt x="158750" y="14215"/>
                        <a:pt x="172965" y="0"/>
                        <a:pt x="190500" y="0"/>
                      </a:cubicBezTo>
                      <a:lnTo>
                        <a:pt x="381000" y="0"/>
                      </a:lnTo>
                      <a:cubicBezTo>
                        <a:pt x="398535" y="0"/>
                        <a:pt x="412750" y="14215"/>
                        <a:pt x="412750" y="31750"/>
                      </a:cubicBezTo>
                      <a:cubicBezTo>
                        <a:pt x="412750" y="66820"/>
                        <a:pt x="441179" y="95250"/>
                        <a:pt x="476250" y="95250"/>
                      </a:cubicBezTo>
                      <a:lnTo>
                        <a:pt x="507999" y="95250"/>
                      </a:lnTo>
                      <a:cubicBezTo>
                        <a:pt x="543070" y="95250"/>
                        <a:pt x="571499" y="123680"/>
                        <a:pt x="571499" y="158750"/>
                      </a:cubicBezTo>
                      <a:lnTo>
                        <a:pt x="571499" y="444500"/>
                      </a:lnTo>
                      <a:cubicBezTo>
                        <a:pt x="571499" y="479570"/>
                        <a:pt x="543070" y="507999"/>
                        <a:pt x="507999" y="507999"/>
                      </a:cubicBezTo>
                      <a:lnTo>
                        <a:pt x="63500" y="507999"/>
                      </a:lnTo>
                      <a:cubicBezTo>
                        <a:pt x="28430" y="507999"/>
                        <a:pt x="0" y="479570"/>
                        <a:pt x="0" y="444500"/>
                      </a:cubicBezTo>
                      <a:lnTo>
                        <a:pt x="0" y="158750"/>
                      </a:lnTo>
                      <a:cubicBezTo>
                        <a:pt x="0" y="123680"/>
                        <a:pt x="28430" y="95250"/>
                        <a:pt x="63500" y="952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667250" y="34417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4191017" y="4091940"/>
                <a:ext cx="11429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Camera A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410325" y="1638300"/>
              <a:ext cx="1562100" cy="1738884"/>
              <a:chOff x="6410325" y="1638300"/>
              <a:chExt cx="1562100" cy="1738884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410325" y="1638300"/>
                <a:ext cx="1562100" cy="1562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905625" y="2070100"/>
                <a:ext cx="571499" cy="507999"/>
                <a:chOff x="6905625" y="2070100"/>
                <a:chExt cx="571499" cy="507999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905625" y="2070100"/>
                  <a:ext cx="571499" cy="507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499" h="507999">
                      <a:moveTo>
                        <a:pt x="63500" y="95250"/>
                      </a:moveTo>
                      <a:lnTo>
                        <a:pt x="95250" y="95250"/>
                      </a:lnTo>
                      <a:cubicBezTo>
                        <a:pt x="130320" y="95250"/>
                        <a:pt x="158750" y="66820"/>
                        <a:pt x="158750" y="31750"/>
                      </a:cubicBezTo>
                      <a:cubicBezTo>
                        <a:pt x="158750" y="14215"/>
                        <a:pt x="172965" y="0"/>
                        <a:pt x="190500" y="0"/>
                      </a:cubicBezTo>
                      <a:lnTo>
                        <a:pt x="381000" y="0"/>
                      </a:lnTo>
                      <a:cubicBezTo>
                        <a:pt x="398535" y="0"/>
                        <a:pt x="412750" y="14215"/>
                        <a:pt x="412750" y="31750"/>
                      </a:cubicBezTo>
                      <a:cubicBezTo>
                        <a:pt x="412750" y="66820"/>
                        <a:pt x="441179" y="95250"/>
                        <a:pt x="476250" y="95250"/>
                      </a:cubicBezTo>
                      <a:lnTo>
                        <a:pt x="507999" y="95250"/>
                      </a:lnTo>
                      <a:cubicBezTo>
                        <a:pt x="543070" y="95250"/>
                        <a:pt x="571499" y="123680"/>
                        <a:pt x="571499" y="158750"/>
                      </a:cubicBezTo>
                      <a:lnTo>
                        <a:pt x="571499" y="444500"/>
                      </a:lnTo>
                      <a:cubicBezTo>
                        <a:pt x="571499" y="479570"/>
                        <a:pt x="543070" y="507999"/>
                        <a:pt x="507999" y="507999"/>
                      </a:cubicBezTo>
                      <a:lnTo>
                        <a:pt x="63500" y="507999"/>
                      </a:lnTo>
                      <a:cubicBezTo>
                        <a:pt x="28430" y="507999"/>
                        <a:pt x="0" y="479570"/>
                        <a:pt x="0" y="444500"/>
                      </a:cubicBezTo>
                      <a:lnTo>
                        <a:pt x="0" y="158750"/>
                      </a:lnTo>
                      <a:cubicBezTo>
                        <a:pt x="0" y="123680"/>
                        <a:pt x="28430" y="95250"/>
                        <a:pt x="63500" y="952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096125" y="22606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619892" y="3025140"/>
                <a:ext cx="11429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Camera B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743950" y="2819400"/>
              <a:ext cx="1562100" cy="1624584"/>
              <a:chOff x="8743950" y="2819400"/>
              <a:chExt cx="1562100" cy="1624584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8743950" y="2819400"/>
                <a:ext cx="1562100" cy="1562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271000" y="3251200"/>
                <a:ext cx="507921" cy="507921"/>
              </a:xfrm>
              <a:custGeom>
                <a:avLst/>
                <a:gdLst/>
                <a:ahLst/>
                <a:cxnLst/>
                <a:rect l="l" t="t" r="r" b="b"/>
                <a:pathLst>
                  <a:path w="507921" h="507921">
                    <a:moveTo>
                      <a:pt x="123952" y="430625"/>
                    </a:moveTo>
                    <a:cubicBezTo>
                      <a:pt x="127410" y="446160"/>
                      <a:pt x="140159" y="457908"/>
                      <a:pt x="155924" y="460088"/>
                    </a:cubicBezTo>
                    <a:cubicBezTo>
                      <a:pt x="171689" y="462267"/>
                      <a:pt x="187148" y="454418"/>
                      <a:pt x="194691" y="440404"/>
                    </a:cubicBezTo>
                    <a:lnTo>
                      <a:pt x="261048" y="342201"/>
                    </a:lnTo>
                    <a:lnTo>
                      <a:pt x="416845" y="497998"/>
                    </a:lnTo>
                    <a:cubicBezTo>
                      <a:pt x="423199" y="504352"/>
                      <a:pt x="431816" y="507921"/>
                      <a:pt x="440801" y="507921"/>
                    </a:cubicBezTo>
                    <a:cubicBezTo>
                      <a:pt x="449786" y="507921"/>
                      <a:pt x="458403" y="504352"/>
                      <a:pt x="464756" y="497998"/>
                    </a:cubicBezTo>
                    <a:lnTo>
                      <a:pt x="497998" y="464756"/>
                    </a:lnTo>
                    <a:cubicBezTo>
                      <a:pt x="504352" y="458403"/>
                      <a:pt x="507921" y="449786"/>
                      <a:pt x="507921" y="440801"/>
                    </a:cubicBezTo>
                    <a:cubicBezTo>
                      <a:pt x="507921" y="431816"/>
                      <a:pt x="504352" y="423199"/>
                      <a:pt x="497998" y="416845"/>
                    </a:cubicBezTo>
                    <a:lnTo>
                      <a:pt x="342201" y="261048"/>
                    </a:lnTo>
                    <a:lnTo>
                      <a:pt x="441039" y="194691"/>
                    </a:lnTo>
                    <a:cubicBezTo>
                      <a:pt x="455053" y="187143"/>
                      <a:pt x="462898" y="171679"/>
                      <a:pt x="460711" y="155913"/>
                    </a:cubicBezTo>
                    <a:cubicBezTo>
                      <a:pt x="458524" y="140146"/>
                      <a:pt x="446767" y="127401"/>
                      <a:pt x="431228" y="123952"/>
                    </a:cubicBezTo>
                    <a:lnTo>
                      <a:pt x="0" y="0"/>
                    </a:lnTo>
                    <a:lnTo>
                      <a:pt x="123952" y="430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006992" y="40919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门控制器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0191750" y="1771650"/>
              <a:ext cx="1524000" cy="1300734"/>
              <a:chOff x="10191750" y="1771650"/>
              <a:chExt cx="1524000" cy="1300734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0191750" y="1771650"/>
                <a:ext cx="1524000" cy="1295400"/>
              </a:xfrm>
              <a:prstGeom prst="roundRect">
                <a:avLst>
                  <a:gd name="adj" fmla="val 16176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10553700" y="1962150"/>
                <a:ext cx="800100" cy="704850"/>
              </a:xfrm>
              <a:prstGeom prst="roundRect">
                <a:avLst>
                  <a:gd name="adj" fmla="val 13514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801350" y="2076450"/>
                <a:ext cx="3048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95300">
                    <a:moveTo>
                      <a:pt x="152400" y="0"/>
                    </a:moveTo>
                    <a:lnTo>
                      <a:pt x="152400" y="495300"/>
                    </a:lnTo>
                    <a:moveTo>
                      <a:pt x="0" y="247650"/>
                    </a:moveTo>
                    <a:lnTo>
                      <a:pt x="304800" y="247650"/>
                    </a:lnTo>
                  </a:path>
                </a:pathLst>
              </a:custGeom>
              <a:solidFill>
                <a:srgbClr val="000000"/>
              </a:solidFill>
              <a:ln w="57150" cap="rnd">
                <a:solidFill>
                  <a:srgbClr val="FFFFFF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562958" y="2720340"/>
                <a:ext cx="781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门打开</a:t>
                </a:r>
              </a:p>
            </p:txBody>
          </p:sp>
        </p:grpSp>
        <p:sp>
          <p:nvSpPr>
            <p:cNvPr id="39" name="Rectangle 39"/>
            <p:cNvSpPr/>
            <p:nvPr/>
          </p:nvSpPr>
          <p:spPr>
            <a:xfrm>
              <a:off x="1238250" y="4838700"/>
              <a:ext cx="10096500" cy="1676400"/>
            </a:xfrm>
            <a:prstGeom prst="roundRect">
              <a:avLst>
                <a:gd name="adj" fmla="val 14773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510284" y="5004435"/>
              <a:ext cx="72520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实现框架：CameraNode + IRemoteDevice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14856" y="5558790"/>
              <a:ext cx="5215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摄像机只负责切换视角、寻找目标与调用 Use()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14856" y="5939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门、灯、升降机各自处理动画、状态与重复触发保护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4856" y="62255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始终允许退出监控，并提示玩家本体是否安全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5" name="Line 45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4642" y="65217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 · 摄像机网络与远程设备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01911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《超级马力欧》：好跳跃里藏着很多“宽容”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玩家感觉自己按得准，系统其实在悄悄帮忙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66750" y="1524000"/>
            <a:ext cx="6191250" cy="4171950"/>
            <a:chOff x="666750" y="1524000"/>
            <a:chExt cx="6191250" cy="4171950"/>
          </a:xfrm>
        </p:grpSpPr>
        <p:sp>
          <p:nvSpPr>
            <p:cNvPr id="4" name="Rectangle 4"/>
            <p:cNvSpPr/>
            <p:nvPr/>
          </p:nvSpPr>
          <p:spPr>
            <a:xfrm>
              <a:off x="666750" y="1524000"/>
              <a:ext cx="6191250" cy="4171950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19734" y="17468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可变高度跳跃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49149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619250" y="2286000"/>
              <a:ext cx="3238500" cy="2628900"/>
            </a:xfrm>
            <a:custGeom>
              <a:avLst/>
              <a:gdLst/>
              <a:ahLst/>
              <a:cxnLst/>
              <a:rect l="l" t="t" r="r" b="b"/>
              <a:pathLst>
                <a:path w="3238500" h="2628900">
                  <a:moveTo>
                    <a:pt x="0" y="2628900"/>
                  </a:moveTo>
                  <a:cubicBezTo>
                    <a:pt x="1047750" y="0"/>
                    <a:pt x="2190750" y="0"/>
                    <a:pt x="3238500" y="2628900"/>
                  </a:cubicBezTo>
                </a:path>
              </a:pathLst>
            </a:custGeom>
            <a:noFill/>
            <a:ln w="95250" cap="rnd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19250" y="3390900"/>
              <a:ext cx="1962150" cy="1524000"/>
            </a:xfrm>
            <a:custGeom>
              <a:avLst/>
              <a:gdLst/>
              <a:ahLst/>
              <a:cxnLst/>
              <a:rect l="l" t="t" r="r" b="b"/>
              <a:pathLst>
                <a:path w="1962150" h="1524000">
                  <a:moveTo>
                    <a:pt x="0" y="1524000"/>
                  </a:moveTo>
                  <a:cubicBezTo>
                    <a:pt x="666750" y="0"/>
                    <a:pt x="1314450" y="0"/>
                    <a:pt x="1962150" y="1524000"/>
                  </a:cubicBezTo>
                </a:path>
              </a:pathLst>
            </a:custGeom>
            <a:noFill/>
            <a:ln w="95250" cap="rnd">
              <a:solidFill>
                <a:schemeClr val="accent2"/>
              </a:solidFill>
              <a:custDash>
                <a:ds d="160000" sp="100000"/>
              </a:custDash>
            </a:ln>
          </p:spPr>
        </p:sp>
        <p:sp>
          <p:nvSpPr>
            <p:cNvPr id="9" name="Ellipse 9"/>
            <p:cNvSpPr/>
            <p:nvPr/>
          </p:nvSpPr>
          <p:spPr>
            <a:xfrm>
              <a:off x="1409700" y="47053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648200" y="4705350"/>
              <a:ext cx="419100" cy="419100"/>
            </a:xfrm>
            <a:prstGeom prst="ellipse">
              <a:avLst/>
            </a:prstGeom>
            <a:solidFill>
              <a:srgbClr val="D85C4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57856" y="23964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按住：高跳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76856" y="3577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松开：短跳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38656" y="51777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起跳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20006" y="51777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落地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39000" y="1524000"/>
            <a:ext cx="4286250" cy="4171950"/>
            <a:chOff x="7239000" y="1524000"/>
            <a:chExt cx="4286250" cy="4171950"/>
          </a:xfrm>
        </p:grpSpPr>
        <p:sp>
          <p:nvSpPr>
            <p:cNvPr id="16" name="Rectangle 16"/>
            <p:cNvSpPr/>
            <p:nvPr/>
          </p:nvSpPr>
          <p:spPr>
            <a:xfrm>
              <a:off x="7239000" y="1524000"/>
              <a:ext cx="428625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1984" y="174688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隐藏的手感组件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505700" y="2362200"/>
              <a:ext cx="3752850" cy="2762250"/>
              <a:chOff x="7505700" y="2362200"/>
              <a:chExt cx="3752850" cy="2762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505700" y="2362200"/>
                <a:ext cx="3752850" cy="590550"/>
              </a:xfrm>
              <a:prstGeom prst="roundRect">
                <a:avLst>
                  <a:gd name="adj" fmla="val 25806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06106" y="2548890"/>
                <a:ext cx="14978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Coyote Time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515856" y="25488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离开边缘仍可跳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505700" y="3086100"/>
                <a:ext cx="3752850" cy="590550"/>
              </a:xfrm>
              <a:prstGeom prst="roundRect">
                <a:avLst>
                  <a:gd name="adj" fmla="val 25806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706106" y="3272790"/>
                <a:ext cx="15862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Input Buffer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515856" y="32727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提前按键仍生效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7505700" y="3810000"/>
                <a:ext cx="3752850" cy="590550"/>
              </a:xfrm>
              <a:prstGeom prst="roundRect">
                <a:avLst>
                  <a:gd name="adj" fmla="val 25806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06106" y="39966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不同重力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515856" y="39966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下落更干脆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7505700" y="4533900"/>
                <a:ext cx="3752850" cy="590550"/>
              </a:xfrm>
              <a:prstGeom prst="roundRect">
                <a:avLst>
                  <a:gd name="adj" fmla="val 2580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706106" y="47205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顶点微调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515856" y="47205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更容易对准落点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7591958" y="529209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一个动作服务移动、战斗与收集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3" name="Line 33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4642" y="65217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 · 跳跃手感与输入宽容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7018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《传送门》：门没移动，空间关系变了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真正精彩的是位置、方向与速度一起转换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66750" y="1581150"/>
            <a:ext cx="10858500" cy="2881884"/>
            <a:chOff x="666750" y="1581150"/>
            <a:chExt cx="10858500" cy="2881884"/>
          </a:xfrm>
        </p:grpSpPr>
        <p:sp>
          <p:nvSpPr>
            <p:cNvPr id="4" name="Rectangle 4"/>
            <p:cNvSpPr/>
            <p:nvPr/>
          </p:nvSpPr>
          <p:spPr>
            <a:xfrm>
              <a:off x="666750" y="1581150"/>
              <a:ext cx="10858500" cy="285750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90700" y="1866900"/>
              <a:ext cx="1371600" cy="2286000"/>
            </a:xfrm>
            <a:prstGeom prst="ellipse">
              <a:avLst/>
            </a:prstGeom>
            <a:solidFill>
              <a:srgbClr val="EAF0FA"/>
            </a:solidFill>
            <a:ln w="114300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029700" y="1866900"/>
              <a:ext cx="1371600" cy="2286000"/>
            </a:xfrm>
            <a:prstGeom prst="ellipse">
              <a:avLst/>
            </a:prstGeom>
            <a:solidFill>
              <a:srgbClr val="FFF0D1"/>
            </a:solidFill>
            <a:ln w="114300">
              <a:solidFill>
                <a:schemeClr val="accent2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47750" y="2038350"/>
              <a:ext cx="571500" cy="571500"/>
            </a:xfrm>
            <a:prstGeom prst="ellipse">
              <a:avLst/>
            </a:prstGeom>
            <a:solidFill>
              <a:srgbClr val="D85C45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333500" y="2628900"/>
              <a:ext cx="781050" cy="819150"/>
            </a:xfrm>
            <a:custGeom>
              <a:avLst/>
              <a:gdLst/>
              <a:ahLst/>
              <a:cxnLst/>
              <a:rect l="l" t="t" r="r" b="b"/>
              <a:pathLst>
                <a:path w="781050" h="819150">
                  <a:moveTo>
                    <a:pt x="0" y="0"/>
                  </a:moveTo>
                  <a:cubicBezTo>
                    <a:pt x="190500" y="685800"/>
                    <a:pt x="476250" y="819150"/>
                    <a:pt x="781050" y="590550"/>
                  </a:cubicBezTo>
                </a:path>
              </a:pathLst>
            </a:custGeom>
            <a:noFill/>
            <a:ln w="76200" cap="rnd">
              <a:solidFill>
                <a:srgbClr val="D85C4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924050" y="2990850"/>
              <a:ext cx="228600" cy="247650"/>
            </a:xfrm>
            <a:custGeom>
              <a:avLst/>
              <a:gdLst/>
              <a:ahLst/>
              <a:cxnLst/>
              <a:rect l="l" t="t" r="r" b="b"/>
              <a:pathLst>
                <a:path w="228600" h="247650">
                  <a:moveTo>
                    <a:pt x="0" y="247650"/>
                  </a:moveTo>
                  <a:lnTo>
                    <a:pt x="228600" y="209550"/>
                  </a:lnTo>
                  <a:lnTo>
                    <a:pt x="133350" y="0"/>
                  </a:lnTo>
                </a:path>
              </a:pathLst>
            </a:custGeom>
            <a:noFill/>
            <a:ln w="76200">
              <a:solidFill>
                <a:srgbClr val="D85C45"/>
              </a:solidFill>
              <a:round/>
            </a:ln>
          </p:spPr>
        </p:sp>
        <p:sp>
          <p:nvSpPr>
            <p:cNvPr id="10" name="Freeform 10"/>
            <p:cNvSpPr/>
            <p:nvPr/>
          </p:nvSpPr>
          <p:spPr>
            <a:xfrm>
              <a:off x="3162300" y="3009900"/>
              <a:ext cx="5867400" cy="9525"/>
            </a:xfrm>
            <a:custGeom>
              <a:avLst/>
              <a:gdLst/>
              <a:ahLst/>
              <a:cxnLst/>
              <a:rect l="l" t="t" r="r" b="b"/>
              <a:pathLst>
                <a:path w="5867400" h="9525">
                  <a:moveTo>
                    <a:pt x="0" y="0"/>
                  </a:moveTo>
                  <a:cubicBezTo>
                    <a:pt x="1981200" y="0"/>
                    <a:pt x="3695700" y="0"/>
                    <a:pt x="5867400" y="0"/>
                  </a:cubicBezTo>
                </a:path>
              </a:pathLst>
            </a:custGeom>
            <a:noFill/>
            <a:ln w="76200" cap="rnd">
              <a:solidFill>
                <a:schemeClr val="dk2"/>
              </a:solidFill>
              <a:custDash>
                <a:ds d="225000" sp="150000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8724900" y="2781300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0" y="0"/>
                  </a:moveTo>
                  <a:lnTo>
                    <a:pt x="342900" y="228600"/>
                  </a:lnTo>
                  <a:lnTo>
                    <a:pt x="0" y="457200"/>
                  </a:lnTo>
                </a:path>
              </a:pathLst>
            </a:custGeom>
            <a:noFill/>
            <a:ln w="76200">
              <a:solidFill>
                <a:schemeClr val="dk2"/>
              </a:solidFill>
              <a:round/>
            </a:ln>
          </p:spPr>
        </p:sp>
        <p:sp>
          <p:nvSpPr>
            <p:cNvPr id="12" name="Freeform 12"/>
            <p:cNvSpPr/>
            <p:nvPr/>
          </p:nvSpPr>
          <p:spPr>
            <a:xfrm>
              <a:off x="10382250" y="2038350"/>
              <a:ext cx="800100" cy="971550"/>
            </a:xfrm>
            <a:custGeom>
              <a:avLst/>
              <a:gdLst/>
              <a:ahLst/>
              <a:cxnLst/>
              <a:rect l="l" t="t" r="r" b="b"/>
              <a:pathLst>
                <a:path w="800100" h="971550">
                  <a:moveTo>
                    <a:pt x="0" y="971550"/>
                  </a:moveTo>
                  <a:cubicBezTo>
                    <a:pt x="381000" y="685800"/>
                    <a:pt x="647700" y="361950"/>
                    <a:pt x="800100" y="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953750" y="20002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209550"/>
                  </a:moveTo>
                  <a:lnTo>
                    <a:pt x="247650" y="0"/>
                  </a:lnTo>
                  <a:lnTo>
                    <a:pt x="304800" y="304800"/>
                  </a:lnTo>
                </a:path>
              </a:pathLst>
            </a:custGeom>
            <a:noFill/>
            <a:ln w="76200">
              <a:solidFill>
                <a:schemeClr val="accent3"/>
              </a:solidFill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80330" y="4110990"/>
              <a:ext cx="13923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入口 Portal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19330" y="4110990"/>
              <a:ext cx="13923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出口 Portal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66081" y="24269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局部坐标变换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5800" y="3253740"/>
              <a:ext cx="3200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位置 · 旋转 · Rigidbody 速度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2500" y="4762500"/>
            <a:ext cx="10287000" cy="990600"/>
            <a:chOff x="952500" y="4762500"/>
            <a:chExt cx="10287000" cy="990600"/>
          </a:xfrm>
        </p:grpSpPr>
        <p:sp>
          <p:nvSpPr>
            <p:cNvPr id="19" name="Rectangle 19"/>
            <p:cNvSpPr/>
            <p:nvPr/>
          </p:nvSpPr>
          <p:spPr>
            <a:xfrm>
              <a:off x="952500" y="4762500"/>
              <a:ext cx="10287000" cy="990600"/>
            </a:xfrm>
            <a:prstGeom prst="roundRect">
              <a:avLst>
                <a:gd name="adj" fmla="val 21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29106" y="4949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实现顺序：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9106" y="5311140"/>
              <a:ext cx="6912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入口局部变换 → 出口世界变换 → 速度方向转换 → 传送冷却防回弹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23" name="Line 23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4642" y="65217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 · 空间变换与动量保留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23501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《半衰期 2》：重力枪把环境变成武器库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36772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房间里的“装饰”开始拥有战术价值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71500" y="1504950"/>
            <a:ext cx="11049000" cy="4243959"/>
            <a:chOff x="571500" y="1504950"/>
            <a:chExt cx="11049000" cy="4243959"/>
          </a:xfrm>
        </p:grpSpPr>
        <p:sp>
          <p:nvSpPr>
            <p:cNvPr id="4" name="Rectangle 4"/>
            <p:cNvSpPr/>
            <p:nvPr/>
          </p:nvSpPr>
          <p:spPr>
            <a:xfrm>
              <a:off x="571500" y="1504950"/>
              <a:ext cx="11049000" cy="4210050"/>
            </a:xfrm>
            <a:prstGeom prst="roundRect">
              <a:avLst>
                <a:gd name="adj" fmla="val 6335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19150" y="1771650"/>
              <a:ext cx="3238500" cy="3371850"/>
              <a:chOff x="819150" y="1771650"/>
              <a:chExt cx="3238500" cy="337185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819150" y="1771650"/>
                <a:ext cx="3238500" cy="3371850"/>
              </a:xfrm>
              <a:prstGeom prst="roundRect">
                <a:avLst>
                  <a:gd name="adj" fmla="val 6471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2197100" y="2197100"/>
                <a:ext cx="482526" cy="482526"/>
              </a:xfrm>
              <a:custGeom>
                <a:avLst/>
                <a:gdLst/>
                <a:ahLst/>
                <a:cxnLst/>
                <a:rect l="l" t="t" r="r" b="b"/>
                <a:pathLst>
                  <a:path w="482526" h="482526">
                    <a:moveTo>
                      <a:pt x="117755" y="409094"/>
                    </a:moveTo>
                    <a:cubicBezTo>
                      <a:pt x="121040" y="423852"/>
                      <a:pt x="133152" y="435014"/>
                      <a:pt x="148128" y="437084"/>
                    </a:cubicBezTo>
                    <a:cubicBezTo>
                      <a:pt x="163105" y="439155"/>
                      <a:pt x="177791" y="431698"/>
                      <a:pt x="184957" y="418384"/>
                    </a:cubicBezTo>
                    <a:lnTo>
                      <a:pt x="247996" y="325092"/>
                    </a:lnTo>
                    <a:lnTo>
                      <a:pt x="396004" y="473099"/>
                    </a:lnTo>
                    <a:cubicBezTo>
                      <a:pt x="402039" y="479135"/>
                      <a:pt x="410226" y="482526"/>
                      <a:pt x="418762" y="482526"/>
                    </a:cubicBezTo>
                    <a:cubicBezTo>
                      <a:pt x="427297" y="482526"/>
                      <a:pt x="435484" y="479135"/>
                      <a:pt x="441519" y="473099"/>
                    </a:cubicBezTo>
                    <a:lnTo>
                      <a:pt x="473099" y="441519"/>
                    </a:lnTo>
                    <a:cubicBezTo>
                      <a:pt x="479135" y="435484"/>
                      <a:pt x="482526" y="427297"/>
                      <a:pt x="482526" y="418762"/>
                    </a:cubicBezTo>
                    <a:cubicBezTo>
                      <a:pt x="482526" y="410226"/>
                      <a:pt x="479135" y="402039"/>
                      <a:pt x="473099" y="396004"/>
                    </a:cubicBezTo>
                    <a:lnTo>
                      <a:pt x="325092" y="247996"/>
                    </a:lnTo>
                    <a:lnTo>
                      <a:pt x="418988" y="184957"/>
                    </a:lnTo>
                    <a:cubicBezTo>
                      <a:pt x="432301" y="177786"/>
                      <a:pt x="439754" y="163095"/>
                      <a:pt x="437676" y="148117"/>
                    </a:cubicBezTo>
                    <a:cubicBezTo>
                      <a:pt x="435599" y="133139"/>
                      <a:pt x="424430" y="121031"/>
                      <a:pt x="409668" y="117755"/>
                    </a:cubicBezTo>
                    <a:lnTo>
                      <a:pt x="0" y="0"/>
                    </a:lnTo>
                    <a:lnTo>
                      <a:pt x="117755" y="4090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043036" y="2985135"/>
                <a:ext cx="79072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吸取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6706" y="3615690"/>
                <a:ext cx="26395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射线命中可抓 Rigidbody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76706" y="40157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质量与标签限制目标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76706" y="44157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建立当前抓取引用</a:t>
                </a:r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4210050" y="3257550"/>
              <a:ext cx="647700" cy="381000"/>
            </a:xfrm>
            <a:custGeom>
              <a:avLst/>
              <a:gdLst/>
              <a:ahLst/>
              <a:cxnLst/>
              <a:rect l="l" t="t" r="r" b="b"/>
              <a:pathLst>
                <a:path w="647700" h="381000">
                  <a:moveTo>
                    <a:pt x="0" y="190500"/>
                  </a:moveTo>
                  <a:lnTo>
                    <a:pt x="304800" y="190500"/>
                  </a:lnTo>
                  <a:lnTo>
                    <a:pt x="304800" y="0"/>
                  </a:lnTo>
                  <a:lnTo>
                    <a:pt x="647700" y="190500"/>
                  </a:lnTo>
                  <a:lnTo>
                    <a:pt x="304800" y="381000"/>
                  </a:lnTo>
                  <a:lnTo>
                    <a:pt x="304800" y="1905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476750" y="1771650"/>
              <a:ext cx="3605689" cy="3371850"/>
              <a:chOff x="4476750" y="1771650"/>
              <a:chExt cx="3605689" cy="3371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476750" y="1771650"/>
                <a:ext cx="3238500" cy="3371850"/>
              </a:xfrm>
              <a:prstGeom prst="roundRect">
                <a:avLst>
                  <a:gd name="adj" fmla="val 6471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5854700" y="2166938"/>
                <a:ext cx="482601" cy="542926"/>
                <a:chOff x="5854700" y="2166938"/>
                <a:chExt cx="482601" cy="542926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5854700" y="2166938"/>
                  <a:ext cx="482601" cy="542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601" h="542926">
                      <a:moveTo>
                        <a:pt x="241300" y="0"/>
                      </a:moveTo>
                      <a:lnTo>
                        <a:pt x="482601" y="135731"/>
                      </a:lnTo>
                      <a:lnTo>
                        <a:pt x="482601" y="407194"/>
                      </a:lnTo>
                      <a:lnTo>
                        <a:pt x="241300" y="542926"/>
                      </a:lnTo>
                      <a:lnTo>
                        <a:pt x="0" y="407194"/>
                      </a:lnTo>
                      <a:lnTo>
                        <a:pt x="0" y="135731"/>
                      </a:lnTo>
                      <a:lnTo>
                        <a:pt x="2413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6096000" y="2302669"/>
                  <a:ext cx="241300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300" h="135731">
                      <a:moveTo>
                        <a:pt x="0" y="135731"/>
                      </a:moveTo>
                      <a:lnTo>
                        <a:pt x="2413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6096000" y="2438400"/>
                  <a:ext cx="9525" cy="271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71463">
                      <a:moveTo>
                        <a:pt x="0" y="0"/>
                      </a:moveTo>
                      <a:lnTo>
                        <a:pt x="0" y="271463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5854700" y="2302669"/>
                  <a:ext cx="241300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300" h="135731">
                      <a:moveTo>
                        <a:pt x="241300" y="13573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5975350" y="2234803"/>
                  <a:ext cx="241300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300" h="135731">
                      <a:moveTo>
                        <a:pt x="241300" y="0"/>
                      </a:moveTo>
                      <a:lnTo>
                        <a:pt x="0" y="135731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5318989" y="298513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悬浮持有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734306" y="3615690"/>
                <a:ext cx="24444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原型：Kinematic 跟随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34306" y="4015740"/>
                <a:ext cx="3348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进阶：弹簧力 / PD Controller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34306" y="44157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限制最大力，避免抖动</a:t>
                </a: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7867650" y="3257550"/>
              <a:ext cx="647700" cy="381000"/>
            </a:xfrm>
            <a:custGeom>
              <a:avLst/>
              <a:gdLst/>
              <a:ahLst/>
              <a:cxnLst/>
              <a:rect l="l" t="t" r="r" b="b"/>
              <a:pathLst>
                <a:path w="647700" h="381000">
                  <a:moveTo>
                    <a:pt x="0" y="190500"/>
                  </a:moveTo>
                  <a:lnTo>
                    <a:pt x="304800" y="190500"/>
                  </a:lnTo>
                  <a:lnTo>
                    <a:pt x="304800" y="0"/>
                  </a:lnTo>
                  <a:lnTo>
                    <a:pt x="647700" y="190500"/>
                  </a:lnTo>
                  <a:lnTo>
                    <a:pt x="304800" y="381000"/>
                  </a:lnTo>
                  <a:lnTo>
                    <a:pt x="304800" y="1905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134350" y="1771650"/>
              <a:ext cx="3238500" cy="3371850"/>
              <a:chOff x="8134350" y="1771650"/>
              <a:chExt cx="3238500" cy="33718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134350" y="1771650"/>
                <a:ext cx="3238500" cy="3371850"/>
              </a:xfrm>
              <a:prstGeom prst="roundRect">
                <a:avLst>
                  <a:gd name="adj" fmla="val 6471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9482138" y="2257425"/>
                <a:ext cx="542925" cy="361950"/>
                <a:chOff x="9482138" y="2257425"/>
                <a:chExt cx="542925" cy="36195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9602788" y="2257425"/>
                  <a:ext cx="422275" cy="1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75" h="120650">
                      <a:moveTo>
                        <a:pt x="0" y="120650"/>
                      </a:moveTo>
                      <a:lnTo>
                        <a:pt x="422275" y="120650"/>
                      </a:lnTo>
                      <a:lnTo>
                        <a:pt x="3016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9482138" y="2498725"/>
                  <a:ext cx="422275" cy="1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75" h="120650">
                      <a:moveTo>
                        <a:pt x="422275" y="0"/>
                      </a:moveTo>
                      <a:lnTo>
                        <a:pt x="0" y="0"/>
                      </a:lnTo>
                      <a:lnTo>
                        <a:pt x="120650" y="1206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9358236" y="2985135"/>
                <a:ext cx="79072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发射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91906" y="36156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解除持有状态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91906" y="4015740"/>
                <a:ext cx="28487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Consolas"/>
                    <a:ea typeface="Consolas"/>
                    <a:cs typeface="Consolas"/>
                  </a:rPr>
                  <a:t>AddForce(..., Impulse)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91906" y="44157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质量影响速度与威力</a:t>
                </a:r>
              </a:p>
            </p:txBody>
          </p:sp>
        </p:grpSp>
        <p:sp>
          <p:nvSpPr>
            <p:cNvPr id="35" name="Rectangle 35"/>
            <p:cNvSpPr/>
            <p:nvPr/>
          </p:nvSpPr>
          <p:spPr>
            <a:xfrm>
              <a:off x="2095500" y="5314950"/>
              <a:ext cx="8001000" cy="40005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358075" y="5396865"/>
              <a:ext cx="5475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锯片切割 · 油桶爆炸 · 箱子掩护 · 轻物快速投掷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4642" y="65217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 · 物理抓取与环境战术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5B3E3A1B-B275-4712-ACF4-DF6FEEB5CDF0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881999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《旷野之息》：让规则自己组合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对象携带属性，系统发送统一事件，组合结果自然出现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66750" y="1485900"/>
            <a:ext cx="11525250" cy="3695700"/>
            <a:chOff x="666750" y="1485900"/>
            <a:chExt cx="11525250" cy="3695700"/>
          </a:xfrm>
        </p:grpSpPr>
        <p:grpSp>
          <p:nvGrpSpPr>
            <p:cNvPr id="7" name="Group 7"/>
            <p:cNvGrpSpPr/>
            <p:nvPr/>
          </p:nvGrpSpPr>
          <p:grpSpPr>
            <a:xfrm>
              <a:off x="666750" y="1485900"/>
              <a:ext cx="8572500" cy="1104900"/>
              <a:chOff x="666750" y="1485900"/>
              <a:chExt cx="8572500" cy="11049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485900"/>
                <a:ext cx="8572500" cy="1104900"/>
              </a:xfrm>
              <a:prstGeom prst="roundRect">
                <a:avLst>
                  <a:gd name="adj" fmla="val 18966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919734" y="163258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对象属性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924306" y="2129790"/>
                <a:ext cx="628987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Flammable · Conductive · Freezable · Explosive · Wet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666750" y="2781300"/>
              <a:ext cx="8572500" cy="1104900"/>
              <a:chOff x="666750" y="2781300"/>
              <a:chExt cx="8572500" cy="11049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66750" y="2781300"/>
                <a:ext cx="8572500" cy="1104900"/>
              </a:xfrm>
              <a:prstGeom prst="roundRect">
                <a:avLst>
                  <a:gd name="adj" fmla="val 18966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19734" y="292798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统一事件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24306" y="3425190"/>
                <a:ext cx="431939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热量 · 点燃 · 导电 · 冻结 · 冲击 · 风力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66750" y="4076700"/>
              <a:ext cx="8572500" cy="1104900"/>
              <a:chOff x="666750" y="4076700"/>
              <a:chExt cx="8572500" cy="11049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66750" y="4076700"/>
                <a:ext cx="8572500" cy="1104900"/>
              </a:xfrm>
              <a:prstGeom prst="roundRect">
                <a:avLst>
                  <a:gd name="adj" fmla="val 18966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19734" y="4223385"/>
                <a:ext cx="346226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状态变化与组合结果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24306" y="4720590"/>
                <a:ext cx="584598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燃烧 → 上升气流 · 潮湿 + 雷电 → 导电 · 水 + 冰 → 平台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620250" y="1485900"/>
              <a:ext cx="2571750" cy="3695700"/>
              <a:chOff x="9620250" y="1485900"/>
              <a:chExt cx="2571750" cy="36957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9620250" y="1485900"/>
                <a:ext cx="2571750" cy="36957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025062" y="1895475"/>
                <a:ext cx="333375" cy="452438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452438">
                    <a:moveTo>
                      <a:pt x="166688" y="212908"/>
                    </a:moveTo>
                    <a:cubicBezTo>
                      <a:pt x="222242" y="134136"/>
                      <a:pt x="170664" y="26622"/>
                      <a:pt x="142875" y="0"/>
                    </a:cubicBezTo>
                    <a:cubicBezTo>
                      <a:pt x="142875" y="80843"/>
                      <a:pt x="89654" y="126182"/>
                      <a:pt x="55555" y="159687"/>
                    </a:cubicBezTo>
                    <a:cubicBezTo>
                      <a:pt x="21503" y="193215"/>
                      <a:pt x="0" y="238125"/>
                      <a:pt x="0" y="292751"/>
                    </a:cubicBezTo>
                    <a:cubicBezTo>
                      <a:pt x="0" y="380952"/>
                      <a:pt x="74628" y="452438"/>
                      <a:pt x="166688" y="452438"/>
                    </a:cubicBezTo>
                    <a:cubicBezTo>
                      <a:pt x="258747" y="452438"/>
                      <a:pt x="333375" y="380952"/>
                      <a:pt x="333375" y="292751"/>
                    </a:cubicBezTo>
                    <a:cubicBezTo>
                      <a:pt x="333375" y="251984"/>
                      <a:pt x="304038" y="187904"/>
                      <a:pt x="277820" y="159687"/>
                    </a:cubicBezTo>
                    <a:cubicBezTo>
                      <a:pt x="228195" y="239530"/>
                      <a:pt x="200263" y="239530"/>
                      <a:pt x="166688" y="212908"/>
                    </a:cubicBez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739438" y="1919288"/>
                <a:ext cx="33337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428625">
                    <a:moveTo>
                      <a:pt x="190500" y="0"/>
                    </a:moveTo>
                    <a:lnTo>
                      <a:pt x="190500" y="166688"/>
                    </a:lnTo>
                    <a:lnTo>
                      <a:pt x="333375" y="166688"/>
                    </a:lnTo>
                    <a:lnTo>
                      <a:pt x="142875" y="428625"/>
                    </a:lnTo>
                    <a:lnTo>
                      <a:pt x="142875" y="261938"/>
                    </a:lnTo>
                    <a:lnTo>
                      <a:pt x="0" y="261938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1414284" y="1895475"/>
                <a:ext cx="412433" cy="476250"/>
                <a:chOff x="11414284" y="1895475"/>
                <a:chExt cx="412433" cy="47625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1572875" y="1943100"/>
                  <a:ext cx="95250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23812">
                      <a:moveTo>
                        <a:pt x="0" y="0"/>
                      </a:moveTo>
                      <a:lnTo>
                        <a:pt x="47625" y="23812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1620500" y="1895475"/>
                  <a:ext cx="71438" cy="195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95739">
                      <a:moveTo>
                        <a:pt x="0" y="0"/>
                      </a:moveTo>
                      <a:lnTo>
                        <a:pt x="0" y="154781"/>
                      </a:lnTo>
                      <a:lnTo>
                        <a:pt x="71438" y="195739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1761660" y="1997107"/>
                  <a:ext cx="47625" cy="82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82486">
                      <a:moveTo>
                        <a:pt x="0" y="0"/>
                      </a:moveTo>
                      <a:lnTo>
                        <a:pt x="3191" y="53150"/>
                      </a:lnTo>
                      <a:lnTo>
                        <a:pt x="47625" y="82486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692676" y="2014538"/>
                  <a:ext cx="134041" cy="159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41" h="159734">
                      <a:moveTo>
                        <a:pt x="134041" y="0"/>
                      </a:moveTo>
                      <a:lnTo>
                        <a:pt x="0" y="77391"/>
                      </a:lnTo>
                      <a:lnTo>
                        <a:pt x="238" y="159734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1761660" y="2187607"/>
                  <a:ext cx="47625" cy="82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82486">
                      <a:moveTo>
                        <a:pt x="47625" y="0"/>
                      </a:moveTo>
                      <a:lnTo>
                        <a:pt x="3191" y="29337"/>
                      </a:lnTo>
                      <a:lnTo>
                        <a:pt x="0" y="82486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621476" y="2175272"/>
                  <a:ext cx="205240" cy="77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240" h="77391">
                      <a:moveTo>
                        <a:pt x="205240" y="77391"/>
                      </a:moveTo>
                      <a:lnTo>
                        <a:pt x="71199" y="0"/>
                      </a:lnTo>
                      <a:lnTo>
                        <a:pt x="0" y="41386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1572875" y="2300288"/>
                  <a:ext cx="95250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23812">
                      <a:moveTo>
                        <a:pt x="95250" y="23812"/>
                      </a:moveTo>
                      <a:lnTo>
                        <a:pt x="47625" y="0"/>
                      </a:ln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1549062" y="2175986"/>
                  <a:ext cx="71438" cy="195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95739">
                      <a:moveTo>
                        <a:pt x="71438" y="195739"/>
                      </a:moveTo>
                      <a:lnTo>
                        <a:pt x="71438" y="4095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1431714" y="2187607"/>
                  <a:ext cx="47625" cy="82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82486">
                      <a:moveTo>
                        <a:pt x="47625" y="82486"/>
                      </a:moveTo>
                      <a:lnTo>
                        <a:pt x="44434" y="293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1414284" y="2092928"/>
                  <a:ext cx="134041" cy="159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41" h="159734">
                      <a:moveTo>
                        <a:pt x="0" y="159734"/>
                      </a:moveTo>
                      <a:lnTo>
                        <a:pt x="134041" y="82344"/>
                      </a:lnTo>
                      <a:lnTo>
                        <a:pt x="133802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1431714" y="1997107"/>
                  <a:ext cx="47625" cy="82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82486">
                      <a:moveTo>
                        <a:pt x="0" y="82486"/>
                      </a:moveTo>
                      <a:lnTo>
                        <a:pt x="44434" y="531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1414284" y="2014538"/>
                  <a:ext cx="205240" cy="77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240" h="77391">
                      <a:moveTo>
                        <a:pt x="0" y="0"/>
                      </a:moveTo>
                      <a:lnTo>
                        <a:pt x="134041" y="77391"/>
                      </a:lnTo>
                      <a:lnTo>
                        <a:pt x="205240" y="3600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0510761" y="2585085"/>
                <a:ext cx="79072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关键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170033" y="31965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不为每个谜题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048875" y="35394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写一套专用脚本</a:t>
                </a: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10039350" y="3905250"/>
                <a:ext cx="17335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1733550" h="361950">
                    <a:moveTo>
                      <a:pt x="0" y="190500"/>
                    </a:moveTo>
                    <a:cubicBezTo>
                      <a:pt x="514350" y="0"/>
                      <a:pt x="1219200" y="361950"/>
                      <a:pt x="1733550" y="152400"/>
                    </a:cubicBezTo>
                  </a:path>
                </a:pathLst>
              </a:custGeom>
              <a:noFill/>
              <a:ln w="66675" cap="rnd">
                <a:solidFill>
                  <a:schemeClr val="accent2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133686" y="44348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组件少不重要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006470" y="4777740"/>
                <a:ext cx="17993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接口统一才重要</a:t>
                </a:r>
              </a:p>
            </p:txBody>
          </p:sp>
        </p:grpSp>
      </p:grpSp>
      <p:sp>
        <p:nvSpPr>
          <p:cNvPr id="40" name="Rectangle 40"/>
          <p:cNvSpPr/>
          <p:nvPr/>
        </p:nvSpPr>
        <p:spPr>
          <a:xfrm>
            <a:off x="1657350" y="5410200"/>
            <a:ext cx="8877300" cy="476250"/>
          </a:xfrm>
          <a:prstGeom prst="roundRect">
            <a:avLst>
              <a:gd name="adj" fmla="val 32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160890" y="5539740"/>
            <a:ext cx="58702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玩家不是找正确按钮，而是观察材料并组合已知规则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2" name="Line 42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4642" y="65217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 · 属性、事件与系统组合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5B3E3A1B-B275-4712-ACF4-DF6FEEB5CDF0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33723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《Baba Is You》：玩家直接改写游戏规则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文字不是说明，而是可推动、可重组的规则方块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66750" y="1485900"/>
            <a:ext cx="6286500" cy="4210050"/>
            <a:chOff x="666750" y="1485900"/>
            <a:chExt cx="6286500" cy="4210050"/>
          </a:xfrm>
        </p:grpSpPr>
        <p:sp>
          <p:nvSpPr>
            <p:cNvPr id="4" name="Rectangle 4"/>
            <p:cNvSpPr/>
            <p:nvPr/>
          </p:nvSpPr>
          <p:spPr>
            <a:xfrm>
              <a:off x="666750" y="1485900"/>
              <a:ext cx="6286500" cy="4210050"/>
            </a:xfrm>
            <a:prstGeom prst="roundRect">
              <a:avLst>
                <a:gd name="adj" fmla="val 6335"/>
              </a:avLst>
            </a:prstGeom>
            <a:solidFill>
              <a:schemeClr val="dk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123950" y="2000250"/>
              <a:ext cx="4800600" cy="2819400"/>
              <a:chOff x="1123950" y="2000250"/>
              <a:chExt cx="4800600" cy="28194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1123950" y="2000250"/>
                <a:ext cx="15240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479469" y="2188845"/>
                <a:ext cx="81296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BABA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2952750" y="2000250"/>
                <a:ext cx="11430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359719" y="2188845"/>
                <a:ext cx="32906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IS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4400550" y="2000250"/>
                <a:ext cx="15240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818797" y="2188845"/>
                <a:ext cx="68750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YOU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123950" y="3067050"/>
                <a:ext cx="15240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3624" y="3255645"/>
                <a:ext cx="88465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WALL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2952750" y="3067050"/>
                <a:ext cx="11430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359719" y="3255645"/>
                <a:ext cx="32906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IS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4400550" y="3067050"/>
                <a:ext cx="1524000" cy="685800"/>
              </a:xfrm>
              <a:prstGeom prst="roundRect">
                <a:avLst>
                  <a:gd name="adj" fmla="val 1944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720224" y="3255645"/>
                <a:ext cx="88465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D85C45"/>
                    </a:solidFill>
                    <a:latin typeface="Consolas"/>
                    <a:ea typeface="Consolas"/>
                    <a:cs typeface="Consolas"/>
                  </a:rPr>
                  <a:t>STOP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123950" y="4133850"/>
                <a:ext cx="15240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79469" y="4322445"/>
                <a:ext cx="81296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FLAG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952750" y="4133850"/>
                <a:ext cx="11430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359719" y="4322445"/>
                <a:ext cx="32906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IS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4400550" y="4133850"/>
                <a:ext cx="15240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863602" y="4322445"/>
                <a:ext cx="5978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WIN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6096000" y="3409950"/>
              <a:ext cx="514350" cy="1066800"/>
            </a:xfrm>
            <a:custGeom>
              <a:avLst/>
              <a:gdLst/>
              <a:ahLst/>
              <a:cxnLst/>
              <a:rect l="l" t="t" r="r" b="b"/>
              <a:pathLst>
                <a:path w="514350" h="1066800">
                  <a:moveTo>
                    <a:pt x="0" y="0"/>
                  </a:moveTo>
                  <a:cubicBezTo>
                    <a:pt x="457200" y="0"/>
                    <a:pt x="514350" y="819150"/>
                    <a:pt x="0" y="106680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076950" y="4286250"/>
              <a:ext cx="228600" cy="247650"/>
            </a:xfrm>
            <a:custGeom>
              <a:avLst/>
              <a:gdLst/>
              <a:ahLst/>
              <a:cxnLst/>
              <a:rect l="l" t="t" r="r" b="b"/>
              <a:pathLst>
                <a:path w="228600" h="247650">
                  <a:moveTo>
                    <a:pt x="114300" y="0"/>
                  </a:moveTo>
                  <a:lnTo>
                    <a:pt x="0" y="209550"/>
                  </a:lnTo>
                  <a:lnTo>
                    <a:pt x="228600" y="247650"/>
                  </a:lnTo>
                </a:path>
              </a:pathLst>
            </a:custGeom>
            <a:noFill/>
            <a:ln w="66675">
              <a:solidFill>
                <a:schemeClr val="accent2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03069" y="5177790"/>
              <a:ext cx="3013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推走 STOP，墙就不再阻挡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334250" y="1485900"/>
            <a:ext cx="4191000" cy="4210050"/>
            <a:chOff x="7334250" y="1485900"/>
            <a:chExt cx="4191000" cy="4210050"/>
          </a:xfrm>
        </p:grpSpPr>
        <p:sp>
          <p:nvSpPr>
            <p:cNvPr id="28" name="Rectangle 28"/>
            <p:cNvSpPr/>
            <p:nvPr/>
          </p:nvSpPr>
          <p:spPr>
            <a:xfrm>
              <a:off x="7334250" y="1485900"/>
              <a:ext cx="4191000" cy="4210050"/>
            </a:xfrm>
            <a:prstGeom prst="roundRect">
              <a:avLst>
                <a:gd name="adj" fmla="val 6364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686675" y="1800225"/>
              <a:ext cx="342900" cy="342900"/>
              <a:chOff x="7686675" y="1800225"/>
              <a:chExt cx="342900" cy="342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686675" y="180022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686675" y="205740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0" y="42862"/>
                    </a:lnTo>
                    <a:cubicBezTo>
                      <a:pt x="0" y="66535"/>
                      <a:pt x="19190" y="85725"/>
                      <a:pt x="42862" y="85725"/>
                    </a:cubicBez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43850" y="180022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42862" y="0"/>
                    </a:ln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943850" y="205740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42862" y="85725"/>
                    </a:lnTo>
                    <a:cubicBezTo>
                      <a:pt x="66535" y="85725"/>
                      <a:pt x="85725" y="66535"/>
                      <a:pt x="85725" y="42862"/>
                    </a:cubicBez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858125" y="1907381"/>
                <a:ext cx="9525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019">
                    <a:moveTo>
                      <a:pt x="0" y="15001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93831" y="1907381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273034" y="1765935"/>
              <a:ext cx="19356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每回合解析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610856" y="2472690"/>
              <a:ext cx="3023006" cy="2828544"/>
              <a:chOff x="7610856" y="2472690"/>
              <a:chExt cx="3023006" cy="2828544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7610856" y="2472690"/>
                <a:ext cx="25383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1. 扫描横向与纵向文字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10856" y="2967990"/>
                <a:ext cx="279623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2. 识别 名词 + IS + 属性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10856" y="3463290"/>
                <a:ext cx="25383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3. 生成本回合规则集合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10856" y="3958590"/>
                <a:ext cx="27806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4. 清除上一回合动态规则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10856" y="4453890"/>
                <a:ext cx="27806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5. 应用新属性与对象转换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0856" y="4949190"/>
                <a:ext cx="30230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6. 再判断移动、胜负与冲突</a:t>
                </a:r>
              </a:p>
            </p:txBody>
          </p:sp>
        </p:grpSp>
        <p:sp>
          <p:nvSpPr>
            <p:cNvPr id="44" name="Rectangle 44"/>
            <p:cNvSpPr/>
            <p:nvPr/>
          </p:nvSpPr>
          <p:spPr>
            <a:xfrm>
              <a:off x="7600950" y="5314950"/>
              <a:ext cx="3657600" cy="266700"/>
            </a:xfrm>
            <a:prstGeom prst="roundRect">
              <a:avLst>
                <a:gd name="adj" fmla="val 35714"/>
              </a:avLst>
            </a:prstGeom>
            <a:solidFill>
              <a:srgbClr val="EAF0FA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6" name="Line 46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4642" y="652176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 · 动态规则解析与冲突顺序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5B3E3A1B-B275-4712-ACF4-DF6FEEB5CDF0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7018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把被忽略的普通动作，放大成完整玩法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5850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整理文件与走路，本来都不是“技能”，却可以承载决策与压力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1524000"/>
            <a:ext cx="10668000" cy="4171950"/>
            <a:chOff x="762000" y="1524000"/>
            <a:chExt cx="10668000" cy="4171950"/>
          </a:xfrm>
        </p:grpSpPr>
        <p:grpSp>
          <p:nvGrpSpPr>
            <p:cNvPr id="20" name="Group 20"/>
            <p:cNvGrpSpPr/>
            <p:nvPr/>
          </p:nvGrpSpPr>
          <p:grpSpPr>
            <a:xfrm>
              <a:off x="762000" y="1524000"/>
              <a:ext cx="5048250" cy="4171950"/>
              <a:chOff x="762000" y="1524000"/>
              <a:chExt cx="504825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76200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1123950" y="1771650"/>
                <a:ext cx="266700" cy="342900"/>
                <a:chOff x="1123950" y="1771650"/>
                <a:chExt cx="266700" cy="3429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295400" y="17716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86721"/>
                        <a:pt x="8529" y="95250"/>
                        <a:pt x="19050" y="95250"/>
                      </a:cubicBezTo>
                      <a:lnTo>
                        <a:pt x="95250" y="952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123950" y="1771650"/>
                  <a:ext cx="2667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342900">
                      <a:moveTo>
                        <a:pt x="228600" y="342900"/>
                      </a:move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71450" y="0"/>
                      </a:lnTo>
                      <a:lnTo>
                        <a:pt x="266700" y="95250"/>
                      </a:lnTo>
                      <a:lnTo>
                        <a:pt x="266700" y="304800"/>
                      </a:lnTo>
                      <a:cubicBezTo>
                        <a:pt x="266700" y="325842"/>
                        <a:pt x="249642" y="342900"/>
                        <a:pt x="228600" y="3429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200150" y="188595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00150" y="1962150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00150" y="2038350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662684" y="1784985"/>
                <a:ext cx="357171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《Papers, Please》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5558" y="2636520"/>
                <a:ext cx="273832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把办公桌做成世界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606" y="31965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拖动、翻看、对比、盖章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8606" y="359664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文件占空间，规则不断增加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8606" y="39966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机械操作承担道德后果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047750" y="4591050"/>
                <a:ext cx="4476750" cy="762000"/>
              </a:xfrm>
              <a:prstGeom prst="roundRect">
                <a:avLst>
                  <a:gd name="adj" fmla="val 2250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792349" y="471106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实现重点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80082" y="5025390"/>
                <a:ext cx="36120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数据比对 + 拖拽层级 + RuleSet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381750" y="1524000"/>
              <a:ext cx="5048250" cy="4171950"/>
              <a:chOff x="6381750" y="1524000"/>
              <a:chExt cx="5048250" cy="41719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38175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38175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762750" y="1771650"/>
                <a:ext cx="228600" cy="342900"/>
                <a:chOff x="6762750" y="1771650"/>
                <a:chExt cx="228600" cy="3429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6877050" y="17716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781800" y="203835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0" y="7620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858000" y="1866900"/>
                  <a:ext cx="95250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247650">
                      <a:moveTo>
                        <a:pt x="95250" y="247650"/>
                      </a:moveTo>
                      <a:lnTo>
                        <a:pt x="57150" y="171450"/>
                      </a:lnTo>
                      <a:lnTo>
                        <a:pt x="0" y="114300"/>
                      </a:ln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762750" y="1866900"/>
                  <a:ext cx="2286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6200">
                      <a:moveTo>
                        <a:pt x="0" y="76200"/>
                      </a:moveTo>
                      <a:lnTo>
                        <a:pt x="38100" y="19050"/>
                      </a:lnTo>
                      <a:lnTo>
                        <a:pt x="114300" y="0"/>
                      </a:lnTo>
                      <a:lnTo>
                        <a:pt x="171450" y="57150"/>
                      </a:lnTo>
                      <a:lnTo>
                        <a:pt x="228600" y="762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282434" y="1784985"/>
                <a:ext cx="231731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《死亡搁浅》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55308" y="2636520"/>
                <a:ext cx="23990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把走路做成操作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658356" y="31965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坡度、地面、货物与重心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658356" y="35966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观察路线并主动修正平衡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58356" y="39966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失衡有预警，玩家能补救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667500" y="4591050"/>
                <a:ext cx="4476750" cy="762000"/>
              </a:xfrm>
              <a:prstGeom prst="roundRect">
                <a:avLst>
                  <a:gd name="adj" fmla="val 22500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412099" y="471106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实现重点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31975" y="5025390"/>
                <a:ext cx="314779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地形射线 + 质心 + 失衡累积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4642" y="65217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 · 普通动作的决策密度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5B3E3A1B-B275-4712-ACF4-DF6FEEB5CDF0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944727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三个可以快速做成原型的原创方向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5915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每个方向都只有一条核心规则，却能自然扩展出关卡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71500" y="1619250"/>
            <a:ext cx="11049000" cy="3848100"/>
            <a:chOff x="571500" y="1619250"/>
            <a:chExt cx="11049000" cy="3848100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619250"/>
              <a:ext cx="3429000" cy="3848100"/>
              <a:chOff x="571500" y="1619250"/>
              <a:chExt cx="3429000" cy="38481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71500" y="1619250"/>
                <a:ext cx="3429000" cy="3848100"/>
              </a:xfrm>
              <a:prstGeom prst="roundRect">
                <a:avLst>
                  <a:gd name="adj" fmla="val 7778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1638300" y="1885950"/>
                <a:ext cx="1295400" cy="1295400"/>
              </a:xfrm>
              <a:prstGeom prst="ellipse">
                <a:avLst/>
              </a:prstGeom>
              <a:solidFill>
                <a:srgbClr val="EAF0FA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985962" y="2333625"/>
                <a:ext cx="600075" cy="400050"/>
                <a:chOff x="1985962" y="2333625"/>
                <a:chExt cx="600075" cy="40005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2119312" y="2333625"/>
                  <a:ext cx="4667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5" h="133350">
                      <a:moveTo>
                        <a:pt x="0" y="133350"/>
                      </a:moveTo>
                      <a:lnTo>
                        <a:pt x="466725" y="133350"/>
                      </a:lnTo>
                      <a:lnTo>
                        <a:pt x="33337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985962" y="2600325"/>
                  <a:ext cx="4667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5" h="133350">
                      <a:moveTo>
                        <a:pt x="466725" y="0"/>
                      </a:moveTo>
                      <a:lnTo>
                        <a:pt x="0" y="0"/>
                      </a:lnTo>
                      <a:lnTo>
                        <a:pt x="133350" y="1333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508989" y="330898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材质转移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29056" y="390144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吸取“滑”“弹”“热”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29056" y="43014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再贴到另一物体表面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38200" y="4800600"/>
                <a:ext cx="2895600" cy="438150"/>
              </a:xfrm>
              <a:prstGeom prst="roundRect">
                <a:avLst>
                  <a:gd name="adj" fmla="val 30435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12831" y="4911090"/>
                <a:ext cx="23463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属性复制 + 状态反馈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81500" y="1619250"/>
              <a:ext cx="3429000" cy="3848100"/>
              <a:chOff x="4381500" y="1619250"/>
              <a:chExt cx="3429000" cy="38481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381500" y="1619250"/>
                <a:ext cx="3429000" cy="3848100"/>
              </a:xfrm>
              <a:prstGeom prst="roundRect">
                <a:avLst>
                  <a:gd name="adj" fmla="val 7778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5448300" y="1885950"/>
                <a:ext cx="1295400" cy="1295400"/>
              </a:xfrm>
              <a:prstGeom prst="ellipse">
                <a:avLst/>
              </a:prstGeom>
              <a:solidFill>
                <a:srgbClr val="E8F5F0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5809751" y="2244168"/>
                <a:ext cx="589533" cy="596310"/>
                <a:chOff x="5809751" y="2244168"/>
                <a:chExt cx="589533" cy="59631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5809751" y="2466975"/>
                  <a:ext cx="366726" cy="373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26" h="373503">
                      <a:moveTo>
                        <a:pt x="266713" y="0"/>
                      </a:moveTo>
                      <a:lnTo>
                        <a:pt x="20582" y="247298"/>
                      </a:lnTo>
                      <a:cubicBezTo>
                        <a:pt x="7408" y="260384"/>
                        <a:pt x="0" y="278185"/>
                        <a:pt x="0" y="296754"/>
                      </a:cubicBezTo>
                      <a:cubicBezTo>
                        <a:pt x="0" y="315323"/>
                        <a:pt x="7408" y="333124"/>
                        <a:pt x="20582" y="346210"/>
                      </a:cubicBezTo>
                      <a:cubicBezTo>
                        <a:pt x="48022" y="373503"/>
                        <a:pt x="92355" y="373503"/>
                        <a:pt x="119795" y="346210"/>
                      </a:cubicBezTo>
                      <a:lnTo>
                        <a:pt x="366726" y="100012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5987007" y="2244168"/>
                  <a:ext cx="412277" cy="412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277" h="412277">
                      <a:moveTo>
                        <a:pt x="313052" y="399263"/>
                      </a:moveTo>
                      <a:lnTo>
                        <a:pt x="399263" y="313052"/>
                      </a:lnTo>
                      <a:cubicBezTo>
                        <a:pt x="412277" y="300034"/>
                        <a:pt x="412277" y="278931"/>
                        <a:pt x="399263" y="265913"/>
                      </a:cubicBezTo>
                      <a:lnTo>
                        <a:pt x="146364" y="13014"/>
                      </a:lnTo>
                      <a:cubicBezTo>
                        <a:pt x="133346" y="0"/>
                        <a:pt x="112243" y="0"/>
                        <a:pt x="99225" y="13014"/>
                      </a:cubicBezTo>
                      <a:lnTo>
                        <a:pt x="13014" y="99225"/>
                      </a:lnTo>
                      <a:cubicBezTo>
                        <a:pt x="0" y="112243"/>
                        <a:pt x="0" y="133346"/>
                        <a:pt x="13014" y="146364"/>
                      </a:cubicBezTo>
                      <a:lnTo>
                        <a:pt x="265913" y="399263"/>
                      </a:lnTo>
                      <a:cubicBezTo>
                        <a:pt x="278931" y="412277"/>
                        <a:pt x="300034" y="412277"/>
                        <a:pt x="313052" y="399263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5318989" y="330898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力量记忆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39056" y="39014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记录最近一次冲击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39056" y="43014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搬到别处按原方向释放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4648200" y="4800600"/>
                <a:ext cx="2895600" cy="438150"/>
              </a:xfrm>
              <a:prstGeom prst="roundRect">
                <a:avLst>
                  <a:gd name="adj" fmla="val 30435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050046" y="4911090"/>
                <a:ext cx="20919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向量存储 + 可视化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191500" y="1619250"/>
              <a:ext cx="3429000" cy="3848100"/>
              <a:chOff x="8191500" y="1619250"/>
              <a:chExt cx="3429000" cy="38481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191500" y="1619250"/>
                <a:ext cx="3429000" cy="3848100"/>
              </a:xfrm>
              <a:prstGeom prst="roundRect">
                <a:avLst>
                  <a:gd name="adj" fmla="val 7778"/>
                </a:avLst>
              </a:prstGeom>
              <a:solidFill>
                <a:srgbClr val="FFFFFF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9258300" y="1885950"/>
                <a:ext cx="1295400" cy="1295400"/>
              </a:xfrm>
              <a:prstGeom prst="ellipse">
                <a:avLst/>
              </a:prstGeom>
              <a:solidFill>
                <a:srgbClr val="FFF0D1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9605962" y="2333625"/>
                <a:ext cx="600075" cy="400050"/>
                <a:chOff x="9605962" y="2333625"/>
                <a:chExt cx="600075" cy="40005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9839325" y="24669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9605962" y="2333625"/>
                  <a:ext cx="600075" cy="40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075" h="400050">
                      <a:moveTo>
                        <a:pt x="600075" y="200025"/>
                      </a:moveTo>
                      <a:cubicBezTo>
                        <a:pt x="520065" y="333375"/>
                        <a:pt x="420052" y="400050"/>
                        <a:pt x="300038" y="400050"/>
                      </a:cubicBezTo>
                      <a:cubicBezTo>
                        <a:pt x="180023" y="400050"/>
                        <a:pt x="80010" y="333375"/>
                        <a:pt x="0" y="200025"/>
                      </a:cubicBezTo>
                      <a:cubicBezTo>
                        <a:pt x="80010" y="66675"/>
                        <a:pt x="180023" y="0"/>
                        <a:pt x="300038" y="0"/>
                      </a:cubicBezTo>
                      <a:cubicBezTo>
                        <a:pt x="420052" y="0"/>
                        <a:pt x="520065" y="66675"/>
                        <a:pt x="600075" y="200025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8938165" y="3308985"/>
                <a:ext cx="193567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视线外行动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449056" y="39014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看着它就静止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449056" y="43014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不看时移动或改造房间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458200" y="4800600"/>
                <a:ext cx="2895600" cy="438150"/>
              </a:xfrm>
              <a:prstGeom prst="roundRect">
                <a:avLst>
                  <a:gd name="adj" fmla="val 30435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605615" y="4911090"/>
                <a:ext cx="2600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可见性判定 + 安全移动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2856281" y="5671185"/>
            <a:ext cx="647943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先做一个房间、一个物体、一条规则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9" name="Line 3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4642" y="65217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原创方向 · 小规则，大组合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5B3E3A1B-B275-4712-ACF4-DF6FEEB5CDF0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07455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做交互原型时，先把这五件事说清楚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6465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验证“好不好玩”之前，不必先把系统做完整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81050" y="1524000"/>
            <a:ext cx="10648950" cy="4457700"/>
            <a:chOff x="781050" y="1524000"/>
            <a:chExt cx="10648950" cy="4457700"/>
          </a:xfrm>
        </p:grpSpPr>
        <p:grpSp>
          <p:nvGrpSpPr>
            <p:cNvPr id="9" name="Group 9"/>
            <p:cNvGrpSpPr/>
            <p:nvPr/>
          </p:nvGrpSpPr>
          <p:grpSpPr>
            <a:xfrm>
              <a:off x="781050" y="1524000"/>
              <a:ext cx="10648950" cy="800100"/>
              <a:chOff x="781050" y="1524000"/>
              <a:chExt cx="10648950" cy="800100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781050" y="15430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056566" y="17792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" name="Rectangle 6"/>
              <p:cNvSpPr/>
              <p:nvPr/>
            </p:nvSpPr>
            <p:spPr>
              <a:xfrm>
                <a:off x="1752600" y="15240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045208" y="16078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改变什么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896106" y="1672590"/>
                <a:ext cx="53492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位置、尺度、材料、规则、视角、路线还是状态？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81050" y="2438400"/>
              <a:ext cx="10648950" cy="800100"/>
              <a:chOff x="781050" y="2438400"/>
              <a:chExt cx="10648950" cy="8001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81050" y="2457450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56566" y="26936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752600" y="24384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045208" y="252222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如何被发现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896106" y="2586990"/>
                <a:ext cx="53492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动作、光、声音、材质或异常现象是否足够清楚？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81050" y="3352800"/>
              <a:ext cx="10648950" cy="800100"/>
              <a:chOff x="781050" y="3352800"/>
              <a:chExt cx="10648950" cy="8001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81050" y="337185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56566" y="36080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752600" y="33528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045208" y="34366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立即反馈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896106" y="3501390"/>
                <a:ext cx="53492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按下、抓住、切换或放置的瞬间，世界如何回应？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81050" y="4267200"/>
              <a:ext cx="10648950" cy="800100"/>
              <a:chOff x="781050" y="4267200"/>
              <a:chExt cx="10648950" cy="8001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4286250"/>
                <a:ext cx="762000" cy="7620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56566" y="45224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752600" y="42672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045208" y="43510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组合空间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896106" y="4415790"/>
                <a:ext cx="486460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同一规则能否用于移动、战斗、探索或解谜？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81050" y="5181600"/>
              <a:ext cx="10648950" cy="800100"/>
              <a:chOff x="781050" y="5181600"/>
              <a:chExt cx="10648950" cy="8001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781050" y="5200650"/>
                <a:ext cx="762000" cy="76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56566" y="54368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752600" y="51816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2045208" y="52654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最小验证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896106" y="5330190"/>
                <a:ext cx="53492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一个房间、一个物体、一条规则，是否已经有趣？</a:t>
                </a:r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3022016" y="5755958"/>
            <a:ext cx="614796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先让规则有趣，再让内容变多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6" name="Line 36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4642" y="65217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交互设计 · 最小可玩原型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5B3E3A1B-B275-4712-ACF4-DF6FEEB5CDF0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2026-07-18T11:31:15Z</dcterms:created>
  <dcterms:modified xsi:type="dcterms:W3CDTF">2026-07-18T11:31:15Z</dcterms:modified>
  <cp:category/>
  <cp:contentStatus/>
</cp:coreProperties>
</file>