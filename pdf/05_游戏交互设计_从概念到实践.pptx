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5" r:id="rId8"/>
    <p:sldId id="261" r:id="rId9"/>
    <p:sldId id="262" r:id="rId10"/>
    <p:sldId id="264" r:id="rId11"/>
    <p:sldId id="267" r:id="rId12"/>
    <p:sldId id="268" r:id="rId1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6" Type="http://schemas.openxmlformats.org/officeDocument/2006/relationships/tableStyles" Target="tableStyles.xml"/><Relationship Id="rId15" Type="http://schemas.openxmlformats.org/officeDocument/2006/relationships/viewProps" Target="viewProps.xml"/><Relationship Id="rId14" Type="http://schemas.openxmlformats.org/officeDocument/2006/relationships/presProps" Target="presProps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/>
  <p:notesStyle>
    <a:lvl1pPr marL="0" algn="l">
      <a:defRPr lang="en-US" sz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这节课讨论的不是某个按键怎么绑定，而是玩家为什么愿意继续动手。真正的交互是一场对话：玩家提出动作，世界给出回应，回应又产生下一步想法。</a:t>
            </a:r>
            <a:endParaRPr lang="zh-CN"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输入只是鼠标、键盘或手柄产生的信号，只有被游戏解释并改变世界时，才形成交互。设计时要先回答玩家到底改变了什么，以及这个结果如何影响下一步决策。</a:t>
            </a:r>
            <a:endParaRPr lang="zh-CN"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会动、发光、发声或与环境不同的东西会吸引玩家尝试，但提示必须有选择性。玩家操作后，完整动作可以慢，确认反馈必须立刻发生，否则玩家会以为输入没有生效。</a:t>
            </a:r>
            <a:endParaRPr lang="zh-CN"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有深度的交互通常来自多用途、稳定规则、局面变化和合理的自由试验。一个简单功能能在不同场景产生不同结果，比不断增加新按键更容易形成真正的系统性玩法。</a:t>
            </a:r>
            <a:endParaRPr lang="zh-CN"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重力枪让场景中的箱子、锯片和油桶获得战术意义。原型可以用 Kinematic 跟随，进阶版本用弹簧力或 PD Controller 保留重量感，再通过 Impulse 完成发射。</a:t>
            </a:r>
            <a:endParaRPr lang="zh-CN" dirty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《超阈限空间》把近大远小的视觉经验变成真实尺度变化。原型的核心是深度比率与等比缩放，稳定性则来自 Kinematic 抓取、体积碰撞检查、尺寸限制和非法位置反馈。</a:t>
            </a:r>
            <a:endParaRPr lang="zh-CN" dirty="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玩家通过摄像机 A 看见 B，再从 B 控制远处设备，观察范围和控制权沿网络移动。摄像机节点只负责连接与目标选择，具体门、灯和升降机通过统一远程接口处理自己的状态。</a:t>
            </a:r>
            <a:endParaRPr lang="zh-CN" dirty="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传送门不仅搬运位置，还把方向、旋转和 Rigidbody 速度从入口坐标系转换到出口坐标系。动量被保留后，下落可以变成加速，空间关系就成为解谜资源。</a:t>
            </a:r>
            <a:endParaRPr lang="zh-CN" dirty="0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文字方块组成实时规则，玩家每移动一步，系统重新扫描、解析并应用本回合规则。关键难点是规则冲突和处理顺序必须稳定，否则玩家无法形成可靠预期。</a:t>
            </a:r>
            <a:endParaRPr lang="zh-CN" dirty="0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《Papers, Please》把文件整理和盖章变成时间、空间与道德决策；《死亡搁浅》把走路变成地形、货物与平衡管理。两者都证明，被忽略的普通动作也能承载完整玩法。</a:t>
            </a:r>
            <a:endParaRPr lang="zh-CN"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4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4953000"/>
            <a:ext cx="12192000" cy="1905000"/>
          </a:xfrm>
          <a:custGeom>
            <a:avLst/>
            <a:gdLst/>
            <a:ahLst/>
            <a:cxnLst/>
            <a:rect l="l" t="t" r="r" b="b"/>
            <a:pathLst>
              <a:path w="12192000" h="1905000">
                <a:moveTo>
                  <a:pt x="0" y="619125"/>
                </a:moveTo>
                <a:cubicBezTo>
                  <a:pt x="2190750" y="0"/>
                  <a:pt x="4000500" y="1524000"/>
                  <a:pt x="6324600" y="819150"/>
                </a:cubicBezTo>
                <a:cubicBezTo>
                  <a:pt x="8763000" y="95250"/>
                  <a:pt x="10287000" y="1047750"/>
                  <a:pt x="12192000" y="19050"/>
                </a:cubicBezTo>
                <a:lnTo>
                  <a:pt x="12192000" y="1905000"/>
                </a:lnTo>
                <a:lnTo>
                  <a:pt x="0" y="190500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647700" y="838200"/>
            <a:ext cx="3943350" cy="247650"/>
          </a:xfrm>
          <a:custGeom>
            <a:avLst/>
            <a:gdLst/>
            <a:ahLst/>
            <a:cxnLst/>
            <a:rect l="l" t="t" r="r" b="b"/>
            <a:pathLst>
              <a:path w="3943350" h="247650">
                <a:moveTo>
                  <a:pt x="0" y="247650"/>
                </a:moveTo>
                <a:cubicBezTo>
                  <a:pt x="1543050" y="0"/>
                  <a:pt x="2743200" y="209550"/>
                  <a:pt x="3943350" y="38100"/>
                </a:cubicBezTo>
              </a:path>
            </a:pathLst>
          </a:custGeom>
          <a:noFill/>
          <a:ln w="95250" cap="rnd">
            <a:solidFill>
              <a:schemeClr val="accent2"/>
            </a:solidFill>
          </a:ln>
        </p:spPr>
      </p:sp>
      <p:sp>
        <p:nvSpPr>
          <p:cNvPr id="4" name="TextBox 4"/>
          <p:cNvSpPr txBox="1"/>
          <p:nvPr/>
        </p:nvSpPr>
        <p:spPr>
          <a:xfrm>
            <a:off x="609600" y="1445895"/>
            <a:ext cx="6221273" cy="1333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6900" b="1" dirty="0">
                <a:solidFill>
                  <a:schemeClr val="dk1"/>
                </a:solidFill>
                <a:latin typeface="+mj-lt"/>
                <a:ea typeface="+mj-ea"/>
                <a:cs typeface="+mj-cs"/>
              </a:rPr>
              <a:t>游戏交互设计</a:t>
            </a:r>
            <a:endParaRPr lang="zh-CN" sz="6900" b="1" dirty="0">
              <a:solidFill>
                <a:schemeClr val="dk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6" name="TextBox 6"/>
          <p:cNvSpPr txBox="1"/>
          <p:nvPr/>
        </p:nvSpPr>
        <p:spPr>
          <a:xfrm>
            <a:off x="673608" y="3265170"/>
            <a:ext cx="6809232" cy="46939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400" dirty="0">
                <a:solidFill>
                  <a:schemeClr val="dk2"/>
                </a:solidFill>
                <a:latin typeface="+mn-lt"/>
                <a:ea typeface="+mn-ea"/>
                <a:cs typeface="+mn-cs"/>
              </a:rPr>
              <a:t>交互不是按键，而是玩家与世界之间的一场对话</a:t>
            </a:r>
            <a:endParaRPr lang="zh-CN" sz="2400" dirty="0">
              <a:solidFill>
                <a:schemeClr val="dk2"/>
              </a:solidFill>
              <a:latin typeface="+mn-lt"/>
              <a:ea typeface="+mn-ea"/>
              <a:cs typeface="+mn-cs"/>
            </a:endParaRPr>
          </a:p>
        </p:txBody>
      </p:sp>
      <p:grpSp>
        <p:nvGrpSpPr>
          <p:cNvPr id="30" name="Group 30"/>
          <p:cNvGrpSpPr/>
          <p:nvPr/>
        </p:nvGrpSpPr>
        <p:grpSpPr>
          <a:xfrm>
            <a:off x="7553325" y="1047750"/>
            <a:ext cx="3867150" cy="3581400"/>
            <a:chOff x="7553325" y="1047750"/>
            <a:chExt cx="3867150" cy="3581400"/>
          </a:xfrm>
        </p:grpSpPr>
        <p:sp>
          <p:nvSpPr>
            <p:cNvPr id="7" name="Ellipse 7"/>
            <p:cNvSpPr/>
            <p:nvPr/>
          </p:nvSpPr>
          <p:spPr>
            <a:xfrm>
              <a:off x="7686675" y="1047750"/>
              <a:ext cx="3581400" cy="3581400"/>
            </a:xfrm>
            <a:prstGeom prst="ellipse">
              <a:avLst/>
            </a:prstGeom>
            <a:solidFill>
              <a:srgbClr val="FFFFFF"/>
            </a:solidFill>
            <a:ln w="38100">
              <a:solidFill>
                <a:schemeClr val="accent4"/>
              </a:solidFill>
            </a:ln>
          </p:spPr>
        </p:sp>
        <p:sp>
          <p:nvSpPr>
            <p:cNvPr id="8" name="Freeform 8"/>
            <p:cNvSpPr/>
            <p:nvPr/>
          </p:nvSpPr>
          <p:spPr>
            <a:xfrm>
              <a:off x="9477375" y="1352550"/>
              <a:ext cx="1390650" cy="1028700"/>
            </a:xfrm>
            <a:custGeom>
              <a:avLst/>
              <a:gdLst/>
              <a:ahLst/>
              <a:cxnLst/>
              <a:rect l="l" t="t" r="r" b="b"/>
              <a:pathLst>
                <a:path w="1390650" h="1028700">
                  <a:moveTo>
                    <a:pt x="0" y="0"/>
                  </a:moveTo>
                  <a:cubicBezTo>
                    <a:pt x="635937" y="9940"/>
                    <a:pt x="1195031" y="423516"/>
                    <a:pt x="1390650" y="1028700"/>
                  </a:cubicBezTo>
                </a:path>
              </a:pathLst>
            </a:custGeom>
            <a:noFill/>
            <a:ln w="114300" cap="rnd">
              <a:solidFill>
                <a:schemeClr val="accent1"/>
              </a:solidFill>
            </a:ln>
          </p:spPr>
        </p:sp>
        <p:sp>
          <p:nvSpPr>
            <p:cNvPr id="9" name="Freeform 9"/>
            <p:cNvSpPr/>
            <p:nvPr/>
          </p:nvSpPr>
          <p:spPr>
            <a:xfrm>
              <a:off x="10639425" y="2171700"/>
              <a:ext cx="266700" cy="266700"/>
            </a:xfrm>
            <a:custGeom>
              <a:avLst/>
              <a:gdLst/>
              <a:ahLst/>
              <a:cxnLst/>
              <a:rect l="l" t="t" r="r" b="b"/>
              <a:pathLst>
                <a:path w="266700" h="266700">
                  <a:moveTo>
                    <a:pt x="123825" y="0"/>
                  </a:moveTo>
                  <a:lnTo>
                    <a:pt x="266700" y="228600"/>
                  </a:lnTo>
                  <a:lnTo>
                    <a:pt x="0" y="266700"/>
                  </a:lnTo>
                </a:path>
              </a:pathLst>
            </a:custGeom>
            <a:noFill/>
            <a:ln w="76200">
              <a:solidFill>
                <a:schemeClr val="accent1"/>
              </a:solidFill>
              <a:round/>
            </a:ln>
          </p:spPr>
        </p:sp>
        <p:sp>
          <p:nvSpPr>
            <p:cNvPr id="10" name="Freeform 10"/>
            <p:cNvSpPr/>
            <p:nvPr/>
          </p:nvSpPr>
          <p:spPr>
            <a:xfrm>
              <a:off x="9934575" y="2838450"/>
              <a:ext cx="1028700" cy="1390650"/>
            </a:xfrm>
            <a:custGeom>
              <a:avLst/>
              <a:gdLst/>
              <a:ahLst/>
              <a:cxnLst/>
              <a:rect l="l" t="t" r="r" b="b"/>
              <a:pathLst>
                <a:path w="1028700" h="1390650">
                  <a:moveTo>
                    <a:pt x="1028700" y="0"/>
                  </a:moveTo>
                  <a:cubicBezTo>
                    <a:pt x="1018760" y="635937"/>
                    <a:pt x="605184" y="1195031"/>
                    <a:pt x="0" y="1390650"/>
                  </a:cubicBezTo>
                </a:path>
              </a:pathLst>
            </a:custGeom>
            <a:noFill/>
            <a:ln w="114300" cap="rnd">
              <a:solidFill>
                <a:schemeClr val="accent3"/>
              </a:solidFill>
            </a:ln>
          </p:spPr>
        </p:sp>
        <p:sp>
          <p:nvSpPr>
            <p:cNvPr id="11" name="Freeform 11"/>
            <p:cNvSpPr/>
            <p:nvPr/>
          </p:nvSpPr>
          <p:spPr>
            <a:xfrm>
              <a:off x="9877425" y="4000500"/>
              <a:ext cx="266700" cy="266700"/>
            </a:xfrm>
            <a:custGeom>
              <a:avLst/>
              <a:gdLst/>
              <a:ahLst/>
              <a:cxnLst/>
              <a:rect l="l" t="t" r="r" b="b"/>
              <a:pathLst>
                <a:path w="266700" h="266700">
                  <a:moveTo>
                    <a:pt x="266700" y="123825"/>
                  </a:moveTo>
                  <a:lnTo>
                    <a:pt x="38100" y="266700"/>
                  </a:lnTo>
                  <a:lnTo>
                    <a:pt x="0" y="0"/>
                  </a:lnTo>
                </a:path>
              </a:pathLst>
            </a:custGeom>
            <a:noFill/>
            <a:ln w="76200">
              <a:solidFill>
                <a:schemeClr val="accent3"/>
              </a:solidFill>
              <a:round/>
            </a:ln>
          </p:spPr>
        </p:sp>
        <p:sp>
          <p:nvSpPr>
            <p:cNvPr id="12" name="Freeform 12"/>
            <p:cNvSpPr/>
            <p:nvPr/>
          </p:nvSpPr>
          <p:spPr>
            <a:xfrm>
              <a:off x="8086725" y="3295650"/>
              <a:ext cx="1390650" cy="1028700"/>
            </a:xfrm>
            <a:custGeom>
              <a:avLst/>
              <a:gdLst/>
              <a:ahLst/>
              <a:cxnLst/>
              <a:rect l="l" t="t" r="r" b="b"/>
              <a:pathLst>
                <a:path w="1390650" h="1028700">
                  <a:moveTo>
                    <a:pt x="1390650" y="1028700"/>
                  </a:moveTo>
                  <a:cubicBezTo>
                    <a:pt x="754713" y="1018760"/>
                    <a:pt x="195619" y="605184"/>
                    <a:pt x="0" y="0"/>
                  </a:cubicBezTo>
                </a:path>
              </a:pathLst>
            </a:custGeom>
            <a:noFill/>
            <a:ln w="114300" cap="rnd">
              <a:solidFill>
                <a:schemeClr val="accent2"/>
              </a:solidFill>
            </a:ln>
          </p:spPr>
        </p:sp>
        <p:sp>
          <p:nvSpPr>
            <p:cNvPr id="13" name="Freeform 13"/>
            <p:cNvSpPr/>
            <p:nvPr/>
          </p:nvSpPr>
          <p:spPr>
            <a:xfrm>
              <a:off x="8048625" y="3238500"/>
              <a:ext cx="266700" cy="266700"/>
            </a:xfrm>
            <a:custGeom>
              <a:avLst/>
              <a:gdLst/>
              <a:ahLst/>
              <a:cxnLst/>
              <a:rect l="l" t="t" r="r" b="b"/>
              <a:pathLst>
                <a:path w="266700" h="266700">
                  <a:moveTo>
                    <a:pt x="142875" y="266700"/>
                  </a:moveTo>
                  <a:lnTo>
                    <a:pt x="0" y="38100"/>
                  </a:lnTo>
                  <a:lnTo>
                    <a:pt x="266700" y="0"/>
                  </a:lnTo>
                </a:path>
              </a:pathLst>
            </a:custGeom>
            <a:noFill/>
            <a:ln w="76200">
              <a:solidFill>
                <a:schemeClr val="accent2"/>
              </a:solidFill>
              <a:round/>
            </a:ln>
          </p:spPr>
        </p:sp>
        <p:sp>
          <p:nvSpPr>
            <p:cNvPr id="14" name="Freeform 14"/>
            <p:cNvSpPr/>
            <p:nvPr/>
          </p:nvSpPr>
          <p:spPr>
            <a:xfrm>
              <a:off x="7991475" y="1447800"/>
              <a:ext cx="1028700" cy="1390650"/>
            </a:xfrm>
            <a:custGeom>
              <a:avLst/>
              <a:gdLst/>
              <a:ahLst/>
              <a:cxnLst/>
              <a:rect l="l" t="t" r="r" b="b"/>
              <a:pathLst>
                <a:path w="1028700" h="1390650">
                  <a:moveTo>
                    <a:pt x="0" y="1390650"/>
                  </a:moveTo>
                  <a:cubicBezTo>
                    <a:pt x="9940" y="754713"/>
                    <a:pt x="423516" y="195619"/>
                    <a:pt x="1028700" y="0"/>
                  </a:cubicBezTo>
                </a:path>
              </a:pathLst>
            </a:custGeom>
            <a:noFill/>
            <a:ln w="114300" cap="rnd">
              <a:solidFill>
                <a:srgbClr val="D85C45"/>
              </a:solidFill>
            </a:ln>
          </p:spPr>
        </p:sp>
        <p:sp>
          <p:nvSpPr>
            <p:cNvPr id="15" name="Freeform 15"/>
            <p:cNvSpPr/>
            <p:nvPr/>
          </p:nvSpPr>
          <p:spPr>
            <a:xfrm>
              <a:off x="8810625" y="1409700"/>
              <a:ext cx="266700" cy="266700"/>
            </a:xfrm>
            <a:custGeom>
              <a:avLst/>
              <a:gdLst/>
              <a:ahLst/>
              <a:cxnLst/>
              <a:rect l="l" t="t" r="r" b="b"/>
              <a:pathLst>
                <a:path w="266700" h="266700">
                  <a:moveTo>
                    <a:pt x="0" y="142875"/>
                  </a:moveTo>
                  <a:lnTo>
                    <a:pt x="228600" y="0"/>
                  </a:lnTo>
                  <a:lnTo>
                    <a:pt x="266700" y="266700"/>
                  </a:lnTo>
                </a:path>
              </a:pathLst>
            </a:custGeom>
            <a:noFill/>
            <a:ln w="76200">
              <a:solidFill>
                <a:srgbClr val="D85C45"/>
              </a:solidFill>
              <a:round/>
            </a:ln>
          </p:spPr>
        </p:sp>
        <p:grpSp>
          <p:nvGrpSpPr>
            <p:cNvPr id="24" name="Group 24"/>
            <p:cNvGrpSpPr/>
            <p:nvPr/>
          </p:nvGrpSpPr>
          <p:grpSpPr>
            <a:xfrm>
              <a:off x="7553325" y="1104900"/>
              <a:ext cx="3867150" cy="3467100"/>
              <a:chOff x="7553325" y="1104900"/>
              <a:chExt cx="3867150" cy="3467100"/>
            </a:xfrm>
          </p:grpSpPr>
          <p:sp>
            <p:nvSpPr>
              <p:cNvPr id="16" name="Rectangle 16"/>
              <p:cNvSpPr/>
              <p:nvPr/>
            </p:nvSpPr>
            <p:spPr>
              <a:xfrm>
                <a:off x="8677275" y="1104900"/>
                <a:ext cx="1600200" cy="514350"/>
              </a:xfrm>
              <a:prstGeom prst="roundRect">
                <a:avLst>
                  <a:gd name="adj" fmla="val 29630"/>
                </a:avLst>
              </a:prstGeom>
              <a:solidFill>
                <a:srgbClr val="EAF0FA"/>
              </a:solidFill>
              <a:ln>
                <a:noFill/>
              </a:ln>
            </p:spPr>
          </p:sp>
          <p:sp>
            <p:nvSpPr>
              <p:cNvPr id="17" name="TextBox 17"/>
              <p:cNvSpPr txBox="1"/>
              <p:nvPr/>
            </p:nvSpPr>
            <p:spPr>
              <a:xfrm>
                <a:off x="8959367" y="1243965"/>
                <a:ext cx="1036015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800" b="1" dirty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rPr>
                  <a:t>产生想法</a:t>
                </a:r>
                <a:endParaRPr lang="zh-CN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18" name="Rectangle 18"/>
              <p:cNvSpPr/>
              <p:nvPr/>
            </p:nvSpPr>
            <p:spPr>
              <a:xfrm>
                <a:off x="10353675" y="2590800"/>
                <a:ext cx="1066800" cy="514350"/>
              </a:xfrm>
              <a:prstGeom prst="roundRect">
                <a:avLst>
                  <a:gd name="adj" fmla="val 29630"/>
                </a:avLst>
              </a:prstGeom>
              <a:solidFill>
                <a:srgbClr val="E8F5F0"/>
              </a:solidFill>
              <a:ln>
                <a:noFill/>
              </a:ln>
            </p:spPr>
          </p:sp>
          <p:sp>
            <p:nvSpPr>
              <p:cNvPr id="19" name="TextBox 19"/>
              <p:cNvSpPr txBox="1"/>
              <p:nvPr/>
            </p:nvSpPr>
            <p:spPr>
              <a:xfrm>
                <a:off x="10623499" y="2729865"/>
                <a:ext cx="527152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800" b="1" dirty="0">
                    <a:solidFill>
                      <a:srgbClr val="2F8F6A"/>
                    </a:solidFill>
                    <a:latin typeface="+mn-lt"/>
                    <a:ea typeface="+mn-ea"/>
                    <a:cs typeface="+mn-cs"/>
                  </a:rPr>
                  <a:t>操作</a:t>
                </a:r>
                <a:endParaRPr lang="zh-CN" sz="1800" b="1" dirty="0">
                  <a:solidFill>
                    <a:srgbClr val="2F8F6A"/>
                  </a:solidFill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20" name="Rectangle 20"/>
              <p:cNvSpPr/>
              <p:nvPr/>
            </p:nvSpPr>
            <p:spPr>
              <a:xfrm>
                <a:off x="8677275" y="4057650"/>
                <a:ext cx="1600200" cy="514350"/>
              </a:xfrm>
              <a:prstGeom prst="roundRect">
                <a:avLst>
                  <a:gd name="adj" fmla="val 29630"/>
                </a:avLst>
              </a:prstGeom>
              <a:solidFill>
                <a:srgbClr val="FFF0D1"/>
              </a:solidFill>
              <a:ln>
                <a:noFill/>
              </a:ln>
            </p:spPr>
          </p:sp>
          <p:sp>
            <p:nvSpPr>
              <p:cNvPr id="21" name="TextBox 21"/>
              <p:cNvSpPr txBox="1"/>
              <p:nvPr/>
            </p:nvSpPr>
            <p:spPr>
              <a:xfrm>
                <a:off x="8959367" y="4196715"/>
                <a:ext cx="1036015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800" b="1" dirty="0">
                    <a:solidFill>
                      <a:srgbClr val="8C5A00"/>
                    </a:solidFill>
                    <a:latin typeface="+mn-lt"/>
                    <a:ea typeface="+mn-ea"/>
                    <a:cs typeface="+mn-cs"/>
                  </a:rPr>
                  <a:t>世界变化</a:t>
                </a:r>
                <a:endParaRPr lang="zh-CN" sz="1800" b="1" dirty="0">
                  <a:solidFill>
                    <a:srgbClr val="8C5A00"/>
                  </a:solidFill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22" name="Rectangle 22"/>
              <p:cNvSpPr/>
              <p:nvPr/>
            </p:nvSpPr>
            <p:spPr>
              <a:xfrm>
                <a:off x="7553325" y="2590800"/>
                <a:ext cx="1066800" cy="514350"/>
              </a:xfrm>
              <a:prstGeom prst="roundRect">
                <a:avLst>
                  <a:gd name="adj" fmla="val 29630"/>
                </a:avLst>
              </a:prstGeom>
              <a:solidFill>
                <a:schemeClr val="lt2"/>
              </a:solidFill>
              <a:ln>
                <a:noFill/>
              </a:ln>
            </p:spPr>
          </p:sp>
          <p:sp>
            <p:nvSpPr>
              <p:cNvPr id="23" name="TextBox 23"/>
              <p:cNvSpPr txBox="1"/>
              <p:nvPr/>
            </p:nvSpPr>
            <p:spPr>
              <a:xfrm>
                <a:off x="7823149" y="2729865"/>
                <a:ext cx="527152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800" b="1" dirty="0">
                    <a:solidFill>
                      <a:srgbClr val="D85C45"/>
                    </a:solidFill>
                    <a:latin typeface="+mn-lt"/>
                    <a:ea typeface="+mn-ea"/>
                    <a:cs typeface="+mn-cs"/>
                  </a:rPr>
                  <a:t>反馈</a:t>
                </a:r>
                <a:endParaRPr lang="zh-CN" sz="1800" b="1" dirty="0">
                  <a:solidFill>
                    <a:srgbClr val="D85C45"/>
                  </a:solidFill>
                  <a:latin typeface="+mn-lt"/>
                  <a:ea typeface="+mn-ea"/>
                  <a:cs typeface="+mn-cs"/>
                </a:endParaRPr>
              </a:p>
            </p:txBody>
          </p:sp>
        </p:grpSp>
        <p:grpSp>
          <p:nvGrpSpPr>
            <p:cNvPr id="29" name="Group 29"/>
            <p:cNvGrpSpPr/>
            <p:nvPr/>
          </p:nvGrpSpPr>
          <p:grpSpPr>
            <a:xfrm>
              <a:off x="9001125" y="2552700"/>
              <a:ext cx="952500" cy="571500"/>
              <a:chOff x="9001125" y="2552700"/>
              <a:chExt cx="952500" cy="571500"/>
            </a:xfrm>
          </p:grpSpPr>
          <p:sp>
            <p:nvSpPr>
              <p:cNvPr id="25" name="Freeform 25"/>
              <p:cNvSpPr/>
              <p:nvPr/>
            </p:nvSpPr>
            <p:spPr>
              <a:xfrm>
                <a:off x="9001125" y="2552700"/>
                <a:ext cx="952500" cy="571500"/>
              </a:xfrm>
              <a:custGeom>
                <a:avLst/>
                <a:gdLst/>
                <a:ahLst/>
                <a:cxnLst/>
                <a:rect l="l" t="t" r="r" b="b"/>
                <a:pathLst>
                  <a:path w="952500" h="571500">
                    <a:moveTo>
                      <a:pt x="0" y="95250"/>
                    </a:moveTo>
                    <a:cubicBezTo>
                      <a:pt x="0" y="42645"/>
                      <a:pt x="42645" y="0"/>
                      <a:pt x="95250" y="0"/>
                    </a:cubicBezTo>
                    <a:lnTo>
                      <a:pt x="857250" y="0"/>
                    </a:lnTo>
                    <a:cubicBezTo>
                      <a:pt x="909855" y="0"/>
                      <a:pt x="952500" y="42645"/>
                      <a:pt x="952500" y="95250"/>
                    </a:cubicBezTo>
                    <a:lnTo>
                      <a:pt x="952500" y="476250"/>
                    </a:lnTo>
                    <a:cubicBezTo>
                      <a:pt x="952500" y="528855"/>
                      <a:pt x="909855" y="571500"/>
                      <a:pt x="857250" y="571500"/>
                    </a:cubicBezTo>
                    <a:lnTo>
                      <a:pt x="95250" y="571500"/>
                    </a:lnTo>
                    <a:cubicBezTo>
                      <a:pt x="42645" y="571500"/>
                      <a:pt x="0" y="528855"/>
                      <a:pt x="0" y="476250"/>
                    </a:cubicBezTo>
                    <a:lnTo>
                      <a:pt x="0" y="95250"/>
                    </a:lnTo>
                  </a:path>
                </a:pathLst>
              </a:custGeom>
              <a:noFill/>
              <a:ln w="19050">
                <a:solidFill>
                  <a:schemeClr val="dk1"/>
                </a:solidFill>
              </a:ln>
            </p:spPr>
          </p:sp>
          <p:sp>
            <p:nvSpPr>
              <p:cNvPr id="27" name="Freeform 27"/>
              <p:cNvSpPr/>
              <p:nvPr/>
            </p:nvSpPr>
            <p:spPr>
              <a:xfrm>
                <a:off x="9620250" y="279082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476"/>
                    </a:lnTo>
                  </a:path>
                </a:pathLst>
              </a:custGeom>
              <a:noFill/>
              <a:ln w="19050">
                <a:solidFill>
                  <a:schemeClr val="dk1"/>
                </a:solidFill>
              </a:ln>
            </p:spPr>
          </p:sp>
          <p:sp>
            <p:nvSpPr>
              <p:cNvPr id="28" name="Freeform 28"/>
              <p:cNvSpPr/>
              <p:nvPr/>
            </p:nvSpPr>
            <p:spPr>
              <a:xfrm>
                <a:off x="9763125" y="288607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476"/>
                    </a:lnTo>
                  </a:path>
                </a:pathLst>
              </a:custGeom>
              <a:noFill/>
              <a:ln w="19050">
                <a:solidFill>
                  <a:schemeClr val="dk1"/>
                </a:solidFill>
              </a:ln>
            </p:spPr>
          </p:sp>
        </p:grp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52450" y="270510"/>
            <a:ext cx="11329111" cy="8191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4200" b="1" dirty="0">
                <a:solidFill>
                  <a:schemeClr val="dk1"/>
                </a:solidFill>
                <a:latin typeface="+mj-lt"/>
                <a:ea typeface="+mj-ea"/>
                <a:cs typeface="+mj-cs"/>
              </a:rPr>
              <a:t>输入不等于交互：结果要驱动下一步想法</a:t>
            </a:r>
            <a:endParaRPr lang="zh-CN" sz="4200" b="1" dirty="0">
              <a:solidFill>
                <a:schemeClr val="dk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3" name="TextBox 3"/>
          <p:cNvSpPr txBox="1"/>
          <p:nvPr/>
        </p:nvSpPr>
        <p:spPr>
          <a:xfrm>
            <a:off x="581406" y="986790"/>
            <a:ext cx="3895344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800" dirty="0">
                <a:solidFill>
                  <a:schemeClr val="dk2"/>
                </a:solidFill>
                <a:latin typeface="+mn-lt"/>
                <a:ea typeface="+mn-ea"/>
                <a:cs typeface="+mn-cs"/>
              </a:rPr>
              <a:t>交互是一段持续对话，不是一次按键</a:t>
            </a:r>
            <a:endParaRPr lang="zh-CN" sz="1800" dirty="0">
              <a:solidFill>
                <a:schemeClr val="dk2"/>
              </a:solidFill>
              <a:latin typeface="+mn-lt"/>
              <a:ea typeface="+mn-ea"/>
              <a:cs typeface="+mn-cs"/>
            </a:endParaRPr>
          </a:p>
        </p:txBody>
      </p:sp>
      <p:grpSp>
        <p:nvGrpSpPr>
          <p:cNvPr id="25" name="Group 25"/>
          <p:cNvGrpSpPr/>
          <p:nvPr/>
        </p:nvGrpSpPr>
        <p:grpSpPr>
          <a:xfrm>
            <a:off x="666750" y="1809750"/>
            <a:ext cx="10420350" cy="3124200"/>
            <a:chOff x="666750" y="1809750"/>
            <a:chExt cx="10420350" cy="3124200"/>
          </a:xfrm>
        </p:grpSpPr>
        <p:sp>
          <p:nvSpPr>
            <p:cNvPr id="4" name="Polygon 4"/>
            <p:cNvSpPr/>
            <p:nvPr/>
          </p:nvSpPr>
          <p:spPr>
            <a:xfrm>
              <a:off x="666750" y="1809750"/>
              <a:ext cx="2686050" cy="1600200"/>
            </a:xfrm>
            <a:custGeom>
              <a:avLst/>
              <a:gdLst/>
              <a:ahLst/>
              <a:cxnLst/>
              <a:rect l="l" t="t" r="r" b="b"/>
              <a:pathLst>
                <a:path w="2686050" h="1600200">
                  <a:moveTo>
                    <a:pt x="0" y="0"/>
                  </a:moveTo>
                  <a:lnTo>
                    <a:pt x="2286000" y="0"/>
                  </a:lnTo>
                  <a:lnTo>
                    <a:pt x="2686050" y="800100"/>
                  </a:lnTo>
                  <a:lnTo>
                    <a:pt x="2286000" y="1600200"/>
                  </a:lnTo>
                  <a:lnTo>
                    <a:pt x="0" y="1600200"/>
                  </a:lnTo>
                  <a:lnTo>
                    <a:pt x="400050" y="80010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grpSp>
          <p:nvGrpSpPr>
            <p:cNvPr id="8" name="Group 8"/>
            <p:cNvGrpSpPr/>
            <p:nvPr/>
          </p:nvGrpSpPr>
          <p:grpSpPr>
            <a:xfrm>
              <a:off x="1685925" y="2105025"/>
              <a:ext cx="400049" cy="400050"/>
              <a:chOff x="1685925" y="2105025"/>
              <a:chExt cx="400049" cy="400050"/>
            </a:xfrm>
          </p:grpSpPr>
          <p:sp>
            <p:nvSpPr>
              <p:cNvPr id="5" name="Freeform 5"/>
              <p:cNvSpPr/>
              <p:nvPr/>
            </p:nvSpPr>
            <p:spPr>
              <a:xfrm>
                <a:off x="1685925" y="2105025"/>
                <a:ext cx="400049" cy="200025"/>
              </a:xfrm>
              <a:custGeom>
                <a:avLst/>
                <a:gdLst/>
                <a:ahLst/>
                <a:cxnLst/>
                <a:rect l="l" t="t" r="r" b="b"/>
                <a:pathLst>
                  <a:path w="400049" h="200025">
                    <a:moveTo>
                      <a:pt x="0" y="200025"/>
                    </a:moveTo>
                    <a:lnTo>
                      <a:pt x="22225" y="200025"/>
                    </a:lnTo>
                    <a:moveTo>
                      <a:pt x="200025" y="0"/>
                    </a:moveTo>
                    <a:lnTo>
                      <a:pt x="200025" y="22225"/>
                    </a:lnTo>
                    <a:moveTo>
                      <a:pt x="377824" y="200025"/>
                    </a:moveTo>
                    <a:lnTo>
                      <a:pt x="400049" y="200025"/>
                    </a:lnTo>
                    <a:moveTo>
                      <a:pt x="57785" y="57785"/>
                    </a:moveTo>
                    <a:lnTo>
                      <a:pt x="73342" y="73342"/>
                    </a:lnTo>
                    <a:moveTo>
                      <a:pt x="342265" y="57785"/>
                    </a:moveTo>
                    <a:lnTo>
                      <a:pt x="326707" y="73342"/>
                    </a:lnTo>
                  </a:path>
                </a:pathLst>
              </a:custGeom>
              <a:noFill/>
              <a:ln w="19050">
                <a:solidFill>
                  <a:srgbClr val="FFFFFF"/>
                </a:solidFill>
              </a:ln>
            </p:spPr>
          </p:sp>
          <p:sp>
            <p:nvSpPr>
              <p:cNvPr id="6" name="Freeform 6"/>
              <p:cNvSpPr/>
              <p:nvPr/>
            </p:nvSpPr>
            <p:spPr>
              <a:xfrm>
                <a:off x="1765402" y="2193925"/>
                <a:ext cx="241096" cy="311150"/>
              </a:xfrm>
              <a:custGeom>
                <a:avLst/>
                <a:gdLst/>
                <a:ahLst/>
                <a:cxnLst/>
                <a:rect l="l" t="t" r="r" b="b"/>
                <a:pathLst>
                  <a:path w="241096" h="311150">
                    <a:moveTo>
                      <a:pt x="53873" y="200025"/>
                    </a:moveTo>
                    <a:cubicBezTo>
                      <a:pt x="15608" y="171326"/>
                      <a:pt x="0" y="121361"/>
                      <a:pt x="15126" y="75984"/>
                    </a:cubicBezTo>
                    <a:cubicBezTo>
                      <a:pt x="30251" y="30607"/>
                      <a:pt x="72716" y="0"/>
                      <a:pt x="120548" y="0"/>
                    </a:cubicBezTo>
                    <a:cubicBezTo>
                      <a:pt x="168379" y="0"/>
                      <a:pt x="210845" y="30607"/>
                      <a:pt x="225970" y="75984"/>
                    </a:cubicBezTo>
                    <a:cubicBezTo>
                      <a:pt x="241096" y="121361"/>
                      <a:pt x="225488" y="171326"/>
                      <a:pt x="187223" y="200025"/>
                    </a:cubicBezTo>
                    <a:cubicBezTo>
                      <a:pt x="169624" y="217445"/>
                      <a:pt x="161371" y="242204"/>
                      <a:pt x="164998" y="266700"/>
                    </a:cubicBezTo>
                    <a:cubicBezTo>
                      <a:pt x="164998" y="291249"/>
                      <a:pt x="145097" y="311150"/>
                      <a:pt x="120548" y="311150"/>
                    </a:cubicBezTo>
                    <a:cubicBezTo>
                      <a:pt x="95999" y="311150"/>
                      <a:pt x="76098" y="291249"/>
                      <a:pt x="76098" y="266700"/>
                    </a:cubicBezTo>
                    <a:cubicBezTo>
                      <a:pt x="79725" y="242204"/>
                      <a:pt x="71472" y="217445"/>
                      <a:pt x="53873" y="200025"/>
                    </a:cubicBezTo>
                  </a:path>
                </a:pathLst>
              </a:custGeom>
              <a:noFill/>
              <a:ln w="19050">
                <a:solidFill>
                  <a:srgbClr val="FFFFFF"/>
                </a:solidFill>
              </a:ln>
            </p:spPr>
          </p:sp>
          <p:sp>
            <p:nvSpPr>
              <p:cNvPr id="7" name="Freeform 7"/>
              <p:cNvSpPr/>
              <p:nvPr/>
            </p:nvSpPr>
            <p:spPr>
              <a:xfrm>
                <a:off x="1834832" y="2416174"/>
                <a:ext cx="10223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02235" h="9525">
                    <a:moveTo>
                      <a:pt x="0" y="0"/>
                    </a:moveTo>
                    <a:lnTo>
                      <a:pt x="102235" y="0"/>
                    </a:lnTo>
                  </a:path>
                </a:pathLst>
              </a:custGeom>
              <a:noFill/>
              <a:ln w="19050">
                <a:solidFill>
                  <a:srgbClr val="FFFFFF"/>
                </a:solidFill>
              </a:ln>
            </p:spPr>
          </p:sp>
        </p:grpSp>
        <p:sp>
          <p:nvSpPr>
            <p:cNvPr id="9" name="TextBox 9"/>
            <p:cNvSpPr txBox="1"/>
            <p:nvPr/>
          </p:nvSpPr>
          <p:spPr>
            <a:xfrm>
              <a:off x="979856" y="2665095"/>
              <a:ext cx="2059838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24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玩家产生想法</a:t>
              </a:r>
              <a:endParaRPr lang="zh-CN" sz="240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0" name="Polygon 10"/>
            <p:cNvSpPr/>
            <p:nvPr/>
          </p:nvSpPr>
          <p:spPr>
            <a:xfrm>
              <a:off x="3200400" y="1809750"/>
              <a:ext cx="2686050" cy="1600200"/>
            </a:xfrm>
            <a:custGeom>
              <a:avLst/>
              <a:gdLst/>
              <a:ahLst/>
              <a:cxnLst/>
              <a:rect l="l" t="t" r="r" b="b"/>
              <a:pathLst>
                <a:path w="2686050" h="1600200">
                  <a:moveTo>
                    <a:pt x="0" y="0"/>
                  </a:moveTo>
                  <a:lnTo>
                    <a:pt x="2286000" y="0"/>
                  </a:lnTo>
                  <a:lnTo>
                    <a:pt x="2686050" y="800100"/>
                  </a:lnTo>
                  <a:lnTo>
                    <a:pt x="2286000" y="1600200"/>
                  </a:lnTo>
                  <a:lnTo>
                    <a:pt x="0" y="1600200"/>
                  </a:lnTo>
                  <a:lnTo>
                    <a:pt x="400050" y="80010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</p:sp>
        <p:sp>
          <p:nvSpPr>
            <p:cNvPr id="11" name="Freeform 11"/>
            <p:cNvSpPr/>
            <p:nvPr/>
          </p:nvSpPr>
          <p:spPr>
            <a:xfrm>
              <a:off x="4241800" y="2127250"/>
              <a:ext cx="355545" cy="355545"/>
            </a:xfrm>
            <a:custGeom>
              <a:avLst/>
              <a:gdLst/>
              <a:ahLst/>
              <a:cxnLst/>
              <a:rect l="l" t="t" r="r" b="b"/>
              <a:pathLst>
                <a:path w="355545" h="355545">
                  <a:moveTo>
                    <a:pt x="86766" y="301437"/>
                  </a:moveTo>
                  <a:cubicBezTo>
                    <a:pt x="89187" y="312312"/>
                    <a:pt x="98111" y="320536"/>
                    <a:pt x="109147" y="322061"/>
                  </a:cubicBezTo>
                  <a:cubicBezTo>
                    <a:pt x="120182" y="323587"/>
                    <a:pt x="131004" y="318092"/>
                    <a:pt x="136284" y="308283"/>
                  </a:cubicBezTo>
                  <a:lnTo>
                    <a:pt x="182734" y="239541"/>
                  </a:lnTo>
                  <a:lnTo>
                    <a:pt x="291792" y="348599"/>
                  </a:lnTo>
                  <a:cubicBezTo>
                    <a:pt x="296239" y="353046"/>
                    <a:pt x="302271" y="355545"/>
                    <a:pt x="308560" y="355545"/>
                  </a:cubicBezTo>
                  <a:cubicBezTo>
                    <a:pt x="314850" y="355545"/>
                    <a:pt x="320882" y="353046"/>
                    <a:pt x="325329" y="348599"/>
                  </a:cubicBezTo>
                  <a:lnTo>
                    <a:pt x="348599" y="325329"/>
                  </a:lnTo>
                  <a:cubicBezTo>
                    <a:pt x="353046" y="320882"/>
                    <a:pt x="355545" y="314850"/>
                    <a:pt x="355545" y="308560"/>
                  </a:cubicBezTo>
                  <a:cubicBezTo>
                    <a:pt x="355545" y="302271"/>
                    <a:pt x="353046" y="296239"/>
                    <a:pt x="348599" y="291792"/>
                  </a:cubicBezTo>
                  <a:lnTo>
                    <a:pt x="239541" y="182734"/>
                  </a:lnTo>
                  <a:lnTo>
                    <a:pt x="308727" y="136284"/>
                  </a:lnTo>
                  <a:cubicBezTo>
                    <a:pt x="318537" y="131000"/>
                    <a:pt x="324028" y="120175"/>
                    <a:pt x="322498" y="109139"/>
                  </a:cubicBezTo>
                  <a:cubicBezTo>
                    <a:pt x="320967" y="98102"/>
                    <a:pt x="312737" y="89181"/>
                    <a:pt x="301860" y="86766"/>
                  </a:cubicBezTo>
                  <a:lnTo>
                    <a:pt x="0" y="0"/>
                  </a:lnTo>
                  <a:lnTo>
                    <a:pt x="86766" y="301437"/>
                  </a:lnTo>
                </a:path>
              </a:pathLst>
            </a:custGeom>
            <a:noFill/>
            <a:ln w="19050">
              <a:solidFill>
                <a:srgbClr val="FFFFFF"/>
              </a:solidFill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3852748" y="2665095"/>
              <a:ext cx="1381354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24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做出操作</a:t>
              </a:r>
              <a:endParaRPr lang="zh-CN" sz="240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3" name="Polygon 13"/>
            <p:cNvSpPr/>
            <p:nvPr/>
          </p:nvSpPr>
          <p:spPr>
            <a:xfrm>
              <a:off x="5734050" y="1809750"/>
              <a:ext cx="2686050" cy="1600200"/>
            </a:xfrm>
            <a:custGeom>
              <a:avLst/>
              <a:gdLst/>
              <a:ahLst/>
              <a:cxnLst/>
              <a:rect l="l" t="t" r="r" b="b"/>
              <a:pathLst>
                <a:path w="2686050" h="1600200">
                  <a:moveTo>
                    <a:pt x="0" y="0"/>
                  </a:moveTo>
                  <a:lnTo>
                    <a:pt x="2286000" y="0"/>
                  </a:lnTo>
                  <a:lnTo>
                    <a:pt x="2686050" y="800100"/>
                  </a:lnTo>
                  <a:lnTo>
                    <a:pt x="2286000" y="1600200"/>
                  </a:lnTo>
                  <a:lnTo>
                    <a:pt x="0" y="1600200"/>
                  </a:lnTo>
                  <a:lnTo>
                    <a:pt x="400050" y="80010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</p:sp>
        <p:grpSp>
          <p:nvGrpSpPr>
            <p:cNvPr id="16" name="Group 16"/>
            <p:cNvGrpSpPr/>
            <p:nvPr/>
          </p:nvGrpSpPr>
          <p:grpSpPr>
            <a:xfrm>
              <a:off x="6753225" y="2171700"/>
              <a:ext cx="400050" cy="266700"/>
              <a:chOff x="6753225" y="2171700"/>
              <a:chExt cx="400050" cy="266700"/>
            </a:xfrm>
          </p:grpSpPr>
          <p:sp>
            <p:nvSpPr>
              <p:cNvPr id="14" name="Freeform 14"/>
              <p:cNvSpPr/>
              <p:nvPr/>
            </p:nvSpPr>
            <p:spPr>
              <a:xfrm>
                <a:off x="6842125" y="2171700"/>
                <a:ext cx="311150" cy="88900"/>
              </a:xfrm>
              <a:custGeom>
                <a:avLst/>
                <a:gdLst/>
                <a:ahLst/>
                <a:cxnLst/>
                <a:rect l="l" t="t" r="r" b="b"/>
                <a:pathLst>
                  <a:path w="311150" h="88900">
                    <a:moveTo>
                      <a:pt x="0" y="88900"/>
                    </a:moveTo>
                    <a:lnTo>
                      <a:pt x="311150" y="88900"/>
                    </a:lnTo>
                    <a:lnTo>
                      <a:pt x="222250" y="0"/>
                    </a:lnTo>
                  </a:path>
                </a:pathLst>
              </a:custGeom>
              <a:noFill/>
              <a:ln w="19050">
                <a:solidFill>
                  <a:srgbClr val="FFFFFF"/>
                </a:solidFill>
              </a:ln>
            </p:spPr>
          </p:sp>
          <p:sp>
            <p:nvSpPr>
              <p:cNvPr id="15" name="Freeform 15"/>
              <p:cNvSpPr/>
              <p:nvPr/>
            </p:nvSpPr>
            <p:spPr>
              <a:xfrm>
                <a:off x="6753225" y="2349500"/>
                <a:ext cx="311150" cy="88900"/>
              </a:xfrm>
              <a:custGeom>
                <a:avLst/>
                <a:gdLst/>
                <a:ahLst/>
                <a:cxnLst/>
                <a:rect l="l" t="t" r="r" b="b"/>
                <a:pathLst>
                  <a:path w="311150" h="88900">
                    <a:moveTo>
                      <a:pt x="311150" y="0"/>
                    </a:moveTo>
                    <a:lnTo>
                      <a:pt x="0" y="0"/>
                    </a:lnTo>
                    <a:lnTo>
                      <a:pt x="88900" y="88900"/>
                    </a:lnTo>
                  </a:path>
                </a:pathLst>
              </a:custGeom>
              <a:noFill/>
              <a:ln w="19050">
                <a:solidFill>
                  <a:srgbClr val="FFFFFF"/>
                </a:solidFill>
              </a:ln>
            </p:spPr>
          </p:sp>
        </p:grpSp>
        <p:sp>
          <p:nvSpPr>
            <p:cNvPr id="17" name="TextBox 17"/>
            <p:cNvSpPr txBox="1"/>
            <p:nvPr/>
          </p:nvSpPr>
          <p:spPr>
            <a:xfrm>
              <a:off x="6047156" y="2665095"/>
              <a:ext cx="2059838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24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世界发生变化</a:t>
              </a:r>
              <a:endParaRPr lang="zh-CN" sz="240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8" name="Polygon 18"/>
            <p:cNvSpPr/>
            <p:nvPr/>
          </p:nvSpPr>
          <p:spPr>
            <a:xfrm>
              <a:off x="8267700" y="1809750"/>
              <a:ext cx="2819400" cy="1600200"/>
            </a:xfrm>
            <a:custGeom>
              <a:avLst/>
              <a:gdLst/>
              <a:ahLst/>
              <a:cxnLst/>
              <a:rect l="l" t="t" r="r" b="b"/>
              <a:pathLst>
                <a:path w="2819400" h="1600200">
                  <a:moveTo>
                    <a:pt x="0" y="0"/>
                  </a:moveTo>
                  <a:lnTo>
                    <a:pt x="2419350" y="0"/>
                  </a:lnTo>
                  <a:lnTo>
                    <a:pt x="2819400" y="800100"/>
                  </a:lnTo>
                  <a:lnTo>
                    <a:pt x="2419350" y="1600200"/>
                  </a:lnTo>
                  <a:lnTo>
                    <a:pt x="0" y="1600200"/>
                  </a:lnTo>
                  <a:lnTo>
                    <a:pt x="400050" y="800100"/>
                  </a:lnTo>
                  <a:close/>
                </a:path>
              </a:pathLst>
            </a:custGeom>
            <a:solidFill>
              <a:srgbClr val="D85C45"/>
            </a:solidFill>
            <a:ln>
              <a:noFill/>
            </a:ln>
          </p:spPr>
        </p:sp>
        <p:grpSp>
          <p:nvGrpSpPr>
            <p:cNvPr id="21" name="Group 21"/>
            <p:cNvGrpSpPr/>
            <p:nvPr/>
          </p:nvGrpSpPr>
          <p:grpSpPr>
            <a:xfrm>
              <a:off x="9353550" y="2171700"/>
              <a:ext cx="400049" cy="266700"/>
              <a:chOff x="9353550" y="2171700"/>
              <a:chExt cx="400049" cy="266700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9509125" y="2260600"/>
                <a:ext cx="88900" cy="88900"/>
              </a:xfrm>
              <a:custGeom>
                <a:avLst/>
                <a:gdLst/>
                <a:ahLst/>
                <a:cxnLst/>
                <a:rect l="l" t="t" r="r" b="b"/>
                <a:pathLst>
                  <a:path w="88900" h="88900">
                    <a:moveTo>
                      <a:pt x="0" y="44450"/>
                    </a:moveTo>
                    <a:cubicBezTo>
                      <a:pt x="0" y="68999"/>
                      <a:pt x="19901" y="88900"/>
                      <a:pt x="44450" y="88900"/>
                    </a:cubicBezTo>
                    <a:cubicBezTo>
                      <a:pt x="68999" y="88900"/>
                      <a:pt x="88900" y="68999"/>
                      <a:pt x="88900" y="44450"/>
                    </a:cubicBezTo>
                    <a:cubicBezTo>
                      <a:pt x="88900" y="19901"/>
                      <a:pt x="68999" y="0"/>
                      <a:pt x="44450" y="0"/>
                    </a:cubicBezTo>
                    <a:cubicBezTo>
                      <a:pt x="19901" y="0"/>
                      <a:pt x="0" y="19901"/>
                      <a:pt x="0" y="44450"/>
                    </a:cubicBezTo>
                  </a:path>
                </a:pathLst>
              </a:custGeom>
              <a:noFill/>
              <a:ln w="19050">
                <a:solidFill>
                  <a:srgbClr val="FFFFFF"/>
                </a:solidFill>
              </a:ln>
            </p:spPr>
          </p:sp>
          <p:sp>
            <p:nvSpPr>
              <p:cNvPr id="20" name="Freeform 20"/>
              <p:cNvSpPr/>
              <p:nvPr/>
            </p:nvSpPr>
            <p:spPr>
              <a:xfrm>
                <a:off x="9353550" y="2171700"/>
                <a:ext cx="400049" cy="266700"/>
              </a:xfrm>
              <a:custGeom>
                <a:avLst/>
                <a:gdLst/>
                <a:ahLst/>
                <a:cxnLst/>
                <a:rect l="l" t="t" r="r" b="b"/>
                <a:pathLst>
                  <a:path w="400049" h="266700">
                    <a:moveTo>
                      <a:pt x="400049" y="133350"/>
                    </a:moveTo>
                    <a:cubicBezTo>
                      <a:pt x="346710" y="222250"/>
                      <a:pt x="280035" y="266700"/>
                      <a:pt x="200025" y="266700"/>
                    </a:cubicBezTo>
                    <a:cubicBezTo>
                      <a:pt x="120015" y="266700"/>
                      <a:pt x="53340" y="222250"/>
                      <a:pt x="0" y="133350"/>
                    </a:cubicBezTo>
                    <a:cubicBezTo>
                      <a:pt x="53340" y="44450"/>
                      <a:pt x="120015" y="0"/>
                      <a:pt x="200025" y="0"/>
                    </a:cubicBezTo>
                    <a:cubicBezTo>
                      <a:pt x="280035" y="0"/>
                      <a:pt x="346710" y="44450"/>
                      <a:pt x="400049" y="133350"/>
                    </a:cubicBezTo>
                  </a:path>
                </a:pathLst>
              </a:custGeom>
              <a:noFill/>
              <a:ln w="19050">
                <a:solidFill>
                  <a:srgbClr val="FFFFFF"/>
                </a:solidFill>
              </a:ln>
            </p:spPr>
          </p:sp>
        </p:grpSp>
        <p:sp>
          <p:nvSpPr>
            <p:cNvPr id="22" name="TextBox 22"/>
            <p:cNvSpPr txBox="1"/>
            <p:nvPr/>
          </p:nvSpPr>
          <p:spPr>
            <a:xfrm>
              <a:off x="8986723" y="2665095"/>
              <a:ext cx="1381354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24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看到结果</a:t>
              </a:r>
              <a:endParaRPr lang="zh-CN" sz="240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3" name="Freeform 23"/>
            <p:cNvSpPr/>
            <p:nvPr/>
          </p:nvSpPr>
          <p:spPr>
            <a:xfrm>
              <a:off x="2009775" y="3714750"/>
              <a:ext cx="7667625" cy="1219200"/>
            </a:xfrm>
            <a:custGeom>
              <a:avLst/>
              <a:gdLst/>
              <a:ahLst/>
              <a:cxnLst/>
              <a:rect l="l" t="t" r="r" b="b"/>
              <a:pathLst>
                <a:path w="7667625" h="1219200">
                  <a:moveTo>
                    <a:pt x="7667625" y="0"/>
                  </a:moveTo>
                  <a:cubicBezTo>
                    <a:pt x="7667625" y="895350"/>
                    <a:pt x="5610225" y="1219200"/>
                    <a:pt x="3876675" y="1219200"/>
                  </a:cubicBezTo>
                  <a:cubicBezTo>
                    <a:pt x="2143125" y="1219200"/>
                    <a:pt x="0" y="876300"/>
                    <a:pt x="0" y="0"/>
                  </a:cubicBezTo>
                </a:path>
              </a:pathLst>
            </a:custGeom>
            <a:noFill/>
            <a:ln w="76200" cap="rnd">
              <a:solidFill>
                <a:schemeClr val="dk2"/>
              </a:solidFill>
            </a:ln>
          </p:spPr>
        </p:sp>
        <p:sp>
          <p:nvSpPr>
            <p:cNvPr id="24" name="Freeform 24"/>
            <p:cNvSpPr/>
            <p:nvPr/>
          </p:nvSpPr>
          <p:spPr>
            <a:xfrm>
              <a:off x="1847850" y="3695700"/>
              <a:ext cx="323850" cy="247650"/>
            </a:xfrm>
            <a:custGeom>
              <a:avLst/>
              <a:gdLst/>
              <a:ahLst/>
              <a:cxnLst/>
              <a:rect l="l" t="t" r="r" b="b"/>
              <a:pathLst>
                <a:path w="323850" h="247650">
                  <a:moveTo>
                    <a:pt x="0" y="247650"/>
                  </a:moveTo>
                  <a:lnTo>
                    <a:pt x="161925" y="0"/>
                  </a:lnTo>
                  <a:lnTo>
                    <a:pt x="323850" y="247650"/>
                  </a:lnTo>
                </a:path>
              </a:pathLst>
            </a:custGeom>
            <a:noFill/>
            <a:ln w="76200">
              <a:solidFill>
                <a:schemeClr val="dk2"/>
              </a:solidFill>
              <a:round/>
            </a:ln>
          </p:spPr>
        </p:sp>
      </p:grpSp>
      <p:sp>
        <p:nvSpPr>
          <p:cNvPr id="26" name="Rectangle 26"/>
          <p:cNvSpPr/>
          <p:nvPr/>
        </p:nvSpPr>
        <p:spPr>
          <a:xfrm>
            <a:off x="1524000" y="5048250"/>
            <a:ext cx="9144000" cy="819150"/>
          </a:xfrm>
          <a:prstGeom prst="roundRect">
            <a:avLst>
              <a:gd name="adj" fmla="val 25581"/>
            </a:avLst>
          </a:prstGeom>
          <a:solidFill>
            <a:srgbClr val="FFFFFF"/>
          </a:solidFill>
          <a:ln w="28575">
            <a:solidFill>
              <a:schemeClr val="accent4"/>
            </a:solidFill>
          </a:ln>
        </p:spPr>
      </p:sp>
      <p:sp>
        <p:nvSpPr>
          <p:cNvPr id="27" name="TextBox 27"/>
          <p:cNvSpPr txBox="1"/>
          <p:nvPr/>
        </p:nvSpPr>
        <p:spPr>
          <a:xfrm>
            <a:off x="5602224" y="5196840"/>
            <a:ext cx="987552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800" dirty="0">
                <a:solidFill>
                  <a:schemeClr val="dk2"/>
                </a:solidFill>
                <a:latin typeface="+mn-lt"/>
                <a:ea typeface="+mn-ea"/>
                <a:cs typeface="+mn-cs"/>
              </a:rPr>
              <a:t>设计问题</a:t>
            </a:r>
            <a:endParaRPr lang="zh-CN" sz="1800" dirty="0">
              <a:solidFill>
                <a:schemeClr val="dk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28" name="TextBox 28"/>
          <p:cNvSpPr txBox="1"/>
          <p:nvPr/>
        </p:nvSpPr>
        <p:spPr>
          <a:xfrm>
            <a:off x="1444904" y="5452110"/>
            <a:ext cx="9302191" cy="52806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2700" b="1" dirty="0">
                <a:solidFill>
                  <a:schemeClr val="accent1"/>
                </a:solidFill>
                <a:latin typeface="+mj-lt"/>
                <a:ea typeface="+mj-ea"/>
                <a:cs typeface="+mj-cs"/>
              </a:rPr>
              <a:t>玩家的动作，改变了路线、状态、能力，还是理解？</a:t>
            </a:r>
            <a:endParaRPr lang="zh-CN" sz="2700" b="1" dirty="0">
              <a:solidFill>
                <a:schemeClr val="accent1"/>
              </a:solidFill>
              <a:latin typeface="+mj-lt"/>
              <a:ea typeface="+mj-ea"/>
              <a:cs typeface="+mj-cs"/>
            </a:endParaRPr>
          </a:p>
        </p:txBody>
      </p:sp>
      <p:grpSp>
        <p:nvGrpSpPr>
          <p:cNvPr id="32" name="Group 32"/>
          <p:cNvGrpSpPr/>
          <p:nvPr/>
        </p:nvGrpSpPr>
        <p:grpSpPr>
          <a:xfrm>
            <a:off x="552450" y="6353175"/>
            <a:ext cx="11055858" cy="432626"/>
            <a:chOff x="552450" y="6353175"/>
            <a:chExt cx="11055858" cy="432626"/>
          </a:xfrm>
        </p:grpSpPr>
        <p:sp>
          <p:nvSpPr>
            <p:cNvPr id="29" name="Line 29"/>
            <p:cNvSpPr/>
            <p:nvPr/>
          </p:nvSpPr>
          <p:spPr>
            <a:xfrm>
              <a:off x="552450" y="6353175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19050">
              <a:solidFill>
                <a:schemeClr val="accent4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11394681" y="6521768"/>
              <a:ext cx="2136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02</a:t>
              </a:r>
              <a:endParaRPr lang="en-US" sz="135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52450" y="270510"/>
            <a:ext cx="12019117" cy="8191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4200" b="1" dirty="0">
                <a:solidFill>
                  <a:schemeClr val="dk1"/>
                </a:solidFill>
                <a:latin typeface="+mj-lt"/>
                <a:ea typeface="+mj-ea"/>
                <a:cs typeface="+mj-cs"/>
              </a:rPr>
              <a:t>先让玩家想试，再让玩家立刻知道“成功了”</a:t>
            </a:r>
            <a:endParaRPr lang="zh-CN" sz="4200" b="1" dirty="0">
              <a:solidFill>
                <a:schemeClr val="dk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3" name="TextBox 3"/>
          <p:cNvSpPr txBox="1"/>
          <p:nvPr/>
        </p:nvSpPr>
        <p:spPr>
          <a:xfrm>
            <a:off x="581406" y="986790"/>
            <a:ext cx="6076188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800" dirty="0">
                <a:solidFill>
                  <a:schemeClr val="dk2"/>
                </a:solidFill>
                <a:latin typeface="+mn-lt"/>
                <a:ea typeface="+mn-ea"/>
                <a:cs typeface="+mn-cs"/>
              </a:rPr>
              <a:t>可感知性吸引第一次操作，即时反馈建立继续尝试的信心</a:t>
            </a:r>
            <a:endParaRPr lang="zh-CN" sz="1800" dirty="0">
              <a:solidFill>
                <a:schemeClr val="dk2"/>
              </a:solidFill>
              <a:latin typeface="+mn-lt"/>
              <a:ea typeface="+mn-ea"/>
              <a:cs typeface="+mn-cs"/>
            </a:endParaRPr>
          </a:p>
        </p:txBody>
      </p:sp>
      <p:grpSp>
        <p:nvGrpSpPr>
          <p:cNvPr id="30" name="Group 30"/>
          <p:cNvGrpSpPr/>
          <p:nvPr/>
        </p:nvGrpSpPr>
        <p:grpSpPr>
          <a:xfrm>
            <a:off x="762000" y="1524000"/>
            <a:ext cx="10668000" cy="4171950"/>
            <a:chOff x="762000" y="1524000"/>
            <a:chExt cx="10668000" cy="4171950"/>
          </a:xfrm>
        </p:grpSpPr>
        <p:grpSp>
          <p:nvGrpSpPr>
            <p:cNvPr id="17" name="Group 17"/>
            <p:cNvGrpSpPr/>
            <p:nvPr/>
          </p:nvGrpSpPr>
          <p:grpSpPr>
            <a:xfrm>
              <a:off x="762000" y="1524000"/>
              <a:ext cx="5048250" cy="4171950"/>
              <a:chOff x="762000" y="1524000"/>
              <a:chExt cx="5048250" cy="4171950"/>
            </a:xfrm>
          </p:grpSpPr>
          <p:sp>
            <p:nvSpPr>
              <p:cNvPr id="4" name="Rectangle 4"/>
              <p:cNvSpPr/>
              <p:nvPr/>
            </p:nvSpPr>
            <p:spPr>
              <a:xfrm>
                <a:off x="762000" y="1524000"/>
                <a:ext cx="5048250" cy="4171950"/>
              </a:xfrm>
              <a:prstGeom prst="roundRect">
                <a:avLst>
                  <a:gd name="adj" fmla="val 6849"/>
                </a:avLst>
              </a:prstGeom>
              <a:solidFill>
                <a:srgbClr val="FFFFFF"/>
              </a:solidFill>
              <a:ln w="38100">
                <a:solidFill>
                  <a:schemeClr val="accent1"/>
                </a:solidFill>
              </a:ln>
            </p:spPr>
          </p:sp>
          <p:sp>
            <p:nvSpPr>
              <p:cNvPr id="5" name="Rectangle 5"/>
              <p:cNvSpPr/>
              <p:nvPr/>
            </p:nvSpPr>
            <p:spPr>
              <a:xfrm>
                <a:off x="762000" y="1524000"/>
                <a:ext cx="5048250" cy="838200"/>
              </a:xfrm>
              <a:prstGeom prst="roundRect">
                <a:avLst>
                  <a:gd name="adj" fmla="val 34091"/>
                </a:avLst>
              </a:prstGeom>
              <a:solidFill>
                <a:schemeClr val="accent1"/>
              </a:solidFill>
              <a:ln>
                <a:noFill/>
              </a:ln>
            </p:spPr>
          </p:sp>
          <p:grpSp>
            <p:nvGrpSpPr>
              <p:cNvPr id="8" name="Group 8"/>
              <p:cNvGrpSpPr/>
              <p:nvPr/>
            </p:nvGrpSpPr>
            <p:grpSpPr>
              <a:xfrm>
                <a:off x="1085850" y="1828800"/>
                <a:ext cx="342900" cy="228600"/>
                <a:chOff x="1085850" y="1828800"/>
                <a:chExt cx="342900" cy="228600"/>
              </a:xfrm>
            </p:grpSpPr>
            <p:sp>
              <p:nvSpPr>
                <p:cNvPr id="6" name="Freeform 6"/>
                <p:cNvSpPr/>
                <p:nvPr/>
              </p:nvSpPr>
              <p:spPr>
                <a:xfrm>
                  <a:off x="1219200" y="1905000"/>
                  <a:ext cx="76200" cy="762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6200" h="76200">
                      <a:moveTo>
                        <a:pt x="0" y="38100"/>
                      </a:moveTo>
                      <a:cubicBezTo>
                        <a:pt x="0" y="59142"/>
                        <a:pt x="17058" y="76200"/>
                        <a:pt x="38100" y="76200"/>
                      </a:cubicBezTo>
                      <a:cubicBezTo>
                        <a:pt x="59142" y="76200"/>
                        <a:pt x="76200" y="59142"/>
                        <a:pt x="76200" y="38100"/>
                      </a:cubicBezTo>
                      <a:cubicBezTo>
                        <a:pt x="76200" y="17058"/>
                        <a:pt x="59142" y="0"/>
                        <a:pt x="38100" y="0"/>
                      </a:cubicBezTo>
                      <a:cubicBezTo>
                        <a:pt x="17058" y="0"/>
                        <a:pt x="0" y="17058"/>
                        <a:pt x="0" y="38100"/>
                      </a:cubicBezTo>
                    </a:path>
                  </a:pathLst>
                </a:custGeom>
                <a:noFill/>
                <a:ln w="19050">
                  <a:solidFill>
                    <a:srgbClr val="FFFFFF"/>
                  </a:solidFill>
                </a:ln>
              </p:spPr>
            </p:sp>
            <p:sp>
              <p:nvSpPr>
                <p:cNvPr id="7" name="Freeform 7"/>
                <p:cNvSpPr/>
                <p:nvPr/>
              </p:nvSpPr>
              <p:spPr>
                <a:xfrm>
                  <a:off x="1085850" y="1828800"/>
                  <a:ext cx="342900" cy="2286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42900" h="228600">
                      <a:moveTo>
                        <a:pt x="342900" y="114300"/>
                      </a:moveTo>
                      <a:cubicBezTo>
                        <a:pt x="297180" y="190500"/>
                        <a:pt x="240030" y="228600"/>
                        <a:pt x="171450" y="228600"/>
                      </a:cubicBezTo>
                      <a:cubicBezTo>
                        <a:pt x="102870" y="228600"/>
                        <a:pt x="45720" y="190500"/>
                        <a:pt x="0" y="114300"/>
                      </a:cubicBezTo>
                      <a:cubicBezTo>
                        <a:pt x="45720" y="38100"/>
                        <a:pt x="102870" y="0"/>
                        <a:pt x="171450" y="0"/>
                      </a:cubicBezTo>
                      <a:cubicBezTo>
                        <a:pt x="240030" y="0"/>
                        <a:pt x="297180" y="38100"/>
                        <a:pt x="342900" y="114300"/>
                      </a:cubicBezTo>
                    </a:path>
                  </a:pathLst>
                </a:custGeom>
                <a:noFill/>
                <a:ln w="19050">
                  <a:solidFill>
                    <a:srgbClr val="FFFFFF"/>
                  </a:solidFill>
                </a:ln>
              </p:spPr>
            </p:sp>
          </p:grpSp>
          <p:sp>
            <p:nvSpPr>
              <p:cNvPr id="9" name="TextBox 9"/>
              <p:cNvSpPr txBox="1"/>
              <p:nvPr/>
            </p:nvSpPr>
            <p:spPr>
              <a:xfrm>
                <a:off x="1662684" y="1784985"/>
                <a:ext cx="2698966" cy="52806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2700" b="1" dirty="0">
                    <a:solidFill>
                      <a:srgbClr val="FFFFFF"/>
                    </a:solidFill>
                    <a:latin typeface="+mn-lt"/>
                    <a:ea typeface="+mn-ea"/>
                    <a:cs typeface="+mn-cs"/>
                  </a:rPr>
                  <a:t>让玩家一眼想试</a:t>
                </a:r>
                <a:endParaRPr lang="zh-CN" sz="27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10" name="TextBox 10"/>
              <p:cNvSpPr txBox="1"/>
              <p:nvPr/>
            </p:nvSpPr>
            <p:spPr>
              <a:xfrm>
                <a:off x="1038606" y="2701290"/>
                <a:ext cx="1424178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marL="194310" indent="-194310" algn="l">
                  <a:buClr>
                    <a:schemeClr val="dk2"/>
                  </a:buClr>
                  <a:buSzTx/>
                  <a:buFontTx/>
                  <a:buChar char="•"/>
                </a:pPr>
                <a:r>
                  <a:rPr lang="zh-CN" sz="1800" dirty="0">
                    <a:solidFill>
                      <a:schemeClr val="dk2"/>
                    </a:solidFill>
                    <a:latin typeface="+mn-lt"/>
                    <a:ea typeface="+mn-ea"/>
                    <a:cs typeface="+mn-cs"/>
                  </a:rPr>
                  <a:t>会动的东西</a:t>
                </a:r>
                <a:endParaRPr lang="zh-CN" sz="1800" dirty="0">
                  <a:solidFill>
                    <a:schemeClr val="dk2"/>
                  </a:solidFill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11" name="TextBox 11"/>
              <p:cNvSpPr txBox="1"/>
              <p:nvPr/>
            </p:nvSpPr>
            <p:spPr>
              <a:xfrm>
                <a:off x="1038606" y="3139440"/>
                <a:ext cx="2151126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marL="194310" indent="-194310" algn="l">
                  <a:buClr>
                    <a:schemeClr val="dk2"/>
                  </a:buClr>
                  <a:buSzTx/>
                  <a:buFontTx/>
                  <a:buChar char="•"/>
                </a:pPr>
                <a:r>
                  <a:rPr lang="zh-CN" sz="1800" dirty="0">
                    <a:solidFill>
                      <a:schemeClr val="dk2"/>
                    </a:solidFill>
                    <a:latin typeface="+mn-lt"/>
                    <a:ea typeface="+mn-ea"/>
                    <a:cs typeface="+mn-cs"/>
                  </a:rPr>
                  <a:t>与周围不同的材质</a:t>
                </a:r>
                <a:endParaRPr lang="zh-CN" sz="1800" dirty="0">
                  <a:solidFill>
                    <a:schemeClr val="dk2"/>
                  </a:solidFill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12" name="TextBox 12"/>
              <p:cNvSpPr txBox="1"/>
              <p:nvPr/>
            </p:nvSpPr>
            <p:spPr>
              <a:xfrm>
                <a:off x="1038606" y="3577590"/>
                <a:ext cx="2878074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marL="194310" indent="-194310" algn="l">
                  <a:buClr>
                    <a:schemeClr val="dk2"/>
                  </a:buClr>
                  <a:buSzTx/>
                  <a:buFontTx/>
                  <a:buChar char="•"/>
                </a:pPr>
                <a:r>
                  <a:rPr lang="zh-CN" sz="1800" dirty="0">
                    <a:solidFill>
                      <a:schemeClr val="dk2"/>
                    </a:solidFill>
                    <a:latin typeface="+mn-lt"/>
                    <a:ea typeface="+mn-ea"/>
                    <a:cs typeface="+mn-cs"/>
                  </a:rPr>
                  <a:t>奇怪声音与不一致的影子</a:t>
                </a:r>
                <a:endParaRPr lang="zh-CN" sz="1800" dirty="0">
                  <a:solidFill>
                    <a:schemeClr val="dk2"/>
                  </a:solidFill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1038606" y="4015740"/>
                <a:ext cx="2151126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marL="194310" indent="-194310" algn="l">
                  <a:buClr>
                    <a:schemeClr val="dk2"/>
                  </a:buClr>
                  <a:buSzTx/>
                  <a:buFontTx/>
                  <a:buChar char="•"/>
                </a:pPr>
                <a:r>
                  <a:rPr lang="zh-CN" sz="1800" dirty="0">
                    <a:solidFill>
                      <a:schemeClr val="dk2"/>
                    </a:solidFill>
                    <a:latin typeface="+mn-lt"/>
                    <a:ea typeface="+mn-ea"/>
                    <a:cs typeface="+mn-cs"/>
                  </a:rPr>
                  <a:t>少量、明确的高亮</a:t>
                </a:r>
                <a:endParaRPr lang="zh-CN" sz="1800" dirty="0">
                  <a:solidFill>
                    <a:schemeClr val="dk2"/>
                  </a:solidFill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14" name="Rectangle 14"/>
              <p:cNvSpPr/>
              <p:nvPr/>
            </p:nvSpPr>
            <p:spPr>
              <a:xfrm>
                <a:off x="1047750" y="4591050"/>
                <a:ext cx="4476750" cy="762000"/>
              </a:xfrm>
              <a:prstGeom prst="roundRect">
                <a:avLst>
                  <a:gd name="adj" fmla="val 22500"/>
                </a:avLst>
              </a:prstGeom>
              <a:solidFill>
                <a:srgbClr val="EAF0FA"/>
              </a:solidFill>
              <a:ln>
                <a:noFill/>
              </a:ln>
            </p:spPr>
          </p:sp>
          <p:sp>
            <p:nvSpPr>
              <p:cNvPr id="15" name="TextBox 15"/>
              <p:cNvSpPr txBox="1"/>
              <p:nvPr/>
            </p:nvSpPr>
            <p:spPr>
              <a:xfrm>
                <a:off x="2671191" y="4711065"/>
                <a:ext cx="1229868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800" dirty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rPr>
                  <a:t>提示的目标</a:t>
                </a:r>
                <a:endParaRPr lang="zh-CN" sz="18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16" name="TextBox 16"/>
              <p:cNvSpPr txBox="1"/>
              <p:nvPr/>
            </p:nvSpPr>
            <p:spPr>
              <a:xfrm>
                <a:off x="2408865" y="4960620"/>
                <a:ext cx="1754520" cy="46939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2400" b="1" dirty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rPr>
                  <a:t>“过去看看”</a:t>
                </a:r>
                <a:endParaRPr lang="zh-CN" sz="24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endParaRPr>
              </a:p>
            </p:txBody>
          </p:sp>
        </p:grpSp>
        <p:grpSp>
          <p:nvGrpSpPr>
            <p:cNvPr id="29" name="Group 29"/>
            <p:cNvGrpSpPr/>
            <p:nvPr/>
          </p:nvGrpSpPr>
          <p:grpSpPr>
            <a:xfrm>
              <a:off x="6381750" y="1524000"/>
              <a:ext cx="5048250" cy="4171950"/>
              <a:chOff x="6381750" y="1524000"/>
              <a:chExt cx="5048250" cy="4171950"/>
            </a:xfrm>
          </p:grpSpPr>
          <p:sp>
            <p:nvSpPr>
              <p:cNvPr id="18" name="Rectangle 18"/>
              <p:cNvSpPr/>
              <p:nvPr/>
            </p:nvSpPr>
            <p:spPr>
              <a:xfrm>
                <a:off x="6381750" y="1524000"/>
                <a:ext cx="5048250" cy="4171950"/>
              </a:xfrm>
              <a:prstGeom prst="roundRect">
                <a:avLst>
                  <a:gd name="adj" fmla="val 6849"/>
                </a:avLst>
              </a:prstGeom>
              <a:solidFill>
                <a:srgbClr val="FFFFFF"/>
              </a:solidFill>
              <a:ln w="38100">
                <a:solidFill>
                  <a:schemeClr val="accent3"/>
                </a:solidFill>
              </a:ln>
            </p:spPr>
          </p:sp>
          <p:sp>
            <p:nvSpPr>
              <p:cNvPr id="19" name="Rectangle 19"/>
              <p:cNvSpPr/>
              <p:nvPr/>
            </p:nvSpPr>
            <p:spPr>
              <a:xfrm>
                <a:off x="6381750" y="1524000"/>
                <a:ext cx="5048250" cy="838200"/>
              </a:xfrm>
              <a:prstGeom prst="roundRect">
                <a:avLst>
                  <a:gd name="adj" fmla="val 34091"/>
                </a:avLst>
              </a:prstGeom>
              <a:solidFill>
                <a:schemeClr val="accent3"/>
              </a:solidFill>
              <a:ln>
                <a:noFill/>
              </a:ln>
            </p:spPr>
          </p:sp>
          <p:sp>
            <p:nvSpPr>
              <p:cNvPr id="20" name="Freeform 20"/>
              <p:cNvSpPr/>
              <p:nvPr/>
            </p:nvSpPr>
            <p:spPr>
              <a:xfrm>
                <a:off x="6724650" y="1790700"/>
                <a:ext cx="304753" cy="304753"/>
              </a:xfrm>
              <a:custGeom>
                <a:avLst/>
                <a:gdLst/>
                <a:ahLst/>
                <a:cxnLst/>
                <a:rect l="l" t="t" r="r" b="b"/>
                <a:pathLst>
                  <a:path w="304753" h="304753">
                    <a:moveTo>
                      <a:pt x="74371" y="258375"/>
                    </a:moveTo>
                    <a:cubicBezTo>
                      <a:pt x="76446" y="267696"/>
                      <a:pt x="84096" y="274745"/>
                      <a:pt x="93555" y="276053"/>
                    </a:cubicBezTo>
                    <a:cubicBezTo>
                      <a:pt x="103014" y="277361"/>
                      <a:pt x="112289" y="272651"/>
                      <a:pt x="116815" y="264243"/>
                    </a:cubicBezTo>
                    <a:lnTo>
                      <a:pt x="156629" y="205321"/>
                    </a:lnTo>
                    <a:lnTo>
                      <a:pt x="250107" y="298799"/>
                    </a:lnTo>
                    <a:cubicBezTo>
                      <a:pt x="253919" y="302611"/>
                      <a:pt x="259090" y="304753"/>
                      <a:pt x="264481" y="304753"/>
                    </a:cubicBezTo>
                    <a:cubicBezTo>
                      <a:pt x="269872" y="304753"/>
                      <a:pt x="275042" y="302611"/>
                      <a:pt x="278854" y="298799"/>
                    </a:cubicBezTo>
                    <a:lnTo>
                      <a:pt x="298799" y="278854"/>
                    </a:lnTo>
                    <a:cubicBezTo>
                      <a:pt x="302611" y="275042"/>
                      <a:pt x="304753" y="269872"/>
                      <a:pt x="304753" y="264481"/>
                    </a:cubicBezTo>
                    <a:cubicBezTo>
                      <a:pt x="304753" y="259090"/>
                      <a:pt x="302611" y="253919"/>
                      <a:pt x="298799" y="250107"/>
                    </a:cubicBezTo>
                    <a:lnTo>
                      <a:pt x="205321" y="156629"/>
                    </a:lnTo>
                    <a:lnTo>
                      <a:pt x="264624" y="116815"/>
                    </a:lnTo>
                    <a:cubicBezTo>
                      <a:pt x="273032" y="112286"/>
                      <a:pt x="277739" y="103007"/>
                      <a:pt x="276427" y="93548"/>
                    </a:cubicBezTo>
                    <a:cubicBezTo>
                      <a:pt x="275115" y="84088"/>
                      <a:pt x="268061" y="76441"/>
                      <a:pt x="258737" y="74371"/>
                    </a:cubicBezTo>
                    <a:lnTo>
                      <a:pt x="0" y="0"/>
                    </a:lnTo>
                    <a:lnTo>
                      <a:pt x="74371" y="258375"/>
                    </a:lnTo>
                  </a:path>
                </a:pathLst>
              </a:custGeom>
              <a:noFill/>
              <a:ln w="19050">
                <a:solidFill>
                  <a:srgbClr val="FFFFFF"/>
                </a:solidFill>
              </a:ln>
            </p:spPr>
          </p:sp>
          <p:sp>
            <p:nvSpPr>
              <p:cNvPr id="21" name="TextBox 21"/>
              <p:cNvSpPr txBox="1"/>
              <p:nvPr/>
            </p:nvSpPr>
            <p:spPr>
              <a:xfrm>
                <a:off x="7282434" y="1784985"/>
                <a:ext cx="3080614" cy="52806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2700" b="1" dirty="0">
                    <a:solidFill>
                      <a:srgbClr val="FFFFFF"/>
                    </a:solidFill>
                    <a:latin typeface="+mn-lt"/>
                    <a:ea typeface="+mn-ea"/>
                    <a:cs typeface="+mn-cs"/>
                  </a:rPr>
                  <a:t>操作瞬间必须回应</a:t>
                </a:r>
                <a:endParaRPr lang="zh-CN" sz="27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22" name="TextBox 22"/>
              <p:cNvSpPr txBox="1"/>
              <p:nvPr/>
            </p:nvSpPr>
            <p:spPr>
              <a:xfrm>
                <a:off x="6658356" y="2701290"/>
                <a:ext cx="1666494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marL="194310" indent="-194310" algn="l">
                  <a:buClr>
                    <a:schemeClr val="dk2"/>
                  </a:buClr>
                  <a:buSzTx/>
                  <a:buFontTx/>
                  <a:buChar char="•"/>
                </a:pPr>
                <a:r>
                  <a:rPr lang="zh-CN" sz="1800" dirty="0">
                    <a:solidFill>
                      <a:schemeClr val="dk2"/>
                    </a:solidFill>
                    <a:latin typeface="+mn-lt"/>
                    <a:ea typeface="+mn-ea"/>
                    <a:cs typeface="+mn-cs"/>
                  </a:rPr>
                  <a:t>门把手先压下</a:t>
                </a:r>
                <a:endParaRPr lang="zh-CN" sz="1800" dirty="0">
                  <a:solidFill>
                    <a:schemeClr val="dk2"/>
                  </a:solidFill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23" name="TextBox 23"/>
              <p:cNvSpPr txBox="1"/>
              <p:nvPr/>
            </p:nvSpPr>
            <p:spPr>
              <a:xfrm>
                <a:off x="6658356" y="3139440"/>
                <a:ext cx="2635758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marL="194310" indent="-194310" algn="l">
                  <a:buClr>
                    <a:schemeClr val="dk2"/>
                  </a:buClr>
                  <a:buSzTx/>
                  <a:buFontTx/>
                  <a:buChar char="•"/>
                </a:pPr>
                <a:r>
                  <a:rPr lang="zh-CN" sz="1800" dirty="0">
                    <a:solidFill>
                      <a:schemeClr val="dk2"/>
                    </a:solidFill>
                    <a:latin typeface="+mn-lt"/>
                    <a:ea typeface="+mn-ea"/>
                    <a:cs typeface="+mn-cs"/>
                  </a:rPr>
                  <a:t>锁舌与机械声立刻出现</a:t>
                </a:r>
                <a:endParaRPr lang="zh-CN" sz="1800" dirty="0">
                  <a:solidFill>
                    <a:schemeClr val="dk2"/>
                  </a:solidFill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6658356" y="3577590"/>
                <a:ext cx="2393442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marL="194310" indent="-194310" algn="l">
                  <a:buClr>
                    <a:schemeClr val="dk2"/>
                  </a:buClr>
                  <a:buSzTx/>
                  <a:buFontTx/>
                  <a:buChar char="•"/>
                </a:pPr>
                <a:r>
                  <a:rPr lang="zh-CN" sz="1800" dirty="0">
                    <a:solidFill>
                      <a:schemeClr val="dk2"/>
                    </a:solidFill>
                    <a:latin typeface="+mn-lt"/>
                    <a:ea typeface="+mn-ea"/>
                    <a:cs typeface="+mn-cs"/>
                  </a:rPr>
                  <a:t>物体轻微震动或变色</a:t>
                </a:r>
                <a:endParaRPr lang="zh-CN" sz="1800" dirty="0">
                  <a:solidFill>
                    <a:schemeClr val="dk2"/>
                  </a:solidFill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6658356" y="4015740"/>
                <a:ext cx="3120390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marL="194310" indent="-194310" algn="l">
                  <a:buClr>
                    <a:schemeClr val="dk2"/>
                  </a:buClr>
                  <a:buSzTx/>
                  <a:buFontTx/>
                  <a:buChar char="•"/>
                </a:pPr>
                <a:r>
                  <a:rPr lang="zh-CN" sz="1800" dirty="0">
                    <a:solidFill>
                      <a:schemeClr val="dk2"/>
                    </a:solidFill>
                    <a:latin typeface="+mn-lt"/>
                    <a:ea typeface="+mn-ea"/>
                    <a:cs typeface="+mn-cs"/>
                  </a:rPr>
                  <a:t>完整动作可以随后慢慢完成</a:t>
                </a:r>
                <a:endParaRPr lang="zh-CN" sz="1800" dirty="0">
                  <a:solidFill>
                    <a:schemeClr val="dk2"/>
                  </a:solidFill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26" name="Rectangle 26"/>
              <p:cNvSpPr/>
              <p:nvPr/>
            </p:nvSpPr>
            <p:spPr>
              <a:xfrm>
                <a:off x="6667500" y="4591050"/>
                <a:ext cx="4476750" cy="762000"/>
              </a:xfrm>
              <a:prstGeom prst="roundRect">
                <a:avLst>
                  <a:gd name="adj" fmla="val 22500"/>
                </a:avLst>
              </a:prstGeom>
              <a:solidFill>
                <a:srgbClr val="E8F5F0"/>
              </a:solidFill>
              <a:ln>
                <a:noFill/>
              </a:ln>
            </p:spPr>
          </p:sp>
          <p:sp>
            <p:nvSpPr>
              <p:cNvPr id="27" name="TextBox 27"/>
              <p:cNvSpPr txBox="1"/>
              <p:nvPr/>
            </p:nvSpPr>
            <p:spPr>
              <a:xfrm>
                <a:off x="8290941" y="4711065"/>
                <a:ext cx="1229868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800" dirty="0">
                    <a:solidFill>
                      <a:srgbClr val="2F8F6A"/>
                    </a:solidFill>
                    <a:latin typeface="+mn-lt"/>
                    <a:ea typeface="+mn-ea"/>
                    <a:cs typeface="+mn-cs"/>
                  </a:rPr>
                  <a:t>反馈的目标</a:t>
                </a:r>
                <a:endParaRPr lang="zh-CN" sz="1800" dirty="0">
                  <a:solidFill>
                    <a:srgbClr val="2F8F6A"/>
                  </a:solidFill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7689372" y="4960620"/>
                <a:ext cx="2433005" cy="46939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2400" b="1" dirty="0">
                    <a:solidFill>
                      <a:srgbClr val="2F8F6A"/>
                    </a:solidFill>
                    <a:latin typeface="+mn-lt"/>
                    <a:ea typeface="+mn-ea"/>
                    <a:cs typeface="+mn-cs"/>
                  </a:rPr>
                  <a:t>“我刚才做对了”</a:t>
                </a:r>
                <a:endParaRPr lang="zh-CN" sz="2400" b="1" dirty="0">
                  <a:solidFill>
                    <a:srgbClr val="2F8F6A"/>
                  </a:solidFill>
                  <a:latin typeface="+mn-lt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34" name="Group 34"/>
          <p:cNvGrpSpPr/>
          <p:nvPr/>
        </p:nvGrpSpPr>
        <p:grpSpPr>
          <a:xfrm>
            <a:off x="552450" y="6353175"/>
            <a:ext cx="11055858" cy="432626"/>
            <a:chOff x="552450" y="6353175"/>
            <a:chExt cx="11055858" cy="432626"/>
          </a:xfrm>
        </p:grpSpPr>
        <p:sp>
          <p:nvSpPr>
            <p:cNvPr id="31" name="Line 31"/>
            <p:cNvSpPr/>
            <p:nvPr/>
          </p:nvSpPr>
          <p:spPr>
            <a:xfrm>
              <a:off x="552450" y="6353175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19050">
              <a:solidFill>
                <a:schemeClr val="accent4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11394681" y="6521768"/>
              <a:ext cx="2136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03</a:t>
              </a:r>
              <a:endParaRPr lang="en-US" sz="135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52450" y="270510"/>
            <a:ext cx="10701833" cy="8191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4200" b="1" dirty="0">
                <a:solidFill>
                  <a:schemeClr val="dk1"/>
                </a:solidFill>
                <a:latin typeface="+mj-lt"/>
                <a:ea typeface="+mj-ea"/>
                <a:cs typeface="+mj-cs"/>
              </a:rPr>
              <a:t>交互深度来自四件事，而不是更多按键</a:t>
            </a:r>
            <a:endParaRPr lang="zh-CN" sz="4200" b="1" dirty="0">
              <a:solidFill>
                <a:schemeClr val="dk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3" name="TextBox 3"/>
          <p:cNvSpPr txBox="1"/>
          <p:nvPr/>
        </p:nvSpPr>
        <p:spPr>
          <a:xfrm>
            <a:off x="581406" y="986790"/>
            <a:ext cx="6585052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800" dirty="0">
                <a:solidFill>
                  <a:schemeClr val="dk2"/>
                </a:solidFill>
                <a:latin typeface="+mn-lt"/>
                <a:ea typeface="+mn-ea"/>
                <a:cs typeface="+mn-cs"/>
              </a:rPr>
              <a:t>简单规则能组合出多种用途，玩家才会把世界当成“真的能玩”</a:t>
            </a:r>
            <a:endParaRPr lang="zh-CN" sz="1800" dirty="0">
              <a:solidFill>
                <a:schemeClr val="dk2"/>
              </a:solidFill>
              <a:latin typeface="+mn-lt"/>
              <a:ea typeface="+mn-ea"/>
              <a:cs typeface="+mn-cs"/>
            </a:endParaRPr>
          </a:p>
        </p:txBody>
      </p:sp>
      <p:grpSp>
        <p:nvGrpSpPr>
          <p:cNvPr id="52" name="Group 52"/>
          <p:cNvGrpSpPr/>
          <p:nvPr/>
        </p:nvGrpSpPr>
        <p:grpSpPr>
          <a:xfrm>
            <a:off x="571500" y="1524000"/>
            <a:ext cx="11049000" cy="3962400"/>
            <a:chOff x="571500" y="1524000"/>
            <a:chExt cx="11049000" cy="3962400"/>
          </a:xfrm>
        </p:grpSpPr>
        <p:grpSp>
          <p:nvGrpSpPr>
            <p:cNvPr id="14" name="Group 14"/>
            <p:cNvGrpSpPr/>
            <p:nvPr/>
          </p:nvGrpSpPr>
          <p:grpSpPr>
            <a:xfrm>
              <a:off x="571500" y="1524000"/>
              <a:ext cx="5238750" cy="1809750"/>
              <a:chOff x="571500" y="1524000"/>
              <a:chExt cx="5238750" cy="1809750"/>
            </a:xfrm>
          </p:grpSpPr>
          <p:sp>
            <p:nvSpPr>
              <p:cNvPr id="4" name="Rectangle 4"/>
              <p:cNvSpPr/>
              <p:nvPr/>
            </p:nvSpPr>
            <p:spPr>
              <a:xfrm>
                <a:off x="571500" y="1524000"/>
                <a:ext cx="5238750" cy="1809750"/>
              </a:xfrm>
              <a:prstGeom prst="roundRect">
                <a:avLst>
                  <a:gd name="adj" fmla="val 13684"/>
                </a:avLst>
              </a:prstGeom>
              <a:solidFill>
                <a:srgbClr val="EAF0FA"/>
              </a:solidFill>
              <a:ln w="28575">
                <a:solidFill>
                  <a:schemeClr val="accent1"/>
                </a:solidFill>
              </a:ln>
            </p:spPr>
          </p:sp>
          <p:grpSp>
            <p:nvGrpSpPr>
              <p:cNvPr id="10" name="Group 10"/>
              <p:cNvGrpSpPr/>
              <p:nvPr/>
            </p:nvGrpSpPr>
            <p:grpSpPr>
              <a:xfrm>
                <a:off x="939800" y="1866900"/>
                <a:ext cx="406401" cy="457201"/>
                <a:chOff x="939800" y="1866900"/>
                <a:chExt cx="406401" cy="457201"/>
              </a:xfrm>
            </p:grpSpPr>
            <p:sp>
              <p:nvSpPr>
                <p:cNvPr id="5" name="Freeform 5"/>
                <p:cNvSpPr/>
                <p:nvPr/>
              </p:nvSpPr>
              <p:spPr>
                <a:xfrm>
                  <a:off x="939800" y="1866900"/>
                  <a:ext cx="406401" cy="45720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06401" h="457201">
                      <a:moveTo>
                        <a:pt x="203200" y="0"/>
                      </a:moveTo>
                      <a:lnTo>
                        <a:pt x="406401" y="114300"/>
                      </a:lnTo>
                      <a:lnTo>
                        <a:pt x="406401" y="342900"/>
                      </a:lnTo>
                      <a:lnTo>
                        <a:pt x="203200" y="457201"/>
                      </a:lnTo>
                      <a:lnTo>
                        <a:pt x="0" y="342900"/>
                      </a:lnTo>
                      <a:lnTo>
                        <a:pt x="0" y="114300"/>
                      </a:lnTo>
                      <a:lnTo>
                        <a:pt x="203200" y="0"/>
                      </a:lnTo>
                    </a:path>
                  </a:pathLst>
                </a:custGeom>
                <a:noFill/>
                <a:ln w="19050">
                  <a:solidFill>
                    <a:schemeClr val="accent1"/>
                  </a:solidFill>
                </a:ln>
              </p:spPr>
            </p:sp>
            <p:sp>
              <p:nvSpPr>
                <p:cNvPr id="6" name="Freeform 6"/>
                <p:cNvSpPr/>
                <p:nvPr/>
              </p:nvSpPr>
              <p:spPr>
                <a:xfrm>
                  <a:off x="1143000" y="1981200"/>
                  <a:ext cx="203200" cy="1143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3200" h="114300">
                      <a:moveTo>
                        <a:pt x="0" y="114300"/>
                      </a:moveTo>
                      <a:lnTo>
                        <a:pt x="203200" y="0"/>
                      </a:lnTo>
                    </a:path>
                  </a:pathLst>
                </a:custGeom>
                <a:noFill/>
                <a:ln w="19050">
                  <a:solidFill>
                    <a:schemeClr val="accent1"/>
                  </a:solidFill>
                </a:ln>
              </p:spPr>
            </p:sp>
            <p:sp>
              <p:nvSpPr>
                <p:cNvPr id="7" name="Freeform 7"/>
                <p:cNvSpPr/>
                <p:nvPr/>
              </p:nvSpPr>
              <p:spPr>
                <a:xfrm>
                  <a:off x="1143000" y="2095500"/>
                  <a:ext cx="9525" cy="2286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228600">
                      <a:moveTo>
                        <a:pt x="0" y="0"/>
                      </a:moveTo>
                      <a:lnTo>
                        <a:pt x="0" y="228600"/>
                      </a:lnTo>
                    </a:path>
                  </a:pathLst>
                </a:custGeom>
                <a:noFill/>
                <a:ln w="19050">
                  <a:solidFill>
                    <a:schemeClr val="accent1"/>
                  </a:solidFill>
                </a:ln>
              </p:spPr>
            </p:sp>
            <p:sp>
              <p:nvSpPr>
                <p:cNvPr id="8" name="Freeform 8"/>
                <p:cNvSpPr/>
                <p:nvPr/>
              </p:nvSpPr>
              <p:spPr>
                <a:xfrm>
                  <a:off x="939800" y="1981200"/>
                  <a:ext cx="203200" cy="1143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3200" h="114300">
                      <a:moveTo>
                        <a:pt x="203200" y="114300"/>
                      </a:moveTo>
                      <a:lnTo>
                        <a:pt x="0" y="0"/>
                      </a:lnTo>
                    </a:path>
                  </a:pathLst>
                </a:custGeom>
                <a:noFill/>
                <a:ln w="19050">
                  <a:solidFill>
                    <a:schemeClr val="accent1"/>
                  </a:solidFill>
                </a:ln>
              </p:spPr>
            </p:sp>
            <p:sp>
              <p:nvSpPr>
                <p:cNvPr id="9" name="Freeform 9"/>
                <p:cNvSpPr/>
                <p:nvPr/>
              </p:nvSpPr>
              <p:spPr>
                <a:xfrm>
                  <a:off x="1041400" y="1924050"/>
                  <a:ext cx="203200" cy="1143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3200" h="114300">
                      <a:moveTo>
                        <a:pt x="203200" y="0"/>
                      </a:moveTo>
                      <a:lnTo>
                        <a:pt x="0" y="114300"/>
                      </a:lnTo>
                    </a:path>
                  </a:pathLst>
                </a:custGeom>
                <a:noFill/>
                <a:ln w="19050">
                  <a:solidFill>
                    <a:schemeClr val="accent1"/>
                  </a:solidFill>
                </a:ln>
              </p:spPr>
            </p:sp>
          </p:grpSp>
          <p:sp>
            <p:nvSpPr>
              <p:cNvPr id="11" name="TextBox 11"/>
              <p:cNvSpPr txBox="1"/>
              <p:nvPr/>
            </p:nvSpPr>
            <p:spPr>
              <a:xfrm>
                <a:off x="1662684" y="1765935"/>
                <a:ext cx="3462261" cy="52806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2700" b="1" dirty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rPr>
                  <a:t>一个物体，多种用途</a:t>
                </a:r>
                <a:endParaRPr lang="zh-CN" sz="27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12" name="TextBox 12"/>
              <p:cNvSpPr txBox="1"/>
              <p:nvPr/>
            </p:nvSpPr>
            <p:spPr>
              <a:xfrm>
                <a:off x="829056" y="2472690"/>
                <a:ext cx="4137660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800" dirty="0">
                    <a:solidFill>
                      <a:schemeClr val="dk2"/>
                    </a:solidFill>
                    <a:latin typeface="+mn-lt"/>
                    <a:ea typeface="+mn-ea"/>
                    <a:cs typeface="+mn-cs"/>
                  </a:rPr>
                  <a:t>箱子可以堵门、垫脚、压机关、挡激光</a:t>
                </a:r>
                <a:endParaRPr lang="zh-CN" sz="1800" dirty="0">
                  <a:solidFill>
                    <a:schemeClr val="dk2"/>
                  </a:solidFill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829056" y="2853690"/>
                <a:ext cx="3351345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800" b="1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玩家把它当“东西”，不是钥匙</a:t>
                </a:r>
                <a:endParaRPr lang="zh-CN" sz="18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endParaRPr>
              </a:p>
            </p:txBody>
          </p:sp>
        </p:grpSp>
        <p:grpSp>
          <p:nvGrpSpPr>
            <p:cNvPr id="32" name="Group 32"/>
            <p:cNvGrpSpPr/>
            <p:nvPr/>
          </p:nvGrpSpPr>
          <p:grpSpPr>
            <a:xfrm>
              <a:off x="6381750" y="1524000"/>
              <a:ext cx="5238750" cy="1809750"/>
              <a:chOff x="6381750" y="1524000"/>
              <a:chExt cx="5238750" cy="1809750"/>
            </a:xfrm>
          </p:grpSpPr>
          <p:sp>
            <p:nvSpPr>
              <p:cNvPr id="15" name="Rectangle 15"/>
              <p:cNvSpPr/>
              <p:nvPr/>
            </p:nvSpPr>
            <p:spPr>
              <a:xfrm>
                <a:off x="6381750" y="1524000"/>
                <a:ext cx="5238750" cy="1809750"/>
              </a:xfrm>
              <a:prstGeom prst="roundRect">
                <a:avLst>
                  <a:gd name="adj" fmla="val 13684"/>
                </a:avLst>
              </a:prstGeom>
              <a:solidFill>
                <a:srgbClr val="E8F5F0"/>
              </a:solidFill>
              <a:ln w="28575">
                <a:solidFill>
                  <a:schemeClr val="accent3"/>
                </a:solidFill>
              </a:ln>
            </p:spPr>
          </p:sp>
          <p:grpSp>
            <p:nvGrpSpPr>
              <p:cNvPr id="28" name="Group 28"/>
              <p:cNvGrpSpPr/>
              <p:nvPr/>
            </p:nvGrpSpPr>
            <p:grpSpPr>
              <a:xfrm>
                <a:off x="6699250" y="1866900"/>
                <a:ext cx="508001" cy="457201"/>
                <a:chOff x="6699250" y="1866900"/>
                <a:chExt cx="508001" cy="457201"/>
              </a:xfrm>
            </p:grpSpPr>
            <p:sp>
              <p:nvSpPr>
                <p:cNvPr id="16" name="Freeform 16"/>
                <p:cNvSpPr/>
                <p:nvPr/>
              </p:nvSpPr>
              <p:spPr>
                <a:xfrm>
                  <a:off x="6902450" y="1866900"/>
                  <a:ext cx="101600" cy="1016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1600" h="101600">
                      <a:moveTo>
                        <a:pt x="0" y="50800"/>
                      </a:moveTo>
                      <a:cubicBezTo>
                        <a:pt x="0" y="78856"/>
                        <a:pt x="22744" y="101600"/>
                        <a:pt x="50800" y="101600"/>
                      </a:cubicBezTo>
                      <a:cubicBezTo>
                        <a:pt x="78856" y="101600"/>
                        <a:pt x="101600" y="78856"/>
                        <a:pt x="101600" y="50800"/>
                      </a:cubicBezTo>
                      <a:cubicBezTo>
                        <a:pt x="101600" y="22744"/>
                        <a:pt x="78856" y="0"/>
                        <a:pt x="50800" y="0"/>
                      </a:cubicBezTo>
                      <a:cubicBezTo>
                        <a:pt x="22744" y="0"/>
                        <a:pt x="0" y="22744"/>
                        <a:pt x="0" y="50800"/>
                      </a:cubicBezTo>
                    </a:path>
                  </a:pathLst>
                </a:custGeom>
                <a:noFill/>
                <a:ln w="19050">
                  <a:solidFill>
                    <a:schemeClr val="accent3"/>
                  </a:solidFill>
                </a:ln>
              </p:spPr>
            </p:sp>
            <p:sp>
              <p:nvSpPr>
                <p:cNvPr id="17" name="Freeform 17"/>
                <p:cNvSpPr/>
                <p:nvPr/>
              </p:nvSpPr>
              <p:spPr>
                <a:xfrm>
                  <a:off x="6800850" y="2044700"/>
                  <a:ext cx="101600" cy="1016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1600" h="101600">
                      <a:moveTo>
                        <a:pt x="0" y="50800"/>
                      </a:moveTo>
                      <a:cubicBezTo>
                        <a:pt x="0" y="78856"/>
                        <a:pt x="22744" y="101600"/>
                        <a:pt x="50800" y="101600"/>
                      </a:cubicBezTo>
                      <a:cubicBezTo>
                        <a:pt x="78856" y="101600"/>
                        <a:pt x="101600" y="78856"/>
                        <a:pt x="101600" y="50800"/>
                      </a:cubicBezTo>
                      <a:cubicBezTo>
                        <a:pt x="101600" y="22744"/>
                        <a:pt x="78856" y="0"/>
                        <a:pt x="50800" y="0"/>
                      </a:cubicBezTo>
                      <a:cubicBezTo>
                        <a:pt x="22744" y="0"/>
                        <a:pt x="0" y="22744"/>
                        <a:pt x="0" y="50800"/>
                      </a:cubicBezTo>
                    </a:path>
                  </a:pathLst>
                </a:custGeom>
                <a:noFill/>
                <a:ln w="19050">
                  <a:solidFill>
                    <a:schemeClr val="accent3"/>
                  </a:solidFill>
                </a:ln>
              </p:spPr>
            </p:sp>
            <p:sp>
              <p:nvSpPr>
                <p:cNvPr id="18" name="Freeform 18"/>
                <p:cNvSpPr/>
                <p:nvPr/>
              </p:nvSpPr>
              <p:spPr>
                <a:xfrm>
                  <a:off x="6902450" y="2222501"/>
                  <a:ext cx="101600" cy="1016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1600" h="101600">
                      <a:moveTo>
                        <a:pt x="0" y="50800"/>
                      </a:moveTo>
                      <a:cubicBezTo>
                        <a:pt x="0" y="78856"/>
                        <a:pt x="22744" y="101600"/>
                        <a:pt x="50800" y="101600"/>
                      </a:cubicBezTo>
                      <a:cubicBezTo>
                        <a:pt x="78856" y="101600"/>
                        <a:pt x="101600" y="78856"/>
                        <a:pt x="101600" y="50800"/>
                      </a:cubicBezTo>
                      <a:cubicBezTo>
                        <a:pt x="101600" y="22744"/>
                        <a:pt x="78856" y="0"/>
                        <a:pt x="50800" y="0"/>
                      </a:cubicBezTo>
                      <a:cubicBezTo>
                        <a:pt x="22744" y="0"/>
                        <a:pt x="0" y="22744"/>
                        <a:pt x="0" y="50800"/>
                      </a:cubicBezTo>
                    </a:path>
                  </a:pathLst>
                </a:custGeom>
                <a:noFill/>
                <a:ln w="19050">
                  <a:solidFill>
                    <a:schemeClr val="accent3"/>
                  </a:solidFill>
                </a:ln>
              </p:spPr>
            </p:sp>
            <p:sp>
              <p:nvSpPr>
                <p:cNvPr id="19" name="Freeform 19"/>
                <p:cNvSpPr/>
                <p:nvPr/>
              </p:nvSpPr>
              <p:spPr>
                <a:xfrm>
                  <a:off x="7105651" y="2222501"/>
                  <a:ext cx="101600" cy="1016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1600" h="101600">
                      <a:moveTo>
                        <a:pt x="0" y="50800"/>
                      </a:moveTo>
                      <a:cubicBezTo>
                        <a:pt x="0" y="78856"/>
                        <a:pt x="22744" y="101600"/>
                        <a:pt x="50800" y="101600"/>
                      </a:cubicBezTo>
                      <a:cubicBezTo>
                        <a:pt x="78856" y="101600"/>
                        <a:pt x="101600" y="78856"/>
                        <a:pt x="101600" y="50800"/>
                      </a:cubicBezTo>
                      <a:cubicBezTo>
                        <a:pt x="101600" y="22744"/>
                        <a:pt x="78856" y="0"/>
                        <a:pt x="50800" y="0"/>
                      </a:cubicBezTo>
                      <a:cubicBezTo>
                        <a:pt x="22744" y="0"/>
                        <a:pt x="0" y="22744"/>
                        <a:pt x="0" y="50800"/>
                      </a:cubicBezTo>
                    </a:path>
                  </a:pathLst>
                </a:custGeom>
                <a:noFill/>
                <a:ln w="19050">
                  <a:solidFill>
                    <a:schemeClr val="accent3"/>
                  </a:solidFill>
                </a:ln>
              </p:spPr>
            </p:sp>
            <p:sp>
              <p:nvSpPr>
                <p:cNvPr id="20" name="Freeform 20"/>
                <p:cNvSpPr/>
                <p:nvPr/>
              </p:nvSpPr>
              <p:spPr>
                <a:xfrm>
                  <a:off x="6699250" y="2222501"/>
                  <a:ext cx="101600" cy="1016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1600" h="101600">
                      <a:moveTo>
                        <a:pt x="0" y="50800"/>
                      </a:moveTo>
                      <a:cubicBezTo>
                        <a:pt x="0" y="78856"/>
                        <a:pt x="22744" y="101600"/>
                        <a:pt x="50800" y="101600"/>
                      </a:cubicBezTo>
                      <a:cubicBezTo>
                        <a:pt x="78856" y="101600"/>
                        <a:pt x="101600" y="78856"/>
                        <a:pt x="101600" y="50800"/>
                      </a:cubicBezTo>
                      <a:cubicBezTo>
                        <a:pt x="101600" y="22744"/>
                        <a:pt x="78856" y="0"/>
                        <a:pt x="50800" y="0"/>
                      </a:cubicBezTo>
                      <a:cubicBezTo>
                        <a:pt x="22744" y="0"/>
                        <a:pt x="0" y="22744"/>
                        <a:pt x="0" y="50800"/>
                      </a:cubicBezTo>
                    </a:path>
                  </a:pathLst>
                </a:custGeom>
                <a:noFill/>
                <a:ln w="19050">
                  <a:solidFill>
                    <a:schemeClr val="accent3"/>
                  </a:solidFill>
                </a:ln>
              </p:spPr>
            </p:sp>
            <p:sp>
              <p:nvSpPr>
                <p:cNvPr id="21" name="Freeform 21"/>
                <p:cNvSpPr/>
                <p:nvPr/>
              </p:nvSpPr>
              <p:spPr>
                <a:xfrm>
                  <a:off x="7004050" y="2044700"/>
                  <a:ext cx="101600" cy="1016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1600" h="101600">
                      <a:moveTo>
                        <a:pt x="0" y="50800"/>
                      </a:moveTo>
                      <a:cubicBezTo>
                        <a:pt x="0" y="78856"/>
                        <a:pt x="22744" y="101600"/>
                        <a:pt x="50800" y="101600"/>
                      </a:cubicBezTo>
                      <a:cubicBezTo>
                        <a:pt x="78856" y="101600"/>
                        <a:pt x="101600" y="78856"/>
                        <a:pt x="101600" y="50800"/>
                      </a:cubicBezTo>
                      <a:cubicBezTo>
                        <a:pt x="101600" y="22744"/>
                        <a:pt x="78856" y="0"/>
                        <a:pt x="50800" y="0"/>
                      </a:cubicBezTo>
                      <a:cubicBezTo>
                        <a:pt x="22744" y="0"/>
                        <a:pt x="0" y="22744"/>
                        <a:pt x="0" y="50800"/>
                      </a:cubicBezTo>
                    </a:path>
                  </a:pathLst>
                </a:custGeom>
                <a:noFill/>
                <a:ln w="19050">
                  <a:solidFill>
                    <a:schemeClr val="accent3"/>
                  </a:solidFill>
                </a:ln>
              </p:spPr>
            </p:sp>
            <p:sp>
              <p:nvSpPr>
                <p:cNvPr id="22" name="Freeform 22"/>
                <p:cNvSpPr/>
                <p:nvPr/>
              </p:nvSpPr>
              <p:spPr>
                <a:xfrm>
                  <a:off x="6775450" y="2146300"/>
                  <a:ext cx="50800" cy="762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0800" h="76200">
                      <a:moveTo>
                        <a:pt x="0" y="76200"/>
                      </a:moveTo>
                      <a:lnTo>
                        <a:pt x="50800" y="0"/>
                      </a:lnTo>
                    </a:path>
                  </a:pathLst>
                </a:custGeom>
                <a:noFill/>
                <a:ln w="19050">
                  <a:solidFill>
                    <a:schemeClr val="accent3"/>
                  </a:solidFill>
                </a:ln>
              </p:spPr>
            </p:sp>
            <p:sp>
              <p:nvSpPr>
                <p:cNvPr id="23" name="Freeform 23"/>
                <p:cNvSpPr/>
                <p:nvPr/>
              </p:nvSpPr>
              <p:spPr>
                <a:xfrm>
                  <a:off x="6877050" y="1968500"/>
                  <a:ext cx="50800" cy="762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0800" h="76200">
                      <a:moveTo>
                        <a:pt x="0" y="76200"/>
                      </a:moveTo>
                      <a:lnTo>
                        <a:pt x="50800" y="0"/>
                      </a:lnTo>
                    </a:path>
                  </a:pathLst>
                </a:custGeom>
                <a:noFill/>
                <a:ln w="19050">
                  <a:solidFill>
                    <a:schemeClr val="accent3"/>
                  </a:solidFill>
                </a:ln>
              </p:spPr>
            </p:sp>
            <p:sp>
              <p:nvSpPr>
                <p:cNvPr id="24" name="Freeform 24"/>
                <p:cNvSpPr/>
                <p:nvPr/>
              </p:nvSpPr>
              <p:spPr>
                <a:xfrm>
                  <a:off x="6978650" y="1968500"/>
                  <a:ext cx="50800" cy="762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0800" h="76200">
                      <a:moveTo>
                        <a:pt x="0" y="0"/>
                      </a:moveTo>
                      <a:lnTo>
                        <a:pt x="50800" y="76200"/>
                      </a:lnTo>
                    </a:path>
                  </a:pathLst>
                </a:custGeom>
                <a:noFill/>
                <a:ln w="19050">
                  <a:solidFill>
                    <a:schemeClr val="accent3"/>
                  </a:solidFill>
                </a:ln>
              </p:spPr>
            </p:sp>
            <p:sp>
              <p:nvSpPr>
                <p:cNvPr id="25" name="Freeform 25"/>
                <p:cNvSpPr/>
                <p:nvPr/>
              </p:nvSpPr>
              <p:spPr>
                <a:xfrm>
                  <a:off x="7080251" y="2146300"/>
                  <a:ext cx="50800" cy="762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0800" h="76200">
                      <a:moveTo>
                        <a:pt x="0" y="0"/>
                      </a:moveTo>
                      <a:lnTo>
                        <a:pt x="50800" y="76200"/>
                      </a:lnTo>
                    </a:path>
                  </a:pathLst>
                </a:custGeom>
                <a:noFill/>
                <a:ln w="19050">
                  <a:solidFill>
                    <a:schemeClr val="accent3"/>
                  </a:solidFill>
                </a:ln>
              </p:spPr>
            </p:sp>
            <p:sp>
              <p:nvSpPr>
                <p:cNvPr id="26" name="Freeform 26"/>
                <p:cNvSpPr/>
                <p:nvPr/>
              </p:nvSpPr>
              <p:spPr>
                <a:xfrm>
                  <a:off x="6978650" y="2146300"/>
                  <a:ext cx="50800" cy="762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0800" h="76200">
                      <a:moveTo>
                        <a:pt x="50800" y="0"/>
                      </a:moveTo>
                      <a:lnTo>
                        <a:pt x="0" y="76200"/>
                      </a:lnTo>
                    </a:path>
                  </a:pathLst>
                </a:custGeom>
                <a:noFill/>
                <a:ln w="19050">
                  <a:solidFill>
                    <a:schemeClr val="accent3"/>
                  </a:solidFill>
                </a:ln>
              </p:spPr>
            </p:sp>
            <p:sp>
              <p:nvSpPr>
                <p:cNvPr id="27" name="Freeform 27"/>
                <p:cNvSpPr/>
                <p:nvPr/>
              </p:nvSpPr>
              <p:spPr>
                <a:xfrm>
                  <a:off x="6877050" y="2146300"/>
                  <a:ext cx="50800" cy="762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0800" h="76200">
                      <a:moveTo>
                        <a:pt x="0" y="0"/>
                      </a:moveTo>
                      <a:lnTo>
                        <a:pt x="50800" y="76200"/>
                      </a:lnTo>
                    </a:path>
                  </a:pathLst>
                </a:custGeom>
                <a:noFill/>
                <a:ln w="19050">
                  <a:solidFill>
                    <a:schemeClr val="accent3"/>
                  </a:solidFill>
                </a:ln>
              </p:spPr>
            </p:sp>
          </p:grpSp>
          <p:sp>
            <p:nvSpPr>
              <p:cNvPr id="29" name="TextBox 29"/>
              <p:cNvSpPr txBox="1"/>
              <p:nvPr/>
            </p:nvSpPr>
            <p:spPr>
              <a:xfrm>
                <a:off x="7472934" y="1765935"/>
                <a:ext cx="3462261" cy="52806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2700" b="1" dirty="0">
                    <a:solidFill>
                      <a:srgbClr val="2F8F6A"/>
                    </a:solidFill>
                    <a:latin typeface="+mn-lt"/>
                    <a:ea typeface="+mn-ea"/>
                    <a:cs typeface="+mn-cs"/>
                  </a:rPr>
                  <a:t>规则稳定，结果惊喜</a:t>
                </a:r>
                <a:endParaRPr lang="zh-CN" sz="2700" b="1" dirty="0">
                  <a:solidFill>
                    <a:srgbClr val="2F8F6A"/>
                  </a:solidFill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6639306" y="2472690"/>
                <a:ext cx="3653028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800" dirty="0">
                    <a:solidFill>
                      <a:schemeClr val="dk2"/>
                    </a:solidFill>
                    <a:latin typeface="+mn-lt"/>
                    <a:ea typeface="+mn-ea"/>
                    <a:cs typeface="+mn-cs"/>
                  </a:rPr>
                  <a:t>规则始终成立，惊喜来自更深用途</a:t>
                </a:r>
                <a:endParaRPr lang="zh-CN" sz="1800" dirty="0">
                  <a:solidFill>
                    <a:schemeClr val="dk2"/>
                  </a:solidFill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6639306" y="2853690"/>
                <a:ext cx="2600771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800" b="1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惊喜 ≠ 随机或自相矛盾</a:t>
                </a:r>
                <a:endParaRPr lang="zh-CN" sz="18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endParaRPr>
              </a:p>
            </p:txBody>
          </p:sp>
        </p:grpSp>
        <p:grpSp>
          <p:nvGrpSpPr>
            <p:cNvPr id="41" name="Group 41"/>
            <p:cNvGrpSpPr/>
            <p:nvPr/>
          </p:nvGrpSpPr>
          <p:grpSpPr>
            <a:xfrm>
              <a:off x="571500" y="3676650"/>
              <a:ext cx="5238750" cy="1809750"/>
              <a:chOff x="571500" y="3676650"/>
              <a:chExt cx="5238750" cy="1809750"/>
            </a:xfrm>
          </p:grpSpPr>
          <p:sp>
            <p:nvSpPr>
              <p:cNvPr id="33" name="Rectangle 33"/>
              <p:cNvSpPr/>
              <p:nvPr/>
            </p:nvSpPr>
            <p:spPr>
              <a:xfrm>
                <a:off x="571500" y="3676650"/>
                <a:ext cx="5238750" cy="1809750"/>
              </a:xfrm>
              <a:prstGeom prst="roundRect">
                <a:avLst>
                  <a:gd name="adj" fmla="val 13684"/>
                </a:avLst>
              </a:prstGeom>
              <a:solidFill>
                <a:srgbClr val="FFF0D1"/>
              </a:solidFill>
              <a:ln w="28575">
                <a:solidFill>
                  <a:schemeClr val="accent2"/>
                </a:solidFill>
              </a:ln>
            </p:spPr>
          </p:sp>
          <p:grpSp>
            <p:nvGrpSpPr>
              <p:cNvPr id="37" name="Group 37"/>
              <p:cNvGrpSpPr/>
              <p:nvPr/>
            </p:nvGrpSpPr>
            <p:grpSpPr>
              <a:xfrm>
                <a:off x="914400" y="4019550"/>
                <a:ext cx="457201" cy="457201"/>
                <a:chOff x="914400" y="4019550"/>
                <a:chExt cx="457201" cy="457201"/>
              </a:xfrm>
            </p:grpSpPr>
            <p:sp>
              <p:nvSpPr>
                <p:cNvPr id="34" name="Freeform 34"/>
                <p:cNvSpPr/>
                <p:nvPr/>
              </p:nvSpPr>
              <p:spPr>
                <a:xfrm>
                  <a:off x="914400" y="4375151"/>
                  <a:ext cx="101600" cy="1016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1600" h="101600">
                      <a:moveTo>
                        <a:pt x="0" y="50800"/>
                      </a:moveTo>
                      <a:cubicBezTo>
                        <a:pt x="0" y="78856"/>
                        <a:pt x="22744" y="101600"/>
                        <a:pt x="50800" y="101600"/>
                      </a:cubicBezTo>
                      <a:cubicBezTo>
                        <a:pt x="78856" y="101600"/>
                        <a:pt x="101600" y="78856"/>
                        <a:pt x="101600" y="50800"/>
                      </a:cubicBezTo>
                      <a:cubicBezTo>
                        <a:pt x="101600" y="22744"/>
                        <a:pt x="78856" y="0"/>
                        <a:pt x="50800" y="0"/>
                      </a:cubicBezTo>
                      <a:cubicBezTo>
                        <a:pt x="22744" y="0"/>
                        <a:pt x="0" y="22744"/>
                        <a:pt x="0" y="50800"/>
                      </a:cubicBezTo>
                    </a:path>
                  </a:pathLst>
                </a:custGeom>
                <a:noFill/>
                <a:ln w="19050">
                  <a:solidFill>
                    <a:schemeClr val="accent2"/>
                  </a:solidFill>
                </a:ln>
              </p:spPr>
            </p:sp>
            <p:sp>
              <p:nvSpPr>
                <p:cNvPr id="35" name="Freeform 35"/>
                <p:cNvSpPr/>
                <p:nvPr/>
              </p:nvSpPr>
              <p:spPr>
                <a:xfrm>
                  <a:off x="1270001" y="4019550"/>
                  <a:ext cx="101600" cy="1016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1600" h="101600">
                      <a:moveTo>
                        <a:pt x="50800" y="101600"/>
                      </a:moveTo>
                      <a:cubicBezTo>
                        <a:pt x="78856" y="101600"/>
                        <a:pt x="101600" y="78856"/>
                        <a:pt x="101600" y="50800"/>
                      </a:cubicBezTo>
                      <a:cubicBezTo>
                        <a:pt x="101600" y="22744"/>
                        <a:pt x="78856" y="0"/>
                        <a:pt x="50800" y="0"/>
                      </a:cubicBezTo>
                      <a:cubicBezTo>
                        <a:pt x="22744" y="0"/>
                        <a:pt x="0" y="22744"/>
                        <a:pt x="0" y="50800"/>
                      </a:cubicBezTo>
                      <a:cubicBezTo>
                        <a:pt x="0" y="78856"/>
                        <a:pt x="22744" y="101600"/>
                        <a:pt x="50800" y="101600"/>
                      </a:cubicBezTo>
                    </a:path>
                  </a:pathLst>
                </a:custGeom>
                <a:noFill/>
                <a:ln w="19050">
                  <a:solidFill>
                    <a:schemeClr val="accent2"/>
                  </a:solidFill>
                </a:ln>
              </p:spPr>
            </p:sp>
            <p:sp>
              <p:nvSpPr>
                <p:cNvPr id="36" name="Freeform 36"/>
                <p:cNvSpPr/>
                <p:nvPr/>
              </p:nvSpPr>
              <p:spPr>
                <a:xfrm>
                  <a:off x="965200" y="4070350"/>
                  <a:ext cx="381000" cy="3556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1000" h="355600">
                      <a:moveTo>
                        <a:pt x="152400" y="355600"/>
                      </a:moveTo>
                      <a:lnTo>
                        <a:pt x="292100" y="355600"/>
                      </a:lnTo>
                      <a:cubicBezTo>
                        <a:pt x="341199" y="355600"/>
                        <a:pt x="381000" y="315799"/>
                        <a:pt x="381000" y="266700"/>
                      </a:cubicBezTo>
                      <a:cubicBezTo>
                        <a:pt x="381000" y="217602"/>
                        <a:pt x="341199" y="177800"/>
                        <a:pt x="292100" y="177800"/>
                      </a:cubicBezTo>
                      <a:lnTo>
                        <a:pt x="88900" y="177800"/>
                      </a:lnTo>
                      <a:cubicBezTo>
                        <a:pt x="39802" y="177800"/>
                        <a:pt x="0" y="137998"/>
                        <a:pt x="0" y="88900"/>
                      </a:cubicBezTo>
                      <a:cubicBezTo>
                        <a:pt x="0" y="39802"/>
                        <a:pt x="39802" y="0"/>
                        <a:pt x="88900" y="0"/>
                      </a:cubicBezTo>
                      <a:lnTo>
                        <a:pt x="203200" y="0"/>
                      </a:lnTo>
                    </a:path>
                  </a:pathLst>
                </a:custGeom>
                <a:noFill/>
                <a:ln w="19050">
                  <a:solidFill>
                    <a:schemeClr val="accent2"/>
                  </a:solidFill>
                </a:ln>
              </p:spPr>
            </p:sp>
          </p:grpSp>
          <p:sp>
            <p:nvSpPr>
              <p:cNvPr id="38" name="TextBox 38"/>
              <p:cNvSpPr txBox="1"/>
              <p:nvPr/>
            </p:nvSpPr>
            <p:spPr>
              <a:xfrm>
                <a:off x="1662684" y="3918585"/>
                <a:ext cx="2317318" cy="52806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2700" b="1" dirty="0">
                    <a:solidFill>
                      <a:srgbClr val="8C5A00"/>
                    </a:solidFill>
                    <a:latin typeface="+mn-lt"/>
                    <a:ea typeface="+mn-ea"/>
                    <a:cs typeface="+mn-cs"/>
                  </a:rPr>
                  <a:t>交互改变局面</a:t>
                </a:r>
                <a:endParaRPr lang="zh-CN" sz="2700" b="1" dirty="0">
                  <a:solidFill>
                    <a:srgbClr val="8C5A00"/>
                  </a:solidFill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39" name="TextBox 39"/>
              <p:cNvSpPr txBox="1"/>
              <p:nvPr/>
            </p:nvSpPr>
            <p:spPr>
              <a:xfrm>
                <a:off x="829056" y="4625340"/>
                <a:ext cx="3895344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800" dirty="0">
                    <a:solidFill>
                      <a:schemeClr val="dk2"/>
                    </a:solidFill>
                    <a:latin typeface="+mn-lt"/>
                    <a:ea typeface="+mn-ea"/>
                    <a:cs typeface="+mn-cs"/>
                  </a:rPr>
                  <a:t>改变路线、状态、敌人、视角或能力</a:t>
                </a:r>
                <a:endParaRPr lang="zh-CN" sz="1800" dirty="0">
                  <a:solidFill>
                    <a:schemeClr val="dk2"/>
                  </a:solidFill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40" name="TextBox 40"/>
              <p:cNvSpPr txBox="1"/>
              <p:nvPr/>
            </p:nvSpPr>
            <p:spPr>
              <a:xfrm>
                <a:off x="829056" y="5006340"/>
                <a:ext cx="2053742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800" b="1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动作留下可见结果</a:t>
                </a:r>
                <a:endParaRPr lang="zh-CN" sz="18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endParaRPr>
              </a:p>
            </p:txBody>
          </p:sp>
        </p:grpSp>
        <p:grpSp>
          <p:nvGrpSpPr>
            <p:cNvPr id="51" name="Group 51"/>
            <p:cNvGrpSpPr/>
            <p:nvPr/>
          </p:nvGrpSpPr>
          <p:grpSpPr>
            <a:xfrm>
              <a:off x="6381750" y="3676650"/>
              <a:ext cx="5238750" cy="1809750"/>
              <a:chOff x="6381750" y="3676650"/>
              <a:chExt cx="5238750" cy="1809750"/>
            </a:xfrm>
          </p:grpSpPr>
          <p:sp>
            <p:nvSpPr>
              <p:cNvPr id="42" name="Rectangle 42"/>
              <p:cNvSpPr/>
              <p:nvPr/>
            </p:nvSpPr>
            <p:spPr>
              <a:xfrm>
                <a:off x="6381750" y="3676650"/>
                <a:ext cx="5238750" cy="1809750"/>
              </a:xfrm>
              <a:prstGeom prst="roundRect">
                <a:avLst>
                  <a:gd name="adj" fmla="val 13684"/>
                </a:avLst>
              </a:prstGeom>
              <a:solidFill>
                <a:srgbClr val="FFFFFF"/>
              </a:solidFill>
              <a:ln w="28575">
                <a:solidFill>
                  <a:srgbClr val="D85C45"/>
                </a:solidFill>
              </a:ln>
            </p:spPr>
          </p:sp>
          <p:grpSp>
            <p:nvGrpSpPr>
              <p:cNvPr id="47" name="Group 47"/>
              <p:cNvGrpSpPr/>
              <p:nvPr/>
            </p:nvGrpSpPr>
            <p:grpSpPr>
              <a:xfrm>
                <a:off x="6772985" y="4044950"/>
                <a:ext cx="360531" cy="410588"/>
                <a:chOff x="6772985" y="4044950"/>
                <a:chExt cx="360531" cy="410588"/>
              </a:xfrm>
            </p:grpSpPr>
            <p:sp>
              <p:nvSpPr>
                <p:cNvPr id="43" name="Freeform 43"/>
                <p:cNvSpPr/>
                <p:nvPr/>
              </p:nvSpPr>
              <p:spPr>
                <a:xfrm>
                  <a:off x="6772985" y="4044950"/>
                  <a:ext cx="360531" cy="41058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60531" h="410588">
                      <a:moveTo>
                        <a:pt x="2465" y="177800"/>
                      </a:moveTo>
                      <a:cubicBezTo>
                        <a:pt x="2465" y="79604"/>
                        <a:pt x="82069" y="0"/>
                        <a:pt x="180266" y="0"/>
                      </a:cubicBezTo>
                      <a:cubicBezTo>
                        <a:pt x="278462" y="0"/>
                        <a:pt x="358066" y="79604"/>
                        <a:pt x="358066" y="177800"/>
                      </a:cubicBezTo>
                      <a:lnTo>
                        <a:pt x="358066" y="355600"/>
                      </a:lnTo>
                      <a:cubicBezTo>
                        <a:pt x="360531" y="375277"/>
                        <a:pt x="349886" y="394264"/>
                        <a:pt x="331813" y="402426"/>
                      </a:cubicBezTo>
                      <a:cubicBezTo>
                        <a:pt x="313740" y="410588"/>
                        <a:pt x="292458" y="406020"/>
                        <a:pt x="279326" y="391160"/>
                      </a:cubicBezTo>
                      <a:cubicBezTo>
                        <a:pt x="271383" y="380999"/>
                        <a:pt x="259203" y="375060"/>
                        <a:pt x="246306" y="375060"/>
                      </a:cubicBezTo>
                      <a:cubicBezTo>
                        <a:pt x="233408" y="375060"/>
                        <a:pt x="221228" y="380999"/>
                        <a:pt x="213286" y="391160"/>
                      </a:cubicBezTo>
                      <a:cubicBezTo>
                        <a:pt x="205343" y="401322"/>
                        <a:pt x="193163" y="407261"/>
                        <a:pt x="180266" y="407261"/>
                      </a:cubicBezTo>
                      <a:cubicBezTo>
                        <a:pt x="167368" y="407261"/>
                        <a:pt x="155188" y="401322"/>
                        <a:pt x="147246" y="391160"/>
                      </a:cubicBezTo>
                      <a:cubicBezTo>
                        <a:pt x="139303" y="380999"/>
                        <a:pt x="127123" y="375060"/>
                        <a:pt x="114226" y="375060"/>
                      </a:cubicBezTo>
                      <a:cubicBezTo>
                        <a:pt x="101328" y="375060"/>
                        <a:pt x="89148" y="380999"/>
                        <a:pt x="81205" y="391160"/>
                      </a:cubicBezTo>
                      <a:cubicBezTo>
                        <a:pt x="68074" y="406020"/>
                        <a:pt x="46791" y="410588"/>
                        <a:pt x="28718" y="402426"/>
                      </a:cubicBezTo>
                      <a:cubicBezTo>
                        <a:pt x="10645" y="394264"/>
                        <a:pt x="0" y="375277"/>
                        <a:pt x="2465" y="355600"/>
                      </a:cubicBezTo>
                      <a:lnTo>
                        <a:pt x="2465" y="177800"/>
                      </a:lnTo>
                    </a:path>
                  </a:pathLst>
                </a:custGeom>
                <a:noFill/>
                <a:ln w="19050">
                  <a:solidFill>
                    <a:srgbClr val="D85C45"/>
                  </a:solidFill>
                </a:ln>
              </p:spPr>
            </p:sp>
            <p:sp>
              <p:nvSpPr>
                <p:cNvPr id="44" name="Freeform 44"/>
                <p:cNvSpPr/>
                <p:nvPr/>
              </p:nvSpPr>
              <p:spPr>
                <a:xfrm>
                  <a:off x="6902450" y="4197350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254" y="0"/>
                      </a:lnTo>
                    </a:path>
                  </a:pathLst>
                </a:custGeom>
                <a:noFill/>
                <a:ln w="19050">
                  <a:solidFill>
                    <a:srgbClr val="D85C45"/>
                  </a:solidFill>
                </a:ln>
              </p:spPr>
            </p:sp>
            <p:sp>
              <p:nvSpPr>
                <p:cNvPr id="45" name="Freeform 45"/>
                <p:cNvSpPr/>
                <p:nvPr/>
              </p:nvSpPr>
              <p:spPr>
                <a:xfrm>
                  <a:off x="7004050" y="4197350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254" y="0"/>
                      </a:lnTo>
                    </a:path>
                  </a:pathLst>
                </a:custGeom>
                <a:noFill/>
                <a:ln w="19050">
                  <a:solidFill>
                    <a:srgbClr val="D85C45"/>
                  </a:solidFill>
                </a:ln>
              </p:spPr>
            </p:sp>
            <p:sp>
              <p:nvSpPr>
                <p:cNvPr id="46" name="Freeform 46"/>
                <p:cNvSpPr/>
                <p:nvPr/>
              </p:nvSpPr>
              <p:spPr>
                <a:xfrm>
                  <a:off x="6902450" y="4298950"/>
                  <a:ext cx="101600" cy="2125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1600" h="21259">
                      <a:moveTo>
                        <a:pt x="0" y="0"/>
                      </a:moveTo>
                      <a:cubicBezTo>
                        <a:pt x="30531" y="21259"/>
                        <a:pt x="71070" y="21259"/>
                        <a:pt x="101600" y="0"/>
                      </a:cubicBezTo>
                    </a:path>
                  </a:pathLst>
                </a:custGeom>
                <a:noFill/>
                <a:ln w="19050">
                  <a:solidFill>
                    <a:srgbClr val="D85C45"/>
                  </a:solidFill>
                </a:ln>
              </p:spPr>
            </p:sp>
          </p:grpSp>
          <p:sp>
            <p:nvSpPr>
              <p:cNvPr id="48" name="TextBox 48"/>
              <p:cNvSpPr txBox="1"/>
              <p:nvPr/>
            </p:nvSpPr>
            <p:spPr>
              <a:xfrm>
                <a:off x="7472934" y="3918585"/>
                <a:ext cx="2698966" cy="52806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2700" b="1" dirty="0">
                    <a:solidFill>
                      <a:srgbClr val="D85C45"/>
                    </a:solidFill>
                    <a:latin typeface="+mn-lt"/>
                    <a:ea typeface="+mn-ea"/>
                    <a:cs typeface="+mn-cs"/>
                  </a:rPr>
                  <a:t>允许合理地乱玩</a:t>
                </a:r>
                <a:endParaRPr lang="zh-CN" sz="2700" b="1" dirty="0">
                  <a:solidFill>
                    <a:srgbClr val="D85C45"/>
                  </a:solidFill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49" name="TextBox 49"/>
              <p:cNvSpPr txBox="1"/>
              <p:nvPr/>
            </p:nvSpPr>
            <p:spPr>
              <a:xfrm>
                <a:off x="6639306" y="4625340"/>
                <a:ext cx="4101998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800" dirty="0">
                    <a:solidFill>
                      <a:schemeClr val="dk2"/>
                    </a:solidFill>
                    <a:latin typeface="+mn-lt"/>
                    <a:ea typeface="+mn-ea"/>
                    <a:cs typeface="+mn-cs"/>
                  </a:rPr>
                  <a:t>快速开关、堵住 NPC、拿机制去战斗</a:t>
                </a:r>
                <a:endParaRPr lang="zh-CN" sz="1800" dirty="0">
                  <a:solidFill>
                    <a:schemeClr val="dk2"/>
                  </a:solidFill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50" name="TextBox 50"/>
              <p:cNvSpPr txBox="1"/>
              <p:nvPr/>
            </p:nvSpPr>
            <p:spPr>
              <a:xfrm>
                <a:off x="6639306" y="5006340"/>
                <a:ext cx="3071470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800" b="1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不必都有奖励，至少别崩坏</a:t>
                </a:r>
                <a:endParaRPr lang="zh-CN" sz="18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56" name="Group 56"/>
          <p:cNvGrpSpPr/>
          <p:nvPr/>
        </p:nvGrpSpPr>
        <p:grpSpPr>
          <a:xfrm>
            <a:off x="552450" y="6353175"/>
            <a:ext cx="11055858" cy="432626"/>
            <a:chOff x="552450" y="6353175"/>
            <a:chExt cx="11055858" cy="432626"/>
          </a:xfrm>
        </p:grpSpPr>
        <p:sp>
          <p:nvSpPr>
            <p:cNvPr id="53" name="Line 53"/>
            <p:cNvSpPr/>
            <p:nvPr/>
          </p:nvSpPr>
          <p:spPr>
            <a:xfrm>
              <a:off x="552450" y="6353175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19050">
              <a:solidFill>
                <a:schemeClr val="accent4"/>
              </a:solidFill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11394681" y="6521768"/>
              <a:ext cx="2136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04</a:t>
              </a:r>
              <a:endParaRPr lang="en-US" sz="135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52450" y="270510"/>
            <a:ext cx="11235019" cy="8191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4200" b="1" dirty="0">
                <a:solidFill>
                  <a:schemeClr val="dk1"/>
                </a:solidFill>
                <a:latin typeface="+mj-lt"/>
                <a:ea typeface="+mj-ea"/>
                <a:cs typeface="+mj-cs"/>
              </a:rPr>
              <a:t>《半衰期 2》：重力枪把环境变成武器库</a:t>
            </a:r>
            <a:endParaRPr lang="zh-CN" sz="4200" b="1" dirty="0">
              <a:solidFill>
                <a:schemeClr val="dk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3" name="TextBox 3"/>
          <p:cNvSpPr txBox="1"/>
          <p:nvPr/>
        </p:nvSpPr>
        <p:spPr>
          <a:xfrm>
            <a:off x="581406" y="986790"/>
            <a:ext cx="3677260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800" dirty="0">
                <a:solidFill>
                  <a:schemeClr val="dk2"/>
                </a:solidFill>
                <a:latin typeface="+mn-lt"/>
                <a:ea typeface="+mn-ea"/>
                <a:cs typeface="+mn-cs"/>
              </a:rPr>
              <a:t>房间里的“装饰”开始拥有战术价值</a:t>
            </a:r>
            <a:endParaRPr lang="zh-CN" sz="1800" dirty="0">
              <a:solidFill>
                <a:schemeClr val="dk2"/>
              </a:solidFill>
              <a:latin typeface="+mn-lt"/>
              <a:ea typeface="+mn-ea"/>
              <a:cs typeface="+mn-cs"/>
            </a:endParaRPr>
          </a:p>
        </p:txBody>
      </p:sp>
      <p:grpSp>
        <p:nvGrpSpPr>
          <p:cNvPr id="37" name="Group 37"/>
          <p:cNvGrpSpPr/>
          <p:nvPr/>
        </p:nvGrpSpPr>
        <p:grpSpPr>
          <a:xfrm>
            <a:off x="571500" y="1504950"/>
            <a:ext cx="11049000" cy="4243959"/>
            <a:chOff x="571500" y="1504950"/>
            <a:chExt cx="11049000" cy="4243959"/>
          </a:xfrm>
        </p:grpSpPr>
        <p:sp>
          <p:nvSpPr>
            <p:cNvPr id="4" name="Rectangle 4"/>
            <p:cNvSpPr/>
            <p:nvPr/>
          </p:nvSpPr>
          <p:spPr>
            <a:xfrm>
              <a:off x="571500" y="1504950"/>
              <a:ext cx="11049000" cy="4210050"/>
            </a:xfrm>
            <a:prstGeom prst="roundRect">
              <a:avLst>
                <a:gd name="adj" fmla="val 6335"/>
              </a:avLst>
            </a:prstGeom>
            <a:solidFill>
              <a:srgbClr val="FFF9E9"/>
            </a:solidFill>
            <a:ln w="28575">
              <a:solidFill>
                <a:schemeClr val="accent4"/>
              </a:solidFill>
            </a:ln>
          </p:spPr>
        </p:sp>
        <p:grpSp>
          <p:nvGrpSpPr>
            <p:cNvPr id="11" name="Group 11"/>
            <p:cNvGrpSpPr/>
            <p:nvPr/>
          </p:nvGrpSpPr>
          <p:grpSpPr>
            <a:xfrm>
              <a:off x="819150" y="1771650"/>
              <a:ext cx="3238500" cy="3371850"/>
              <a:chOff x="819150" y="1771650"/>
              <a:chExt cx="3238500" cy="3371850"/>
            </a:xfrm>
          </p:grpSpPr>
          <p:sp>
            <p:nvSpPr>
              <p:cNvPr id="5" name="Rectangle 5"/>
              <p:cNvSpPr/>
              <p:nvPr/>
            </p:nvSpPr>
            <p:spPr>
              <a:xfrm>
                <a:off x="819150" y="1771650"/>
                <a:ext cx="3238500" cy="3371850"/>
              </a:xfrm>
              <a:prstGeom prst="roundRect">
                <a:avLst>
                  <a:gd name="adj" fmla="val 6471"/>
                </a:avLst>
              </a:prstGeom>
              <a:solidFill>
                <a:srgbClr val="EAF0FA"/>
              </a:solidFill>
              <a:ln w="28575">
                <a:solidFill>
                  <a:schemeClr val="accent1"/>
                </a:solidFill>
              </a:ln>
            </p:spPr>
          </p:sp>
          <p:sp>
            <p:nvSpPr>
              <p:cNvPr id="6" name="Freeform 6"/>
              <p:cNvSpPr/>
              <p:nvPr/>
            </p:nvSpPr>
            <p:spPr>
              <a:xfrm>
                <a:off x="2197100" y="2197100"/>
                <a:ext cx="482526" cy="482526"/>
              </a:xfrm>
              <a:custGeom>
                <a:avLst/>
                <a:gdLst/>
                <a:ahLst/>
                <a:cxnLst/>
                <a:rect l="l" t="t" r="r" b="b"/>
                <a:pathLst>
                  <a:path w="482526" h="482526">
                    <a:moveTo>
                      <a:pt x="117755" y="409094"/>
                    </a:moveTo>
                    <a:cubicBezTo>
                      <a:pt x="121040" y="423852"/>
                      <a:pt x="133152" y="435014"/>
                      <a:pt x="148128" y="437084"/>
                    </a:cubicBezTo>
                    <a:cubicBezTo>
                      <a:pt x="163105" y="439155"/>
                      <a:pt x="177791" y="431698"/>
                      <a:pt x="184957" y="418384"/>
                    </a:cubicBezTo>
                    <a:lnTo>
                      <a:pt x="247996" y="325092"/>
                    </a:lnTo>
                    <a:lnTo>
                      <a:pt x="396004" y="473099"/>
                    </a:lnTo>
                    <a:cubicBezTo>
                      <a:pt x="402039" y="479135"/>
                      <a:pt x="410226" y="482526"/>
                      <a:pt x="418762" y="482526"/>
                    </a:cubicBezTo>
                    <a:cubicBezTo>
                      <a:pt x="427297" y="482526"/>
                      <a:pt x="435484" y="479135"/>
                      <a:pt x="441519" y="473099"/>
                    </a:cubicBezTo>
                    <a:lnTo>
                      <a:pt x="473099" y="441519"/>
                    </a:lnTo>
                    <a:cubicBezTo>
                      <a:pt x="479135" y="435484"/>
                      <a:pt x="482526" y="427297"/>
                      <a:pt x="482526" y="418762"/>
                    </a:cubicBezTo>
                    <a:cubicBezTo>
                      <a:pt x="482526" y="410226"/>
                      <a:pt x="479135" y="402039"/>
                      <a:pt x="473099" y="396004"/>
                    </a:cubicBezTo>
                    <a:lnTo>
                      <a:pt x="325092" y="247996"/>
                    </a:lnTo>
                    <a:lnTo>
                      <a:pt x="418988" y="184957"/>
                    </a:lnTo>
                    <a:cubicBezTo>
                      <a:pt x="432301" y="177786"/>
                      <a:pt x="439754" y="163095"/>
                      <a:pt x="437676" y="148117"/>
                    </a:cubicBezTo>
                    <a:cubicBezTo>
                      <a:pt x="435599" y="133139"/>
                      <a:pt x="424430" y="121031"/>
                      <a:pt x="409668" y="117755"/>
                    </a:cubicBezTo>
                    <a:lnTo>
                      <a:pt x="0" y="0"/>
                    </a:lnTo>
                    <a:lnTo>
                      <a:pt x="117755" y="409094"/>
                    </a:lnTo>
                  </a:path>
                </a:pathLst>
              </a:custGeom>
              <a:noFill/>
              <a:ln w="19050">
                <a:solidFill>
                  <a:schemeClr val="accent1"/>
                </a:solidFill>
              </a:ln>
            </p:spPr>
          </p:sp>
          <p:sp>
            <p:nvSpPr>
              <p:cNvPr id="7" name="TextBox 7"/>
              <p:cNvSpPr txBox="1"/>
              <p:nvPr/>
            </p:nvSpPr>
            <p:spPr>
              <a:xfrm>
                <a:off x="2043036" y="2985135"/>
                <a:ext cx="790727" cy="52806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2700" b="1" dirty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rPr>
                  <a:t>吸取</a:t>
                </a:r>
                <a:endParaRPr lang="zh-CN" sz="27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8" name="TextBox 8"/>
              <p:cNvSpPr txBox="1"/>
              <p:nvPr/>
            </p:nvSpPr>
            <p:spPr>
              <a:xfrm>
                <a:off x="1076706" y="3615690"/>
                <a:ext cx="2639568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800" dirty="0">
                    <a:solidFill>
                      <a:schemeClr val="dk2"/>
                    </a:solidFill>
                    <a:latin typeface="+mn-lt"/>
                    <a:ea typeface="+mn-ea"/>
                    <a:cs typeface="+mn-cs"/>
                  </a:rPr>
                  <a:t>射线命中可抓 Rigidbody</a:t>
                </a:r>
                <a:endParaRPr lang="zh-CN" sz="1800" dirty="0">
                  <a:solidFill>
                    <a:schemeClr val="dk2"/>
                  </a:solidFill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9" name="TextBox 9"/>
              <p:cNvSpPr txBox="1"/>
              <p:nvPr/>
            </p:nvSpPr>
            <p:spPr>
              <a:xfrm>
                <a:off x="1076706" y="4015740"/>
                <a:ext cx="2199132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800" dirty="0">
                    <a:solidFill>
                      <a:schemeClr val="dk2"/>
                    </a:solidFill>
                    <a:latin typeface="+mn-lt"/>
                    <a:ea typeface="+mn-ea"/>
                    <a:cs typeface="+mn-cs"/>
                  </a:rPr>
                  <a:t>质量与标签限制目标</a:t>
                </a:r>
                <a:endParaRPr lang="zh-CN" sz="1800" dirty="0">
                  <a:solidFill>
                    <a:schemeClr val="dk2"/>
                  </a:solidFill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10" name="TextBox 10"/>
              <p:cNvSpPr txBox="1"/>
              <p:nvPr/>
            </p:nvSpPr>
            <p:spPr>
              <a:xfrm>
                <a:off x="1076706" y="4415790"/>
                <a:ext cx="1956816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800" dirty="0">
                    <a:solidFill>
                      <a:schemeClr val="dk2"/>
                    </a:solidFill>
                    <a:latin typeface="+mn-lt"/>
                    <a:ea typeface="+mn-ea"/>
                    <a:cs typeface="+mn-cs"/>
                  </a:rPr>
                  <a:t>建立当前抓取引用</a:t>
                </a:r>
                <a:endParaRPr lang="zh-CN" sz="1800" dirty="0">
                  <a:solidFill>
                    <a:schemeClr val="dk2"/>
                  </a:solidFill>
                  <a:latin typeface="+mn-lt"/>
                  <a:ea typeface="+mn-ea"/>
                  <a:cs typeface="+mn-cs"/>
                </a:endParaRPr>
              </a:p>
            </p:txBody>
          </p:sp>
        </p:grpSp>
        <p:sp>
          <p:nvSpPr>
            <p:cNvPr id="12" name="Freeform 12"/>
            <p:cNvSpPr/>
            <p:nvPr/>
          </p:nvSpPr>
          <p:spPr>
            <a:xfrm>
              <a:off x="4210050" y="3257550"/>
              <a:ext cx="647700" cy="381000"/>
            </a:xfrm>
            <a:custGeom>
              <a:avLst/>
              <a:gdLst/>
              <a:ahLst/>
              <a:cxnLst/>
              <a:rect l="l" t="t" r="r" b="b"/>
              <a:pathLst>
                <a:path w="647700" h="381000">
                  <a:moveTo>
                    <a:pt x="0" y="190500"/>
                  </a:moveTo>
                  <a:lnTo>
                    <a:pt x="304800" y="190500"/>
                  </a:lnTo>
                  <a:lnTo>
                    <a:pt x="304800" y="0"/>
                  </a:lnTo>
                  <a:lnTo>
                    <a:pt x="647700" y="190500"/>
                  </a:lnTo>
                  <a:lnTo>
                    <a:pt x="304800" y="381000"/>
                  </a:lnTo>
                  <a:lnTo>
                    <a:pt x="304800" y="190500"/>
                  </a:lnTo>
                </a:path>
              </a:pathLst>
            </a:custGeom>
            <a:solidFill>
              <a:schemeClr val="accent4"/>
            </a:solidFill>
            <a:ln>
              <a:noFill/>
            </a:ln>
          </p:spPr>
        </p:sp>
        <p:grpSp>
          <p:nvGrpSpPr>
            <p:cNvPr id="24" name="Group 24"/>
            <p:cNvGrpSpPr/>
            <p:nvPr/>
          </p:nvGrpSpPr>
          <p:grpSpPr>
            <a:xfrm>
              <a:off x="4476750" y="1771650"/>
              <a:ext cx="3605689" cy="3371850"/>
              <a:chOff x="4476750" y="1771650"/>
              <a:chExt cx="3605689" cy="3371850"/>
            </a:xfrm>
          </p:grpSpPr>
          <p:sp>
            <p:nvSpPr>
              <p:cNvPr id="13" name="Rectangle 13"/>
              <p:cNvSpPr/>
              <p:nvPr/>
            </p:nvSpPr>
            <p:spPr>
              <a:xfrm>
                <a:off x="4476750" y="1771650"/>
                <a:ext cx="3238500" cy="3371850"/>
              </a:xfrm>
              <a:prstGeom prst="roundRect">
                <a:avLst>
                  <a:gd name="adj" fmla="val 6471"/>
                </a:avLst>
              </a:prstGeom>
              <a:solidFill>
                <a:srgbClr val="E8F5F0"/>
              </a:solidFill>
              <a:ln w="28575">
                <a:solidFill>
                  <a:schemeClr val="accent3"/>
                </a:solidFill>
              </a:ln>
            </p:spPr>
          </p:sp>
          <p:grpSp>
            <p:nvGrpSpPr>
              <p:cNvPr id="19" name="Group 19"/>
              <p:cNvGrpSpPr/>
              <p:nvPr/>
            </p:nvGrpSpPr>
            <p:grpSpPr>
              <a:xfrm>
                <a:off x="5854700" y="2166938"/>
                <a:ext cx="482601" cy="542926"/>
                <a:chOff x="5854700" y="2166938"/>
                <a:chExt cx="482601" cy="542926"/>
              </a:xfrm>
            </p:grpSpPr>
            <p:sp>
              <p:nvSpPr>
                <p:cNvPr id="14" name="Freeform 14"/>
                <p:cNvSpPr/>
                <p:nvPr/>
              </p:nvSpPr>
              <p:spPr>
                <a:xfrm>
                  <a:off x="5854700" y="2166938"/>
                  <a:ext cx="482601" cy="54292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2601" h="542926">
                      <a:moveTo>
                        <a:pt x="241300" y="0"/>
                      </a:moveTo>
                      <a:lnTo>
                        <a:pt x="482601" y="135731"/>
                      </a:lnTo>
                      <a:lnTo>
                        <a:pt x="482601" y="407194"/>
                      </a:lnTo>
                      <a:lnTo>
                        <a:pt x="241300" y="542926"/>
                      </a:lnTo>
                      <a:lnTo>
                        <a:pt x="0" y="407194"/>
                      </a:lnTo>
                      <a:lnTo>
                        <a:pt x="0" y="135731"/>
                      </a:lnTo>
                      <a:lnTo>
                        <a:pt x="241300" y="0"/>
                      </a:lnTo>
                    </a:path>
                  </a:pathLst>
                </a:custGeom>
                <a:noFill/>
                <a:ln w="19050">
                  <a:solidFill>
                    <a:schemeClr val="accent3"/>
                  </a:solidFill>
                </a:ln>
              </p:spPr>
            </p:sp>
            <p:sp>
              <p:nvSpPr>
                <p:cNvPr id="15" name="Freeform 15"/>
                <p:cNvSpPr/>
                <p:nvPr/>
              </p:nvSpPr>
              <p:spPr>
                <a:xfrm>
                  <a:off x="6096000" y="2302669"/>
                  <a:ext cx="241300" cy="1357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41300" h="135731">
                      <a:moveTo>
                        <a:pt x="0" y="135731"/>
                      </a:moveTo>
                      <a:lnTo>
                        <a:pt x="241300" y="0"/>
                      </a:lnTo>
                    </a:path>
                  </a:pathLst>
                </a:custGeom>
                <a:noFill/>
                <a:ln w="19050">
                  <a:solidFill>
                    <a:schemeClr val="accent3"/>
                  </a:solidFill>
                </a:ln>
              </p:spPr>
            </p:sp>
            <p:sp>
              <p:nvSpPr>
                <p:cNvPr id="16" name="Freeform 16"/>
                <p:cNvSpPr/>
                <p:nvPr/>
              </p:nvSpPr>
              <p:spPr>
                <a:xfrm>
                  <a:off x="6096000" y="2438400"/>
                  <a:ext cx="9525" cy="27146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271463">
                      <a:moveTo>
                        <a:pt x="0" y="0"/>
                      </a:moveTo>
                      <a:lnTo>
                        <a:pt x="0" y="271463"/>
                      </a:lnTo>
                    </a:path>
                  </a:pathLst>
                </a:custGeom>
                <a:noFill/>
                <a:ln w="19050">
                  <a:solidFill>
                    <a:schemeClr val="accent3"/>
                  </a:solidFill>
                </a:ln>
              </p:spPr>
            </p:sp>
            <p:sp>
              <p:nvSpPr>
                <p:cNvPr id="17" name="Freeform 17"/>
                <p:cNvSpPr/>
                <p:nvPr/>
              </p:nvSpPr>
              <p:spPr>
                <a:xfrm>
                  <a:off x="5854700" y="2302669"/>
                  <a:ext cx="241300" cy="1357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41300" h="135731">
                      <a:moveTo>
                        <a:pt x="241300" y="135731"/>
                      </a:moveTo>
                      <a:lnTo>
                        <a:pt x="0" y="0"/>
                      </a:lnTo>
                    </a:path>
                  </a:pathLst>
                </a:custGeom>
                <a:noFill/>
                <a:ln w="19050">
                  <a:solidFill>
                    <a:schemeClr val="accent3"/>
                  </a:solidFill>
                </a:ln>
              </p:spPr>
            </p:sp>
            <p:sp>
              <p:nvSpPr>
                <p:cNvPr id="18" name="Freeform 18"/>
                <p:cNvSpPr/>
                <p:nvPr/>
              </p:nvSpPr>
              <p:spPr>
                <a:xfrm>
                  <a:off x="5975350" y="2234803"/>
                  <a:ext cx="241300" cy="1357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41300" h="135731">
                      <a:moveTo>
                        <a:pt x="241300" y="0"/>
                      </a:moveTo>
                      <a:lnTo>
                        <a:pt x="0" y="135731"/>
                      </a:lnTo>
                    </a:path>
                  </a:pathLst>
                </a:custGeom>
                <a:noFill/>
                <a:ln w="19050">
                  <a:solidFill>
                    <a:schemeClr val="accent3"/>
                  </a:solidFill>
                </a:ln>
              </p:spPr>
            </p:sp>
          </p:grpSp>
          <p:sp>
            <p:nvSpPr>
              <p:cNvPr id="20" name="TextBox 20"/>
              <p:cNvSpPr txBox="1"/>
              <p:nvPr/>
            </p:nvSpPr>
            <p:spPr>
              <a:xfrm>
                <a:off x="5318989" y="2985135"/>
                <a:ext cx="1554023" cy="52806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2700" b="1" dirty="0">
                    <a:solidFill>
                      <a:srgbClr val="2F8F6A"/>
                    </a:solidFill>
                    <a:latin typeface="+mn-lt"/>
                    <a:ea typeface="+mn-ea"/>
                    <a:cs typeface="+mn-cs"/>
                  </a:rPr>
                  <a:t>悬浮持有</a:t>
                </a:r>
                <a:endParaRPr lang="zh-CN" sz="2700" b="1" dirty="0">
                  <a:solidFill>
                    <a:srgbClr val="2F8F6A"/>
                  </a:solidFill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21" name="TextBox 21"/>
              <p:cNvSpPr txBox="1"/>
              <p:nvPr/>
            </p:nvSpPr>
            <p:spPr>
              <a:xfrm>
                <a:off x="4734306" y="3615690"/>
                <a:ext cx="2444496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800" dirty="0">
                    <a:solidFill>
                      <a:schemeClr val="dk2"/>
                    </a:solidFill>
                    <a:latin typeface="+mn-lt"/>
                    <a:ea typeface="+mn-ea"/>
                    <a:cs typeface="+mn-cs"/>
                  </a:rPr>
                  <a:t>原型：Kinematic 跟随</a:t>
                </a:r>
                <a:endParaRPr lang="zh-CN" sz="1800" dirty="0">
                  <a:solidFill>
                    <a:schemeClr val="dk2"/>
                  </a:solidFill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22" name="TextBox 22"/>
              <p:cNvSpPr txBox="1"/>
              <p:nvPr/>
            </p:nvSpPr>
            <p:spPr>
              <a:xfrm>
                <a:off x="4734306" y="4015740"/>
                <a:ext cx="3348133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800" dirty="0">
                    <a:solidFill>
                      <a:schemeClr val="dk2"/>
                    </a:solidFill>
                    <a:latin typeface="+mn-lt"/>
                    <a:ea typeface="+mn-ea"/>
                    <a:cs typeface="+mn-cs"/>
                  </a:rPr>
                  <a:t>进阶：弹簧力 / PD Controller</a:t>
                </a:r>
                <a:endParaRPr lang="zh-CN" sz="1800" dirty="0">
                  <a:solidFill>
                    <a:schemeClr val="dk2"/>
                  </a:solidFill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23" name="TextBox 23"/>
              <p:cNvSpPr txBox="1"/>
              <p:nvPr/>
            </p:nvSpPr>
            <p:spPr>
              <a:xfrm>
                <a:off x="4734306" y="4415790"/>
                <a:ext cx="2441448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800" dirty="0">
                    <a:solidFill>
                      <a:schemeClr val="dk2"/>
                    </a:solidFill>
                    <a:latin typeface="+mn-lt"/>
                    <a:ea typeface="+mn-ea"/>
                    <a:cs typeface="+mn-cs"/>
                  </a:rPr>
                  <a:t>限制最大力，避免抖动</a:t>
                </a:r>
                <a:endParaRPr lang="zh-CN" sz="1800" dirty="0">
                  <a:solidFill>
                    <a:schemeClr val="dk2"/>
                  </a:solidFill>
                  <a:latin typeface="+mn-lt"/>
                  <a:ea typeface="+mn-ea"/>
                  <a:cs typeface="+mn-cs"/>
                </a:endParaRPr>
              </a:p>
            </p:txBody>
          </p:sp>
        </p:grpSp>
        <p:sp>
          <p:nvSpPr>
            <p:cNvPr id="25" name="Freeform 25"/>
            <p:cNvSpPr/>
            <p:nvPr/>
          </p:nvSpPr>
          <p:spPr>
            <a:xfrm>
              <a:off x="7867650" y="3257550"/>
              <a:ext cx="647700" cy="381000"/>
            </a:xfrm>
            <a:custGeom>
              <a:avLst/>
              <a:gdLst/>
              <a:ahLst/>
              <a:cxnLst/>
              <a:rect l="l" t="t" r="r" b="b"/>
              <a:pathLst>
                <a:path w="647700" h="381000">
                  <a:moveTo>
                    <a:pt x="0" y="190500"/>
                  </a:moveTo>
                  <a:lnTo>
                    <a:pt x="304800" y="190500"/>
                  </a:lnTo>
                  <a:lnTo>
                    <a:pt x="304800" y="0"/>
                  </a:lnTo>
                  <a:lnTo>
                    <a:pt x="647700" y="190500"/>
                  </a:lnTo>
                  <a:lnTo>
                    <a:pt x="304800" y="381000"/>
                  </a:lnTo>
                  <a:lnTo>
                    <a:pt x="304800" y="190500"/>
                  </a:lnTo>
                </a:path>
              </a:pathLst>
            </a:custGeom>
            <a:solidFill>
              <a:schemeClr val="accent4"/>
            </a:solidFill>
            <a:ln>
              <a:noFill/>
            </a:ln>
          </p:spPr>
        </p:sp>
        <p:grpSp>
          <p:nvGrpSpPr>
            <p:cNvPr id="34" name="Group 34"/>
            <p:cNvGrpSpPr/>
            <p:nvPr/>
          </p:nvGrpSpPr>
          <p:grpSpPr>
            <a:xfrm>
              <a:off x="8134350" y="1771650"/>
              <a:ext cx="3238500" cy="3371850"/>
              <a:chOff x="8134350" y="1771650"/>
              <a:chExt cx="3238500" cy="3371850"/>
            </a:xfrm>
          </p:grpSpPr>
          <p:sp>
            <p:nvSpPr>
              <p:cNvPr id="26" name="Rectangle 26"/>
              <p:cNvSpPr/>
              <p:nvPr/>
            </p:nvSpPr>
            <p:spPr>
              <a:xfrm>
                <a:off x="8134350" y="1771650"/>
                <a:ext cx="3238500" cy="3371850"/>
              </a:xfrm>
              <a:prstGeom prst="roundRect">
                <a:avLst>
                  <a:gd name="adj" fmla="val 6471"/>
                </a:avLst>
              </a:prstGeom>
              <a:solidFill>
                <a:srgbClr val="FFF0D1"/>
              </a:solidFill>
              <a:ln w="28575">
                <a:solidFill>
                  <a:schemeClr val="accent2"/>
                </a:solidFill>
              </a:ln>
            </p:spPr>
          </p:sp>
          <p:grpSp>
            <p:nvGrpSpPr>
              <p:cNvPr id="29" name="Group 29"/>
              <p:cNvGrpSpPr/>
              <p:nvPr/>
            </p:nvGrpSpPr>
            <p:grpSpPr>
              <a:xfrm>
                <a:off x="9482138" y="2257425"/>
                <a:ext cx="542925" cy="361950"/>
                <a:chOff x="9482138" y="2257425"/>
                <a:chExt cx="542925" cy="361950"/>
              </a:xfrm>
            </p:grpSpPr>
            <p:sp>
              <p:nvSpPr>
                <p:cNvPr id="27" name="Freeform 27"/>
                <p:cNvSpPr/>
                <p:nvPr/>
              </p:nvSpPr>
              <p:spPr>
                <a:xfrm>
                  <a:off x="9602788" y="2257425"/>
                  <a:ext cx="422275" cy="1206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22275" h="120650">
                      <a:moveTo>
                        <a:pt x="0" y="120650"/>
                      </a:moveTo>
                      <a:lnTo>
                        <a:pt x="422275" y="120650"/>
                      </a:lnTo>
                      <a:lnTo>
                        <a:pt x="301625" y="0"/>
                      </a:lnTo>
                    </a:path>
                  </a:pathLst>
                </a:custGeom>
                <a:noFill/>
                <a:ln w="19050">
                  <a:solidFill>
                    <a:schemeClr val="accent2"/>
                  </a:solidFill>
                </a:ln>
              </p:spPr>
            </p:sp>
            <p:sp>
              <p:nvSpPr>
                <p:cNvPr id="28" name="Freeform 28"/>
                <p:cNvSpPr/>
                <p:nvPr/>
              </p:nvSpPr>
              <p:spPr>
                <a:xfrm>
                  <a:off x="9482138" y="2498725"/>
                  <a:ext cx="422275" cy="1206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22275" h="120650">
                      <a:moveTo>
                        <a:pt x="422275" y="0"/>
                      </a:moveTo>
                      <a:lnTo>
                        <a:pt x="0" y="0"/>
                      </a:lnTo>
                      <a:lnTo>
                        <a:pt x="120650" y="120650"/>
                      </a:lnTo>
                    </a:path>
                  </a:pathLst>
                </a:custGeom>
                <a:noFill/>
                <a:ln w="19050">
                  <a:solidFill>
                    <a:schemeClr val="accent2"/>
                  </a:solidFill>
                </a:ln>
              </p:spPr>
            </p:sp>
          </p:grpSp>
          <p:sp>
            <p:nvSpPr>
              <p:cNvPr id="30" name="TextBox 30"/>
              <p:cNvSpPr txBox="1"/>
              <p:nvPr/>
            </p:nvSpPr>
            <p:spPr>
              <a:xfrm>
                <a:off x="9358236" y="2985135"/>
                <a:ext cx="790727" cy="52806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2700" b="1" dirty="0">
                    <a:solidFill>
                      <a:srgbClr val="8C5A00"/>
                    </a:solidFill>
                    <a:latin typeface="+mn-lt"/>
                    <a:ea typeface="+mn-ea"/>
                    <a:cs typeface="+mn-cs"/>
                  </a:rPr>
                  <a:t>发射</a:t>
                </a:r>
                <a:endParaRPr lang="zh-CN" sz="2700" b="1" dirty="0">
                  <a:solidFill>
                    <a:srgbClr val="8C5A00"/>
                  </a:solidFill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8391906" y="3615690"/>
                <a:ext cx="1472184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800" dirty="0">
                    <a:solidFill>
                      <a:schemeClr val="dk2"/>
                    </a:solidFill>
                    <a:latin typeface="+mn-lt"/>
                    <a:ea typeface="+mn-ea"/>
                    <a:cs typeface="+mn-cs"/>
                  </a:rPr>
                  <a:t>解除持有状态</a:t>
                </a:r>
                <a:endParaRPr lang="zh-CN" sz="1800" dirty="0">
                  <a:solidFill>
                    <a:schemeClr val="dk2"/>
                  </a:solidFill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391906" y="4015740"/>
                <a:ext cx="2848722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800" dirty="0">
                    <a:solidFill>
                      <a:schemeClr val="dk2"/>
                    </a:solidFill>
                    <a:latin typeface="Consolas" panose="020B0609020204030204"/>
                    <a:ea typeface="Consolas" panose="020B0609020204030204"/>
                    <a:cs typeface="Consolas" panose="020B0609020204030204"/>
                  </a:rPr>
                  <a:t>AddForce(..., Impulse)</a:t>
                </a:r>
                <a:endParaRPr lang="en-US" sz="1800" dirty="0">
                  <a:solidFill>
                    <a:schemeClr val="dk2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endParaRP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8391906" y="4415790"/>
                <a:ext cx="2199132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800" dirty="0">
                    <a:solidFill>
                      <a:schemeClr val="dk2"/>
                    </a:solidFill>
                    <a:latin typeface="+mn-lt"/>
                    <a:ea typeface="+mn-ea"/>
                    <a:cs typeface="+mn-cs"/>
                  </a:rPr>
                  <a:t>质量影响速度与威力</a:t>
                </a:r>
                <a:endParaRPr lang="zh-CN" sz="1800" dirty="0">
                  <a:solidFill>
                    <a:schemeClr val="dk2"/>
                  </a:solidFill>
                  <a:latin typeface="+mn-lt"/>
                  <a:ea typeface="+mn-ea"/>
                  <a:cs typeface="+mn-cs"/>
                </a:endParaRPr>
              </a:p>
            </p:txBody>
          </p:sp>
        </p:grpSp>
        <p:sp>
          <p:nvSpPr>
            <p:cNvPr id="35" name="Rectangle 35"/>
            <p:cNvSpPr/>
            <p:nvPr/>
          </p:nvSpPr>
          <p:spPr>
            <a:xfrm>
              <a:off x="2095500" y="5314950"/>
              <a:ext cx="8001000" cy="400050"/>
            </a:xfrm>
            <a:prstGeom prst="roundRect">
              <a:avLst>
                <a:gd name="adj" fmla="val 33333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3358075" y="5396865"/>
              <a:ext cx="5475850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8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锯片切割 · 油桶爆炸 · 箱子掩护 · 轻物快速投掷</a:t>
              </a:r>
              <a:endParaRPr lang="zh-CN" sz="180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41" name="Group 41"/>
          <p:cNvGrpSpPr/>
          <p:nvPr/>
        </p:nvGrpSpPr>
        <p:grpSpPr>
          <a:xfrm>
            <a:off x="552450" y="6353175"/>
            <a:ext cx="11055858" cy="432626"/>
            <a:chOff x="552450" y="6353175"/>
            <a:chExt cx="11055858" cy="432626"/>
          </a:xfrm>
        </p:grpSpPr>
        <p:sp>
          <p:nvSpPr>
            <p:cNvPr id="38" name="Line 38"/>
            <p:cNvSpPr/>
            <p:nvPr/>
          </p:nvSpPr>
          <p:spPr>
            <a:xfrm>
              <a:off x="552450" y="6353175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19050">
              <a:solidFill>
                <a:schemeClr val="accent4"/>
              </a:solidFill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11394681" y="6521768"/>
              <a:ext cx="2136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fld id="{5B3E3A1B-B275-4712-ACF4-DF6FEEB5CDF0}" type="slidenum">
                <a:rPr lang="en-US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</a:fld>
              <a:endParaRPr lang="en-US" sz="135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52450" y="270510"/>
            <a:ext cx="12646396" cy="8191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4200" b="1" dirty="0">
                <a:solidFill>
                  <a:schemeClr val="dk1"/>
                </a:solidFill>
                <a:latin typeface="+mj-lt"/>
                <a:ea typeface="+mj-ea"/>
                <a:cs typeface="+mj-cs"/>
              </a:rPr>
              <a:t>《超阈限空间》：把“近大远小”变成真实尺度</a:t>
            </a:r>
            <a:endParaRPr lang="zh-CN" sz="4200" b="1" dirty="0">
              <a:solidFill>
                <a:schemeClr val="dk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3" name="TextBox 3"/>
          <p:cNvSpPr txBox="1"/>
          <p:nvPr/>
        </p:nvSpPr>
        <p:spPr>
          <a:xfrm>
            <a:off x="581406" y="986790"/>
            <a:ext cx="4379976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800" dirty="0">
                <a:solidFill>
                  <a:schemeClr val="dk2"/>
                </a:solidFill>
                <a:latin typeface="+mn-lt"/>
                <a:ea typeface="+mn-ea"/>
                <a:cs typeface="+mn-cs"/>
              </a:rPr>
              <a:t>视角不再只是观察工具，它直接参与解谜</a:t>
            </a:r>
            <a:endParaRPr lang="zh-CN" sz="1800" dirty="0">
              <a:solidFill>
                <a:schemeClr val="dk2"/>
              </a:solidFill>
              <a:latin typeface="+mn-lt"/>
              <a:ea typeface="+mn-ea"/>
              <a:cs typeface="+mn-cs"/>
            </a:endParaRPr>
          </a:p>
        </p:txBody>
      </p:sp>
      <p:grpSp>
        <p:nvGrpSpPr>
          <p:cNvPr id="46" name="Group 46"/>
          <p:cNvGrpSpPr/>
          <p:nvPr/>
        </p:nvGrpSpPr>
        <p:grpSpPr>
          <a:xfrm>
            <a:off x="349250" y="1581150"/>
            <a:ext cx="11620500" cy="2381250"/>
            <a:chOff x="552450" y="1581150"/>
            <a:chExt cx="11620500" cy="2381250"/>
          </a:xfrm>
        </p:grpSpPr>
        <p:grpSp>
          <p:nvGrpSpPr>
            <p:cNvPr id="10" name="Group 10"/>
            <p:cNvGrpSpPr/>
            <p:nvPr/>
          </p:nvGrpSpPr>
          <p:grpSpPr>
            <a:xfrm>
              <a:off x="552450" y="1581150"/>
              <a:ext cx="2476500" cy="2381250"/>
              <a:chOff x="552450" y="1581150"/>
              <a:chExt cx="2476500" cy="2381250"/>
            </a:xfrm>
          </p:grpSpPr>
          <p:sp>
            <p:nvSpPr>
              <p:cNvPr id="4" name="Rectangle 4"/>
              <p:cNvSpPr/>
              <p:nvPr/>
            </p:nvSpPr>
            <p:spPr>
              <a:xfrm>
                <a:off x="552450" y="1581150"/>
                <a:ext cx="2476500" cy="2381250"/>
              </a:xfrm>
              <a:prstGeom prst="roundRect">
                <a:avLst>
                  <a:gd name="adj" fmla="val 10400"/>
                </a:avLst>
              </a:prstGeom>
              <a:solidFill>
                <a:srgbClr val="EAF0FA"/>
              </a:solidFill>
              <a:ln w="28575">
                <a:solidFill>
                  <a:schemeClr val="accent1"/>
                </a:solidFill>
              </a:ln>
            </p:spPr>
          </p:sp>
          <p:grpSp>
            <p:nvGrpSpPr>
              <p:cNvPr id="7" name="Group 7"/>
              <p:cNvGrpSpPr/>
              <p:nvPr/>
            </p:nvGrpSpPr>
            <p:grpSpPr>
              <a:xfrm>
                <a:off x="1462087" y="1993900"/>
                <a:ext cx="657224" cy="584199"/>
                <a:chOff x="1462087" y="1993900"/>
                <a:chExt cx="657224" cy="584199"/>
              </a:xfrm>
            </p:grpSpPr>
            <p:sp>
              <p:nvSpPr>
                <p:cNvPr id="5" name="Freeform 5"/>
                <p:cNvSpPr/>
                <p:nvPr/>
              </p:nvSpPr>
              <p:spPr>
                <a:xfrm>
                  <a:off x="1462087" y="1993900"/>
                  <a:ext cx="657224" cy="58419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57224" h="584199">
                      <a:moveTo>
                        <a:pt x="73025" y="109537"/>
                      </a:moveTo>
                      <a:lnTo>
                        <a:pt x="109537" y="109537"/>
                      </a:lnTo>
                      <a:cubicBezTo>
                        <a:pt x="149868" y="109537"/>
                        <a:pt x="182562" y="76843"/>
                        <a:pt x="182562" y="36512"/>
                      </a:cubicBezTo>
                      <a:cubicBezTo>
                        <a:pt x="182562" y="16347"/>
                        <a:pt x="198910" y="0"/>
                        <a:pt x="219075" y="0"/>
                      </a:cubicBezTo>
                      <a:lnTo>
                        <a:pt x="438150" y="0"/>
                      </a:lnTo>
                      <a:cubicBezTo>
                        <a:pt x="458315" y="0"/>
                        <a:pt x="474662" y="16347"/>
                        <a:pt x="474662" y="36512"/>
                      </a:cubicBezTo>
                      <a:cubicBezTo>
                        <a:pt x="474662" y="76843"/>
                        <a:pt x="507356" y="109537"/>
                        <a:pt x="547687" y="109537"/>
                      </a:cubicBezTo>
                      <a:lnTo>
                        <a:pt x="584199" y="109537"/>
                      </a:lnTo>
                      <a:cubicBezTo>
                        <a:pt x="624530" y="109537"/>
                        <a:pt x="657224" y="142232"/>
                        <a:pt x="657224" y="182562"/>
                      </a:cubicBezTo>
                      <a:lnTo>
                        <a:pt x="657224" y="511175"/>
                      </a:lnTo>
                      <a:cubicBezTo>
                        <a:pt x="657224" y="551505"/>
                        <a:pt x="624530" y="584199"/>
                        <a:pt x="584199" y="584199"/>
                      </a:cubicBezTo>
                      <a:lnTo>
                        <a:pt x="73025" y="584199"/>
                      </a:lnTo>
                      <a:cubicBezTo>
                        <a:pt x="32694" y="584199"/>
                        <a:pt x="0" y="551505"/>
                        <a:pt x="0" y="511175"/>
                      </a:cubicBezTo>
                      <a:lnTo>
                        <a:pt x="0" y="182562"/>
                      </a:lnTo>
                      <a:cubicBezTo>
                        <a:pt x="0" y="142232"/>
                        <a:pt x="32694" y="109537"/>
                        <a:pt x="73025" y="109537"/>
                      </a:cubicBezTo>
                    </a:path>
                  </a:pathLst>
                </a:custGeom>
                <a:noFill/>
                <a:ln w="19050">
                  <a:solidFill>
                    <a:schemeClr val="accent1"/>
                  </a:solidFill>
                </a:ln>
              </p:spPr>
            </p:sp>
            <p:sp>
              <p:nvSpPr>
                <p:cNvPr id="6" name="Freeform 6"/>
                <p:cNvSpPr/>
                <p:nvPr/>
              </p:nvSpPr>
              <p:spPr>
                <a:xfrm>
                  <a:off x="1681162" y="2212975"/>
                  <a:ext cx="219075" cy="2190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19075" h="219075">
                      <a:moveTo>
                        <a:pt x="0" y="109537"/>
                      </a:moveTo>
                      <a:cubicBezTo>
                        <a:pt x="0" y="170033"/>
                        <a:pt x="49042" y="219075"/>
                        <a:pt x="109537" y="219075"/>
                      </a:cubicBezTo>
                      <a:cubicBezTo>
                        <a:pt x="170033" y="219075"/>
                        <a:pt x="219075" y="170033"/>
                        <a:pt x="219075" y="109537"/>
                      </a:cubicBezTo>
                      <a:cubicBezTo>
                        <a:pt x="219075" y="49042"/>
                        <a:pt x="170033" y="0"/>
                        <a:pt x="109537" y="0"/>
                      </a:cubicBezTo>
                      <a:cubicBezTo>
                        <a:pt x="49042" y="0"/>
                        <a:pt x="0" y="49042"/>
                        <a:pt x="0" y="109537"/>
                      </a:cubicBezTo>
                    </a:path>
                  </a:pathLst>
                </a:custGeom>
                <a:noFill/>
                <a:ln w="19050">
                  <a:solidFill>
                    <a:schemeClr val="accent1"/>
                  </a:solidFill>
                </a:ln>
              </p:spPr>
            </p:sp>
          </p:grpSp>
          <p:sp>
            <p:nvSpPr>
              <p:cNvPr id="8" name="TextBox 8"/>
              <p:cNvSpPr txBox="1"/>
              <p:nvPr/>
            </p:nvSpPr>
            <p:spPr>
              <a:xfrm>
                <a:off x="591160" y="2903220"/>
                <a:ext cx="2399081" cy="46939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2400" b="1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摄像机中心射线</a:t>
                </a:r>
                <a:endParaRPr lang="zh-CN" sz="24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9" name="TextBox 9"/>
              <p:cNvSpPr txBox="1"/>
              <p:nvPr/>
            </p:nvSpPr>
            <p:spPr>
              <a:xfrm>
                <a:off x="1296924" y="3387090"/>
                <a:ext cx="987552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800" dirty="0">
                    <a:solidFill>
                      <a:schemeClr val="dk2"/>
                    </a:solidFill>
                    <a:latin typeface="+mn-lt"/>
                    <a:ea typeface="+mn-ea"/>
                    <a:cs typeface="+mn-cs"/>
                  </a:rPr>
                  <a:t>抓住物体</a:t>
                </a:r>
                <a:endParaRPr lang="zh-CN" sz="1800" dirty="0">
                  <a:solidFill>
                    <a:schemeClr val="dk2"/>
                  </a:solidFill>
                  <a:latin typeface="+mn-lt"/>
                  <a:ea typeface="+mn-ea"/>
                  <a:cs typeface="+mn-cs"/>
                </a:endParaRPr>
              </a:p>
            </p:txBody>
          </p:sp>
        </p:grpSp>
        <p:sp>
          <p:nvSpPr>
            <p:cNvPr id="11" name="Freeform 11"/>
            <p:cNvSpPr/>
            <p:nvPr/>
          </p:nvSpPr>
          <p:spPr>
            <a:xfrm>
              <a:off x="3181350" y="2543175"/>
              <a:ext cx="838200" cy="457200"/>
            </a:xfrm>
            <a:custGeom>
              <a:avLst/>
              <a:gdLst/>
              <a:ahLst/>
              <a:cxnLst/>
              <a:rect l="l" t="t" r="r" b="b"/>
              <a:pathLst>
                <a:path w="838200" h="457200">
                  <a:moveTo>
                    <a:pt x="0" y="228600"/>
                  </a:moveTo>
                  <a:lnTo>
                    <a:pt x="419100" y="228600"/>
                  </a:lnTo>
                  <a:lnTo>
                    <a:pt x="419100" y="0"/>
                  </a:lnTo>
                  <a:lnTo>
                    <a:pt x="838200" y="228600"/>
                  </a:lnTo>
                  <a:lnTo>
                    <a:pt x="419100" y="457200"/>
                  </a:lnTo>
                  <a:lnTo>
                    <a:pt x="419100" y="228600"/>
                  </a:lnTo>
                </a:path>
              </a:pathLst>
            </a:custGeom>
            <a:solidFill>
              <a:schemeClr val="accent4"/>
            </a:solidFill>
            <a:ln>
              <a:noFill/>
            </a:ln>
          </p:spPr>
        </p:sp>
        <p:grpSp>
          <p:nvGrpSpPr>
            <p:cNvPr id="23" name="Group 23"/>
            <p:cNvGrpSpPr/>
            <p:nvPr/>
          </p:nvGrpSpPr>
          <p:grpSpPr>
            <a:xfrm>
              <a:off x="3886200" y="1581150"/>
              <a:ext cx="2476500" cy="2381250"/>
              <a:chOff x="3886200" y="1581150"/>
              <a:chExt cx="2476500" cy="2381250"/>
            </a:xfrm>
          </p:grpSpPr>
          <p:sp>
            <p:nvSpPr>
              <p:cNvPr id="12" name="Rectangle 12"/>
              <p:cNvSpPr/>
              <p:nvPr/>
            </p:nvSpPr>
            <p:spPr>
              <a:xfrm>
                <a:off x="3886200" y="1581150"/>
                <a:ext cx="2476500" cy="2381250"/>
              </a:xfrm>
              <a:prstGeom prst="roundRect">
                <a:avLst>
                  <a:gd name="adj" fmla="val 10400"/>
                </a:avLst>
              </a:prstGeom>
              <a:solidFill>
                <a:srgbClr val="E8F5F0"/>
              </a:solidFill>
              <a:ln w="28575">
                <a:solidFill>
                  <a:schemeClr val="accent3"/>
                </a:solidFill>
              </a:ln>
            </p:spPr>
          </p:sp>
          <p:grpSp>
            <p:nvGrpSpPr>
              <p:cNvPr id="20" name="Group 20"/>
              <p:cNvGrpSpPr/>
              <p:nvPr/>
            </p:nvGrpSpPr>
            <p:grpSpPr>
              <a:xfrm>
                <a:off x="4795837" y="1957387"/>
                <a:ext cx="657225" cy="657225"/>
                <a:chOff x="4795837" y="1957387"/>
                <a:chExt cx="657225" cy="657225"/>
              </a:xfrm>
            </p:grpSpPr>
            <p:sp>
              <p:nvSpPr>
                <p:cNvPr id="13" name="Freeform 13"/>
                <p:cNvSpPr/>
                <p:nvPr/>
              </p:nvSpPr>
              <p:spPr>
                <a:xfrm>
                  <a:off x="4795837" y="2030412"/>
                  <a:ext cx="401637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01637" h="9525">
                      <a:moveTo>
                        <a:pt x="0" y="0"/>
                      </a:moveTo>
                      <a:lnTo>
                        <a:pt x="401637" y="0"/>
                      </a:lnTo>
                    </a:path>
                  </a:pathLst>
                </a:custGeom>
                <a:noFill/>
                <a:ln w="19050">
                  <a:solidFill>
                    <a:schemeClr val="accent3"/>
                  </a:solidFill>
                </a:ln>
              </p:spPr>
            </p:sp>
            <p:sp>
              <p:nvSpPr>
                <p:cNvPr id="14" name="Freeform 14"/>
                <p:cNvSpPr/>
                <p:nvPr/>
              </p:nvSpPr>
              <p:spPr>
                <a:xfrm>
                  <a:off x="5124450" y="1957387"/>
                  <a:ext cx="73025" cy="1460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3025" h="146050">
                      <a:moveTo>
                        <a:pt x="0" y="146050"/>
                      </a:moveTo>
                      <a:lnTo>
                        <a:pt x="73025" y="73025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19050">
                  <a:solidFill>
                    <a:schemeClr val="accent3"/>
                  </a:solidFill>
                </a:ln>
              </p:spPr>
            </p:sp>
            <p:sp>
              <p:nvSpPr>
                <p:cNvPr id="15" name="Freeform 15"/>
                <p:cNvSpPr/>
                <p:nvPr/>
              </p:nvSpPr>
              <p:spPr>
                <a:xfrm>
                  <a:off x="4795837" y="1957387"/>
                  <a:ext cx="73025" cy="1460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3025" h="146050">
                      <a:moveTo>
                        <a:pt x="73025" y="0"/>
                      </a:moveTo>
                      <a:lnTo>
                        <a:pt x="0" y="73025"/>
                      </a:lnTo>
                      <a:lnTo>
                        <a:pt x="73025" y="146050"/>
                      </a:lnTo>
                    </a:path>
                  </a:pathLst>
                </a:custGeom>
                <a:noFill/>
                <a:ln w="19050">
                  <a:solidFill>
                    <a:schemeClr val="accent3"/>
                  </a:solidFill>
                </a:ln>
              </p:spPr>
            </p:sp>
            <p:sp>
              <p:nvSpPr>
                <p:cNvPr id="16" name="Freeform 16"/>
                <p:cNvSpPr/>
                <p:nvPr/>
              </p:nvSpPr>
              <p:spPr>
                <a:xfrm>
                  <a:off x="5380037" y="2212975"/>
                  <a:ext cx="9525" cy="40163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401637">
                      <a:moveTo>
                        <a:pt x="0" y="0"/>
                      </a:moveTo>
                      <a:lnTo>
                        <a:pt x="0" y="401637"/>
                      </a:lnTo>
                    </a:path>
                  </a:pathLst>
                </a:custGeom>
                <a:noFill/>
                <a:ln w="19050">
                  <a:solidFill>
                    <a:schemeClr val="accent3"/>
                  </a:solidFill>
                </a:ln>
              </p:spPr>
            </p:sp>
            <p:sp>
              <p:nvSpPr>
                <p:cNvPr id="17" name="Freeform 17"/>
                <p:cNvSpPr/>
                <p:nvPr/>
              </p:nvSpPr>
              <p:spPr>
                <a:xfrm>
                  <a:off x="5307012" y="2541587"/>
                  <a:ext cx="146050" cy="730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6050" h="73025">
                      <a:moveTo>
                        <a:pt x="0" y="0"/>
                      </a:moveTo>
                      <a:lnTo>
                        <a:pt x="73025" y="73025"/>
                      </a:lnTo>
                      <a:lnTo>
                        <a:pt x="146050" y="0"/>
                      </a:lnTo>
                    </a:path>
                  </a:pathLst>
                </a:custGeom>
                <a:noFill/>
                <a:ln w="19050">
                  <a:solidFill>
                    <a:schemeClr val="accent3"/>
                  </a:solidFill>
                </a:ln>
              </p:spPr>
            </p:sp>
            <p:sp>
              <p:nvSpPr>
                <p:cNvPr id="18" name="Freeform 18"/>
                <p:cNvSpPr/>
                <p:nvPr/>
              </p:nvSpPr>
              <p:spPr>
                <a:xfrm>
                  <a:off x="5307012" y="2212975"/>
                  <a:ext cx="146050" cy="730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6050" h="73025">
                      <a:moveTo>
                        <a:pt x="146050" y="73025"/>
                      </a:moveTo>
                      <a:lnTo>
                        <a:pt x="73025" y="0"/>
                      </a:lnTo>
                      <a:lnTo>
                        <a:pt x="0" y="73025"/>
                      </a:lnTo>
                    </a:path>
                  </a:pathLst>
                </a:custGeom>
                <a:noFill/>
                <a:ln w="19050">
                  <a:solidFill>
                    <a:schemeClr val="accent3"/>
                  </a:solidFill>
                </a:ln>
              </p:spPr>
            </p:sp>
            <p:sp>
              <p:nvSpPr>
                <p:cNvPr id="19" name="Freeform 19"/>
                <p:cNvSpPr/>
                <p:nvPr/>
              </p:nvSpPr>
              <p:spPr>
                <a:xfrm>
                  <a:off x="4795837" y="2212975"/>
                  <a:ext cx="401637" cy="40163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01637" h="401637">
                      <a:moveTo>
                        <a:pt x="0" y="73025"/>
                      </a:moveTo>
                      <a:cubicBezTo>
                        <a:pt x="0" y="32694"/>
                        <a:pt x="32694" y="0"/>
                        <a:pt x="73025" y="0"/>
                      </a:cubicBezTo>
                      <a:lnTo>
                        <a:pt x="328612" y="0"/>
                      </a:lnTo>
                      <a:cubicBezTo>
                        <a:pt x="368943" y="0"/>
                        <a:pt x="401637" y="32694"/>
                        <a:pt x="401637" y="73025"/>
                      </a:cubicBezTo>
                      <a:lnTo>
                        <a:pt x="401637" y="328612"/>
                      </a:lnTo>
                      <a:cubicBezTo>
                        <a:pt x="401637" y="368943"/>
                        <a:pt x="368943" y="401637"/>
                        <a:pt x="328612" y="401637"/>
                      </a:cubicBezTo>
                      <a:lnTo>
                        <a:pt x="73025" y="401637"/>
                      </a:lnTo>
                      <a:cubicBezTo>
                        <a:pt x="32694" y="401637"/>
                        <a:pt x="0" y="368943"/>
                        <a:pt x="0" y="328612"/>
                      </a:cubicBezTo>
                      <a:lnTo>
                        <a:pt x="0" y="73025"/>
                      </a:lnTo>
                    </a:path>
                  </a:pathLst>
                </a:custGeom>
                <a:noFill/>
                <a:ln w="19050">
                  <a:solidFill>
                    <a:schemeClr val="accent3"/>
                  </a:solidFill>
                </a:ln>
              </p:spPr>
            </p:sp>
          </p:grpSp>
          <p:sp>
            <p:nvSpPr>
              <p:cNvPr id="21" name="TextBox 21"/>
              <p:cNvSpPr txBox="1"/>
              <p:nvPr/>
            </p:nvSpPr>
            <p:spPr>
              <a:xfrm>
                <a:off x="4433773" y="2903220"/>
                <a:ext cx="1381354" cy="46939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2400" b="1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改变深度</a:t>
                </a:r>
                <a:endParaRPr lang="zh-CN" sz="24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22" name="TextBox 22"/>
              <p:cNvSpPr txBox="1"/>
              <p:nvPr/>
            </p:nvSpPr>
            <p:spPr>
              <a:xfrm>
                <a:off x="4491342" y="3387090"/>
                <a:ext cx="1266215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800" dirty="0">
                    <a:solidFill>
                      <a:schemeClr val="dk2"/>
                    </a:solidFill>
                    <a:latin typeface="+mn-lt"/>
                    <a:ea typeface="+mn-ea"/>
                    <a:cs typeface="+mn-cs"/>
                  </a:rPr>
                  <a:t>远大 · 近小</a:t>
                </a:r>
                <a:endParaRPr lang="zh-CN" sz="1800" dirty="0">
                  <a:solidFill>
                    <a:schemeClr val="dk2"/>
                  </a:solidFill>
                  <a:latin typeface="+mn-lt"/>
                  <a:ea typeface="+mn-ea"/>
                  <a:cs typeface="+mn-cs"/>
                </a:endParaRPr>
              </a:p>
            </p:txBody>
          </p:sp>
        </p:grpSp>
        <p:sp>
          <p:nvSpPr>
            <p:cNvPr id="24" name="Freeform 24"/>
            <p:cNvSpPr/>
            <p:nvPr/>
          </p:nvSpPr>
          <p:spPr>
            <a:xfrm>
              <a:off x="6515100" y="2543175"/>
              <a:ext cx="838200" cy="457200"/>
            </a:xfrm>
            <a:custGeom>
              <a:avLst/>
              <a:gdLst/>
              <a:ahLst/>
              <a:cxnLst/>
              <a:rect l="l" t="t" r="r" b="b"/>
              <a:pathLst>
                <a:path w="838200" h="457200">
                  <a:moveTo>
                    <a:pt x="0" y="228600"/>
                  </a:moveTo>
                  <a:lnTo>
                    <a:pt x="419100" y="228600"/>
                  </a:lnTo>
                  <a:lnTo>
                    <a:pt x="419100" y="0"/>
                  </a:lnTo>
                  <a:lnTo>
                    <a:pt x="838200" y="228600"/>
                  </a:lnTo>
                  <a:lnTo>
                    <a:pt x="419100" y="457200"/>
                  </a:lnTo>
                  <a:lnTo>
                    <a:pt x="419100" y="228600"/>
                  </a:lnTo>
                </a:path>
              </a:pathLst>
            </a:custGeom>
            <a:solidFill>
              <a:schemeClr val="accent4"/>
            </a:solidFill>
            <a:ln>
              <a:noFill/>
            </a:ln>
          </p:spPr>
        </p:sp>
        <p:grpSp>
          <p:nvGrpSpPr>
            <p:cNvPr id="34" name="Group 34"/>
            <p:cNvGrpSpPr/>
            <p:nvPr/>
          </p:nvGrpSpPr>
          <p:grpSpPr>
            <a:xfrm>
              <a:off x="7219950" y="1581150"/>
              <a:ext cx="2476500" cy="2381250"/>
              <a:chOff x="7219950" y="1581150"/>
              <a:chExt cx="2476500" cy="2381250"/>
            </a:xfrm>
          </p:grpSpPr>
          <p:sp>
            <p:nvSpPr>
              <p:cNvPr id="25" name="Rectangle 25"/>
              <p:cNvSpPr/>
              <p:nvPr/>
            </p:nvSpPr>
            <p:spPr>
              <a:xfrm>
                <a:off x="7219950" y="1581150"/>
                <a:ext cx="2476500" cy="2381250"/>
              </a:xfrm>
              <a:prstGeom prst="roundRect">
                <a:avLst>
                  <a:gd name="adj" fmla="val 10400"/>
                </a:avLst>
              </a:prstGeom>
              <a:solidFill>
                <a:srgbClr val="FFF0D1"/>
              </a:solidFill>
              <a:ln w="28575">
                <a:solidFill>
                  <a:schemeClr val="accent2"/>
                </a:solidFill>
              </a:ln>
            </p:spPr>
          </p:sp>
          <p:grpSp>
            <p:nvGrpSpPr>
              <p:cNvPr id="31" name="Group 31"/>
              <p:cNvGrpSpPr/>
              <p:nvPr/>
            </p:nvGrpSpPr>
            <p:grpSpPr>
              <a:xfrm>
                <a:off x="8129587" y="1957387"/>
                <a:ext cx="657225" cy="630237"/>
                <a:chOff x="8129587" y="1957387"/>
                <a:chExt cx="657225" cy="630237"/>
              </a:xfrm>
            </p:grpSpPr>
            <p:sp>
              <p:nvSpPr>
                <p:cNvPr id="26" name="Freeform 26"/>
                <p:cNvSpPr/>
                <p:nvPr/>
              </p:nvSpPr>
              <p:spPr>
                <a:xfrm>
                  <a:off x="8275637" y="2578099"/>
                  <a:ext cx="3651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65125" h="9525">
                      <a:moveTo>
                        <a:pt x="0" y="0"/>
                      </a:moveTo>
                      <a:lnTo>
                        <a:pt x="365125" y="0"/>
                      </a:lnTo>
                    </a:path>
                  </a:pathLst>
                </a:custGeom>
                <a:noFill/>
                <a:ln w="19050">
                  <a:solidFill>
                    <a:schemeClr val="accent2"/>
                  </a:solidFill>
                </a:ln>
              </p:spPr>
            </p:sp>
            <p:sp>
              <p:nvSpPr>
                <p:cNvPr id="27" name="Freeform 27"/>
                <p:cNvSpPr/>
                <p:nvPr/>
              </p:nvSpPr>
              <p:spPr>
                <a:xfrm>
                  <a:off x="8239125" y="2030412"/>
                  <a:ext cx="438150" cy="365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38150" h="36512">
                      <a:moveTo>
                        <a:pt x="0" y="36512"/>
                      </a:moveTo>
                      <a:lnTo>
                        <a:pt x="219075" y="0"/>
                      </a:lnTo>
                      <a:lnTo>
                        <a:pt x="438150" y="36512"/>
                      </a:lnTo>
                    </a:path>
                  </a:pathLst>
                </a:custGeom>
                <a:noFill/>
                <a:ln w="19050">
                  <a:solidFill>
                    <a:schemeClr val="accent2"/>
                  </a:solidFill>
                </a:ln>
              </p:spPr>
            </p:sp>
            <p:sp>
              <p:nvSpPr>
                <p:cNvPr id="28" name="Freeform 28"/>
                <p:cNvSpPr/>
                <p:nvPr/>
              </p:nvSpPr>
              <p:spPr>
                <a:xfrm>
                  <a:off x="8458200" y="1957387"/>
                  <a:ext cx="9525" cy="6207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620712">
                      <a:moveTo>
                        <a:pt x="0" y="0"/>
                      </a:moveTo>
                      <a:lnTo>
                        <a:pt x="0" y="620712"/>
                      </a:lnTo>
                    </a:path>
                  </a:pathLst>
                </a:custGeom>
                <a:noFill/>
                <a:ln w="19050">
                  <a:solidFill>
                    <a:schemeClr val="accent2"/>
                  </a:solidFill>
                </a:ln>
              </p:spPr>
            </p:sp>
            <p:sp>
              <p:nvSpPr>
                <p:cNvPr id="29" name="Freeform 29"/>
                <p:cNvSpPr/>
                <p:nvPr/>
              </p:nvSpPr>
              <p:spPr>
                <a:xfrm>
                  <a:off x="8129587" y="2066925"/>
                  <a:ext cx="219075" cy="3286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19075" h="328612">
                      <a:moveTo>
                        <a:pt x="219075" y="219075"/>
                      </a:moveTo>
                      <a:lnTo>
                        <a:pt x="109537" y="0"/>
                      </a:lnTo>
                      <a:lnTo>
                        <a:pt x="0" y="219075"/>
                      </a:lnTo>
                      <a:cubicBezTo>
                        <a:pt x="0" y="279571"/>
                        <a:pt x="49042" y="328612"/>
                        <a:pt x="109537" y="328612"/>
                      </a:cubicBezTo>
                      <a:cubicBezTo>
                        <a:pt x="170033" y="328612"/>
                        <a:pt x="219075" y="279571"/>
                        <a:pt x="219075" y="219075"/>
                      </a:cubicBezTo>
                    </a:path>
                  </a:pathLst>
                </a:custGeom>
                <a:noFill/>
                <a:ln w="19050">
                  <a:solidFill>
                    <a:schemeClr val="accent2"/>
                  </a:solidFill>
                </a:ln>
              </p:spPr>
            </p:sp>
            <p:sp>
              <p:nvSpPr>
                <p:cNvPr id="30" name="Freeform 30"/>
                <p:cNvSpPr/>
                <p:nvPr/>
              </p:nvSpPr>
              <p:spPr>
                <a:xfrm>
                  <a:off x="8567737" y="2066925"/>
                  <a:ext cx="219075" cy="3286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19075" h="328612">
                      <a:moveTo>
                        <a:pt x="219075" y="219075"/>
                      </a:moveTo>
                      <a:lnTo>
                        <a:pt x="109537" y="0"/>
                      </a:lnTo>
                      <a:lnTo>
                        <a:pt x="0" y="219075"/>
                      </a:lnTo>
                      <a:cubicBezTo>
                        <a:pt x="0" y="279571"/>
                        <a:pt x="49042" y="328612"/>
                        <a:pt x="109537" y="328612"/>
                      </a:cubicBezTo>
                      <a:cubicBezTo>
                        <a:pt x="170033" y="328612"/>
                        <a:pt x="219075" y="279571"/>
                        <a:pt x="219075" y="219075"/>
                      </a:cubicBezTo>
                    </a:path>
                  </a:pathLst>
                </a:custGeom>
                <a:noFill/>
                <a:ln w="19050">
                  <a:solidFill>
                    <a:schemeClr val="accent2"/>
                  </a:solidFill>
                </a:ln>
              </p:spPr>
            </p:sp>
          </p:grpSp>
          <p:sp>
            <p:nvSpPr>
              <p:cNvPr id="32" name="TextBox 32"/>
              <p:cNvSpPr txBox="1"/>
              <p:nvPr/>
            </p:nvSpPr>
            <p:spPr>
              <a:xfrm>
                <a:off x="7767523" y="2903220"/>
                <a:ext cx="1381354" cy="46939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2400" b="1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等比缩放</a:t>
                </a:r>
                <a:endParaRPr lang="zh-CN" sz="24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334402" y="3387090"/>
                <a:ext cx="2247595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800" dirty="0">
                    <a:solidFill>
                      <a:schemeClr val="dk2"/>
                    </a:solidFill>
                    <a:latin typeface="Consolas" panose="020B0609020204030204"/>
                    <a:ea typeface="Consolas" panose="020B0609020204030204"/>
                    <a:cs typeface="Consolas" panose="020B0609020204030204"/>
                  </a:rPr>
                  <a:t>scale × depth ratio</a:t>
                </a:r>
                <a:endParaRPr lang="en-US" sz="1800" dirty="0">
                  <a:solidFill>
                    <a:schemeClr val="dk2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endParaRPr>
              </a:p>
            </p:txBody>
          </p:sp>
        </p:grpSp>
        <p:sp>
          <p:nvSpPr>
            <p:cNvPr id="35" name="Freeform 35"/>
            <p:cNvSpPr/>
            <p:nvPr/>
          </p:nvSpPr>
          <p:spPr>
            <a:xfrm>
              <a:off x="9848850" y="2543175"/>
              <a:ext cx="838200" cy="457200"/>
            </a:xfrm>
            <a:custGeom>
              <a:avLst/>
              <a:gdLst/>
              <a:ahLst/>
              <a:cxnLst/>
              <a:rect l="l" t="t" r="r" b="b"/>
              <a:pathLst>
                <a:path w="838200" h="457200">
                  <a:moveTo>
                    <a:pt x="0" y="228600"/>
                  </a:moveTo>
                  <a:lnTo>
                    <a:pt x="419100" y="228600"/>
                  </a:lnTo>
                  <a:lnTo>
                    <a:pt x="419100" y="0"/>
                  </a:lnTo>
                  <a:lnTo>
                    <a:pt x="838200" y="228600"/>
                  </a:lnTo>
                  <a:lnTo>
                    <a:pt x="419100" y="457200"/>
                  </a:lnTo>
                  <a:lnTo>
                    <a:pt x="419100" y="228600"/>
                  </a:lnTo>
                </a:path>
              </a:pathLst>
            </a:custGeom>
            <a:solidFill>
              <a:schemeClr val="accent4"/>
            </a:solidFill>
            <a:ln>
              <a:noFill/>
            </a:ln>
          </p:spPr>
        </p:sp>
        <p:grpSp>
          <p:nvGrpSpPr>
            <p:cNvPr id="45" name="Group 45"/>
            <p:cNvGrpSpPr/>
            <p:nvPr/>
          </p:nvGrpSpPr>
          <p:grpSpPr>
            <a:xfrm>
              <a:off x="10553700" y="1581150"/>
              <a:ext cx="1619250" cy="2381250"/>
              <a:chOff x="10553700" y="1581150"/>
              <a:chExt cx="1619250" cy="2381250"/>
            </a:xfrm>
          </p:grpSpPr>
          <p:sp>
            <p:nvSpPr>
              <p:cNvPr id="36" name="Rectangle 36"/>
              <p:cNvSpPr/>
              <p:nvPr/>
            </p:nvSpPr>
            <p:spPr>
              <a:xfrm>
                <a:off x="10553700" y="1581150"/>
                <a:ext cx="1619250" cy="2381250"/>
              </a:xfrm>
              <a:prstGeom prst="roundRect">
                <a:avLst>
                  <a:gd name="adj" fmla="val 15294"/>
                </a:avLst>
              </a:prstGeom>
              <a:solidFill>
                <a:srgbClr val="FFFFFF"/>
              </a:solidFill>
              <a:ln w="28575">
                <a:solidFill>
                  <a:srgbClr val="D85C45"/>
                </a:solidFill>
              </a:ln>
            </p:spPr>
          </p:sp>
          <p:grpSp>
            <p:nvGrpSpPr>
              <p:cNvPr id="41" name="Group 41"/>
              <p:cNvGrpSpPr/>
              <p:nvPr/>
            </p:nvGrpSpPr>
            <p:grpSpPr>
              <a:xfrm>
                <a:off x="11172825" y="1995488"/>
                <a:ext cx="381000" cy="428625"/>
                <a:chOff x="11172825" y="1995488"/>
                <a:chExt cx="381000" cy="428625"/>
              </a:xfrm>
            </p:grpSpPr>
            <p:sp>
              <p:nvSpPr>
                <p:cNvPr id="37" name="Freeform 37"/>
                <p:cNvSpPr/>
                <p:nvPr/>
              </p:nvSpPr>
              <p:spPr>
                <a:xfrm>
                  <a:off x="11172825" y="1995488"/>
                  <a:ext cx="381000" cy="4286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1000" h="428625">
                      <a:moveTo>
                        <a:pt x="190500" y="0"/>
                      </a:moveTo>
                      <a:lnTo>
                        <a:pt x="381000" y="107156"/>
                      </a:lnTo>
                      <a:lnTo>
                        <a:pt x="381000" y="321469"/>
                      </a:lnTo>
                      <a:lnTo>
                        <a:pt x="190500" y="428625"/>
                      </a:lnTo>
                      <a:lnTo>
                        <a:pt x="0" y="321469"/>
                      </a:lnTo>
                      <a:lnTo>
                        <a:pt x="0" y="107156"/>
                      </a:lnTo>
                      <a:lnTo>
                        <a:pt x="190500" y="0"/>
                      </a:lnTo>
                    </a:path>
                  </a:pathLst>
                </a:custGeom>
                <a:noFill/>
                <a:ln w="19050">
                  <a:solidFill>
                    <a:srgbClr val="D85C45"/>
                  </a:solidFill>
                </a:ln>
              </p:spPr>
            </p:sp>
            <p:sp>
              <p:nvSpPr>
                <p:cNvPr id="38" name="Freeform 38"/>
                <p:cNvSpPr/>
                <p:nvPr/>
              </p:nvSpPr>
              <p:spPr>
                <a:xfrm>
                  <a:off x="11363325" y="2102644"/>
                  <a:ext cx="190500" cy="1071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0500" h="107156">
                      <a:moveTo>
                        <a:pt x="0" y="107156"/>
                      </a:moveTo>
                      <a:lnTo>
                        <a:pt x="190500" y="0"/>
                      </a:lnTo>
                    </a:path>
                  </a:pathLst>
                </a:custGeom>
                <a:noFill/>
                <a:ln w="19050">
                  <a:solidFill>
                    <a:srgbClr val="D85C45"/>
                  </a:solidFill>
                </a:ln>
              </p:spPr>
            </p:sp>
            <p:sp>
              <p:nvSpPr>
                <p:cNvPr id="39" name="Freeform 39"/>
                <p:cNvSpPr/>
                <p:nvPr/>
              </p:nvSpPr>
              <p:spPr>
                <a:xfrm>
                  <a:off x="11363325" y="2209800"/>
                  <a:ext cx="9525" cy="2143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214312">
                      <a:moveTo>
                        <a:pt x="0" y="0"/>
                      </a:moveTo>
                      <a:lnTo>
                        <a:pt x="0" y="214312"/>
                      </a:lnTo>
                    </a:path>
                  </a:pathLst>
                </a:custGeom>
                <a:noFill/>
                <a:ln w="19050">
                  <a:solidFill>
                    <a:srgbClr val="D85C45"/>
                  </a:solidFill>
                </a:ln>
              </p:spPr>
            </p:sp>
            <p:sp>
              <p:nvSpPr>
                <p:cNvPr id="40" name="Freeform 40"/>
                <p:cNvSpPr/>
                <p:nvPr/>
              </p:nvSpPr>
              <p:spPr>
                <a:xfrm>
                  <a:off x="11172825" y="2102644"/>
                  <a:ext cx="190500" cy="1071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0500" h="107156">
                      <a:moveTo>
                        <a:pt x="190500" y="107156"/>
                      </a:moveTo>
                      <a:lnTo>
                        <a:pt x="0" y="0"/>
                      </a:lnTo>
                    </a:path>
                  </a:pathLst>
                </a:custGeom>
                <a:noFill/>
                <a:ln w="19050">
                  <a:solidFill>
                    <a:srgbClr val="D85C45"/>
                  </a:solidFill>
                </a:ln>
              </p:spPr>
            </p:sp>
          </p:grpSp>
          <p:sp>
            <p:nvSpPr>
              <p:cNvPr id="42" name="TextBox 42"/>
              <p:cNvSpPr txBox="1"/>
              <p:nvPr/>
            </p:nvSpPr>
            <p:spPr>
              <a:xfrm>
                <a:off x="11011891" y="2712720"/>
                <a:ext cx="702869" cy="46939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2400" b="1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放置</a:t>
                </a:r>
                <a:endParaRPr lang="zh-CN" sz="24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43" name="TextBox 43"/>
              <p:cNvSpPr txBox="1"/>
              <p:nvPr/>
            </p:nvSpPr>
            <p:spPr>
              <a:xfrm>
                <a:off x="10990707" y="3196590"/>
                <a:ext cx="745236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800" dirty="0">
                    <a:solidFill>
                      <a:schemeClr val="dk2"/>
                    </a:solidFill>
                    <a:latin typeface="+mn-lt"/>
                    <a:ea typeface="+mn-ea"/>
                    <a:cs typeface="+mn-cs"/>
                  </a:rPr>
                  <a:t>合法？</a:t>
                </a:r>
                <a:endParaRPr lang="zh-CN" sz="1800" dirty="0">
                  <a:solidFill>
                    <a:schemeClr val="dk2"/>
                  </a:solidFill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44" name="TextBox 44"/>
              <p:cNvSpPr txBox="1"/>
              <p:nvPr/>
            </p:nvSpPr>
            <p:spPr>
              <a:xfrm>
                <a:off x="10869549" y="3539490"/>
                <a:ext cx="987552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800" dirty="0">
                    <a:solidFill>
                      <a:srgbClr val="D85C45"/>
                    </a:solidFill>
                    <a:latin typeface="+mn-lt"/>
                    <a:ea typeface="+mn-ea"/>
                    <a:cs typeface="+mn-cs"/>
                  </a:rPr>
                  <a:t>否则复位</a:t>
                </a:r>
                <a:endParaRPr lang="zh-CN" sz="1800" dirty="0">
                  <a:solidFill>
                    <a:srgbClr val="D85C45"/>
                  </a:solidFill>
                  <a:latin typeface="+mn-lt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51" name="Group 51"/>
          <p:cNvGrpSpPr/>
          <p:nvPr/>
        </p:nvGrpSpPr>
        <p:grpSpPr>
          <a:xfrm>
            <a:off x="952500" y="4400550"/>
            <a:ext cx="10287000" cy="1295400"/>
            <a:chOff x="952500" y="4400550"/>
            <a:chExt cx="10287000" cy="1295400"/>
          </a:xfrm>
        </p:grpSpPr>
        <p:sp>
          <p:nvSpPr>
            <p:cNvPr id="47" name="Rectangle 47"/>
            <p:cNvSpPr/>
            <p:nvPr/>
          </p:nvSpPr>
          <p:spPr>
            <a:xfrm>
              <a:off x="952500" y="4400550"/>
              <a:ext cx="10287000" cy="1295400"/>
            </a:xfrm>
            <a:prstGeom prst="roundRect">
              <a:avLst>
                <a:gd name="adj" fmla="val 17647"/>
              </a:avLst>
            </a:prstGeom>
            <a:solidFill>
              <a:srgbClr val="FFFFFF"/>
            </a:solidFill>
            <a:ln w="28575">
              <a:solidFill>
                <a:schemeClr val="accent4"/>
              </a:solidFill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1245108" y="4560570"/>
              <a:ext cx="3416808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原型稳定性的五个护栏</a:t>
              </a:r>
              <a:endParaRPr lang="zh-CN" sz="240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1248156" y="5082540"/>
              <a:ext cx="823569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chemeClr val="dk2"/>
                  </a:solidFill>
                  <a:latin typeface="+mn-lt"/>
                  <a:ea typeface="+mn-ea"/>
                  <a:cs typeface="+mn-cs"/>
                </a:rPr>
                <a:t>Kinematic 抓取 · 等比缩放 · 沿法线外推 · 体积碰撞检查 · 最小 / 最大尺寸</a:t>
              </a:r>
              <a:endParaRPr lang="zh-CN" sz="1800" dirty="0">
                <a:solidFill>
                  <a:schemeClr val="dk2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55" name="Group 55"/>
          <p:cNvGrpSpPr/>
          <p:nvPr/>
        </p:nvGrpSpPr>
        <p:grpSpPr>
          <a:xfrm>
            <a:off x="552450" y="6353175"/>
            <a:ext cx="11055858" cy="432626"/>
            <a:chOff x="552450" y="6353175"/>
            <a:chExt cx="11055858" cy="432626"/>
          </a:xfrm>
        </p:grpSpPr>
        <p:sp>
          <p:nvSpPr>
            <p:cNvPr id="52" name="Line 52"/>
            <p:cNvSpPr/>
            <p:nvPr/>
          </p:nvSpPr>
          <p:spPr>
            <a:xfrm>
              <a:off x="552450" y="6353175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19050">
              <a:solidFill>
                <a:schemeClr val="accent4"/>
              </a:solidFill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11394681" y="6521768"/>
              <a:ext cx="2136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06</a:t>
              </a:r>
              <a:endParaRPr lang="en-US" sz="135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52450" y="270510"/>
            <a:ext cx="11329111" cy="8191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4200" b="1" dirty="0">
                <a:solidFill>
                  <a:schemeClr val="dk1"/>
                </a:solidFill>
                <a:latin typeface="+mj-lt"/>
                <a:ea typeface="+mj-ea"/>
                <a:cs typeface="+mj-cs"/>
              </a:rPr>
              <a:t>《看门狗》：控制权沿着摄像机网络移动</a:t>
            </a:r>
            <a:endParaRPr lang="zh-CN" sz="4200" b="1" dirty="0">
              <a:solidFill>
                <a:schemeClr val="dk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3" name="TextBox 3"/>
          <p:cNvSpPr txBox="1"/>
          <p:nvPr/>
        </p:nvSpPr>
        <p:spPr>
          <a:xfrm>
            <a:off x="581406" y="986790"/>
            <a:ext cx="5349240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800" dirty="0">
                <a:solidFill>
                  <a:schemeClr val="dk2"/>
                </a:solidFill>
                <a:latin typeface="+mn-lt"/>
                <a:ea typeface="+mn-ea"/>
                <a:cs typeface="+mn-cs"/>
              </a:rPr>
              <a:t>角色身体留在原地，视线与操作范围进入远处空间</a:t>
            </a:r>
            <a:endParaRPr lang="zh-CN" sz="1800" dirty="0">
              <a:solidFill>
                <a:schemeClr val="dk2"/>
              </a:solidFill>
              <a:latin typeface="+mn-lt"/>
              <a:ea typeface="+mn-ea"/>
              <a:cs typeface="+mn-cs"/>
            </a:endParaRPr>
          </a:p>
        </p:txBody>
      </p:sp>
      <p:grpSp>
        <p:nvGrpSpPr>
          <p:cNvPr id="44" name="Group 44"/>
          <p:cNvGrpSpPr/>
          <p:nvPr/>
        </p:nvGrpSpPr>
        <p:grpSpPr>
          <a:xfrm>
            <a:off x="1238250" y="1638300"/>
            <a:ext cx="10477500" cy="4653534"/>
            <a:chOff x="1238250" y="1638300"/>
            <a:chExt cx="10477500" cy="4653534"/>
          </a:xfrm>
        </p:grpSpPr>
        <p:grpSp>
          <p:nvGrpSpPr>
            <p:cNvPr id="8" name="Group 8"/>
            <p:cNvGrpSpPr/>
            <p:nvPr/>
          </p:nvGrpSpPr>
          <p:grpSpPr>
            <a:xfrm>
              <a:off x="2476500" y="2419350"/>
              <a:ext cx="8477250" cy="1181100"/>
              <a:chOff x="2476500" y="2419350"/>
              <a:chExt cx="8477250" cy="1181100"/>
            </a:xfrm>
          </p:grpSpPr>
          <p:sp>
            <p:nvSpPr>
              <p:cNvPr id="4" name="Line 4"/>
              <p:cNvSpPr/>
              <p:nvPr/>
            </p:nvSpPr>
            <p:spPr>
              <a:xfrm>
                <a:off x="2476500" y="2419350"/>
                <a:ext cx="2286000" cy="1181100"/>
              </a:xfrm>
              <a:custGeom>
                <a:avLst/>
                <a:gdLst/>
                <a:ahLst/>
                <a:cxnLst/>
                <a:rect l="l" t="t" r="r" b="b"/>
                <a:pathLst>
                  <a:path w="2286000" h="1181100">
                    <a:moveTo>
                      <a:pt x="0" y="0"/>
                    </a:moveTo>
                    <a:lnTo>
                      <a:pt x="2286000" y="1181100"/>
                    </a:lnTo>
                  </a:path>
                </a:pathLst>
              </a:custGeom>
              <a:noFill/>
              <a:ln w="47625" cap="rnd">
                <a:solidFill>
                  <a:schemeClr val="dk2"/>
                </a:solidFill>
              </a:ln>
            </p:spPr>
          </p:sp>
          <p:sp>
            <p:nvSpPr>
              <p:cNvPr id="5" name="Line 5"/>
              <p:cNvSpPr/>
              <p:nvPr/>
            </p:nvSpPr>
            <p:spPr>
              <a:xfrm>
                <a:off x="4762500" y="2419350"/>
                <a:ext cx="2428875" cy="1181100"/>
              </a:xfrm>
              <a:custGeom>
                <a:avLst/>
                <a:gdLst/>
                <a:ahLst/>
                <a:cxnLst/>
                <a:rect l="l" t="t" r="r" b="b"/>
                <a:pathLst>
                  <a:path w="2428875" h="1181100">
                    <a:moveTo>
                      <a:pt x="0" y="1181100"/>
                    </a:moveTo>
                    <a:lnTo>
                      <a:pt x="2428875" y="0"/>
                    </a:lnTo>
                  </a:path>
                </a:pathLst>
              </a:custGeom>
              <a:noFill/>
              <a:ln w="47625" cap="rnd">
                <a:solidFill>
                  <a:schemeClr val="dk2"/>
                </a:solidFill>
              </a:ln>
            </p:spPr>
          </p:sp>
          <p:sp>
            <p:nvSpPr>
              <p:cNvPr id="6" name="Line 6"/>
              <p:cNvSpPr/>
              <p:nvPr/>
            </p:nvSpPr>
            <p:spPr>
              <a:xfrm>
                <a:off x="7191375" y="2419350"/>
                <a:ext cx="2333625" cy="1181100"/>
              </a:xfrm>
              <a:custGeom>
                <a:avLst/>
                <a:gdLst/>
                <a:ahLst/>
                <a:cxnLst/>
                <a:rect l="l" t="t" r="r" b="b"/>
                <a:pathLst>
                  <a:path w="2333625" h="1181100">
                    <a:moveTo>
                      <a:pt x="0" y="0"/>
                    </a:moveTo>
                    <a:lnTo>
                      <a:pt x="2333625" y="1181100"/>
                    </a:lnTo>
                  </a:path>
                </a:pathLst>
              </a:custGeom>
              <a:noFill/>
              <a:ln w="47625" cap="rnd">
                <a:solidFill>
                  <a:schemeClr val="dk2"/>
                </a:solidFill>
              </a:ln>
            </p:spPr>
          </p:sp>
          <p:sp>
            <p:nvSpPr>
              <p:cNvPr id="7" name="Line 7"/>
              <p:cNvSpPr/>
              <p:nvPr/>
            </p:nvSpPr>
            <p:spPr>
              <a:xfrm>
                <a:off x="9525000" y="2419350"/>
                <a:ext cx="1428750" cy="1181100"/>
              </a:xfrm>
              <a:custGeom>
                <a:avLst/>
                <a:gdLst/>
                <a:ahLst/>
                <a:cxnLst/>
                <a:rect l="l" t="t" r="r" b="b"/>
                <a:pathLst>
                  <a:path w="1428750" h="1181100">
                    <a:moveTo>
                      <a:pt x="0" y="1181100"/>
                    </a:moveTo>
                    <a:lnTo>
                      <a:pt x="1428750" y="0"/>
                    </a:lnTo>
                  </a:path>
                </a:pathLst>
              </a:custGeom>
              <a:noFill/>
              <a:ln w="47625" cap="rnd">
                <a:solidFill>
                  <a:schemeClr val="dk2"/>
                </a:solidFill>
              </a:ln>
            </p:spPr>
          </p:sp>
        </p:grpSp>
        <p:grpSp>
          <p:nvGrpSpPr>
            <p:cNvPr id="17" name="Group 17"/>
            <p:cNvGrpSpPr/>
            <p:nvPr/>
          </p:nvGrpSpPr>
          <p:grpSpPr>
            <a:xfrm>
              <a:off x="1524000" y="1771650"/>
              <a:ext cx="2093671" cy="1295400"/>
              <a:chOff x="1524000" y="1771650"/>
              <a:chExt cx="2093671" cy="1295400"/>
            </a:xfrm>
          </p:grpSpPr>
          <p:sp>
            <p:nvSpPr>
              <p:cNvPr id="9" name="Rectangle 9"/>
              <p:cNvSpPr/>
              <p:nvPr/>
            </p:nvSpPr>
            <p:spPr>
              <a:xfrm>
                <a:off x="1524000" y="1771650"/>
                <a:ext cx="1905000" cy="1295400"/>
              </a:xfrm>
              <a:prstGeom prst="roundRect">
                <a:avLst>
                  <a:gd name="adj" fmla="val 16176"/>
                </a:avLst>
              </a:prstGeom>
              <a:solidFill>
                <a:srgbClr val="EAF0FA"/>
              </a:solidFill>
              <a:ln w="28575">
                <a:solidFill>
                  <a:schemeClr val="accent1"/>
                </a:solidFill>
              </a:ln>
            </p:spPr>
          </p:sp>
          <p:grpSp>
            <p:nvGrpSpPr>
              <p:cNvPr id="14" name="Group 14"/>
              <p:cNvGrpSpPr/>
              <p:nvPr/>
            </p:nvGrpSpPr>
            <p:grpSpPr>
              <a:xfrm>
                <a:off x="1962150" y="2066925"/>
                <a:ext cx="266700" cy="400050"/>
                <a:chOff x="1962150" y="2066925"/>
                <a:chExt cx="266700" cy="400050"/>
              </a:xfrm>
            </p:grpSpPr>
            <p:sp>
              <p:nvSpPr>
                <p:cNvPr id="10" name="Freeform 10"/>
                <p:cNvSpPr/>
                <p:nvPr/>
              </p:nvSpPr>
              <p:spPr>
                <a:xfrm>
                  <a:off x="2095500" y="2066925"/>
                  <a:ext cx="44450" cy="44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4450" h="44450">
                      <a:moveTo>
                        <a:pt x="0" y="22225"/>
                      </a:moveTo>
                      <a:cubicBezTo>
                        <a:pt x="0" y="34499"/>
                        <a:pt x="9950" y="44450"/>
                        <a:pt x="22225" y="44450"/>
                      </a:cubicBezTo>
                      <a:cubicBezTo>
                        <a:pt x="34499" y="44450"/>
                        <a:pt x="44450" y="34499"/>
                        <a:pt x="44450" y="22225"/>
                      </a:cubicBezTo>
                      <a:cubicBezTo>
                        <a:pt x="44450" y="9950"/>
                        <a:pt x="34499" y="0"/>
                        <a:pt x="22225" y="0"/>
                      </a:cubicBezTo>
                      <a:cubicBezTo>
                        <a:pt x="9950" y="0"/>
                        <a:pt x="0" y="9950"/>
                        <a:pt x="0" y="22225"/>
                      </a:cubicBezTo>
                    </a:path>
                  </a:pathLst>
                </a:custGeom>
                <a:noFill/>
                <a:ln w="19050">
                  <a:solidFill>
                    <a:schemeClr val="accent1"/>
                  </a:solidFill>
                </a:ln>
              </p:spPr>
            </p:sp>
            <p:sp>
              <p:nvSpPr>
                <p:cNvPr id="11" name="Freeform 11"/>
                <p:cNvSpPr/>
                <p:nvPr/>
              </p:nvSpPr>
              <p:spPr>
                <a:xfrm>
                  <a:off x="1984375" y="2378074"/>
                  <a:ext cx="66675" cy="889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6675" h="88900">
                      <a:moveTo>
                        <a:pt x="0" y="88900"/>
                      </a:moveTo>
                      <a:lnTo>
                        <a:pt x="66675" y="0"/>
                      </a:lnTo>
                    </a:path>
                  </a:pathLst>
                </a:custGeom>
                <a:noFill/>
                <a:ln w="19050">
                  <a:solidFill>
                    <a:schemeClr val="accent1"/>
                  </a:solidFill>
                </a:ln>
              </p:spPr>
            </p:sp>
            <p:sp>
              <p:nvSpPr>
                <p:cNvPr id="12" name="Freeform 12"/>
                <p:cNvSpPr/>
                <p:nvPr/>
              </p:nvSpPr>
              <p:spPr>
                <a:xfrm>
                  <a:off x="2073275" y="2178050"/>
                  <a:ext cx="111125" cy="2889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125" h="288925">
                      <a:moveTo>
                        <a:pt x="111125" y="288925"/>
                      </a:moveTo>
                      <a:lnTo>
                        <a:pt x="66675" y="200025"/>
                      </a:lnTo>
                      <a:lnTo>
                        <a:pt x="0" y="133350"/>
                      </a:lnTo>
                      <a:lnTo>
                        <a:pt x="22225" y="0"/>
                      </a:lnTo>
                    </a:path>
                  </a:pathLst>
                </a:custGeom>
                <a:noFill/>
                <a:ln w="19050">
                  <a:solidFill>
                    <a:schemeClr val="accent1"/>
                  </a:solidFill>
                </a:ln>
              </p:spPr>
            </p:sp>
            <p:sp>
              <p:nvSpPr>
                <p:cNvPr id="13" name="Freeform 13"/>
                <p:cNvSpPr/>
                <p:nvPr/>
              </p:nvSpPr>
              <p:spPr>
                <a:xfrm>
                  <a:off x="1962150" y="2178050"/>
                  <a:ext cx="266700" cy="889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66700" h="88900">
                      <a:moveTo>
                        <a:pt x="0" y="88900"/>
                      </a:moveTo>
                      <a:lnTo>
                        <a:pt x="44450" y="22225"/>
                      </a:lnTo>
                      <a:lnTo>
                        <a:pt x="133350" y="0"/>
                      </a:lnTo>
                      <a:lnTo>
                        <a:pt x="200025" y="66675"/>
                      </a:lnTo>
                      <a:lnTo>
                        <a:pt x="266700" y="88900"/>
                      </a:lnTo>
                    </a:path>
                  </a:pathLst>
                </a:custGeom>
                <a:noFill/>
                <a:ln w="19050">
                  <a:solidFill>
                    <a:schemeClr val="accent1"/>
                  </a:solidFill>
                </a:ln>
              </p:spPr>
            </p:sp>
          </p:grpSp>
          <p:sp>
            <p:nvSpPr>
              <p:cNvPr id="15" name="TextBox 15"/>
              <p:cNvSpPr txBox="1"/>
              <p:nvPr/>
            </p:nvSpPr>
            <p:spPr>
              <a:xfrm>
                <a:off x="2581656" y="2110740"/>
                <a:ext cx="1036015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800" b="1" dirty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rPr>
                  <a:t>玩家本体</a:t>
                </a:r>
                <a:endParaRPr lang="zh-CN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16" name="TextBox 16"/>
              <p:cNvSpPr txBox="1"/>
              <p:nvPr/>
            </p:nvSpPr>
            <p:spPr>
              <a:xfrm>
                <a:off x="1619250" y="2606040"/>
                <a:ext cx="1714500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800" dirty="0">
                    <a:solidFill>
                      <a:schemeClr val="dk2"/>
                    </a:solidFill>
                    <a:latin typeface="+mn-lt"/>
                    <a:ea typeface="+mn-ea"/>
                    <a:cs typeface="+mn-cs"/>
                  </a:rPr>
                  <a:t>仍然可能受威胁</a:t>
                </a:r>
                <a:endParaRPr lang="zh-CN" sz="1800" dirty="0">
                  <a:solidFill>
                    <a:schemeClr val="dk2"/>
                  </a:solidFill>
                  <a:latin typeface="+mn-lt"/>
                  <a:ea typeface="+mn-ea"/>
                  <a:cs typeface="+mn-cs"/>
                </a:endParaRPr>
              </a:p>
            </p:txBody>
          </p:sp>
        </p:grpSp>
        <p:grpSp>
          <p:nvGrpSpPr>
            <p:cNvPr id="23" name="Group 23"/>
            <p:cNvGrpSpPr/>
            <p:nvPr/>
          </p:nvGrpSpPr>
          <p:grpSpPr>
            <a:xfrm>
              <a:off x="3981450" y="2819400"/>
              <a:ext cx="1562100" cy="1562100"/>
              <a:chOff x="3981450" y="2819400"/>
              <a:chExt cx="1562100" cy="1562100"/>
            </a:xfrm>
          </p:grpSpPr>
          <p:sp>
            <p:nvSpPr>
              <p:cNvPr id="18" name="Ellipse 18"/>
              <p:cNvSpPr/>
              <p:nvPr/>
            </p:nvSpPr>
            <p:spPr>
              <a:xfrm>
                <a:off x="3981450" y="2819400"/>
                <a:ext cx="1562100" cy="15621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</p:sp>
          <p:grpSp>
            <p:nvGrpSpPr>
              <p:cNvPr id="21" name="Group 21"/>
              <p:cNvGrpSpPr/>
              <p:nvPr/>
            </p:nvGrpSpPr>
            <p:grpSpPr>
              <a:xfrm>
                <a:off x="4476750" y="3251200"/>
                <a:ext cx="571499" cy="507999"/>
                <a:chOff x="4476750" y="3251200"/>
                <a:chExt cx="571499" cy="507999"/>
              </a:xfrm>
            </p:grpSpPr>
            <p:sp>
              <p:nvSpPr>
                <p:cNvPr id="19" name="Freeform 19"/>
                <p:cNvSpPr/>
                <p:nvPr/>
              </p:nvSpPr>
              <p:spPr>
                <a:xfrm>
                  <a:off x="4476750" y="3251200"/>
                  <a:ext cx="571499" cy="50799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71499" h="507999">
                      <a:moveTo>
                        <a:pt x="63500" y="95250"/>
                      </a:moveTo>
                      <a:lnTo>
                        <a:pt x="95250" y="95250"/>
                      </a:lnTo>
                      <a:cubicBezTo>
                        <a:pt x="130320" y="95250"/>
                        <a:pt x="158750" y="66820"/>
                        <a:pt x="158750" y="31750"/>
                      </a:cubicBezTo>
                      <a:cubicBezTo>
                        <a:pt x="158750" y="14215"/>
                        <a:pt x="172965" y="0"/>
                        <a:pt x="190500" y="0"/>
                      </a:cubicBezTo>
                      <a:lnTo>
                        <a:pt x="381000" y="0"/>
                      </a:lnTo>
                      <a:cubicBezTo>
                        <a:pt x="398535" y="0"/>
                        <a:pt x="412750" y="14215"/>
                        <a:pt x="412750" y="31750"/>
                      </a:cubicBezTo>
                      <a:cubicBezTo>
                        <a:pt x="412750" y="66820"/>
                        <a:pt x="441179" y="95250"/>
                        <a:pt x="476250" y="95250"/>
                      </a:cubicBezTo>
                      <a:lnTo>
                        <a:pt x="507999" y="95250"/>
                      </a:lnTo>
                      <a:cubicBezTo>
                        <a:pt x="543070" y="95250"/>
                        <a:pt x="571499" y="123680"/>
                        <a:pt x="571499" y="158750"/>
                      </a:cubicBezTo>
                      <a:lnTo>
                        <a:pt x="571499" y="444500"/>
                      </a:lnTo>
                      <a:cubicBezTo>
                        <a:pt x="571499" y="479570"/>
                        <a:pt x="543070" y="507999"/>
                        <a:pt x="507999" y="507999"/>
                      </a:cubicBezTo>
                      <a:lnTo>
                        <a:pt x="63500" y="507999"/>
                      </a:lnTo>
                      <a:cubicBezTo>
                        <a:pt x="28430" y="507999"/>
                        <a:pt x="0" y="479570"/>
                        <a:pt x="0" y="444500"/>
                      </a:cubicBezTo>
                      <a:lnTo>
                        <a:pt x="0" y="158750"/>
                      </a:lnTo>
                      <a:cubicBezTo>
                        <a:pt x="0" y="123680"/>
                        <a:pt x="28430" y="95250"/>
                        <a:pt x="63500" y="95250"/>
                      </a:cubicBezTo>
                    </a:path>
                  </a:pathLst>
                </a:custGeom>
                <a:noFill/>
                <a:ln w="19050">
                  <a:solidFill>
                    <a:srgbClr val="FFFFFF"/>
                  </a:solidFill>
                </a:ln>
              </p:spPr>
            </p:sp>
            <p:sp>
              <p:nvSpPr>
                <p:cNvPr id="20" name="Freeform 20"/>
                <p:cNvSpPr/>
                <p:nvPr/>
              </p:nvSpPr>
              <p:spPr>
                <a:xfrm>
                  <a:off x="4667250" y="3441700"/>
                  <a:ext cx="190500" cy="1905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0500" h="190500">
                      <a:moveTo>
                        <a:pt x="0" y="95250"/>
                      </a:moveTo>
                      <a:cubicBezTo>
                        <a:pt x="0" y="147855"/>
                        <a:pt x="42645" y="190500"/>
                        <a:pt x="95250" y="190500"/>
                      </a:cubicBezTo>
                      <a:cubicBezTo>
                        <a:pt x="147855" y="190500"/>
                        <a:pt x="190500" y="147855"/>
                        <a:pt x="190500" y="95250"/>
                      </a:cubicBezTo>
                      <a:cubicBezTo>
                        <a:pt x="190500" y="42645"/>
                        <a:pt x="147855" y="0"/>
                        <a:pt x="95250" y="0"/>
                      </a:cubicBezTo>
                      <a:cubicBezTo>
                        <a:pt x="42645" y="0"/>
                        <a:pt x="0" y="42645"/>
                        <a:pt x="0" y="95250"/>
                      </a:cubicBezTo>
                    </a:path>
                  </a:pathLst>
                </a:custGeom>
                <a:noFill/>
                <a:ln w="19050">
                  <a:solidFill>
                    <a:srgbClr val="FFFFFF"/>
                  </a:solidFill>
                </a:ln>
              </p:spPr>
            </p:sp>
          </p:grpSp>
          <p:sp>
            <p:nvSpPr>
              <p:cNvPr id="22" name="TextBox 22"/>
              <p:cNvSpPr txBox="1"/>
              <p:nvPr/>
            </p:nvSpPr>
            <p:spPr>
              <a:xfrm>
                <a:off x="4191017" y="3925744"/>
                <a:ext cx="1142966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800" b="1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  <a:latin typeface="+mn-lt"/>
                    <a:ea typeface="+mn-ea"/>
                    <a:cs typeface="+mn-cs"/>
                  </a:rPr>
                  <a:t>Camera A</a:t>
                </a:r>
                <a:endParaRPr lang="en-US" sz="1800" b="1" dirty="0">
                  <a:solidFill>
                    <a:schemeClr val="accent2">
                      <a:lumMod val="60000"/>
                      <a:lumOff val="40000"/>
                    </a:schemeClr>
                  </a:solidFill>
                  <a:latin typeface="+mn-lt"/>
                  <a:ea typeface="+mn-ea"/>
                  <a:cs typeface="+mn-cs"/>
                </a:endParaRPr>
              </a:p>
            </p:txBody>
          </p:sp>
        </p:grpSp>
        <p:grpSp>
          <p:nvGrpSpPr>
            <p:cNvPr id="29" name="Group 29"/>
            <p:cNvGrpSpPr/>
            <p:nvPr/>
          </p:nvGrpSpPr>
          <p:grpSpPr>
            <a:xfrm>
              <a:off x="6410325" y="1638300"/>
              <a:ext cx="1562100" cy="1562100"/>
              <a:chOff x="6410325" y="1638300"/>
              <a:chExt cx="1562100" cy="1562100"/>
            </a:xfrm>
          </p:grpSpPr>
          <p:sp>
            <p:nvSpPr>
              <p:cNvPr id="24" name="Ellipse 24"/>
              <p:cNvSpPr/>
              <p:nvPr/>
            </p:nvSpPr>
            <p:spPr>
              <a:xfrm>
                <a:off x="6410325" y="1638300"/>
                <a:ext cx="1562100" cy="1562100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</p:sp>
          <p:grpSp>
            <p:nvGrpSpPr>
              <p:cNvPr id="27" name="Group 27"/>
              <p:cNvGrpSpPr/>
              <p:nvPr/>
            </p:nvGrpSpPr>
            <p:grpSpPr>
              <a:xfrm>
                <a:off x="6905625" y="2070100"/>
                <a:ext cx="571499" cy="507999"/>
                <a:chOff x="6905625" y="2070100"/>
                <a:chExt cx="571499" cy="507999"/>
              </a:xfrm>
            </p:grpSpPr>
            <p:sp>
              <p:nvSpPr>
                <p:cNvPr id="25" name="Freeform 25"/>
                <p:cNvSpPr/>
                <p:nvPr/>
              </p:nvSpPr>
              <p:spPr>
                <a:xfrm>
                  <a:off x="6905625" y="2070100"/>
                  <a:ext cx="571499" cy="50799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71499" h="507999">
                      <a:moveTo>
                        <a:pt x="63500" y="95250"/>
                      </a:moveTo>
                      <a:lnTo>
                        <a:pt x="95250" y="95250"/>
                      </a:lnTo>
                      <a:cubicBezTo>
                        <a:pt x="130320" y="95250"/>
                        <a:pt x="158750" y="66820"/>
                        <a:pt x="158750" y="31750"/>
                      </a:cubicBezTo>
                      <a:cubicBezTo>
                        <a:pt x="158750" y="14215"/>
                        <a:pt x="172965" y="0"/>
                        <a:pt x="190500" y="0"/>
                      </a:cubicBezTo>
                      <a:lnTo>
                        <a:pt x="381000" y="0"/>
                      </a:lnTo>
                      <a:cubicBezTo>
                        <a:pt x="398535" y="0"/>
                        <a:pt x="412750" y="14215"/>
                        <a:pt x="412750" y="31750"/>
                      </a:cubicBezTo>
                      <a:cubicBezTo>
                        <a:pt x="412750" y="66820"/>
                        <a:pt x="441179" y="95250"/>
                        <a:pt x="476250" y="95250"/>
                      </a:cubicBezTo>
                      <a:lnTo>
                        <a:pt x="507999" y="95250"/>
                      </a:lnTo>
                      <a:cubicBezTo>
                        <a:pt x="543070" y="95250"/>
                        <a:pt x="571499" y="123680"/>
                        <a:pt x="571499" y="158750"/>
                      </a:cubicBezTo>
                      <a:lnTo>
                        <a:pt x="571499" y="444500"/>
                      </a:lnTo>
                      <a:cubicBezTo>
                        <a:pt x="571499" y="479570"/>
                        <a:pt x="543070" y="507999"/>
                        <a:pt x="507999" y="507999"/>
                      </a:cubicBezTo>
                      <a:lnTo>
                        <a:pt x="63500" y="507999"/>
                      </a:lnTo>
                      <a:cubicBezTo>
                        <a:pt x="28430" y="507999"/>
                        <a:pt x="0" y="479570"/>
                        <a:pt x="0" y="444500"/>
                      </a:cubicBezTo>
                      <a:lnTo>
                        <a:pt x="0" y="158750"/>
                      </a:lnTo>
                      <a:cubicBezTo>
                        <a:pt x="0" y="123680"/>
                        <a:pt x="28430" y="95250"/>
                        <a:pt x="63500" y="95250"/>
                      </a:cubicBezTo>
                    </a:path>
                  </a:pathLst>
                </a:custGeom>
                <a:noFill/>
                <a:ln w="19050">
                  <a:solidFill>
                    <a:srgbClr val="FFFFFF"/>
                  </a:solidFill>
                </a:ln>
              </p:spPr>
            </p:sp>
            <p:sp>
              <p:nvSpPr>
                <p:cNvPr id="26" name="Freeform 26"/>
                <p:cNvSpPr/>
                <p:nvPr/>
              </p:nvSpPr>
              <p:spPr>
                <a:xfrm>
                  <a:off x="7096125" y="2260600"/>
                  <a:ext cx="190500" cy="1905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0500" h="190500">
                      <a:moveTo>
                        <a:pt x="0" y="95250"/>
                      </a:moveTo>
                      <a:cubicBezTo>
                        <a:pt x="0" y="147855"/>
                        <a:pt x="42645" y="190500"/>
                        <a:pt x="95250" y="190500"/>
                      </a:cubicBezTo>
                      <a:cubicBezTo>
                        <a:pt x="147855" y="190500"/>
                        <a:pt x="190500" y="147855"/>
                        <a:pt x="190500" y="95250"/>
                      </a:cubicBezTo>
                      <a:cubicBezTo>
                        <a:pt x="190500" y="42645"/>
                        <a:pt x="147855" y="0"/>
                        <a:pt x="95250" y="0"/>
                      </a:cubicBezTo>
                      <a:cubicBezTo>
                        <a:pt x="42645" y="0"/>
                        <a:pt x="0" y="42645"/>
                        <a:pt x="0" y="95250"/>
                      </a:cubicBezTo>
                    </a:path>
                  </a:pathLst>
                </a:custGeom>
                <a:noFill/>
                <a:ln w="19050">
                  <a:solidFill>
                    <a:srgbClr val="FFFFFF"/>
                  </a:solidFill>
                </a:ln>
              </p:spPr>
            </p:sp>
          </p:grpSp>
          <p:sp>
            <p:nvSpPr>
              <p:cNvPr id="28" name="TextBox 28"/>
              <p:cNvSpPr txBox="1"/>
              <p:nvPr/>
            </p:nvSpPr>
            <p:spPr>
              <a:xfrm>
                <a:off x="6619892" y="2684678"/>
                <a:ext cx="1142966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800" b="1" dirty="0">
                    <a:solidFill>
                      <a:schemeClr val="accent6">
                        <a:lumMod val="10000"/>
                        <a:lumOff val="90000"/>
                      </a:schemeClr>
                    </a:solidFill>
                    <a:latin typeface="+mn-lt"/>
                    <a:ea typeface="+mn-ea"/>
                    <a:cs typeface="+mn-cs"/>
                  </a:rPr>
                  <a:t>Camera B</a:t>
                </a:r>
                <a:endParaRPr lang="en-US" sz="1800" b="1" dirty="0">
                  <a:solidFill>
                    <a:schemeClr val="accent6">
                      <a:lumMod val="10000"/>
                      <a:lumOff val="90000"/>
                    </a:schemeClr>
                  </a:solidFill>
                  <a:latin typeface="+mn-lt"/>
                  <a:ea typeface="+mn-ea"/>
                  <a:cs typeface="+mn-cs"/>
                </a:endParaRPr>
              </a:p>
            </p:txBody>
          </p:sp>
        </p:grpSp>
        <p:grpSp>
          <p:nvGrpSpPr>
            <p:cNvPr id="33" name="Group 33"/>
            <p:cNvGrpSpPr/>
            <p:nvPr/>
          </p:nvGrpSpPr>
          <p:grpSpPr>
            <a:xfrm>
              <a:off x="8743950" y="2819400"/>
              <a:ext cx="1562100" cy="1562100"/>
              <a:chOff x="8743950" y="2819400"/>
              <a:chExt cx="1562100" cy="1562100"/>
            </a:xfrm>
          </p:grpSpPr>
          <p:sp>
            <p:nvSpPr>
              <p:cNvPr id="30" name="Ellipse 30"/>
              <p:cNvSpPr/>
              <p:nvPr/>
            </p:nvSpPr>
            <p:spPr>
              <a:xfrm>
                <a:off x="8743950" y="2819400"/>
                <a:ext cx="1562100" cy="1562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</p:sp>
          <p:sp>
            <p:nvSpPr>
              <p:cNvPr id="31" name="Freeform 31"/>
              <p:cNvSpPr/>
              <p:nvPr/>
            </p:nvSpPr>
            <p:spPr>
              <a:xfrm>
                <a:off x="9271000" y="3251200"/>
                <a:ext cx="507921" cy="507921"/>
              </a:xfrm>
              <a:custGeom>
                <a:avLst/>
                <a:gdLst/>
                <a:ahLst/>
                <a:cxnLst/>
                <a:rect l="l" t="t" r="r" b="b"/>
                <a:pathLst>
                  <a:path w="507921" h="507921">
                    <a:moveTo>
                      <a:pt x="123952" y="430625"/>
                    </a:moveTo>
                    <a:cubicBezTo>
                      <a:pt x="127410" y="446160"/>
                      <a:pt x="140159" y="457908"/>
                      <a:pt x="155924" y="460088"/>
                    </a:cubicBezTo>
                    <a:cubicBezTo>
                      <a:pt x="171689" y="462267"/>
                      <a:pt x="187148" y="454418"/>
                      <a:pt x="194691" y="440404"/>
                    </a:cubicBezTo>
                    <a:lnTo>
                      <a:pt x="261048" y="342201"/>
                    </a:lnTo>
                    <a:lnTo>
                      <a:pt x="416845" y="497998"/>
                    </a:lnTo>
                    <a:cubicBezTo>
                      <a:pt x="423199" y="504352"/>
                      <a:pt x="431816" y="507921"/>
                      <a:pt x="440801" y="507921"/>
                    </a:cubicBezTo>
                    <a:cubicBezTo>
                      <a:pt x="449786" y="507921"/>
                      <a:pt x="458403" y="504352"/>
                      <a:pt x="464756" y="497998"/>
                    </a:cubicBezTo>
                    <a:lnTo>
                      <a:pt x="497998" y="464756"/>
                    </a:lnTo>
                    <a:cubicBezTo>
                      <a:pt x="504352" y="458403"/>
                      <a:pt x="507921" y="449786"/>
                      <a:pt x="507921" y="440801"/>
                    </a:cubicBezTo>
                    <a:cubicBezTo>
                      <a:pt x="507921" y="431816"/>
                      <a:pt x="504352" y="423199"/>
                      <a:pt x="497998" y="416845"/>
                    </a:cubicBezTo>
                    <a:lnTo>
                      <a:pt x="342201" y="261048"/>
                    </a:lnTo>
                    <a:lnTo>
                      <a:pt x="441039" y="194691"/>
                    </a:lnTo>
                    <a:cubicBezTo>
                      <a:pt x="455053" y="187143"/>
                      <a:pt x="462898" y="171679"/>
                      <a:pt x="460711" y="155913"/>
                    </a:cubicBezTo>
                    <a:cubicBezTo>
                      <a:pt x="458524" y="140146"/>
                      <a:pt x="446767" y="127401"/>
                      <a:pt x="431228" y="123952"/>
                    </a:cubicBezTo>
                    <a:lnTo>
                      <a:pt x="0" y="0"/>
                    </a:lnTo>
                    <a:lnTo>
                      <a:pt x="123952" y="430625"/>
                    </a:lnTo>
                  </a:path>
                </a:pathLst>
              </a:custGeom>
              <a:noFill/>
              <a:ln w="19050">
                <a:solidFill>
                  <a:srgbClr val="FFFFFF"/>
                </a:solidFill>
              </a:ln>
            </p:spPr>
          </p:sp>
          <p:sp>
            <p:nvSpPr>
              <p:cNvPr id="32" name="TextBox 32"/>
              <p:cNvSpPr txBox="1"/>
              <p:nvPr/>
            </p:nvSpPr>
            <p:spPr>
              <a:xfrm>
                <a:off x="9006992" y="3992910"/>
                <a:ext cx="1036015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800" b="1" dirty="0">
                    <a:solidFill>
                      <a:srgbClr val="8C5A00"/>
                    </a:solidFill>
                    <a:latin typeface="+mn-lt"/>
                    <a:ea typeface="+mn-ea"/>
                    <a:cs typeface="+mn-cs"/>
                  </a:rPr>
                  <a:t>门控制器</a:t>
                </a:r>
                <a:endParaRPr lang="zh-CN" sz="1800" b="1" dirty="0">
                  <a:solidFill>
                    <a:srgbClr val="8C5A00"/>
                  </a:solidFill>
                  <a:latin typeface="+mn-lt"/>
                  <a:ea typeface="+mn-ea"/>
                  <a:cs typeface="+mn-cs"/>
                </a:endParaRPr>
              </a:p>
            </p:txBody>
          </p:sp>
        </p:grpSp>
        <p:grpSp>
          <p:nvGrpSpPr>
            <p:cNvPr id="38" name="Group 38"/>
            <p:cNvGrpSpPr/>
            <p:nvPr/>
          </p:nvGrpSpPr>
          <p:grpSpPr>
            <a:xfrm>
              <a:off x="10191750" y="1771650"/>
              <a:ext cx="1524000" cy="1300734"/>
              <a:chOff x="10191750" y="1771650"/>
              <a:chExt cx="1524000" cy="1300734"/>
            </a:xfrm>
          </p:grpSpPr>
          <p:sp>
            <p:nvSpPr>
              <p:cNvPr id="34" name="Rectangle 34"/>
              <p:cNvSpPr/>
              <p:nvPr/>
            </p:nvSpPr>
            <p:spPr>
              <a:xfrm>
                <a:off x="10191750" y="1771650"/>
                <a:ext cx="1524000" cy="1295400"/>
              </a:xfrm>
              <a:prstGeom prst="roundRect">
                <a:avLst>
                  <a:gd name="adj" fmla="val 16176"/>
                </a:avLst>
              </a:prstGeom>
              <a:solidFill>
                <a:srgbClr val="E8F5F0"/>
              </a:solidFill>
              <a:ln w="28575">
                <a:solidFill>
                  <a:schemeClr val="accent3"/>
                </a:solidFill>
              </a:ln>
            </p:spPr>
          </p:sp>
          <p:sp>
            <p:nvSpPr>
              <p:cNvPr id="35" name="Rectangle 35"/>
              <p:cNvSpPr/>
              <p:nvPr/>
            </p:nvSpPr>
            <p:spPr>
              <a:xfrm>
                <a:off x="10553700" y="1962150"/>
                <a:ext cx="800100" cy="704850"/>
              </a:xfrm>
              <a:prstGeom prst="roundRect">
                <a:avLst>
                  <a:gd name="adj" fmla="val 13514"/>
                </a:avLst>
              </a:prstGeom>
              <a:solidFill>
                <a:schemeClr val="accent3"/>
              </a:solidFill>
              <a:ln>
                <a:noFill/>
              </a:ln>
            </p:spPr>
          </p:sp>
          <p:sp>
            <p:nvSpPr>
              <p:cNvPr id="36" name="Freeform 36"/>
              <p:cNvSpPr/>
              <p:nvPr/>
            </p:nvSpPr>
            <p:spPr>
              <a:xfrm>
                <a:off x="10801350" y="2076450"/>
                <a:ext cx="304800" cy="495300"/>
              </a:xfrm>
              <a:custGeom>
                <a:avLst/>
                <a:gdLst/>
                <a:ahLst/>
                <a:cxnLst/>
                <a:rect l="l" t="t" r="r" b="b"/>
                <a:pathLst>
                  <a:path w="304800" h="495300">
                    <a:moveTo>
                      <a:pt x="152400" y="0"/>
                    </a:moveTo>
                    <a:lnTo>
                      <a:pt x="152400" y="495300"/>
                    </a:lnTo>
                    <a:moveTo>
                      <a:pt x="0" y="247650"/>
                    </a:moveTo>
                    <a:lnTo>
                      <a:pt x="304800" y="247650"/>
                    </a:lnTo>
                  </a:path>
                </a:pathLst>
              </a:custGeom>
              <a:solidFill>
                <a:srgbClr val="000000"/>
              </a:solidFill>
              <a:ln w="57150" cap="rnd">
                <a:solidFill>
                  <a:srgbClr val="FFFFFF"/>
                </a:solidFill>
              </a:ln>
            </p:spPr>
          </p:sp>
          <p:sp>
            <p:nvSpPr>
              <p:cNvPr id="37" name="TextBox 37"/>
              <p:cNvSpPr txBox="1"/>
              <p:nvPr/>
            </p:nvSpPr>
            <p:spPr>
              <a:xfrm>
                <a:off x="10562958" y="2720340"/>
                <a:ext cx="781583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800" b="1" dirty="0">
                    <a:solidFill>
                      <a:srgbClr val="2F8F6A"/>
                    </a:solidFill>
                    <a:latin typeface="+mn-lt"/>
                    <a:ea typeface="+mn-ea"/>
                    <a:cs typeface="+mn-cs"/>
                  </a:rPr>
                  <a:t>门打开</a:t>
                </a:r>
                <a:endParaRPr lang="zh-CN" sz="1800" b="1" dirty="0">
                  <a:solidFill>
                    <a:srgbClr val="2F8F6A"/>
                  </a:solidFill>
                  <a:latin typeface="+mn-lt"/>
                  <a:ea typeface="+mn-ea"/>
                  <a:cs typeface="+mn-cs"/>
                </a:endParaRPr>
              </a:p>
            </p:txBody>
          </p:sp>
        </p:grpSp>
        <p:sp>
          <p:nvSpPr>
            <p:cNvPr id="39" name="Rectangle 39"/>
            <p:cNvSpPr/>
            <p:nvPr/>
          </p:nvSpPr>
          <p:spPr>
            <a:xfrm>
              <a:off x="1238250" y="4838700"/>
              <a:ext cx="10096500" cy="1452245"/>
            </a:xfrm>
            <a:prstGeom prst="roundRect">
              <a:avLst>
                <a:gd name="adj" fmla="val 14773"/>
              </a:avLst>
            </a:prstGeom>
            <a:solidFill>
              <a:srgbClr val="FFFFFF"/>
            </a:solidFill>
            <a:ln w="28575">
              <a:solidFill>
                <a:schemeClr val="accent4"/>
              </a:solidFill>
            </a:ln>
          </p:spPr>
          <p:txBody>
            <a:bodyPr/>
            <a:p>
              <a:endParaRPr lang="zh-CN" altLang="en-US"/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1510284" y="5004435"/>
              <a:ext cx="7252064" cy="5280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7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实现框架：CameraNode + IRemoteDevice</a:t>
              </a:r>
              <a:endParaRPr lang="zh-CN" sz="2700" b="1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1514856" y="5558790"/>
              <a:ext cx="5215280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chemeClr val="dk2"/>
                  </a:solidFill>
                  <a:latin typeface="+mn-lt"/>
                  <a:ea typeface="+mn-ea"/>
                  <a:cs typeface="+mn-cs"/>
                </a:rPr>
                <a:t>摄像机只负责切换视角、寻找目标与调用 Use()</a:t>
              </a:r>
              <a:endParaRPr lang="zh-CN" sz="1800" dirty="0">
                <a:solidFill>
                  <a:schemeClr val="dk2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1514856" y="5939790"/>
              <a:ext cx="559155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chemeClr val="dk2"/>
                  </a:solidFill>
                  <a:latin typeface="+mn-lt"/>
                  <a:ea typeface="+mn-ea"/>
                  <a:cs typeface="+mn-cs"/>
                </a:rPr>
                <a:t>门、灯、升降机各自处理动画、状态与重复触发保护</a:t>
              </a:r>
              <a:endParaRPr lang="zh-CN" sz="1800" dirty="0">
                <a:solidFill>
                  <a:schemeClr val="dk2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48" name="Group 48"/>
          <p:cNvGrpSpPr/>
          <p:nvPr/>
        </p:nvGrpSpPr>
        <p:grpSpPr>
          <a:xfrm>
            <a:off x="552450" y="6353175"/>
            <a:ext cx="11055858" cy="432626"/>
            <a:chOff x="552450" y="6353175"/>
            <a:chExt cx="11055858" cy="432626"/>
          </a:xfrm>
        </p:grpSpPr>
        <p:sp>
          <p:nvSpPr>
            <p:cNvPr id="45" name="Line 45"/>
            <p:cNvSpPr/>
            <p:nvPr/>
          </p:nvSpPr>
          <p:spPr>
            <a:xfrm>
              <a:off x="552450" y="6353175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19050">
              <a:solidFill>
                <a:schemeClr val="accent4"/>
              </a:solidFill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11394681" y="6521768"/>
              <a:ext cx="2136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07</a:t>
              </a:r>
              <a:endParaRPr lang="en-US" sz="135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52450" y="270510"/>
            <a:ext cx="10701833" cy="8191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4200" b="1" dirty="0">
                <a:solidFill>
                  <a:schemeClr val="dk1"/>
                </a:solidFill>
                <a:latin typeface="+mj-lt"/>
                <a:ea typeface="+mj-ea"/>
                <a:cs typeface="+mj-cs"/>
              </a:rPr>
              <a:t>《传送门》：门没移动，空间关系变了</a:t>
            </a:r>
            <a:endParaRPr lang="zh-CN" sz="4200" b="1" dirty="0">
              <a:solidFill>
                <a:schemeClr val="dk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3" name="TextBox 3"/>
          <p:cNvSpPr txBox="1"/>
          <p:nvPr/>
        </p:nvSpPr>
        <p:spPr>
          <a:xfrm>
            <a:off x="581406" y="986790"/>
            <a:ext cx="4379976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800" dirty="0">
                <a:solidFill>
                  <a:schemeClr val="dk2"/>
                </a:solidFill>
                <a:latin typeface="+mn-lt"/>
                <a:ea typeface="+mn-ea"/>
                <a:cs typeface="+mn-cs"/>
              </a:rPr>
              <a:t>真正精彩的是位置、方向与速度一起转换</a:t>
            </a:r>
            <a:endParaRPr lang="zh-CN" sz="1800" dirty="0">
              <a:solidFill>
                <a:schemeClr val="dk2"/>
              </a:solidFill>
              <a:latin typeface="+mn-lt"/>
              <a:ea typeface="+mn-ea"/>
              <a:cs typeface="+mn-cs"/>
            </a:endParaRPr>
          </a:p>
        </p:txBody>
      </p:sp>
      <p:grpSp>
        <p:nvGrpSpPr>
          <p:cNvPr id="18" name="Group 18"/>
          <p:cNvGrpSpPr/>
          <p:nvPr/>
        </p:nvGrpSpPr>
        <p:grpSpPr>
          <a:xfrm>
            <a:off x="666750" y="1581150"/>
            <a:ext cx="10858500" cy="2881884"/>
            <a:chOff x="666750" y="1581150"/>
            <a:chExt cx="10858500" cy="2881884"/>
          </a:xfrm>
        </p:grpSpPr>
        <p:sp>
          <p:nvSpPr>
            <p:cNvPr id="4" name="Rectangle 4"/>
            <p:cNvSpPr/>
            <p:nvPr/>
          </p:nvSpPr>
          <p:spPr>
            <a:xfrm>
              <a:off x="666750" y="1581150"/>
              <a:ext cx="10858500" cy="2857500"/>
            </a:xfrm>
            <a:prstGeom prst="roundRect">
              <a:avLst>
                <a:gd name="adj" fmla="val 9333"/>
              </a:avLst>
            </a:prstGeom>
            <a:solidFill>
              <a:srgbClr val="FFFFFF"/>
            </a:solidFill>
            <a:ln w="28575">
              <a:solidFill>
                <a:schemeClr val="accent4"/>
              </a:solidFill>
            </a:ln>
          </p:spPr>
        </p:sp>
        <p:sp>
          <p:nvSpPr>
            <p:cNvPr id="5" name="Ellipse 5"/>
            <p:cNvSpPr/>
            <p:nvPr/>
          </p:nvSpPr>
          <p:spPr>
            <a:xfrm>
              <a:off x="1790700" y="1866900"/>
              <a:ext cx="1371600" cy="2286000"/>
            </a:xfrm>
            <a:prstGeom prst="ellipse">
              <a:avLst/>
            </a:prstGeom>
            <a:solidFill>
              <a:srgbClr val="EAF0FA"/>
            </a:solidFill>
            <a:ln w="114300">
              <a:solidFill>
                <a:schemeClr val="accent1"/>
              </a:solidFill>
            </a:ln>
          </p:spPr>
        </p:sp>
        <p:sp>
          <p:nvSpPr>
            <p:cNvPr id="6" name="Ellipse 6"/>
            <p:cNvSpPr/>
            <p:nvPr/>
          </p:nvSpPr>
          <p:spPr>
            <a:xfrm>
              <a:off x="9029700" y="1866900"/>
              <a:ext cx="1371600" cy="2286000"/>
            </a:xfrm>
            <a:prstGeom prst="ellipse">
              <a:avLst/>
            </a:prstGeom>
            <a:solidFill>
              <a:srgbClr val="FFF0D1"/>
            </a:solidFill>
            <a:ln w="114300">
              <a:solidFill>
                <a:schemeClr val="accent2"/>
              </a:solidFill>
            </a:ln>
          </p:spPr>
        </p:sp>
        <p:sp>
          <p:nvSpPr>
            <p:cNvPr id="7" name="Ellipse 7"/>
            <p:cNvSpPr/>
            <p:nvPr/>
          </p:nvSpPr>
          <p:spPr>
            <a:xfrm>
              <a:off x="1047750" y="2038350"/>
              <a:ext cx="571500" cy="571500"/>
            </a:xfrm>
            <a:prstGeom prst="ellipse">
              <a:avLst/>
            </a:prstGeom>
            <a:solidFill>
              <a:srgbClr val="D85C45"/>
            </a:solidFill>
            <a:ln>
              <a:noFill/>
            </a:ln>
          </p:spPr>
        </p:sp>
        <p:sp>
          <p:nvSpPr>
            <p:cNvPr id="8" name="Freeform 8"/>
            <p:cNvSpPr/>
            <p:nvPr/>
          </p:nvSpPr>
          <p:spPr>
            <a:xfrm>
              <a:off x="1333500" y="2628900"/>
              <a:ext cx="781050" cy="819150"/>
            </a:xfrm>
            <a:custGeom>
              <a:avLst/>
              <a:gdLst/>
              <a:ahLst/>
              <a:cxnLst/>
              <a:rect l="l" t="t" r="r" b="b"/>
              <a:pathLst>
                <a:path w="781050" h="819150">
                  <a:moveTo>
                    <a:pt x="0" y="0"/>
                  </a:moveTo>
                  <a:cubicBezTo>
                    <a:pt x="190500" y="685800"/>
                    <a:pt x="476250" y="819150"/>
                    <a:pt x="781050" y="590550"/>
                  </a:cubicBezTo>
                </a:path>
              </a:pathLst>
            </a:custGeom>
            <a:noFill/>
            <a:ln w="76200" cap="rnd">
              <a:solidFill>
                <a:srgbClr val="D85C45"/>
              </a:solidFill>
            </a:ln>
          </p:spPr>
        </p:sp>
        <p:sp>
          <p:nvSpPr>
            <p:cNvPr id="9" name="Freeform 9"/>
            <p:cNvSpPr/>
            <p:nvPr/>
          </p:nvSpPr>
          <p:spPr>
            <a:xfrm>
              <a:off x="1924050" y="2990850"/>
              <a:ext cx="228600" cy="247650"/>
            </a:xfrm>
            <a:custGeom>
              <a:avLst/>
              <a:gdLst/>
              <a:ahLst/>
              <a:cxnLst/>
              <a:rect l="l" t="t" r="r" b="b"/>
              <a:pathLst>
                <a:path w="228600" h="247650">
                  <a:moveTo>
                    <a:pt x="0" y="247650"/>
                  </a:moveTo>
                  <a:lnTo>
                    <a:pt x="228600" y="209550"/>
                  </a:lnTo>
                  <a:lnTo>
                    <a:pt x="133350" y="0"/>
                  </a:lnTo>
                </a:path>
              </a:pathLst>
            </a:custGeom>
            <a:noFill/>
            <a:ln w="76200">
              <a:solidFill>
                <a:srgbClr val="D85C45"/>
              </a:solidFill>
              <a:round/>
            </a:ln>
          </p:spPr>
        </p:sp>
        <p:sp>
          <p:nvSpPr>
            <p:cNvPr id="10" name="Freeform 10"/>
            <p:cNvSpPr/>
            <p:nvPr/>
          </p:nvSpPr>
          <p:spPr>
            <a:xfrm>
              <a:off x="3162300" y="3009900"/>
              <a:ext cx="5867400" cy="9525"/>
            </a:xfrm>
            <a:custGeom>
              <a:avLst/>
              <a:gdLst/>
              <a:ahLst/>
              <a:cxnLst/>
              <a:rect l="l" t="t" r="r" b="b"/>
              <a:pathLst>
                <a:path w="5867400" h="9525">
                  <a:moveTo>
                    <a:pt x="0" y="0"/>
                  </a:moveTo>
                  <a:cubicBezTo>
                    <a:pt x="1981200" y="0"/>
                    <a:pt x="3695700" y="0"/>
                    <a:pt x="5867400" y="0"/>
                  </a:cubicBezTo>
                </a:path>
              </a:pathLst>
            </a:custGeom>
            <a:noFill/>
            <a:ln w="76200" cap="rnd">
              <a:solidFill>
                <a:schemeClr val="dk2"/>
              </a:solidFill>
              <a:custDash>
                <a:ds d="225000" sp="150000"/>
              </a:custDash>
            </a:ln>
          </p:spPr>
        </p:sp>
        <p:sp>
          <p:nvSpPr>
            <p:cNvPr id="11" name="Freeform 11"/>
            <p:cNvSpPr/>
            <p:nvPr/>
          </p:nvSpPr>
          <p:spPr>
            <a:xfrm>
              <a:off x="8724900" y="2781300"/>
              <a:ext cx="342900" cy="457200"/>
            </a:xfrm>
            <a:custGeom>
              <a:avLst/>
              <a:gdLst/>
              <a:ahLst/>
              <a:cxnLst/>
              <a:rect l="l" t="t" r="r" b="b"/>
              <a:pathLst>
                <a:path w="342900" h="457200">
                  <a:moveTo>
                    <a:pt x="0" y="0"/>
                  </a:moveTo>
                  <a:lnTo>
                    <a:pt x="342900" y="228600"/>
                  </a:lnTo>
                  <a:lnTo>
                    <a:pt x="0" y="457200"/>
                  </a:lnTo>
                </a:path>
              </a:pathLst>
            </a:custGeom>
            <a:noFill/>
            <a:ln w="76200">
              <a:solidFill>
                <a:schemeClr val="dk2"/>
              </a:solidFill>
              <a:round/>
            </a:ln>
          </p:spPr>
        </p:sp>
        <p:sp>
          <p:nvSpPr>
            <p:cNvPr id="12" name="Freeform 12"/>
            <p:cNvSpPr/>
            <p:nvPr/>
          </p:nvSpPr>
          <p:spPr>
            <a:xfrm>
              <a:off x="10382250" y="2038350"/>
              <a:ext cx="800100" cy="971550"/>
            </a:xfrm>
            <a:custGeom>
              <a:avLst/>
              <a:gdLst/>
              <a:ahLst/>
              <a:cxnLst/>
              <a:rect l="l" t="t" r="r" b="b"/>
              <a:pathLst>
                <a:path w="800100" h="971550">
                  <a:moveTo>
                    <a:pt x="0" y="971550"/>
                  </a:moveTo>
                  <a:cubicBezTo>
                    <a:pt x="381000" y="685800"/>
                    <a:pt x="647700" y="361950"/>
                    <a:pt x="800100" y="0"/>
                  </a:cubicBezTo>
                </a:path>
              </a:pathLst>
            </a:custGeom>
            <a:noFill/>
            <a:ln w="76200" cap="rnd">
              <a:solidFill>
                <a:schemeClr val="accent3"/>
              </a:solidFill>
            </a:ln>
          </p:spPr>
        </p:sp>
        <p:sp>
          <p:nvSpPr>
            <p:cNvPr id="13" name="Freeform 13"/>
            <p:cNvSpPr/>
            <p:nvPr/>
          </p:nvSpPr>
          <p:spPr>
            <a:xfrm>
              <a:off x="10953750" y="2000250"/>
              <a:ext cx="304800" cy="304800"/>
            </a:xfrm>
            <a:custGeom>
              <a:avLst/>
              <a:gdLst/>
              <a:ahLst/>
              <a:cxnLst/>
              <a:rect l="l" t="t" r="r" b="b"/>
              <a:pathLst>
                <a:path w="304800" h="304800">
                  <a:moveTo>
                    <a:pt x="0" y="209550"/>
                  </a:moveTo>
                  <a:lnTo>
                    <a:pt x="247650" y="0"/>
                  </a:lnTo>
                  <a:lnTo>
                    <a:pt x="304800" y="304800"/>
                  </a:lnTo>
                </a:path>
              </a:pathLst>
            </a:custGeom>
            <a:noFill/>
            <a:ln w="76200">
              <a:solidFill>
                <a:schemeClr val="accent3"/>
              </a:solidFill>
              <a:round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1780330" y="4110990"/>
              <a:ext cx="1392340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入口 Portal</a:t>
              </a:r>
              <a:endParaRPr lang="zh-CN" sz="180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9019330" y="4110990"/>
              <a:ext cx="1392340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800" b="1" dirty="0">
                  <a:solidFill>
                    <a:srgbClr val="8C5A00"/>
                  </a:solidFill>
                  <a:latin typeface="+mn-lt"/>
                  <a:ea typeface="+mn-ea"/>
                  <a:cs typeface="+mn-cs"/>
                </a:rPr>
                <a:t>出口 Portal</a:t>
              </a:r>
              <a:endParaRPr lang="zh-CN" sz="1800" b="1" dirty="0">
                <a:solidFill>
                  <a:srgbClr val="8C5A00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066081" y="2426970"/>
              <a:ext cx="2059838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24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局部坐标变换</a:t>
              </a:r>
              <a:endParaRPr lang="zh-CN" sz="2400" b="1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4495800" y="3253740"/>
              <a:ext cx="3200400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800" dirty="0">
                  <a:solidFill>
                    <a:schemeClr val="dk2"/>
                  </a:solidFill>
                  <a:latin typeface="+mn-lt"/>
                  <a:ea typeface="+mn-ea"/>
                  <a:cs typeface="+mn-cs"/>
                </a:rPr>
                <a:t>位置 · 旋转 · Rigidbody 速度</a:t>
              </a:r>
              <a:endParaRPr lang="zh-CN" sz="1800" dirty="0">
                <a:solidFill>
                  <a:schemeClr val="dk2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952500" y="4762500"/>
            <a:ext cx="10287000" cy="990600"/>
            <a:chOff x="952500" y="4762500"/>
            <a:chExt cx="10287000" cy="990600"/>
          </a:xfrm>
        </p:grpSpPr>
        <p:sp>
          <p:nvSpPr>
            <p:cNvPr id="19" name="Rectangle 19"/>
            <p:cNvSpPr/>
            <p:nvPr/>
          </p:nvSpPr>
          <p:spPr>
            <a:xfrm>
              <a:off x="952500" y="4762500"/>
              <a:ext cx="10287000" cy="990600"/>
            </a:xfrm>
            <a:prstGeom prst="roundRect">
              <a:avLst>
                <a:gd name="adj" fmla="val 21154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229106" y="4949190"/>
              <a:ext cx="1290447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实现顺序：</a:t>
              </a:r>
              <a:endParaRPr lang="zh-CN" sz="180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229106" y="5311140"/>
              <a:ext cx="691217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入口局部变换 → 出口世界变换 → 速度方向转换 → 传送冷却防回弹</a:t>
              </a:r>
              <a:endParaRPr lang="zh-CN" sz="1800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552450" y="6353175"/>
            <a:ext cx="11055858" cy="432626"/>
            <a:chOff x="552450" y="6353175"/>
            <a:chExt cx="11055858" cy="432626"/>
          </a:xfrm>
        </p:grpSpPr>
        <p:sp>
          <p:nvSpPr>
            <p:cNvPr id="23" name="Line 23"/>
            <p:cNvSpPr/>
            <p:nvPr/>
          </p:nvSpPr>
          <p:spPr>
            <a:xfrm>
              <a:off x="552450" y="6353175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19050">
              <a:solidFill>
                <a:schemeClr val="accent4"/>
              </a:solidFill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11394681" y="6521768"/>
              <a:ext cx="2136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09</a:t>
              </a:r>
              <a:endParaRPr lang="en-US" sz="135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52450" y="270510"/>
            <a:ext cx="12337237" cy="8191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4200" b="1" dirty="0">
                <a:solidFill>
                  <a:schemeClr val="dk1"/>
                </a:solidFill>
                <a:latin typeface="+mj-lt"/>
                <a:ea typeface="+mj-ea"/>
                <a:cs typeface="+mj-cs"/>
              </a:rPr>
              <a:t>《Baba Is You》：玩家直接改写游戏规则</a:t>
            </a:r>
            <a:endParaRPr lang="zh-CN" sz="4200" b="1" dirty="0">
              <a:solidFill>
                <a:schemeClr val="dk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3" name="TextBox 3"/>
          <p:cNvSpPr txBox="1"/>
          <p:nvPr/>
        </p:nvSpPr>
        <p:spPr>
          <a:xfrm>
            <a:off x="581406" y="986790"/>
            <a:ext cx="5106924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800" dirty="0">
                <a:solidFill>
                  <a:schemeClr val="dk2"/>
                </a:solidFill>
                <a:latin typeface="+mn-lt"/>
                <a:ea typeface="+mn-ea"/>
                <a:cs typeface="+mn-cs"/>
              </a:rPr>
              <a:t>文字不是说明，而是可推动、可重组的规则方块</a:t>
            </a:r>
            <a:endParaRPr lang="zh-CN" sz="1800" dirty="0">
              <a:solidFill>
                <a:schemeClr val="dk2"/>
              </a:solidFill>
              <a:latin typeface="+mn-lt"/>
              <a:ea typeface="+mn-ea"/>
              <a:cs typeface="+mn-cs"/>
            </a:endParaRPr>
          </a:p>
        </p:txBody>
      </p:sp>
      <p:grpSp>
        <p:nvGrpSpPr>
          <p:cNvPr id="27" name="Group 27"/>
          <p:cNvGrpSpPr/>
          <p:nvPr/>
        </p:nvGrpSpPr>
        <p:grpSpPr>
          <a:xfrm>
            <a:off x="666750" y="1485900"/>
            <a:ext cx="6286500" cy="4210050"/>
            <a:chOff x="666750" y="1485900"/>
            <a:chExt cx="6286500" cy="4210050"/>
          </a:xfrm>
        </p:grpSpPr>
        <p:sp>
          <p:nvSpPr>
            <p:cNvPr id="4" name="Rectangle 4"/>
            <p:cNvSpPr/>
            <p:nvPr/>
          </p:nvSpPr>
          <p:spPr>
            <a:xfrm>
              <a:off x="666750" y="1485900"/>
              <a:ext cx="6286500" cy="4210050"/>
            </a:xfrm>
            <a:prstGeom prst="roundRect">
              <a:avLst>
                <a:gd name="adj" fmla="val 6335"/>
              </a:avLst>
            </a:prstGeom>
            <a:solidFill>
              <a:schemeClr val="dk1"/>
            </a:solidFill>
            <a:ln>
              <a:noFill/>
            </a:ln>
          </p:spPr>
        </p:sp>
        <p:grpSp>
          <p:nvGrpSpPr>
            <p:cNvPr id="23" name="Group 23"/>
            <p:cNvGrpSpPr/>
            <p:nvPr/>
          </p:nvGrpSpPr>
          <p:grpSpPr>
            <a:xfrm>
              <a:off x="1123950" y="2000250"/>
              <a:ext cx="4800600" cy="2819400"/>
              <a:chOff x="1123950" y="2000250"/>
              <a:chExt cx="4800600" cy="2819400"/>
            </a:xfrm>
          </p:grpSpPr>
          <p:sp>
            <p:nvSpPr>
              <p:cNvPr id="5" name="Rectangle 5"/>
              <p:cNvSpPr/>
              <p:nvPr/>
            </p:nvSpPr>
            <p:spPr>
              <a:xfrm>
                <a:off x="1123950" y="2000250"/>
                <a:ext cx="1524000" cy="685800"/>
              </a:xfrm>
              <a:prstGeom prst="roundRect">
                <a:avLst>
                  <a:gd name="adj" fmla="val 19444"/>
                </a:avLst>
              </a:prstGeom>
              <a:solidFill>
                <a:srgbClr val="EAF0FA"/>
              </a:solidFill>
              <a:ln>
                <a:noFill/>
              </a:ln>
            </p:spPr>
          </p:sp>
          <p:sp>
            <p:nvSpPr>
              <p:cNvPr id="6" name="TextBox 6"/>
              <p:cNvSpPr txBox="1"/>
              <p:nvPr/>
            </p:nvSpPr>
            <p:spPr>
              <a:xfrm>
                <a:off x="1479469" y="2188845"/>
                <a:ext cx="812963" cy="46939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2400" b="1" dirty="0">
                    <a:solidFill>
                      <a:schemeClr val="accent1"/>
                    </a:solidFill>
                    <a:latin typeface="Consolas" panose="020B0609020204030204"/>
                    <a:ea typeface="Consolas" panose="020B0609020204030204"/>
                    <a:cs typeface="Consolas" panose="020B0609020204030204"/>
                  </a:rPr>
                  <a:t>BABA</a:t>
                </a:r>
                <a:endParaRPr lang="en-US" sz="2400" b="1" dirty="0">
                  <a:solidFill>
                    <a:schemeClr val="accent1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endParaRPr>
              </a:p>
            </p:txBody>
          </p:sp>
          <p:sp>
            <p:nvSpPr>
              <p:cNvPr id="7" name="Rectangle 7"/>
              <p:cNvSpPr/>
              <p:nvPr/>
            </p:nvSpPr>
            <p:spPr>
              <a:xfrm>
                <a:off x="2952750" y="2000250"/>
                <a:ext cx="1143000" cy="685800"/>
              </a:xfrm>
              <a:prstGeom prst="roundRect">
                <a:avLst>
                  <a:gd name="adj" fmla="val 19444"/>
                </a:avLst>
              </a:prstGeom>
              <a:solidFill>
                <a:srgbClr val="FFFFFF"/>
              </a:solidFill>
              <a:ln>
                <a:noFill/>
              </a:ln>
            </p:spPr>
          </p:sp>
          <p:sp>
            <p:nvSpPr>
              <p:cNvPr id="8" name="TextBox 8"/>
              <p:cNvSpPr txBox="1"/>
              <p:nvPr/>
            </p:nvSpPr>
            <p:spPr>
              <a:xfrm>
                <a:off x="3359719" y="2188845"/>
                <a:ext cx="329062" cy="46939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2400" b="1" dirty="0">
                    <a:solidFill>
                      <a:schemeClr val="dk1"/>
                    </a:solidFill>
                    <a:latin typeface="Consolas" panose="020B0609020204030204"/>
                    <a:ea typeface="Consolas" panose="020B0609020204030204"/>
                    <a:cs typeface="Consolas" panose="020B0609020204030204"/>
                  </a:rPr>
                  <a:t>IS</a:t>
                </a:r>
                <a:endParaRPr lang="en-US" sz="2400" b="1" dirty="0">
                  <a:solidFill>
                    <a:schemeClr val="dk1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endParaRPr>
              </a:p>
            </p:txBody>
          </p:sp>
          <p:sp>
            <p:nvSpPr>
              <p:cNvPr id="9" name="Rectangle 9"/>
              <p:cNvSpPr/>
              <p:nvPr/>
            </p:nvSpPr>
            <p:spPr>
              <a:xfrm>
                <a:off x="4400550" y="2000250"/>
                <a:ext cx="1524000" cy="685800"/>
              </a:xfrm>
              <a:prstGeom prst="roundRect">
                <a:avLst>
                  <a:gd name="adj" fmla="val 19444"/>
                </a:avLst>
              </a:prstGeom>
              <a:solidFill>
                <a:srgbClr val="E8F5F0"/>
              </a:solidFill>
              <a:ln>
                <a:noFill/>
              </a:ln>
            </p:spPr>
          </p:sp>
          <p:sp>
            <p:nvSpPr>
              <p:cNvPr id="10" name="TextBox 10"/>
              <p:cNvSpPr txBox="1"/>
              <p:nvPr/>
            </p:nvSpPr>
            <p:spPr>
              <a:xfrm>
                <a:off x="4818797" y="2188845"/>
                <a:ext cx="687507" cy="46939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2400" b="1" dirty="0">
                    <a:solidFill>
                      <a:srgbClr val="2F8F6A"/>
                    </a:solidFill>
                    <a:latin typeface="Consolas" panose="020B0609020204030204"/>
                    <a:ea typeface="Consolas" panose="020B0609020204030204"/>
                    <a:cs typeface="Consolas" panose="020B0609020204030204"/>
                  </a:rPr>
                  <a:t>YOU</a:t>
                </a:r>
                <a:endParaRPr lang="en-US" sz="2400" b="1" dirty="0">
                  <a:solidFill>
                    <a:srgbClr val="2F8F6A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endParaRPr>
              </a:p>
            </p:txBody>
          </p:sp>
          <p:sp>
            <p:nvSpPr>
              <p:cNvPr id="11" name="Rectangle 11"/>
              <p:cNvSpPr/>
              <p:nvPr/>
            </p:nvSpPr>
            <p:spPr>
              <a:xfrm>
                <a:off x="1123950" y="3067050"/>
                <a:ext cx="1524000" cy="685800"/>
              </a:xfrm>
              <a:prstGeom prst="roundRect">
                <a:avLst>
                  <a:gd name="adj" fmla="val 19444"/>
                </a:avLst>
              </a:prstGeom>
              <a:solidFill>
                <a:srgbClr val="FFF0D1"/>
              </a:solidFill>
              <a:ln>
                <a:noFill/>
              </a:ln>
            </p:spPr>
          </p:sp>
          <p:sp>
            <p:nvSpPr>
              <p:cNvPr id="12" name="TextBox 12"/>
              <p:cNvSpPr txBox="1"/>
              <p:nvPr/>
            </p:nvSpPr>
            <p:spPr>
              <a:xfrm>
                <a:off x="1443624" y="3255645"/>
                <a:ext cx="884652" cy="46939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2400" b="1" dirty="0">
                    <a:solidFill>
                      <a:srgbClr val="8C5A00"/>
                    </a:solidFill>
                    <a:latin typeface="Consolas" panose="020B0609020204030204"/>
                    <a:ea typeface="Consolas" panose="020B0609020204030204"/>
                    <a:cs typeface="Consolas" panose="020B0609020204030204"/>
                  </a:rPr>
                  <a:t>WALL</a:t>
                </a:r>
                <a:endParaRPr lang="en-US" sz="2400" b="1" dirty="0">
                  <a:solidFill>
                    <a:srgbClr val="8C5A00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endParaRPr>
              </a:p>
            </p:txBody>
          </p:sp>
          <p:sp>
            <p:nvSpPr>
              <p:cNvPr id="13" name="Rectangle 13"/>
              <p:cNvSpPr/>
              <p:nvPr/>
            </p:nvSpPr>
            <p:spPr>
              <a:xfrm>
                <a:off x="2952750" y="3067050"/>
                <a:ext cx="1143000" cy="685800"/>
              </a:xfrm>
              <a:prstGeom prst="roundRect">
                <a:avLst>
                  <a:gd name="adj" fmla="val 19444"/>
                </a:avLst>
              </a:prstGeom>
              <a:solidFill>
                <a:srgbClr val="FFFFFF"/>
              </a:solidFill>
              <a:ln>
                <a:noFill/>
              </a:ln>
            </p:spPr>
          </p:sp>
          <p:sp>
            <p:nvSpPr>
              <p:cNvPr id="14" name="TextBox 14"/>
              <p:cNvSpPr txBox="1"/>
              <p:nvPr/>
            </p:nvSpPr>
            <p:spPr>
              <a:xfrm>
                <a:off x="3359719" y="3255645"/>
                <a:ext cx="329062" cy="46939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2400" b="1" dirty="0">
                    <a:solidFill>
                      <a:schemeClr val="dk1"/>
                    </a:solidFill>
                    <a:latin typeface="Consolas" panose="020B0609020204030204"/>
                    <a:ea typeface="Consolas" panose="020B0609020204030204"/>
                    <a:cs typeface="Consolas" panose="020B0609020204030204"/>
                  </a:rPr>
                  <a:t>IS</a:t>
                </a:r>
                <a:endParaRPr lang="en-US" sz="2400" b="1" dirty="0">
                  <a:solidFill>
                    <a:schemeClr val="dk1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endParaRPr>
              </a:p>
            </p:txBody>
          </p:sp>
          <p:sp>
            <p:nvSpPr>
              <p:cNvPr id="15" name="Rectangle 15"/>
              <p:cNvSpPr/>
              <p:nvPr/>
            </p:nvSpPr>
            <p:spPr>
              <a:xfrm>
                <a:off x="4400550" y="3067050"/>
                <a:ext cx="1524000" cy="685800"/>
              </a:xfrm>
              <a:prstGeom prst="roundRect">
                <a:avLst>
                  <a:gd name="adj" fmla="val 19444"/>
                </a:avLst>
              </a:prstGeom>
              <a:solidFill>
                <a:schemeClr val="lt2"/>
              </a:solidFill>
              <a:ln>
                <a:noFill/>
              </a:ln>
            </p:spPr>
          </p:sp>
          <p:sp>
            <p:nvSpPr>
              <p:cNvPr id="16" name="TextBox 16"/>
              <p:cNvSpPr txBox="1"/>
              <p:nvPr/>
            </p:nvSpPr>
            <p:spPr>
              <a:xfrm>
                <a:off x="4720224" y="3255645"/>
                <a:ext cx="884652" cy="46939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2400" b="1" dirty="0">
                    <a:solidFill>
                      <a:srgbClr val="D85C45"/>
                    </a:solidFill>
                    <a:latin typeface="Consolas" panose="020B0609020204030204"/>
                    <a:ea typeface="Consolas" panose="020B0609020204030204"/>
                    <a:cs typeface="Consolas" panose="020B0609020204030204"/>
                  </a:rPr>
                  <a:t>STOP</a:t>
                </a:r>
                <a:endParaRPr lang="en-US" sz="2400" b="1" dirty="0">
                  <a:solidFill>
                    <a:srgbClr val="D85C45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endParaRPr>
              </a:p>
            </p:txBody>
          </p:sp>
          <p:sp>
            <p:nvSpPr>
              <p:cNvPr id="17" name="Rectangle 17"/>
              <p:cNvSpPr/>
              <p:nvPr/>
            </p:nvSpPr>
            <p:spPr>
              <a:xfrm>
                <a:off x="1123950" y="4133850"/>
                <a:ext cx="1524000" cy="685800"/>
              </a:xfrm>
              <a:prstGeom prst="roundRect">
                <a:avLst>
                  <a:gd name="adj" fmla="val 19444"/>
                </a:avLst>
              </a:prstGeom>
              <a:solidFill>
                <a:srgbClr val="E8F5F0"/>
              </a:solidFill>
              <a:ln>
                <a:noFill/>
              </a:ln>
            </p:spPr>
          </p:sp>
          <p:sp>
            <p:nvSpPr>
              <p:cNvPr id="18" name="TextBox 18"/>
              <p:cNvSpPr txBox="1"/>
              <p:nvPr/>
            </p:nvSpPr>
            <p:spPr>
              <a:xfrm>
                <a:off x="1479469" y="4322445"/>
                <a:ext cx="812963" cy="46939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2400" b="1" dirty="0">
                    <a:solidFill>
                      <a:srgbClr val="2F8F6A"/>
                    </a:solidFill>
                    <a:latin typeface="Consolas" panose="020B0609020204030204"/>
                    <a:ea typeface="Consolas" panose="020B0609020204030204"/>
                    <a:cs typeface="Consolas" panose="020B0609020204030204"/>
                  </a:rPr>
                  <a:t>FLAG</a:t>
                </a:r>
                <a:endParaRPr lang="en-US" sz="2400" b="1" dirty="0">
                  <a:solidFill>
                    <a:srgbClr val="2F8F6A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endParaRPr>
              </a:p>
            </p:txBody>
          </p:sp>
          <p:sp>
            <p:nvSpPr>
              <p:cNvPr id="19" name="Rectangle 19"/>
              <p:cNvSpPr/>
              <p:nvPr/>
            </p:nvSpPr>
            <p:spPr>
              <a:xfrm>
                <a:off x="2952750" y="4133850"/>
                <a:ext cx="1143000" cy="685800"/>
              </a:xfrm>
              <a:prstGeom prst="roundRect">
                <a:avLst>
                  <a:gd name="adj" fmla="val 19444"/>
                </a:avLst>
              </a:prstGeom>
              <a:solidFill>
                <a:srgbClr val="FFFFFF"/>
              </a:solidFill>
              <a:ln>
                <a:noFill/>
              </a:ln>
            </p:spPr>
          </p:sp>
          <p:sp>
            <p:nvSpPr>
              <p:cNvPr id="20" name="TextBox 20"/>
              <p:cNvSpPr txBox="1"/>
              <p:nvPr/>
            </p:nvSpPr>
            <p:spPr>
              <a:xfrm>
                <a:off x="3359719" y="4322445"/>
                <a:ext cx="329062" cy="46939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2400" b="1" dirty="0">
                    <a:solidFill>
                      <a:schemeClr val="dk1"/>
                    </a:solidFill>
                    <a:latin typeface="Consolas" panose="020B0609020204030204"/>
                    <a:ea typeface="Consolas" panose="020B0609020204030204"/>
                    <a:cs typeface="Consolas" panose="020B0609020204030204"/>
                  </a:rPr>
                  <a:t>IS</a:t>
                </a:r>
                <a:endParaRPr lang="en-US" sz="2400" b="1" dirty="0">
                  <a:solidFill>
                    <a:schemeClr val="dk1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endParaRPr>
              </a:p>
            </p:txBody>
          </p:sp>
          <p:sp>
            <p:nvSpPr>
              <p:cNvPr id="21" name="Rectangle 21"/>
              <p:cNvSpPr/>
              <p:nvPr/>
            </p:nvSpPr>
            <p:spPr>
              <a:xfrm>
                <a:off x="4400550" y="4133850"/>
                <a:ext cx="1524000" cy="685800"/>
              </a:xfrm>
              <a:prstGeom prst="roundRect">
                <a:avLst>
                  <a:gd name="adj" fmla="val 19444"/>
                </a:avLst>
              </a:prstGeom>
              <a:solidFill>
                <a:srgbClr val="FFF0D1"/>
              </a:solidFill>
              <a:ln>
                <a:noFill/>
              </a:ln>
            </p:spPr>
          </p:sp>
          <p:sp>
            <p:nvSpPr>
              <p:cNvPr id="22" name="TextBox 22"/>
              <p:cNvSpPr txBox="1"/>
              <p:nvPr/>
            </p:nvSpPr>
            <p:spPr>
              <a:xfrm>
                <a:off x="4863602" y="4322445"/>
                <a:ext cx="597896" cy="46939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2400" b="1" dirty="0">
                    <a:solidFill>
                      <a:srgbClr val="8C5A00"/>
                    </a:solidFill>
                    <a:latin typeface="Consolas" panose="020B0609020204030204"/>
                    <a:ea typeface="Consolas" panose="020B0609020204030204"/>
                    <a:cs typeface="Consolas" panose="020B0609020204030204"/>
                  </a:rPr>
                  <a:t>WIN</a:t>
                </a:r>
                <a:endParaRPr lang="en-US" sz="2400" b="1" dirty="0">
                  <a:solidFill>
                    <a:srgbClr val="8C5A00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endParaRPr>
              </a:p>
            </p:txBody>
          </p:sp>
        </p:grpSp>
        <p:sp>
          <p:nvSpPr>
            <p:cNvPr id="24" name="Freeform 24"/>
            <p:cNvSpPr/>
            <p:nvPr/>
          </p:nvSpPr>
          <p:spPr>
            <a:xfrm>
              <a:off x="6096000" y="3409950"/>
              <a:ext cx="514350" cy="1066800"/>
            </a:xfrm>
            <a:custGeom>
              <a:avLst/>
              <a:gdLst/>
              <a:ahLst/>
              <a:cxnLst/>
              <a:rect l="l" t="t" r="r" b="b"/>
              <a:pathLst>
                <a:path w="514350" h="1066800">
                  <a:moveTo>
                    <a:pt x="0" y="0"/>
                  </a:moveTo>
                  <a:cubicBezTo>
                    <a:pt x="457200" y="0"/>
                    <a:pt x="514350" y="819150"/>
                    <a:pt x="0" y="1066800"/>
                  </a:cubicBezTo>
                </a:path>
              </a:pathLst>
            </a:custGeom>
            <a:noFill/>
            <a:ln w="66675" cap="rnd">
              <a:solidFill>
                <a:schemeClr val="accent2"/>
              </a:solidFill>
            </a:ln>
          </p:spPr>
        </p:sp>
        <p:sp>
          <p:nvSpPr>
            <p:cNvPr id="25" name="Freeform 25"/>
            <p:cNvSpPr/>
            <p:nvPr/>
          </p:nvSpPr>
          <p:spPr>
            <a:xfrm>
              <a:off x="6076950" y="4286250"/>
              <a:ext cx="228600" cy="247650"/>
            </a:xfrm>
            <a:custGeom>
              <a:avLst/>
              <a:gdLst/>
              <a:ahLst/>
              <a:cxnLst/>
              <a:rect l="l" t="t" r="r" b="b"/>
              <a:pathLst>
                <a:path w="228600" h="247650">
                  <a:moveTo>
                    <a:pt x="114300" y="0"/>
                  </a:moveTo>
                  <a:lnTo>
                    <a:pt x="0" y="209550"/>
                  </a:lnTo>
                  <a:lnTo>
                    <a:pt x="228600" y="247650"/>
                  </a:lnTo>
                </a:path>
              </a:pathLst>
            </a:custGeom>
            <a:noFill/>
            <a:ln w="66675">
              <a:solidFill>
                <a:schemeClr val="accent2"/>
              </a:solidFill>
              <a:round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2303069" y="5177790"/>
              <a:ext cx="301386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8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推走 STOP，墙就不再阻挡</a:t>
              </a:r>
              <a:endParaRPr lang="zh-CN" sz="1800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45" name="Group 45"/>
          <p:cNvGrpSpPr/>
          <p:nvPr/>
        </p:nvGrpSpPr>
        <p:grpSpPr>
          <a:xfrm>
            <a:off x="7334250" y="1485900"/>
            <a:ext cx="4191000" cy="4210050"/>
            <a:chOff x="7334250" y="1485900"/>
            <a:chExt cx="4191000" cy="4210050"/>
          </a:xfrm>
        </p:grpSpPr>
        <p:sp>
          <p:nvSpPr>
            <p:cNvPr id="28" name="Rectangle 28"/>
            <p:cNvSpPr/>
            <p:nvPr/>
          </p:nvSpPr>
          <p:spPr>
            <a:xfrm>
              <a:off x="7334250" y="1485900"/>
              <a:ext cx="4191000" cy="4210050"/>
            </a:xfrm>
            <a:prstGeom prst="roundRect">
              <a:avLst>
                <a:gd name="adj" fmla="val 6364"/>
              </a:avLst>
            </a:prstGeom>
            <a:solidFill>
              <a:srgbClr val="FFFFFF"/>
            </a:solidFill>
            <a:ln w="28575">
              <a:solidFill>
                <a:schemeClr val="accent4"/>
              </a:solidFill>
            </a:ln>
          </p:spPr>
        </p:sp>
        <p:grpSp>
          <p:nvGrpSpPr>
            <p:cNvPr id="35" name="Group 35"/>
            <p:cNvGrpSpPr/>
            <p:nvPr/>
          </p:nvGrpSpPr>
          <p:grpSpPr>
            <a:xfrm>
              <a:off x="7686675" y="1800225"/>
              <a:ext cx="342900" cy="342900"/>
              <a:chOff x="7686675" y="1800225"/>
              <a:chExt cx="342900" cy="342900"/>
            </a:xfrm>
          </p:grpSpPr>
          <p:sp>
            <p:nvSpPr>
              <p:cNvPr id="29" name="Freeform 29"/>
              <p:cNvSpPr/>
              <p:nvPr/>
            </p:nvSpPr>
            <p:spPr>
              <a:xfrm>
                <a:off x="7686675" y="1800225"/>
                <a:ext cx="85725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85725" h="85725">
                    <a:moveTo>
                      <a:pt x="0" y="85725"/>
                    </a:moveTo>
                    <a:lnTo>
                      <a:pt x="0" y="42862"/>
                    </a:lnTo>
                    <a:cubicBezTo>
                      <a:pt x="0" y="19190"/>
                      <a:pt x="19190" y="0"/>
                      <a:pt x="42862" y="0"/>
                    </a:cubicBezTo>
                    <a:lnTo>
                      <a:pt x="85725" y="0"/>
                    </a:lnTo>
                  </a:path>
                </a:pathLst>
              </a:custGeom>
              <a:noFill/>
              <a:ln w="19050">
                <a:solidFill>
                  <a:schemeClr val="accent1"/>
                </a:solidFill>
              </a:ln>
            </p:spPr>
          </p:sp>
          <p:sp>
            <p:nvSpPr>
              <p:cNvPr id="30" name="Freeform 30"/>
              <p:cNvSpPr/>
              <p:nvPr/>
            </p:nvSpPr>
            <p:spPr>
              <a:xfrm>
                <a:off x="7686675" y="2057400"/>
                <a:ext cx="85725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85725" h="85725">
                    <a:moveTo>
                      <a:pt x="0" y="0"/>
                    </a:moveTo>
                    <a:lnTo>
                      <a:pt x="0" y="42862"/>
                    </a:lnTo>
                    <a:cubicBezTo>
                      <a:pt x="0" y="66535"/>
                      <a:pt x="19190" y="85725"/>
                      <a:pt x="42862" y="85725"/>
                    </a:cubicBezTo>
                    <a:lnTo>
                      <a:pt x="85725" y="85725"/>
                    </a:lnTo>
                  </a:path>
                </a:pathLst>
              </a:custGeom>
              <a:noFill/>
              <a:ln w="19050">
                <a:solidFill>
                  <a:schemeClr val="accent1"/>
                </a:solidFill>
              </a:ln>
            </p:spPr>
          </p:sp>
          <p:sp>
            <p:nvSpPr>
              <p:cNvPr id="31" name="Freeform 31"/>
              <p:cNvSpPr/>
              <p:nvPr/>
            </p:nvSpPr>
            <p:spPr>
              <a:xfrm>
                <a:off x="7943850" y="1800225"/>
                <a:ext cx="85725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85725" h="85725">
                    <a:moveTo>
                      <a:pt x="0" y="0"/>
                    </a:moveTo>
                    <a:lnTo>
                      <a:pt x="42862" y="0"/>
                    </a:lnTo>
                    <a:cubicBezTo>
                      <a:pt x="66535" y="0"/>
                      <a:pt x="85725" y="19190"/>
                      <a:pt x="85725" y="42862"/>
                    </a:cubicBezTo>
                    <a:lnTo>
                      <a:pt x="85725" y="85725"/>
                    </a:lnTo>
                  </a:path>
                </a:pathLst>
              </a:custGeom>
              <a:noFill/>
              <a:ln w="19050">
                <a:solidFill>
                  <a:schemeClr val="accent1"/>
                </a:solidFill>
              </a:ln>
            </p:spPr>
          </p:sp>
          <p:sp>
            <p:nvSpPr>
              <p:cNvPr id="32" name="Freeform 32"/>
              <p:cNvSpPr/>
              <p:nvPr/>
            </p:nvSpPr>
            <p:spPr>
              <a:xfrm>
                <a:off x="7943850" y="2057400"/>
                <a:ext cx="85725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85725" h="85725">
                    <a:moveTo>
                      <a:pt x="0" y="85725"/>
                    </a:moveTo>
                    <a:lnTo>
                      <a:pt x="42862" y="85725"/>
                    </a:lnTo>
                    <a:cubicBezTo>
                      <a:pt x="66535" y="85725"/>
                      <a:pt x="85725" y="66535"/>
                      <a:pt x="85725" y="42862"/>
                    </a:cubicBezTo>
                    <a:lnTo>
                      <a:pt x="85725" y="0"/>
                    </a:lnTo>
                  </a:path>
                </a:pathLst>
              </a:custGeom>
              <a:noFill/>
              <a:ln w="19050">
                <a:solidFill>
                  <a:schemeClr val="accent1"/>
                </a:solidFill>
              </a:ln>
            </p:spPr>
          </p:sp>
          <p:sp>
            <p:nvSpPr>
              <p:cNvPr id="33" name="Freeform 33"/>
              <p:cNvSpPr/>
              <p:nvPr/>
            </p:nvSpPr>
            <p:spPr>
              <a:xfrm>
                <a:off x="7858125" y="1907381"/>
                <a:ext cx="9525" cy="150019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50019">
                    <a:moveTo>
                      <a:pt x="0" y="150019"/>
                    </a:moveTo>
                    <a:lnTo>
                      <a:pt x="0" y="0"/>
                    </a:lnTo>
                  </a:path>
                </a:pathLst>
              </a:custGeom>
              <a:noFill/>
              <a:ln w="19050">
                <a:solidFill>
                  <a:schemeClr val="accent1"/>
                </a:solidFill>
              </a:ln>
            </p:spPr>
          </p:sp>
          <p:sp>
            <p:nvSpPr>
              <p:cNvPr id="34" name="Freeform 34"/>
              <p:cNvSpPr/>
              <p:nvPr/>
            </p:nvSpPr>
            <p:spPr>
              <a:xfrm>
                <a:off x="7793831" y="1907381"/>
                <a:ext cx="12858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28588" h="9525">
                    <a:moveTo>
                      <a:pt x="0" y="0"/>
                    </a:moveTo>
                    <a:lnTo>
                      <a:pt x="128588" y="0"/>
                    </a:lnTo>
                  </a:path>
                </a:pathLst>
              </a:custGeom>
              <a:noFill/>
              <a:ln w="19050">
                <a:solidFill>
                  <a:schemeClr val="accent1"/>
                </a:solidFill>
              </a:ln>
            </p:spPr>
          </p:sp>
        </p:grpSp>
        <p:sp>
          <p:nvSpPr>
            <p:cNvPr id="36" name="TextBox 36"/>
            <p:cNvSpPr txBox="1"/>
            <p:nvPr/>
          </p:nvSpPr>
          <p:spPr>
            <a:xfrm>
              <a:off x="8273034" y="1765935"/>
              <a:ext cx="1935670" cy="5280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7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每回合解析</a:t>
              </a:r>
              <a:endParaRPr lang="zh-CN" sz="2700" b="1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grpSp>
          <p:nvGrpSpPr>
            <p:cNvPr id="43" name="Group 43"/>
            <p:cNvGrpSpPr/>
            <p:nvPr/>
          </p:nvGrpSpPr>
          <p:grpSpPr>
            <a:xfrm>
              <a:off x="7610856" y="2472690"/>
              <a:ext cx="3023006" cy="2828544"/>
              <a:chOff x="7610856" y="2472690"/>
              <a:chExt cx="3023006" cy="2828544"/>
            </a:xfrm>
          </p:grpSpPr>
          <p:sp>
            <p:nvSpPr>
              <p:cNvPr id="37" name="TextBox 37"/>
              <p:cNvSpPr txBox="1"/>
              <p:nvPr/>
            </p:nvSpPr>
            <p:spPr>
              <a:xfrm>
                <a:off x="7610856" y="2472690"/>
                <a:ext cx="2538374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800" dirty="0">
                    <a:solidFill>
                      <a:schemeClr val="dk2"/>
                    </a:solidFill>
                    <a:latin typeface="+mn-lt"/>
                    <a:ea typeface="+mn-ea"/>
                    <a:cs typeface="+mn-cs"/>
                  </a:rPr>
                  <a:t>1. 扫描横向与纵向文字</a:t>
                </a:r>
                <a:endParaRPr lang="zh-CN" sz="1800" dirty="0">
                  <a:solidFill>
                    <a:schemeClr val="dk2"/>
                  </a:solidFill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38" name="TextBox 38"/>
              <p:cNvSpPr txBox="1"/>
              <p:nvPr/>
            </p:nvSpPr>
            <p:spPr>
              <a:xfrm>
                <a:off x="7610856" y="2967990"/>
                <a:ext cx="2796235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800" dirty="0">
                    <a:solidFill>
                      <a:schemeClr val="dk2"/>
                    </a:solidFill>
                    <a:latin typeface="+mn-lt"/>
                    <a:ea typeface="+mn-ea"/>
                    <a:cs typeface="+mn-cs"/>
                  </a:rPr>
                  <a:t>2. 识别 名词 + IS + 属性</a:t>
                </a:r>
                <a:endParaRPr lang="zh-CN" sz="1800" dirty="0">
                  <a:solidFill>
                    <a:schemeClr val="dk2"/>
                  </a:solidFill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39" name="TextBox 39"/>
              <p:cNvSpPr txBox="1"/>
              <p:nvPr/>
            </p:nvSpPr>
            <p:spPr>
              <a:xfrm>
                <a:off x="7610856" y="3463290"/>
                <a:ext cx="2538374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800" dirty="0">
                    <a:solidFill>
                      <a:schemeClr val="dk2"/>
                    </a:solidFill>
                    <a:latin typeface="+mn-lt"/>
                    <a:ea typeface="+mn-ea"/>
                    <a:cs typeface="+mn-cs"/>
                  </a:rPr>
                  <a:t>3. 生成本回合规则集合</a:t>
                </a:r>
                <a:endParaRPr lang="zh-CN" sz="1800" dirty="0">
                  <a:solidFill>
                    <a:schemeClr val="dk2"/>
                  </a:solidFill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40" name="TextBox 40"/>
              <p:cNvSpPr txBox="1"/>
              <p:nvPr/>
            </p:nvSpPr>
            <p:spPr>
              <a:xfrm>
                <a:off x="7610856" y="3958590"/>
                <a:ext cx="2780690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800" dirty="0">
                    <a:solidFill>
                      <a:schemeClr val="dk2"/>
                    </a:solidFill>
                    <a:latin typeface="+mn-lt"/>
                    <a:ea typeface="+mn-ea"/>
                    <a:cs typeface="+mn-cs"/>
                  </a:rPr>
                  <a:t>4. 清除上一回合动态规则</a:t>
                </a:r>
                <a:endParaRPr lang="zh-CN" sz="1800" dirty="0">
                  <a:solidFill>
                    <a:schemeClr val="dk2"/>
                  </a:solidFill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41" name="TextBox 41"/>
              <p:cNvSpPr txBox="1"/>
              <p:nvPr/>
            </p:nvSpPr>
            <p:spPr>
              <a:xfrm>
                <a:off x="7610856" y="4453890"/>
                <a:ext cx="2780690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800" dirty="0">
                    <a:solidFill>
                      <a:schemeClr val="dk2"/>
                    </a:solidFill>
                    <a:latin typeface="+mn-lt"/>
                    <a:ea typeface="+mn-ea"/>
                    <a:cs typeface="+mn-cs"/>
                  </a:rPr>
                  <a:t>5. 应用新属性与对象转换</a:t>
                </a:r>
                <a:endParaRPr lang="zh-CN" sz="1800" dirty="0">
                  <a:solidFill>
                    <a:schemeClr val="dk2"/>
                  </a:solidFill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42" name="TextBox 42"/>
              <p:cNvSpPr txBox="1"/>
              <p:nvPr/>
            </p:nvSpPr>
            <p:spPr>
              <a:xfrm>
                <a:off x="7610856" y="4949190"/>
                <a:ext cx="3023006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800" dirty="0">
                    <a:solidFill>
                      <a:schemeClr val="dk2"/>
                    </a:solidFill>
                    <a:latin typeface="+mn-lt"/>
                    <a:ea typeface="+mn-ea"/>
                    <a:cs typeface="+mn-cs"/>
                  </a:rPr>
                  <a:t>6. 再判断移动、胜负与冲突</a:t>
                </a:r>
                <a:endParaRPr lang="zh-CN" sz="1800" dirty="0">
                  <a:solidFill>
                    <a:schemeClr val="dk2"/>
                  </a:solidFill>
                  <a:latin typeface="+mn-lt"/>
                  <a:ea typeface="+mn-ea"/>
                  <a:cs typeface="+mn-cs"/>
                </a:endParaRPr>
              </a:p>
            </p:txBody>
          </p:sp>
        </p:grpSp>
        <p:sp>
          <p:nvSpPr>
            <p:cNvPr id="44" name="Rectangle 44"/>
            <p:cNvSpPr/>
            <p:nvPr/>
          </p:nvSpPr>
          <p:spPr>
            <a:xfrm>
              <a:off x="7600950" y="5314950"/>
              <a:ext cx="3657600" cy="266700"/>
            </a:xfrm>
            <a:prstGeom prst="roundRect">
              <a:avLst>
                <a:gd name="adj" fmla="val 35714"/>
              </a:avLst>
            </a:prstGeom>
            <a:solidFill>
              <a:srgbClr val="EAF0FA"/>
            </a:solidFill>
            <a:ln>
              <a:noFill/>
            </a:ln>
          </p:spPr>
        </p:sp>
      </p:grpSp>
      <p:grpSp>
        <p:nvGrpSpPr>
          <p:cNvPr id="49" name="Group 49"/>
          <p:cNvGrpSpPr/>
          <p:nvPr/>
        </p:nvGrpSpPr>
        <p:grpSpPr>
          <a:xfrm>
            <a:off x="552450" y="6353175"/>
            <a:ext cx="11055858" cy="432626"/>
            <a:chOff x="552450" y="6353175"/>
            <a:chExt cx="11055858" cy="432626"/>
          </a:xfrm>
        </p:grpSpPr>
        <p:sp>
          <p:nvSpPr>
            <p:cNvPr id="46" name="Line 46"/>
            <p:cNvSpPr/>
            <p:nvPr/>
          </p:nvSpPr>
          <p:spPr>
            <a:xfrm>
              <a:off x="552450" y="6353175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19050">
              <a:solidFill>
                <a:schemeClr val="accent4"/>
              </a:solidFill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11394681" y="6521768"/>
              <a:ext cx="2136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fld id="{5B3E3A1B-B275-4712-ACF4-DF6FEEB5CDF0}" type="slidenum">
                <a:rPr lang="en-US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</a:fld>
              <a:endParaRPr lang="en-US" sz="135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52450" y="270510"/>
            <a:ext cx="4287520" cy="64579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4200" b="1" dirty="0">
                <a:solidFill>
                  <a:schemeClr val="dk1"/>
                </a:solidFill>
                <a:latin typeface="+mj-lt"/>
                <a:ea typeface="+mj-ea"/>
                <a:cs typeface="+mj-cs"/>
              </a:rPr>
              <a:t>普通动作构成玩法</a:t>
            </a:r>
            <a:endParaRPr lang="zh-CN" sz="4200" b="1" dirty="0">
              <a:solidFill>
                <a:schemeClr val="dk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3" name="TextBox 3"/>
          <p:cNvSpPr txBox="1"/>
          <p:nvPr/>
        </p:nvSpPr>
        <p:spPr>
          <a:xfrm>
            <a:off x="581406" y="986790"/>
            <a:ext cx="6585052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800" dirty="0">
                <a:solidFill>
                  <a:schemeClr val="dk2"/>
                </a:solidFill>
                <a:latin typeface="+mn-lt"/>
                <a:ea typeface="+mn-ea"/>
                <a:cs typeface="+mn-cs"/>
              </a:rPr>
              <a:t>整理文件与走路，本来都不是“技能”，却可以承载决策与压力</a:t>
            </a:r>
            <a:endParaRPr lang="zh-CN" sz="1800" dirty="0">
              <a:solidFill>
                <a:schemeClr val="dk2"/>
              </a:solidFill>
              <a:latin typeface="+mn-lt"/>
              <a:ea typeface="+mn-ea"/>
              <a:cs typeface="+mn-cs"/>
            </a:endParaRPr>
          </a:p>
        </p:txBody>
      </p:sp>
      <p:grpSp>
        <p:nvGrpSpPr>
          <p:cNvPr id="37" name="Group 37"/>
          <p:cNvGrpSpPr/>
          <p:nvPr/>
        </p:nvGrpSpPr>
        <p:grpSpPr>
          <a:xfrm>
            <a:off x="762000" y="1524000"/>
            <a:ext cx="10668000" cy="4171950"/>
            <a:chOff x="762000" y="1524000"/>
            <a:chExt cx="10668000" cy="4171950"/>
          </a:xfrm>
        </p:grpSpPr>
        <p:grpSp>
          <p:nvGrpSpPr>
            <p:cNvPr id="20" name="Group 20"/>
            <p:cNvGrpSpPr/>
            <p:nvPr/>
          </p:nvGrpSpPr>
          <p:grpSpPr>
            <a:xfrm>
              <a:off x="762000" y="1524000"/>
              <a:ext cx="5048250" cy="4171950"/>
              <a:chOff x="762000" y="1524000"/>
              <a:chExt cx="5048250" cy="4171950"/>
            </a:xfrm>
          </p:grpSpPr>
          <p:sp>
            <p:nvSpPr>
              <p:cNvPr id="4" name="Rectangle 4"/>
              <p:cNvSpPr/>
              <p:nvPr/>
            </p:nvSpPr>
            <p:spPr>
              <a:xfrm>
                <a:off x="762000" y="1524000"/>
                <a:ext cx="5048250" cy="4171950"/>
              </a:xfrm>
              <a:prstGeom prst="roundRect">
                <a:avLst>
                  <a:gd name="adj" fmla="val 6849"/>
                </a:avLst>
              </a:prstGeom>
              <a:solidFill>
                <a:srgbClr val="FFFFFF"/>
              </a:solidFill>
              <a:ln w="38100">
                <a:solidFill>
                  <a:schemeClr val="accent1"/>
                </a:solidFill>
              </a:ln>
            </p:spPr>
          </p:sp>
          <p:sp>
            <p:nvSpPr>
              <p:cNvPr id="5" name="Rectangle 5"/>
              <p:cNvSpPr/>
              <p:nvPr/>
            </p:nvSpPr>
            <p:spPr>
              <a:xfrm>
                <a:off x="762000" y="1524000"/>
                <a:ext cx="5048250" cy="838200"/>
              </a:xfrm>
              <a:prstGeom prst="roundRect">
                <a:avLst>
                  <a:gd name="adj" fmla="val 34091"/>
                </a:avLst>
              </a:prstGeom>
              <a:solidFill>
                <a:schemeClr val="accent1"/>
              </a:solidFill>
              <a:ln>
                <a:noFill/>
              </a:ln>
            </p:spPr>
          </p:sp>
          <p:grpSp>
            <p:nvGrpSpPr>
              <p:cNvPr id="11" name="Group 11"/>
              <p:cNvGrpSpPr/>
              <p:nvPr/>
            </p:nvGrpSpPr>
            <p:grpSpPr>
              <a:xfrm>
                <a:off x="1123950" y="1771650"/>
                <a:ext cx="266700" cy="342900"/>
                <a:chOff x="1123950" y="1771650"/>
                <a:chExt cx="266700" cy="342900"/>
              </a:xfrm>
            </p:grpSpPr>
            <p:sp>
              <p:nvSpPr>
                <p:cNvPr id="6" name="Freeform 6"/>
                <p:cNvSpPr/>
                <p:nvPr/>
              </p:nvSpPr>
              <p:spPr>
                <a:xfrm>
                  <a:off x="1295400" y="1771650"/>
                  <a:ext cx="95250" cy="952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0" h="95250">
                      <a:moveTo>
                        <a:pt x="0" y="0"/>
                      </a:moveTo>
                      <a:lnTo>
                        <a:pt x="0" y="76200"/>
                      </a:lnTo>
                      <a:cubicBezTo>
                        <a:pt x="0" y="86721"/>
                        <a:pt x="8529" y="95250"/>
                        <a:pt x="19050" y="95250"/>
                      </a:cubicBezTo>
                      <a:lnTo>
                        <a:pt x="95250" y="95250"/>
                      </a:lnTo>
                    </a:path>
                  </a:pathLst>
                </a:custGeom>
                <a:noFill/>
                <a:ln w="19050">
                  <a:solidFill>
                    <a:srgbClr val="FFFFFF"/>
                  </a:solidFill>
                </a:ln>
              </p:spPr>
            </p:sp>
            <p:sp>
              <p:nvSpPr>
                <p:cNvPr id="7" name="Freeform 7"/>
                <p:cNvSpPr/>
                <p:nvPr/>
              </p:nvSpPr>
              <p:spPr>
                <a:xfrm>
                  <a:off x="1123950" y="1771650"/>
                  <a:ext cx="266700" cy="3429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66700" h="342900">
                      <a:moveTo>
                        <a:pt x="228600" y="342900"/>
                      </a:moveTo>
                      <a:lnTo>
                        <a:pt x="38100" y="342900"/>
                      </a:lnTo>
                      <a:cubicBezTo>
                        <a:pt x="17058" y="342900"/>
                        <a:pt x="0" y="325842"/>
                        <a:pt x="0" y="304800"/>
                      </a:cubicBezTo>
                      <a:lnTo>
                        <a:pt x="0" y="38100"/>
                      </a:lnTo>
                      <a:cubicBezTo>
                        <a:pt x="0" y="17058"/>
                        <a:pt x="17058" y="0"/>
                        <a:pt x="38100" y="0"/>
                      </a:cubicBezTo>
                      <a:lnTo>
                        <a:pt x="171450" y="0"/>
                      </a:lnTo>
                      <a:lnTo>
                        <a:pt x="266700" y="95250"/>
                      </a:lnTo>
                      <a:lnTo>
                        <a:pt x="266700" y="304800"/>
                      </a:lnTo>
                      <a:cubicBezTo>
                        <a:pt x="266700" y="325842"/>
                        <a:pt x="249642" y="342900"/>
                        <a:pt x="228600" y="342900"/>
                      </a:cubicBezTo>
                    </a:path>
                  </a:pathLst>
                </a:custGeom>
                <a:noFill/>
                <a:ln w="19050">
                  <a:solidFill>
                    <a:srgbClr val="FFFFFF"/>
                  </a:solidFill>
                </a:ln>
              </p:spPr>
            </p:sp>
            <p:sp>
              <p:nvSpPr>
                <p:cNvPr id="8" name="Freeform 8"/>
                <p:cNvSpPr/>
                <p:nvPr/>
              </p:nvSpPr>
              <p:spPr>
                <a:xfrm>
                  <a:off x="1200150" y="1885950"/>
                  <a:ext cx="19050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050" h="9525">
                      <a:moveTo>
                        <a:pt x="0" y="0"/>
                      </a:moveTo>
                      <a:lnTo>
                        <a:pt x="19050" y="0"/>
                      </a:lnTo>
                    </a:path>
                  </a:pathLst>
                </a:custGeom>
                <a:noFill/>
                <a:ln w="19050">
                  <a:solidFill>
                    <a:srgbClr val="FFFFFF"/>
                  </a:solidFill>
                </a:ln>
              </p:spPr>
            </p:sp>
            <p:sp>
              <p:nvSpPr>
                <p:cNvPr id="9" name="Freeform 9"/>
                <p:cNvSpPr/>
                <p:nvPr/>
              </p:nvSpPr>
              <p:spPr>
                <a:xfrm>
                  <a:off x="1200150" y="1962150"/>
                  <a:ext cx="114300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4300" h="9525">
                      <a:moveTo>
                        <a:pt x="0" y="0"/>
                      </a:moveTo>
                      <a:lnTo>
                        <a:pt x="114300" y="0"/>
                      </a:lnTo>
                    </a:path>
                  </a:pathLst>
                </a:custGeom>
                <a:noFill/>
                <a:ln w="19050">
                  <a:solidFill>
                    <a:srgbClr val="FFFFFF"/>
                  </a:solidFill>
                </a:ln>
              </p:spPr>
            </p:sp>
            <p:sp>
              <p:nvSpPr>
                <p:cNvPr id="10" name="Freeform 10"/>
                <p:cNvSpPr/>
                <p:nvPr/>
              </p:nvSpPr>
              <p:spPr>
                <a:xfrm>
                  <a:off x="1200150" y="2038350"/>
                  <a:ext cx="114300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4300" h="9525">
                      <a:moveTo>
                        <a:pt x="0" y="0"/>
                      </a:moveTo>
                      <a:lnTo>
                        <a:pt x="114300" y="0"/>
                      </a:lnTo>
                    </a:path>
                  </a:pathLst>
                </a:custGeom>
                <a:noFill/>
                <a:ln w="19050">
                  <a:solidFill>
                    <a:srgbClr val="FFFFFF"/>
                  </a:solidFill>
                </a:ln>
              </p:spPr>
            </p:sp>
          </p:grpSp>
          <p:sp>
            <p:nvSpPr>
              <p:cNvPr id="12" name="TextBox 12"/>
              <p:cNvSpPr txBox="1"/>
              <p:nvPr/>
            </p:nvSpPr>
            <p:spPr>
              <a:xfrm>
                <a:off x="1662684" y="1784985"/>
                <a:ext cx="3571715" cy="52806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2700" b="1" dirty="0">
                    <a:solidFill>
                      <a:srgbClr val="FFFFFF"/>
                    </a:solidFill>
                    <a:latin typeface="+mn-lt"/>
                    <a:ea typeface="+mn-ea"/>
                    <a:cs typeface="+mn-cs"/>
                  </a:rPr>
                  <a:t>《Papers, Please》</a:t>
                </a:r>
                <a:endParaRPr lang="zh-CN" sz="27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1035558" y="2636520"/>
                <a:ext cx="2738323" cy="46939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2400" b="1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把办公桌做成世界</a:t>
                </a:r>
                <a:endParaRPr lang="zh-CN" sz="24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14" name="TextBox 14"/>
              <p:cNvSpPr txBox="1"/>
              <p:nvPr/>
            </p:nvSpPr>
            <p:spPr>
              <a:xfrm>
                <a:off x="1038606" y="3196590"/>
                <a:ext cx="2683764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800" dirty="0">
                    <a:solidFill>
                      <a:schemeClr val="dk2"/>
                    </a:solidFill>
                    <a:latin typeface="+mn-lt"/>
                    <a:ea typeface="+mn-ea"/>
                    <a:cs typeface="+mn-cs"/>
                  </a:rPr>
                  <a:t>拖动、翻看、对比、盖章</a:t>
                </a:r>
                <a:endParaRPr lang="zh-CN" sz="1800" dirty="0">
                  <a:solidFill>
                    <a:schemeClr val="dk2"/>
                  </a:solidFill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15" name="TextBox 15"/>
              <p:cNvSpPr txBox="1"/>
              <p:nvPr/>
            </p:nvSpPr>
            <p:spPr>
              <a:xfrm>
                <a:off x="1038606" y="3596640"/>
                <a:ext cx="2926080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800" dirty="0">
                    <a:solidFill>
                      <a:schemeClr val="dk2"/>
                    </a:solidFill>
                    <a:latin typeface="+mn-lt"/>
                    <a:ea typeface="+mn-ea"/>
                    <a:cs typeface="+mn-cs"/>
                  </a:rPr>
                  <a:t>文件占空间，规则不断增加</a:t>
                </a:r>
                <a:endParaRPr lang="zh-CN" sz="1800" dirty="0">
                  <a:solidFill>
                    <a:schemeClr val="dk2"/>
                  </a:solidFill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16" name="TextBox 16"/>
              <p:cNvSpPr txBox="1"/>
              <p:nvPr/>
            </p:nvSpPr>
            <p:spPr>
              <a:xfrm>
                <a:off x="1038606" y="3996690"/>
                <a:ext cx="2441448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800" dirty="0">
                    <a:solidFill>
                      <a:schemeClr val="dk2"/>
                    </a:solidFill>
                    <a:latin typeface="+mn-lt"/>
                    <a:ea typeface="+mn-ea"/>
                    <a:cs typeface="+mn-cs"/>
                  </a:rPr>
                  <a:t>机械操作承担道德后果</a:t>
                </a:r>
                <a:endParaRPr lang="zh-CN" sz="1800" dirty="0">
                  <a:solidFill>
                    <a:schemeClr val="dk2"/>
                  </a:solidFill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17" name="Rectangle 17"/>
              <p:cNvSpPr/>
              <p:nvPr/>
            </p:nvSpPr>
            <p:spPr>
              <a:xfrm>
                <a:off x="1047750" y="4591050"/>
                <a:ext cx="4476750" cy="762000"/>
              </a:xfrm>
              <a:prstGeom prst="roundRect">
                <a:avLst>
                  <a:gd name="adj" fmla="val 22500"/>
                </a:avLst>
              </a:prstGeom>
              <a:solidFill>
                <a:srgbClr val="EAF0FA"/>
              </a:solidFill>
              <a:ln>
                <a:noFill/>
              </a:ln>
            </p:spPr>
          </p:sp>
          <p:sp>
            <p:nvSpPr>
              <p:cNvPr id="18" name="TextBox 18"/>
              <p:cNvSpPr txBox="1"/>
              <p:nvPr/>
            </p:nvSpPr>
            <p:spPr>
              <a:xfrm>
                <a:off x="2792349" y="4711065"/>
                <a:ext cx="987552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800" dirty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rPr>
                  <a:t>实现重点</a:t>
                </a:r>
                <a:endParaRPr lang="zh-CN" sz="18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19" name="TextBox 19"/>
              <p:cNvSpPr txBox="1"/>
              <p:nvPr/>
            </p:nvSpPr>
            <p:spPr>
              <a:xfrm>
                <a:off x="1480082" y="5025390"/>
                <a:ext cx="3612086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800" b="1" dirty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rPr>
                  <a:t>数据比对 + 拖拽层级 + RuleSet</a:t>
                </a:r>
                <a:endParaRPr lang="zh-CN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endParaRP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6381750" y="1524000"/>
              <a:ext cx="5048250" cy="4171950"/>
              <a:chOff x="6381750" y="1524000"/>
              <a:chExt cx="5048250" cy="4171950"/>
            </a:xfrm>
          </p:grpSpPr>
          <p:sp>
            <p:nvSpPr>
              <p:cNvPr id="21" name="Rectangle 21"/>
              <p:cNvSpPr/>
              <p:nvPr/>
            </p:nvSpPr>
            <p:spPr>
              <a:xfrm>
                <a:off x="6381750" y="1524000"/>
                <a:ext cx="5048250" cy="4171950"/>
              </a:xfrm>
              <a:prstGeom prst="roundRect">
                <a:avLst>
                  <a:gd name="adj" fmla="val 6849"/>
                </a:avLst>
              </a:prstGeom>
              <a:solidFill>
                <a:srgbClr val="FFFFFF"/>
              </a:solidFill>
              <a:ln w="38100">
                <a:solidFill>
                  <a:schemeClr val="accent3"/>
                </a:solidFill>
              </a:ln>
            </p:spPr>
          </p:sp>
          <p:sp>
            <p:nvSpPr>
              <p:cNvPr id="22" name="Rectangle 22"/>
              <p:cNvSpPr/>
              <p:nvPr/>
            </p:nvSpPr>
            <p:spPr>
              <a:xfrm>
                <a:off x="6381750" y="1524000"/>
                <a:ext cx="5048250" cy="838200"/>
              </a:xfrm>
              <a:prstGeom prst="roundRect">
                <a:avLst>
                  <a:gd name="adj" fmla="val 34091"/>
                </a:avLst>
              </a:prstGeom>
              <a:solidFill>
                <a:schemeClr val="accent3"/>
              </a:solidFill>
              <a:ln>
                <a:noFill/>
              </a:ln>
            </p:spPr>
          </p:sp>
          <p:grpSp>
            <p:nvGrpSpPr>
              <p:cNvPr id="27" name="Group 27"/>
              <p:cNvGrpSpPr/>
              <p:nvPr/>
            </p:nvGrpSpPr>
            <p:grpSpPr>
              <a:xfrm>
                <a:off x="6762750" y="1771650"/>
                <a:ext cx="228600" cy="342900"/>
                <a:chOff x="6762750" y="1771650"/>
                <a:chExt cx="228600" cy="342900"/>
              </a:xfrm>
            </p:grpSpPr>
            <p:sp>
              <p:nvSpPr>
                <p:cNvPr id="23" name="Freeform 23"/>
                <p:cNvSpPr/>
                <p:nvPr/>
              </p:nvSpPr>
              <p:spPr>
                <a:xfrm>
                  <a:off x="6877050" y="1771650"/>
                  <a:ext cx="38100" cy="38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100" h="38100">
                      <a:moveTo>
                        <a:pt x="0" y="19050"/>
                      </a:moveTo>
                      <a:cubicBezTo>
                        <a:pt x="0" y="29571"/>
                        <a:pt x="8529" y="38100"/>
                        <a:pt x="19050" y="38100"/>
                      </a:cubicBezTo>
                      <a:cubicBezTo>
                        <a:pt x="29571" y="38100"/>
                        <a:pt x="38100" y="29571"/>
                        <a:pt x="38100" y="19050"/>
                      </a:cubicBezTo>
                      <a:cubicBezTo>
                        <a:pt x="38100" y="8529"/>
                        <a:pt x="29571" y="0"/>
                        <a:pt x="19050" y="0"/>
                      </a:cubicBezTo>
                      <a:cubicBezTo>
                        <a:pt x="8529" y="0"/>
                        <a:pt x="0" y="8529"/>
                        <a:pt x="0" y="19050"/>
                      </a:cubicBezTo>
                    </a:path>
                  </a:pathLst>
                </a:custGeom>
                <a:noFill/>
                <a:ln w="19050">
                  <a:solidFill>
                    <a:srgbClr val="FFFFFF"/>
                  </a:solidFill>
                </a:ln>
              </p:spPr>
            </p:sp>
            <p:sp>
              <p:nvSpPr>
                <p:cNvPr id="24" name="Freeform 24"/>
                <p:cNvSpPr/>
                <p:nvPr/>
              </p:nvSpPr>
              <p:spPr>
                <a:xfrm>
                  <a:off x="6781800" y="2038350"/>
                  <a:ext cx="57150" cy="762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7150" h="76200">
                      <a:moveTo>
                        <a:pt x="0" y="76200"/>
                      </a:moveTo>
                      <a:lnTo>
                        <a:pt x="57150" y="0"/>
                      </a:lnTo>
                    </a:path>
                  </a:pathLst>
                </a:custGeom>
                <a:noFill/>
                <a:ln w="19050">
                  <a:solidFill>
                    <a:srgbClr val="FFFFFF"/>
                  </a:solidFill>
                </a:ln>
              </p:spPr>
            </p:sp>
            <p:sp>
              <p:nvSpPr>
                <p:cNvPr id="25" name="Freeform 25"/>
                <p:cNvSpPr/>
                <p:nvPr/>
              </p:nvSpPr>
              <p:spPr>
                <a:xfrm>
                  <a:off x="6858000" y="1866900"/>
                  <a:ext cx="95250" cy="2476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0" h="247650">
                      <a:moveTo>
                        <a:pt x="95250" y="247650"/>
                      </a:moveTo>
                      <a:lnTo>
                        <a:pt x="57150" y="171450"/>
                      </a:lnTo>
                      <a:lnTo>
                        <a:pt x="0" y="114300"/>
                      </a:lnTo>
                      <a:lnTo>
                        <a:pt x="19050" y="0"/>
                      </a:lnTo>
                    </a:path>
                  </a:pathLst>
                </a:custGeom>
                <a:noFill/>
                <a:ln w="19050">
                  <a:solidFill>
                    <a:srgbClr val="FFFFFF"/>
                  </a:solidFill>
                </a:ln>
              </p:spPr>
            </p:sp>
            <p:sp>
              <p:nvSpPr>
                <p:cNvPr id="26" name="Freeform 26"/>
                <p:cNvSpPr/>
                <p:nvPr/>
              </p:nvSpPr>
              <p:spPr>
                <a:xfrm>
                  <a:off x="6762750" y="1866900"/>
                  <a:ext cx="228600" cy="762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8600" h="76200">
                      <a:moveTo>
                        <a:pt x="0" y="76200"/>
                      </a:moveTo>
                      <a:lnTo>
                        <a:pt x="38100" y="19050"/>
                      </a:lnTo>
                      <a:lnTo>
                        <a:pt x="114300" y="0"/>
                      </a:lnTo>
                      <a:lnTo>
                        <a:pt x="171450" y="57150"/>
                      </a:lnTo>
                      <a:lnTo>
                        <a:pt x="228600" y="76200"/>
                      </a:lnTo>
                    </a:path>
                  </a:pathLst>
                </a:custGeom>
                <a:noFill/>
                <a:ln w="19050">
                  <a:solidFill>
                    <a:srgbClr val="FFFFFF"/>
                  </a:solidFill>
                </a:ln>
              </p:spPr>
            </p:sp>
          </p:grpSp>
          <p:sp>
            <p:nvSpPr>
              <p:cNvPr id="28" name="TextBox 28"/>
              <p:cNvSpPr txBox="1"/>
              <p:nvPr/>
            </p:nvSpPr>
            <p:spPr>
              <a:xfrm>
                <a:off x="7282434" y="1784985"/>
                <a:ext cx="2317318" cy="52806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2700" b="1" dirty="0">
                    <a:solidFill>
                      <a:srgbClr val="FFFFFF"/>
                    </a:solidFill>
                    <a:latin typeface="+mn-lt"/>
                    <a:ea typeface="+mn-ea"/>
                    <a:cs typeface="+mn-cs"/>
                  </a:rPr>
                  <a:t>《死亡搁浅》</a:t>
                </a:r>
                <a:endParaRPr lang="zh-CN" sz="27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6655308" y="2636520"/>
                <a:ext cx="2399081" cy="46939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2400" b="1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把走路做成操作</a:t>
                </a:r>
                <a:endParaRPr lang="zh-CN" sz="24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6658356" y="3196590"/>
                <a:ext cx="2683764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800" dirty="0">
                    <a:solidFill>
                      <a:schemeClr val="dk2"/>
                    </a:solidFill>
                    <a:latin typeface="+mn-lt"/>
                    <a:ea typeface="+mn-ea"/>
                    <a:cs typeface="+mn-cs"/>
                  </a:rPr>
                  <a:t>坡度、地面、货物与重心</a:t>
                </a:r>
                <a:endParaRPr lang="zh-CN" sz="1800" dirty="0">
                  <a:solidFill>
                    <a:schemeClr val="dk2"/>
                  </a:solidFill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6658356" y="3596640"/>
                <a:ext cx="2683764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800" dirty="0">
                    <a:solidFill>
                      <a:schemeClr val="dk2"/>
                    </a:solidFill>
                    <a:latin typeface="+mn-lt"/>
                    <a:ea typeface="+mn-ea"/>
                    <a:cs typeface="+mn-cs"/>
                  </a:rPr>
                  <a:t>观察路线并主动修正平衡</a:t>
                </a:r>
                <a:endParaRPr lang="zh-CN" sz="1800" dirty="0">
                  <a:solidFill>
                    <a:schemeClr val="dk2"/>
                  </a:solidFill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6658356" y="3996690"/>
                <a:ext cx="2683764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800" dirty="0">
                    <a:solidFill>
                      <a:schemeClr val="dk2"/>
                    </a:solidFill>
                    <a:latin typeface="+mn-lt"/>
                    <a:ea typeface="+mn-ea"/>
                    <a:cs typeface="+mn-cs"/>
                  </a:rPr>
                  <a:t>失衡有预警，玩家能补救</a:t>
                </a:r>
                <a:endParaRPr lang="zh-CN" sz="1800" dirty="0">
                  <a:solidFill>
                    <a:schemeClr val="dk2"/>
                  </a:solidFill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33" name="Rectangle 33"/>
              <p:cNvSpPr/>
              <p:nvPr/>
            </p:nvSpPr>
            <p:spPr>
              <a:xfrm>
                <a:off x="6667500" y="4591050"/>
                <a:ext cx="4476750" cy="762000"/>
              </a:xfrm>
              <a:prstGeom prst="roundRect">
                <a:avLst>
                  <a:gd name="adj" fmla="val 22500"/>
                </a:avLst>
              </a:prstGeom>
              <a:solidFill>
                <a:srgbClr val="E8F5F0"/>
              </a:solidFill>
              <a:ln>
                <a:noFill/>
              </a:ln>
            </p:spPr>
          </p:sp>
          <p:sp>
            <p:nvSpPr>
              <p:cNvPr id="34" name="TextBox 34"/>
              <p:cNvSpPr txBox="1"/>
              <p:nvPr/>
            </p:nvSpPr>
            <p:spPr>
              <a:xfrm>
                <a:off x="8412099" y="4711065"/>
                <a:ext cx="987552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800" dirty="0">
                    <a:solidFill>
                      <a:srgbClr val="2F8F6A"/>
                    </a:solidFill>
                    <a:latin typeface="+mn-lt"/>
                    <a:ea typeface="+mn-ea"/>
                    <a:cs typeface="+mn-cs"/>
                  </a:rPr>
                  <a:t>实现重点</a:t>
                </a:r>
                <a:endParaRPr lang="zh-CN" sz="1800" dirty="0">
                  <a:solidFill>
                    <a:srgbClr val="2F8F6A"/>
                  </a:solidFill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7331975" y="5025390"/>
                <a:ext cx="3147799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800" b="1" dirty="0">
                    <a:solidFill>
                      <a:srgbClr val="2F8F6A"/>
                    </a:solidFill>
                    <a:latin typeface="+mn-lt"/>
                    <a:ea typeface="+mn-ea"/>
                    <a:cs typeface="+mn-cs"/>
                  </a:rPr>
                  <a:t>地形射线 + 质心 + 失衡累积</a:t>
                </a:r>
                <a:endParaRPr lang="zh-CN" sz="1800" b="1" dirty="0">
                  <a:solidFill>
                    <a:srgbClr val="2F8F6A"/>
                  </a:solidFill>
                  <a:latin typeface="+mn-lt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41" name="Group 41"/>
          <p:cNvGrpSpPr/>
          <p:nvPr/>
        </p:nvGrpSpPr>
        <p:grpSpPr>
          <a:xfrm>
            <a:off x="552450" y="6353175"/>
            <a:ext cx="11055858" cy="432626"/>
            <a:chOff x="552450" y="6353175"/>
            <a:chExt cx="11055858" cy="432626"/>
          </a:xfrm>
        </p:grpSpPr>
        <p:sp>
          <p:nvSpPr>
            <p:cNvPr id="38" name="Line 38"/>
            <p:cNvSpPr/>
            <p:nvPr/>
          </p:nvSpPr>
          <p:spPr>
            <a:xfrm>
              <a:off x="552450" y="6353175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19050">
              <a:solidFill>
                <a:schemeClr val="accent4"/>
              </a:solidFill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11394681" y="6521768"/>
              <a:ext cx="2136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fld id="{5B3E3A1B-B275-4712-ACF4-DF6FEEB5CDF0}" type="slidenum">
                <a:rPr lang="en-US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</a:fld>
              <a:endParaRPr lang="en-US" sz="135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PPT Master">
      <a:dk1>
        <a:srgbClr val="1F2937"/>
      </a:dk1>
      <a:lt1>
        <a:srgbClr val="FFFDF6"/>
      </a:lt1>
      <a:dk2>
        <a:srgbClr val="596273"/>
      </a:dk2>
      <a:lt2>
        <a:srgbClr val="F4F0E8"/>
      </a:lt2>
      <a:accent1>
        <a:srgbClr val="2457A6"/>
      </a:accent1>
      <a:accent2>
        <a:srgbClr val="F2A93B"/>
      </a:accent2>
      <a:accent3>
        <a:srgbClr val="55A68B"/>
      </a:accent3>
      <a:accent4>
        <a:srgbClr val="D8D2C5"/>
      </a:accent4>
      <a:accent5>
        <a:srgbClr val="8A8F98"/>
      </a:accent5>
      <a:accent6>
        <a:srgbClr val="1A1A1A"/>
      </a:accent6>
      <a:hlink>
        <a:srgbClr val="F2A93B"/>
      </a:hlink>
      <a:folHlink>
        <a:srgbClr val="55A68B"/>
      </a:folHlink>
    </a:clrScheme>
    <a:fontScheme name="PPT Master">
      <a:majorFont>
        <a:latin typeface="Trebuchet MS"/>
        <a:ea typeface="KaiTi"/>
        <a:cs typeface="Trebuchet MS"/>
        <a:font script="Jpan" typeface="KaiTi"/>
        <a:font script="Hang" typeface="KaiTi"/>
        <a:font script="Hans" typeface="KaiTi"/>
        <a:font script="Hant" typeface="KaiT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PPT Master">
      <a:dk1>
        <a:srgbClr val="1F2937"/>
      </a:dk1>
      <a:lt1>
        <a:srgbClr val="FFFDF6"/>
      </a:lt1>
      <a:dk2>
        <a:srgbClr val="596273"/>
      </a:dk2>
      <a:lt2>
        <a:srgbClr val="F4F0E8"/>
      </a:lt2>
      <a:accent1>
        <a:srgbClr val="2457A6"/>
      </a:accent1>
      <a:accent2>
        <a:srgbClr val="F2A93B"/>
      </a:accent2>
      <a:accent3>
        <a:srgbClr val="55A68B"/>
      </a:accent3>
      <a:accent4>
        <a:srgbClr val="D8D2C5"/>
      </a:accent4>
      <a:accent5>
        <a:srgbClr val="8A8F98"/>
      </a:accent5>
      <a:accent6>
        <a:srgbClr val="1A1A1A"/>
      </a:accent6>
      <a:hlink>
        <a:srgbClr val="F2A93B"/>
      </a:hlink>
      <a:folHlink>
        <a:srgbClr val="55A68B"/>
      </a:folHlink>
    </a:clrScheme>
    <a:fontScheme name="PPT Master">
      <a:majorFont>
        <a:latin typeface="Trebuchet MS"/>
        <a:ea typeface="KaiTi"/>
        <a:cs typeface="Trebuchet MS"/>
        <a:font script="Jpan" typeface="KaiTi"/>
        <a:font script="Hang" typeface="KaiTi"/>
        <a:font script="Hans" typeface="KaiTi"/>
        <a:font script="Hant" typeface="KaiT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1444</Words>
  <Application>WPS 演示</Application>
  <PresentationFormat>On-screen Show (16:9)</PresentationFormat>
  <Paragraphs>270</Paragraphs>
  <Slides>10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20" baseType="lpstr">
      <vt:lpstr>Arial</vt:lpstr>
      <vt:lpstr>宋体</vt:lpstr>
      <vt:lpstr>Wingdings</vt:lpstr>
      <vt:lpstr>Arial</vt:lpstr>
      <vt:lpstr>Consolas</vt:lpstr>
      <vt:lpstr>楷体</vt:lpstr>
      <vt:lpstr>Trebuchet MS</vt:lpstr>
      <vt:lpstr>微软雅黑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陷入旋流的蚕</cp:lastModifiedBy>
  <cp:revision>3</cp:revision>
  <dcterms:created xsi:type="dcterms:W3CDTF">2026-07-18T11:31:00Z</dcterms:created>
  <dcterms:modified xsi:type="dcterms:W3CDTF">2026-07-19T03:31:14Z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2052-12.1.0.26895</vt:lpwstr>
  </property>
  <property fmtid="{D5CDD505-2E9C-101B-9397-08002B2CF9AE}" pid="3" name="ICV">
    <vt:lpwstr>463E749EB425444CB777787475B6A44F_12</vt:lpwstr>
  </property>
</Properties>
</file>