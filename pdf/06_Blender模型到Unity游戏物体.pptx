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60" r:id="rId6"/>
    <p:sldId id="261" r:id="rId7"/>
    <p:sldId id="266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这一单元介绍普通静态模型从 Blender 到 Unity 的完整资产管线。重点不是记住所有按钮，而是建立可重复、可协作、可安全重导入的交付方式。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静态模型的基础预设由导出范围、变换、几何和禁用项四部分组成。先用统一值建立稳定起点，再根据项目管线对三角化、顶点色等特殊数据做有限调整。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路径模式推荐自动，分批模式对普通模型保持关闭。导出范围应限制到当前选中对象，类型以网格为主，只有需要根节点或挂点时才加入空物体。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尺寸和朝向必须在 Blender 中正确，Unity 实例才能保持 Scale 为 1。Metric、Unit Scale 1.0、应用 Rotation &amp; Scale、-Z 向前和 Y 向上共同构成一致的空间约定，Origin 则决定模型在游戏中的旋转支点。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Blender 材质节点是制作环境，Unity 材质才是最终运行时配置。Base Color 使用 sRGB，Normal 设置为 Normal Map，金属度与 AO 等数据贴图关闭 sRGB，Roughness 需要反相后才能作为 Smoothness 使用。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933950"/>
            <a:ext cx="12192000" cy="1924050"/>
          </a:xfrm>
          <a:custGeom>
            <a:avLst/>
            <a:gdLst/>
            <a:ahLst/>
            <a:cxnLst/>
            <a:rect l="l" t="t" r="r" b="b"/>
            <a:pathLst>
              <a:path w="12192000" h="1924050">
                <a:moveTo>
                  <a:pt x="0" y="685800"/>
                </a:moveTo>
                <a:cubicBezTo>
                  <a:pt x="2190750" y="19050"/>
                  <a:pt x="3905250" y="1543050"/>
                  <a:pt x="6191250" y="838200"/>
                </a:cubicBezTo>
                <a:cubicBezTo>
                  <a:pt x="8286750" y="209550"/>
                  <a:pt x="9906000" y="895350"/>
                  <a:pt x="12192000" y="0"/>
                </a:cubicBezTo>
                <a:lnTo>
                  <a:pt x="12192000" y="1924050"/>
                </a:lnTo>
                <a:lnTo>
                  <a:pt x="0" y="192405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85800" y="800100"/>
            <a:ext cx="4171950" cy="266700"/>
          </a:xfrm>
          <a:custGeom>
            <a:avLst/>
            <a:gdLst/>
            <a:ahLst/>
            <a:cxnLst/>
            <a:rect l="l" t="t" r="r" b="b"/>
            <a:pathLst>
              <a:path w="4171950" h="266700">
                <a:moveTo>
                  <a:pt x="0" y="266700"/>
                </a:moveTo>
                <a:cubicBezTo>
                  <a:pt x="1638300" y="0"/>
                  <a:pt x="2667000" y="190500"/>
                  <a:pt x="4171950" y="76200"/>
                </a:cubicBezTo>
              </a:path>
            </a:pathLst>
          </a:custGeom>
          <a:noFill/>
          <a:ln w="95250" cap="rnd">
            <a:solidFill>
              <a:schemeClr val="accent2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09600" y="1521142"/>
            <a:ext cx="6251242" cy="1133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8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Blender 模型到</a:t>
            </a:r>
            <a:endParaRPr lang="zh-CN" sz="585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09600" y="2265045"/>
            <a:ext cx="7346021" cy="1333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9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Unity 游戏物体</a:t>
            </a:r>
            <a:endParaRPr lang="zh-CN" sz="69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70560" y="3314700"/>
            <a:ext cx="942792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8C5A00"/>
                </a:solidFill>
                <a:latin typeface="+mj-lt"/>
                <a:ea typeface="+mj-ea"/>
                <a:cs typeface="+mj-cs"/>
              </a:rPr>
              <a:t>静态模型的 FBX 导出、导入与 Prefab 管线</a:t>
            </a:r>
            <a:endParaRPr lang="zh-CN" sz="3000" b="1" dirty="0">
              <a:solidFill>
                <a:srgbClr val="8C5A00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42" name="Group 42"/>
          <p:cNvGrpSpPr/>
          <p:nvPr/>
        </p:nvGrpSpPr>
        <p:grpSpPr>
          <a:xfrm>
            <a:off x="7143750" y="742950"/>
            <a:ext cx="4248150" cy="4667250"/>
            <a:chOff x="7143750" y="742950"/>
            <a:chExt cx="4248150" cy="4667250"/>
          </a:xfrm>
        </p:grpSpPr>
        <p:sp>
          <p:nvSpPr>
            <p:cNvPr id="7" name="Rectangle 7"/>
            <p:cNvSpPr/>
            <p:nvPr/>
          </p:nvSpPr>
          <p:spPr>
            <a:xfrm>
              <a:off x="7143750" y="742950"/>
              <a:ext cx="4248150" cy="4667250"/>
            </a:xfrm>
            <a:prstGeom prst="roundRect">
              <a:avLst>
                <a:gd name="adj" fmla="val 6726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20356" y="1024890"/>
              <a:ext cx="26810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MODEL → FBX → PREFAB</a:t>
              </a:r>
              <a:endParaRPr lang="en-US" sz="1800" dirty="0">
                <a:solidFill>
                  <a:schemeClr val="accent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7600950" y="1695450"/>
              <a:ext cx="1333500" cy="1752029"/>
              <a:chOff x="7600950" y="1695450"/>
              <a:chExt cx="1333500" cy="1752029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7600950" y="1695450"/>
                <a:ext cx="1333500" cy="1333500"/>
              </a:xfrm>
              <a:prstGeom prst="ellipse">
                <a:avLst/>
              </a:prstGeom>
              <a:solidFill>
                <a:srgbClr val="FFF0D1"/>
              </a:solidFill>
              <a:ln w="38100">
                <a:solidFill>
                  <a:schemeClr val="accent2"/>
                </a:solidFill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7967662" y="2025858"/>
                <a:ext cx="600075" cy="672651"/>
                <a:chOff x="7967662" y="2025858"/>
                <a:chExt cx="600075" cy="672651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7967662" y="2025858"/>
                  <a:ext cx="600075" cy="672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0075" h="672651">
                      <a:moveTo>
                        <a:pt x="600075" y="469959"/>
                      </a:moveTo>
                      <a:lnTo>
                        <a:pt x="600075" y="202659"/>
                      </a:lnTo>
                      <a:cubicBezTo>
                        <a:pt x="600034" y="178980"/>
                        <a:pt x="587312" y="157138"/>
                        <a:pt x="566738" y="145418"/>
                      </a:cubicBezTo>
                      <a:lnTo>
                        <a:pt x="333375" y="11801"/>
                      </a:lnTo>
                      <a:cubicBezTo>
                        <a:pt x="312717" y="0"/>
                        <a:pt x="287358" y="0"/>
                        <a:pt x="266700" y="11801"/>
                      </a:cubicBezTo>
                      <a:lnTo>
                        <a:pt x="33338" y="145418"/>
                      </a:lnTo>
                      <a:cubicBezTo>
                        <a:pt x="12702" y="157253"/>
                        <a:pt x="0" y="179089"/>
                        <a:pt x="0" y="202692"/>
                      </a:cubicBezTo>
                      <a:lnTo>
                        <a:pt x="0" y="469992"/>
                      </a:lnTo>
                      <a:cubicBezTo>
                        <a:pt x="0" y="493628"/>
                        <a:pt x="12702" y="515431"/>
                        <a:pt x="33338" y="527232"/>
                      </a:cubicBezTo>
                      <a:lnTo>
                        <a:pt x="266700" y="660849"/>
                      </a:lnTo>
                      <a:cubicBezTo>
                        <a:pt x="287358" y="672651"/>
                        <a:pt x="312717" y="672651"/>
                        <a:pt x="333375" y="660849"/>
                      </a:cubicBezTo>
                      <a:lnTo>
                        <a:pt x="566738" y="527232"/>
                      </a:lnTo>
                      <a:cubicBezTo>
                        <a:pt x="587373" y="515398"/>
                        <a:pt x="600075" y="493562"/>
                        <a:pt x="600075" y="469959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8267700" y="2362200"/>
                  <a:ext cx="9525" cy="33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33375">
                      <a:moveTo>
                        <a:pt x="0" y="3333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8267700" y="2194179"/>
                  <a:ext cx="291036" cy="168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036" h="168021">
                      <a:moveTo>
                        <a:pt x="0" y="168021"/>
                      </a:moveTo>
                      <a:lnTo>
                        <a:pt x="291036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7976664" y="2194179"/>
                  <a:ext cx="291036" cy="168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036" h="168021">
                      <a:moveTo>
                        <a:pt x="0" y="0"/>
                      </a:moveTo>
                      <a:lnTo>
                        <a:pt x="291036" y="168021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7757640" y="3066098"/>
                <a:ext cx="102012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95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Blender</a:t>
                </a:r>
                <a:endParaRPr lang="en-US" sz="1950" b="1" dirty="0">
                  <a:solidFill>
                    <a:srgbClr val="8C5A00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8877300" y="2362200"/>
              <a:ext cx="695325" cy="9525"/>
            </a:xfrm>
            <a:custGeom>
              <a:avLst/>
              <a:gdLst/>
              <a:ahLst/>
              <a:cxnLst/>
              <a:rect l="l" t="t" r="r" b="b"/>
              <a:pathLst>
                <a:path w="695325" h="9525">
                  <a:moveTo>
                    <a:pt x="0" y="0"/>
                  </a:moveTo>
                  <a:lnTo>
                    <a:pt x="695325" y="0"/>
                  </a:lnTo>
                </a:path>
              </a:pathLst>
            </a:custGeom>
            <a:noFill/>
            <a:ln w="57150" cap="rnd">
              <a:solidFill>
                <a:schemeClr val="dk2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9410700" y="2209800"/>
              <a:ext cx="190500" cy="304800"/>
            </a:xfrm>
            <a:custGeom>
              <a:avLst/>
              <a:gdLst/>
              <a:ahLst/>
              <a:cxnLst/>
              <a:rect l="l" t="t" r="r" b="b"/>
              <a:pathLst>
                <a:path w="190500" h="304800">
                  <a:moveTo>
                    <a:pt x="0" y="0"/>
                  </a:moveTo>
                  <a:lnTo>
                    <a:pt x="190500" y="152400"/>
                  </a:lnTo>
                  <a:lnTo>
                    <a:pt x="0" y="304800"/>
                  </a:lnTo>
                </a:path>
              </a:pathLst>
            </a:custGeom>
            <a:noFill/>
            <a:ln w="57150" cap="rnd">
              <a:solidFill>
                <a:schemeClr val="dk2"/>
              </a:solidFill>
              <a:round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9601200" y="1638300"/>
              <a:ext cx="1428750" cy="1480375"/>
              <a:chOff x="9601200" y="1638300"/>
              <a:chExt cx="1428750" cy="1480375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9601200" y="1638300"/>
                <a:ext cx="1428750" cy="1447800"/>
              </a:xfrm>
              <a:prstGeom prst="roundRect">
                <a:avLst>
                  <a:gd name="adj" fmla="val 14667"/>
                </a:avLst>
              </a:prstGeom>
              <a:solidFill>
                <a:srgbClr val="FFFFFF"/>
              </a:solidFill>
              <a:ln w="38100">
                <a:solidFill>
                  <a:schemeClr val="accent2"/>
                </a:solidFill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10148888" y="1919288"/>
                <a:ext cx="333375" cy="428625"/>
                <a:chOff x="10148888" y="1919288"/>
                <a:chExt cx="333375" cy="428625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10363200" y="1919288"/>
                  <a:ext cx="119062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119062">
                      <a:moveTo>
                        <a:pt x="0" y="0"/>
                      </a:moveTo>
                      <a:lnTo>
                        <a:pt x="0" y="95250"/>
                      </a:lnTo>
                      <a:cubicBezTo>
                        <a:pt x="0" y="108401"/>
                        <a:pt x="10661" y="119062"/>
                        <a:pt x="23812" y="119062"/>
                      </a:cubicBezTo>
                      <a:lnTo>
                        <a:pt x="119062" y="119062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0148888" y="1919288"/>
                  <a:ext cx="333375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75" h="428625">
                      <a:moveTo>
                        <a:pt x="285750" y="428625"/>
                      </a:moveTo>
                      <a:lnTo>
                        <a:pt x="47625" y="428625"/>
                      </a:lnTo>
                      <a:cubicBezTo>
                        <a:pt x="21322" y="428625"/>
                        <a:pt x="0" y="407303"/>
                        <a:pt x="0" y="381000"/>
                      </a:cubicBezTo>
                      <a:lnTo>
                        <a:pt x="0" y="47625"/>
                      </a:lnTo>
                      <a:cubicBezTo>
                        <a:pt x="0" y="21322"/>
                        <a:pt x="21322" y="0"/>
                        <a:pt x="47625" y="0"/>
                      </a:cubicBezTo>
                      <a:lnTo>
                        <a:pt x="214312" y="0"/>
                      </a:lnTo>
                      <a:lnTo>
                        <a:pt x="333375" y="119062"/>
                      </a:lnTo>
                      <a:lnTo>
                        <a:pt x="333375" y="381000"/>
                      </a:lnTo>
                      <a:cubicBezTo>
                        <a:pt x="333375" y="407303"/>
                        <a:pt x="312053" y="428625"/>
                        <a:pt x="285750" y="428625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10315575" y="2133600"/>
                  <a:ext cx="95250" cy="35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35719">
                      <a:moveTo>
                        <a:pt x="0" y="35719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10220325" y="2085975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43958"/>
                      </a:moveTo>
                      <a:lnTo>
                        <a:pt x="95250" y="83344"/>
                      </a:lnTo>
                      <a:lnTo>
                        <a:pt x="95250" y="190500"/>
                      </a:lnTo>
                      <a:lnTo>
                        <a:pt x="190500" y="146542"/>
                      </a:lnTo>
                      <a:lnTo>
                        <a:pt x="190500" y="43958"/>
                      </a:lnTo>
                      <a:lnTo>
                        <a:pt x="95250" y="0"/>
                      </a:lnTo>
                      <a:lnTo>
                        <a:pt x="0" y="43958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0220325" y="2133600"/>
                  <a:ext cx="95250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142875">
                      <a:moveTo>
                        <a:pt x="0" y="0"/>
                      </a:moveTo>
                      <a:lnTo>
                        <a:pt x="0" y="100012"/>
                      </a:lnTo>
                      <a:lnTo>
                        <a:pt x="95250" y="142875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9954301" y="2500312"/>
                <a:ext cx="722547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8C5A00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.fbx</a:t>
                </a:r>
                <a:endParaRPr lang="en-US" sz="2250" b="1" dirty="0">
                  <a:solidFill>
                    <a:srgbClr val="8C5A0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945243" y="2854642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明确交付</a:t>
                </a:r>
                <a:endPara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29" name="Freeform 29"/>
            <p:cNvSpPr/>
            <p:nvPr/>
          </p:nvSpPr>
          <p:spPr>
            <a:xfrm>
              <a:off x="9267825" y="342900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57150" cap="rnd">
              <a:solidFill>
                <a:schemeClr val="dk2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124950" y="3714750"/>
              <a:ext cx="285750" cy="161925"/>
            </a:xfrm>
            <a:custGeom>
              <a:avLst/>
              <a:gdLst/>
              <a:ahLst/>
              <a:cxnLst/>
              <a:rect l="l" t="t" r="r" b="b"/>
              <a:pathLst>
                <a:path w="285750" h="161925">
                  <a:moveTo>
                    <a:pt x="0" y="0"/>
                  </a:moveTo>
                  <a:lnTo>
                    <a:pt x="142875" y="161925"/>
                  </a:lnTo>
                  <a:lnTo>
                    <a:pt x="285750" y="0"/>
                  </a:lnTo>
                </a:path>
              </a:pathLst>
            </a:custGeom>
            <a:noFill/>
            <a:ln w="57150" cap="rnd">
              <a:solidFill>
                <a:schemeClr val="dk2"/>
              </a:solidFill>
              <a:round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772400" y="3981450"/>
              <a:ext cx="2990850" cy="1047750"/>
              <a:chOff x="7772400" y="3981450"/>
              <a:chExt cx="2990850" cy="10477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7772400" y="3981450"/>
                <a:ext cx="2990850" cy="1047750"/>
              </a:xfrm>
              <a:prstGeom prst="roundRect">
                <a:avLst>
                  <a:gd name="adj" fmla="val 20000"/>
                </a:avLst>
              </a:prstGeom>
              <a:solidFill>
                <a:srgbClr val="EAF0FA"/>
              </a:solidFill>
              <a:ln w="38100">
                <a:solidFill>
                  <a:schemeClr val="accent1"/>
                </a:solidFill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8089900" y="4305300"/>
                <a:ext cx="400050" cy="400050"/>
                <a:chOff x="8089900" y="4305300"/>
                <a:chExt cx="400050" cy="400050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8089900" y="4305300"/>
                  <a:ext cx="355599" cy="4000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599" h="400049">
                      <a:moveTo>
                        <a:pt x="177800" y="400049"/>
                      </a:moveTo>
                      <a:lnTo>
                        <a:pt x="0" y="300037"/>
                      </a:lnTo>
                      <a:lnTo>
                        <a:pt x="0" y="100012"/>
                      </a:lnTo>
                      <a:lnTo>
                        <a:pt x="177800" y="0"/>
                      </a:lnTo>
                      <a:lnTo>
                        <a:pt x="355599" y="100012"/>
                      </a:lnTo>
                      <a:lnTo>
                        <a:pt x="355599" y="20002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8267700" y="4405312"/>
                  <a:ext cx="177800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00012">
                      <a:moveTo>
                        <a:pt x="0" y="100012"/>
                      </a:moveTo>
                      <a:lnTo>
                        <a:pt x="17780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8267700" y="4505325"/>
                  <a:ext cx="95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0025">
                      <a:moveTo>
                        <a:pt x="0" y="0"/>
                      </a:moveTo>
                      <a:lnTo>
                        <a:pt x="0" y="20002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8089900" y="4405312"/>
                  <a:ext cx="177800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00012">
                      <a:moveTo>
                        <a:pt x="177800" y="10001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8334375" y="4638674"/>
                  <a:ext cx="155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9525">
                      <a:moveTo>
                        <a:pt x="0" y="0"/>
                      </a:moveTo>
                      <a:lnTo>
                        <a:pt x="155575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8423274" y="4572000"/>
                  <a:ext cx="6667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33350">
                      <a:moveTo>
                        <a:pt x="0" y="0"/>
                      </a:moveTo>
                      <a:lnTo>
                        <a:pt x="66675" y="66675"/>
                      </a:lnTo>
                      <a:lnTo>
                        <a:pt x="0" y="1333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8694420" y="4195762"/>
                <a:ext cx="1982869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Unity Prefab</a:t>
                </a:r>
                <a:endPara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697468" y="4584382"/>
                <a:ext cx="186038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材质 · 碰撞 · 脚本</a:t>
                </a:r>
                <a:endPara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9447276" cy="973074"/>
            <a:chOff x="552450" y="346710"/>
            <a:chExt cx="9447276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944727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普通静态模型，先锁定这组核心值</a:t>
              </a:r>
              <a:endPara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28962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文件 &gt; 导出 &gt; FBX (.fbx)</a:t>
              </a:r>
              <a:endParaRPr lang="zh-CN" sz="1800" dirty="0">
                <a:solidFill>
                  <a:schemeClr val="dk2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2654300"/>
            <a:ext cx="5334000" cy="2043684"/>
            <a:chOff x="571500" y="1466850"/>
            <a:chExt cx="5334000" cy="2043684"/>
          </a:xfrm>
        </p:grpSpPr>
        <p:sp>
          <p:nvSpPr>
            <p:cNvPr id="5" name="Rectangle 5"/>
            <p:cNvSpPr/>
            <p:nvPr/>
          </p:nvSpPr>
          <p:spPr>
            <a:xfrm>
              <a:off x="571500" y="1466850"/>
              <a:ext cx="5334000" cy="2038350"/>
            </a:xfrm>
            <a:prstGeom prst="roundRect">
              <a:avLst>
                <a:gd name="adj" fmla="val 11215"/>
              </a:avLst>
            </a:prstGeom>
            <a:solidFill>
              <a:srgbClr val="FFF0D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2114550" y="1466850"/>
              <a:ext cx="2247900" cy="457200"/>
            </a:xfrm>
            <a:prstGeom prst="roundRect">
              <a:avLst>
                <a:gd name="adj" fmla="val 4166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554986" y="1538288"/>
              <a:ext cx="13670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导出范围</a:t>
              </a:r>
              <a:endParaRPr lang="zh-CN" sz="225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883444" y="2174555"/>
              <a:ext cx="385762" cy="432418"/>
              <a:chOff x="883444" y="2174555"/>
              <a:chExt cx="385762" cy="43241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83444" y="2174555"/>
                <a:ext cx="385762" cy="432418"/>
              </a:xfrm>
              <a:custGeom>
                <a:avLst/>
                <a:gdLst/>
                <a:ahLst/>
                <a:cxnLst/>
                <a:rect l="l" t="t" r="r" b="b"/>
                <a:pathLst>
                  <a:path w="385762" h="432418">
                    <a:moveTo>
                      <a:pt x="385762" y="302116"/>
                    </a:moveTo>
                    <a:lnTo>
                      <a:pt x="385762" y="130281"/>
                    </a:lnTo>
                    <a:cubicBezTo>
                      <a:pt x="385736" y="115059"/>
                      <a:pt x="377558" y="101017"/>
                      <a:pt x="364331" y="93483"/>
                    </a:cubicBezTo>
                    <a:lnTo>
                      <a:pt x="214312" y="7587"/>
                    </a:lnTo>
                    <a:cubicBezTo>
                      <a:pt x="201032" y="0"/>
                      <a:pt x="184730" y="0"/>
                      <a:pt x="171450" y="7587"/>
                    </a:cubicBezTo>
                    <a:lnTo>
                      <a:pt x="21431" y="93483"/>
                    </a:lnTo>
                    <a:cubicBezTo>
                      <a:pt x="8165" y="101091"/>
                      <a:pt x="0" y="115129"/>
                      <a:pt x="0" y="130302"/>
                    </a:cubicBezTo>
                    <a:lnTo>
                      <a:pt x="0" y="302138"/>
                    </a:lnTo>
                    <a:cubicBezTo>
                      <a:pt x="0" y="317332"/>
                      <a:pt x="8165" y="331349"/>
                      <a:pt x="21431" y="338935"/>
                    </a:cubicBezTo>
                    <a:lnTo>
                      <a:pt x="171450" y="424832"/>
                    </a:lnTo>
                    <a:cubicBezTo>
                      <a:pt x="184730" y="432418"/>
                      <a:pt x="201032" y="432418"/>
                      <a:pt x="214312" y="424832"/>
                    </a:cubicBezTo>
                    <a:lnTo>
                      <a:pt x="364331" y="338935"/>
                    </a:lnTo>
                    <a:cubicBezTo>
                      <a:pt x="377597" y="331327"/>
                      <a:pt x="385762" y="317290"/>
                      <a:pt x="385762" y="302116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76325" y="2390775"/>
                <a:ext cx="9525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4312">
                    <a:moveTo>
                      <a:pt x="0" y="21431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6325" y="2282762"/>
                <a:ext cx="187095" cy="108014"/>
              </a:xfrm>
              <a:custGeom>
                <a:avLst/>
                <a:gdLst/>
                <a:ahLst/>
                <a:cxnLst/>
                <a:rect l="l" t="t" r="r" b="b"/>
                <a:pathLst>
                  <a:path w="187095" h="108014">
                    <a:moveTo>
                      <a:pt x="0" y="108014"/>
                    </a:moveTo>
                    <a:lnTo>
                      <a:pt x="187095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89230" y="2282762"/>
                <a:ext cx="187095" cy="108014"/>
              </a:xfrm>
              <a:custGeom>
                <a:avLst/>
                <a:gdLst/>
                <a:ahLst/>
                <a:cxnLst/>
                <a:rect l="l" t="t" r="r" b="b"/>
                <a:pathLst>
                  <a:path w="187095" h="108014">
                    <a:moveTo>
                      <a:pt x="0" y="0"/>
                    </a:moveTo>
                    <a:lnTo>
                      <a:pt x="187095" y="108014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533906" y="2129790"/>
              <a:ext cx="16002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路径模式：复制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33906" y="24726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分批模式：关闭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33906" y="2815590"/>
              <a:ext cx="23495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限制到：选定的物体</a:t>
              </a:r>
              <a:r>
                <a:rPr lang="en-US" alt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/</a:t>
              </a:r>
              <a:r>
                <a:rPr lang="zh-CN" alt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</a:t>
              </a:r>
              <a:endParaRPr lang="zh-CN" altLang="en-US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33906" y="3158490"/>
              <a:ext cx="33259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物体类型：网格；按需空物体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86500" y="2654300"/>
            <a:ext cx="5334000" cy="2043684"/>
            <a:chOff x="6286500" y="1466850"/>
            <a:chExt cx="5334000" cy="2043684"/>
          </a:xfrm>
        </p:grpSpPr>
        <p:sp>
          <p:nvSpPr>
            <p:cNvPr id="18" name="Rectangle 18"/>
            <p:cNvSpPr/>
            <p:nvPr/>
          </p:nvSpPr>
          <p:spPr>
            <a:xfrm>
              <a:off x="6286500" y="1466850"/>
              <a:ext cx="5334000" cy="2038350"/>
            </a:xfrm>
            <a:prstGeom prst="roundRect">
              <a:avLst>
                <a:gd name="adj" fmla="val 11215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829550" y="1466850"/>
              <a:ext cx="2247900" cy="457200"/>
            </a:xfrm>
            <a:prstGeom prst="roundRect">
              <a:avLst>
                <a:gd name="adj" fmla="val 41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06028" y="1538288"/>
              <a:ext cx="6949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变换</a:t>
              </a:r>
              <a:endParaRPr lang="zh-CN" sz="225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6598444" y="2197894"/>
              <a:ext cx="385763" cy="385763"/>
              <a:chOff x="6598444" y="2197894"/>
              <a:chExt cx="385763" cy="38576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598444" y="2197894"/>
                <a:ext cx="128588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28588">
                    <a:moveTo>
                      <a:pt x="0" y="64294"/>
                    </a:moveTo>
                    <a:cubicBezTo>
                      <a:pt x="0" y="99802"/>
                      <a:pt x="28785" y="128588"/>
                      <a:pt x="64294" y="128588"/>
                    </a:cubicBezTo>
                    <a:cubicBezTo>
                      <a:pt x="99802" y="128588"/>
                      <a:pt x="128588" y="99802"/>
                      <a:pt x="128588" y="64294"/>
                    </a:cubicBezTo>
                    <a:cubicBezTo>
                      <a:pt x="128588" y="28785"/>
                      <a:pt x="99802" y="0"/>
                      <a:pt x="64294" y="0"/>
                    </a:cubicBezTo>
                    <a:cubicBezTo>
                      <a:pt x="28785" y="0"/>
                      <a:pt x="0" y="28785"/>
                      <a:pt x="0" y="64294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812756" y="2197894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171450" y="171450"/>
                    </a:moveTo>
                    <a:lnTo>
                      <a:pt x="171450" y="107156"/>
                    </a:lnTo>
                    <a:cubicBezTo>
                      <a:pt x="171450" y="83484"/>
                      <a:pt x="152260" y="64294"/>
                      <a:pt x="128588" y="64294"/>
                    </a:cubicBezTo>
                    <a:lnTo>
                      <a:pt x="0" y="64294"/>
                    </a:lnTo>
                    <a:lnTo>
                      <a:pt x="64294" y="128588"/>
                    </a:lnTo>
                    <a:moveTo>
                      <a:pt x="64294" y="0"/>
                    </a:moveTo>
                    <a:lnTo>
                      <a:pt x="0" y="64294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598444" y="2412206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0"/>
                    </a:moveTo>
                    <a:lnTo>
                      <a:pt x="0" y="64294"/>
                    </a:lnTo>
                    <a:cubicBezTo>
                      <a:pt x="0" y="87966"/>
                      <a:pt x="19190" y="107156"/>
                      <a:pt x="42862" y="107156"/>
                    </a:cubicBezTo>
                    <a:lnTo>
                      <a:pt x="171450" y="107156"/>
                    </a:lnTo>
                    <a:lnTo>
                      <a:pt x="107156" y="42862"/>
                    </a:lnTo>
                    <a:moveTo>
                      <a:pt x="107156" y="171450"/>
                    </a:moveTo>
                    <a:lnTo>
                      <a:pt x="171450" y="107156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855619" y="2455069"/>
                <a:ext cx="128588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28588">
                    <a:moveTo>
                      <a:pt x="0" y="64294"/>
                    </a:moveTo>
                    <a:cubicBezTo>
                      <a:pt x="0" y="99802"/>
                      <a:pt x="28785" y="128588"/>
                      <a:pt x="64294" y="128588"/>
                    </a:cubicBezTo>
                    <a:cubicBezTo>
                      <a:pt x="99802" y="128588"/>
                      <a:pt x="128588" y="99802"/>
                      <a:pt x="128588" y="64294"/>
                    </a:cubicBezTo>
                    <a:cubicBezTo>
                      <a:pt x="128588" y="28785"/>
                      <a:pt x="99802" y="0"/>
                      <a:pt x="64294" y="0"/>
                    </a:cubicBezTo>
                    <a:cubicBezTo>
                      <a:pt x="28785" y="0"/>
                      <a:pt x="0" y="28785"/>
                      <a:pt x="0" y="64294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7248906" y="2129790"/>
              <a:ext cx="292608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Scale 1.00 · </a:t>
              </a:r>
              <a:r>
                <a:rPr lang="en-US" altLang="zh-CN" sz="1800" b="1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FBX</a:t>
              </a:r>
              <a:r>
                <a:rPr lang="zh-CN" altLang="en-US" sz="1800" b="1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单位缩放</a:t>
              </a:r>
              <a:endParaRPr lang="zh-CN" altLang="en-US" sz="1800" b="1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48906" y="2472690"/>
              <a:ext cx="2238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Forward -Z · Up Y</a:t>
              </a:r>
              <a:endParaRPr lang="en-US" sz="18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48906" y="28155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应用单位：开启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48906" y="3158490"/>
              <a:ext cx="2817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空间变换开；应用变换关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4" name="Line 54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AD0CD78-36C6-4707-BCB4-8AF0B012F865}" type="slidenum">
              <a:rPr lang="en-US" sz="1350" dirty="0">
                <a:solidFill>
                  <a:schemeClr val="accent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</a:fld>
            <a:endParaRPr lang="en-US" sz="1350" dirty="0">
              <a:solidFill>
                <a:schemeClr val="accent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11329111" cy="973074"/>
            <a:chOff x="552450" y="346710"/>
            <a:chExt cx="11329111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1132911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只导出需要的对象，保持贴图独立可管理</a:t>
              </a:r>
              <a:endPara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64830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路径、分批与包括设置，决定 FBX 带走什么以及如何组织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1504950"/>
            <a:ext cx="3429000" cy="4000500"/>
            <a:chOff x="571500" y="1504950"/>
            <a:chExt cx="3429000" cy="4000500"/>
          </a:xfrm>
        </p:grpSpPr>
        <p:sp>
          <p:nvSpPr>
            <p:cNvPr id="5" name="Rectangle 5"/>
            <p:cNvSpPr/>
            <p:nvPr/>
          </p:nvSpPr>
          <p:spPr>
            <a:xfrm>
              <a:off x="571500" y="1504950"/>
              <a:ext cx="3429000" cy="4000500"/>
            </a:xfrm>
            <a:prstGeom prst="roundRect">
              <a:avLst>
                <a:gd name="adj" fmla="val 7222"/>
              </a:avLst>
            </a:prstGeom>
            <a:solidFill>
              <a:srgbClr val="FFF0D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790700" y="1695450"/>
              <a:ext cx="990600" cy="99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2057400" y="1987550"/>
              <a:ext cx="457201" cy="381000"/>
            </a:xfrm>
            <a:custGeom>
              <a:avLst/>
              <a:gdLst/>
              <a:ahLst/>
              <a:cxnLst/>
              <a:rect l="l" t="t" r="r" b="b"/>
              <a:pathLst>
                <a:path w="457201" h="381000">
                  <a:moveTo>
                    <a:pt x="50800" y="0"/>
                  </a:moveTo>
                  <a:lnTo>
                    <a:pt x="152400" y="0"/>
                  </a:lnTo>
                  <a:lnTo>
                    <a:pt x="228600" y="76200"/>
                  </a:lnTo>
                  <a:lnTo>
                    <a:pt x="406401" y="76200"/>
                  </a:lnTo>
                  <a:cubicBezTo>
                    <a:pt x="434457" y="76200"/>
                    <a:pt x="457201" y="98944"/>
                    <a:pt x="457201" y="127000"/>
                  </a:cubicBezTo>
                  <a:lnTo>
                    <a:pt x="457201" y="330200"/>
                  </a:lnTo>
                  <a:cubicBezTo>
                    <a:pt x="457201" y="358257"/>
                    <a:pt x="434457" y="381000"/>
                    <a:pt x="406401" y="381000"/>
                  </a:cubicBezTo>
                  <a:lnTo>
                    <a:pt x="50800" y="381000"/>
                  </a:lnTo>
                  <a:cubicBezTo>
                    <a:pt x="22744" y="381000"/>
                    <a:pt x="0" y="358257"/>
                    <a:pt x="0" y="330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65783" y="2680335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8C5A00"/>
                  </a:solidFill>
                  <a:latin typeface="+mj-lt"/>
                  <a:ea typeface="+mj-ea"/>
                  <a:cs typeface="+mj-cs"/>
                </a:rPr>
                <a:t>路径模式</a:t>
              </a:r>
              <a:endParaRPr lang="zh-CN" sz="2700" b="1" dirty="0">
                <a:solidFill>
                  <a:srgbClr val="8C5A00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8675" y="3245644"/>
              <a:ext cx="1737360" cy="288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推荐：自动</a:t>
              </a:r>
              <a:r>
                <a:rPr lang="en-US" alt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/</a:t>
              </a:r>
              <a:r>
                <a:rPr lang="zh-CN" altLang="en-US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复制</a:t>
              </a:r>
              <a:endParaRPr lang="zh-CN" altLang="en-US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9818" y="3650932"/>
              <a:ext cx="24161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近处文件使用相对路径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3974782"/>
              <a:ext cx="2647950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Unity 中贴图独立管理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相对路径或</a:t>
              </a:r>
              <a:r>
                <a:rPr lang="en-US" alt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Textures</a:t>
              </a:r>
              <a:r>
                <a:rPr lang="zh-CN"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下检索</a:t>
              </a:r>
              <a:endParaRPr lang="zh-CN" altLang="en-US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4520882"/>
              <a:ext cx="19175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85C45"/>
                  </a:solidFill>
                  <a:latin typeface="+mn-lt"/>
                  <a:ea typeface="+mn-ea"/>
                  <a:cs typeface="+mn-cs"/>
                </a:rPr>
                <a:t>避免：绝对 / 匹配</a:t>
              </a:r>
              <a:endParaRPr lang="zh-CN" sz="1650" b="1" dirty="0">
                <a:solidFill>
                  <a:srgbClr val="D85C4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0580" y="47910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换电脑或继承旧路径易失效</a:t>
              </a:r>
              <a:endParaRPr lang="zh-CN" sz="15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8200" y="5124450"/>
              <a:ext cx="2895600" cy="2476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7743" y="5167789"/>
              <a:ext cx="28965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C5A00"/>
                  </a:solidFill>
                  <a:latin typeface="+mn-lt"/>
                  <a:ea typeface="+mn-ea"/>
                  <a:cs typeface="+mn-cs"/>
                </a:rPr>
                <a:t>复制可用于打包，但通常不嵌入贴图</a:t>
              </a:r>
              <a:endParaRPr lang="zh-CN" sz="1280" b="1" dirty="0">
                <a:solidFill>
                  <a:srgbClr val="8C5A00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81500" y="1504950"/>
            <a:ext cx="3429000" cy="4000500"/>
            <a:chOff x="4381500" y="1504950"/>
            <a:chExt cx="3429000" cy="4000500"/>
          </a:xfrm>
        </p:grpSpPr>
        <p:sp>
          <p:nvSpPr>
            <p:cNvPr id="17" name="Rectangle 17"/>
            <p:cNvSpPr/>
            <p:nvPr/>
          </p:nvSpPr>
          <p:spPr>
            <a:xfrm>
              <a:off x="4381500" y="1504950"/>
              <a:ext cx="3429000" cy="4000500"/>
            </a:xfrm>
            <a:prstGeom prst="roundRect">
              <a:avLst>
                <a:gd name="adj" fmla="val 7222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5600700" y="1695450"/>
              <a:ext cx="990600" cy="990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5918200" y="1962150"/>
              <a:ext cx="381000" cy="457200"/>
              <a:chOff x="5918200" y="1962150"/>
              <a:chExt cx="381000" cy="4572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6172200" y="19621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0"/>
                    </a:moveTo>
                    <a:lnTo>
                      <a:pt x="0" y="101600"/>
                    </a:lnTo>
                    <a:cubicBezTo>
                      <a:pt x="0" y="115628"/>
                      <a:pt x="11372" y="127000"/>
                      <a:pt x="25400" y="127000"/>
                    </a:cubicBezTo>
                    <a:lnTo>
                      <a:pt x="127000" y="1270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019800" y="1962150"/>
                <a:ext cx="2794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355600">
                    <a:moveTo>
                      <a:pt x="228600" y="355600"/>
                    </a:moveTo>
                    <a:lnTo>
                      <a:pt x="50800" y="355600"/>
                    </a:lnTo>
                    <a:cubicBezTo>
                      <a:pt x="22744" y="355600"/>
                      <a:pt x="0" y="332856"/>
                      <a:pt x="0" y="304800"/>
                    </a:cubicBez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152400" y="0"/>
                    </a:lnTo>
                    <a:lnTo>
                      <a:pt x="279400" y="127000"/>
                    </a:lnTo>
                    <a:lnTo>
                      <a:pt x="279400" y="304800"/>
                    </a:lnTo>
                    <a:cubicBezTo>
                      <a:pt x="279400" y="332856"/>
                      <a:pt x="256656" y="355600"/>
                      <a:pt x="228600" y="3556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918200" y="2063750"/>
                <a:ext cx="2794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355600">
                    <a:moveTo>
                      <a:pt x="279400" y="254000"/>
                    </a:moveTo>
                    <a:lnTo>
                      <a:pt x="279400" y="304800"/>
                    </a:lnTo>
                    <a:cubicBezTo>
                      <a:pt x="279400" y="332856"/>
                      <a:pt x="256656" y="355600"/>
                      <a:pt x="228600" y="355600"/>
                    </a:cubicBezTo>
                    <a:lnTo>
                      <a:pt x="50800" y="355600"/>
                    </a:lnTo>
                    <a:cubicBezTo>
                      <a:pt x="22744" y="355600"/>
                      <a:pt x="0" y="332856"/>
                      <a:pt x="0" y="304800"/>
                    </a:cubicBez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275783" y="2680335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分批模式</a:t>
              </a:r>
              <a:endPara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38675" y="3245644"/>
              <a:ext cx="187428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普通模型：关闭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39818" y="3650932"/>
              <a:ext cx="27648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当前选择导出为一个 FBX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39818" y="3974782"/>
              <a:ext cx="24161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零件可多选后一起导出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39818" y="441293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何时才开启？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40580" y="4752975"/>
              <a:ext cx="2695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按场景 / Collection 批量生成</a:t>
              </a:r>
              <a:endParaRPr lang="zh-CN" sz="15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5124450"/>
              <a:ext cx="2895600" cy="2476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08188" y="5167789"/>
              <a:ext cx="21756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只有大量规范化资源才需要</a:t>
              </a:r>
              <a:endParaRPr lang="zh-CN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191500" y="1504950"/>
            <a:ext cx="3429000" cy="4000500"/>
            <a:chOff x="8191500" y="1504950"/>
            <a:chExt cx="3429000" cy="4000500"/>
          </a:xfrm>
        </p:grpSpPr>
        <p:sp>
          <p:nvSpPr>
            <p:cNvPr id="32" name="Rectangle 32"/>
            <p:cNvSpPr/>
            <p:nvPr/>
          </p:nvSpPr>
          <p:spPr>
            <a:xfrm>
              <a:off x="8191500" y="1504950"/>
              <a:ext cx="3429000" cy="4000500"/>
            </a:xfrm>
            <a:prstGeom prst="roundRect">
              <a:avLst>
                <a:gd name="adj" fmla="val 7222"/>
              </a:avLst>
            </a:prstGeom>
            <a:solidFill>
              <a:srgbClr val="E8F5F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9410700" y="1695450"/>
              <a:ext cx="990600" cy="990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9677400" y="1934490"/>
              <a:ext cx="457201" cy="512496"/>
              <a:chOff x="9677400" y="1934490"/>
              <a:chExt cx="457201" cy="51249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9677400" y="1934490"/>
                <a:ext cx="457201" cy="512496"/>
              </a:xfrm>
              <a:custGeom>
                <a:avLst/>
                <a:gdLst/>
                <a:ahLst/>
                <a:cxnLst/>
                <a:rect l="l" t="t" r="r" b="b"/>
                <a:pathLst>
                  <a:path w="457201" h="512496">
                    <a:moveTo>
                      <a:pt x="457201" y="358064"/>
                    </a:moveTo>
                    <a:lnTo>
                      <a:pt x="457201" y="154407"/>
                    </a:lnTo>
                    <a:cubicBezTo>
                      <a:pt x="457169" y="136366"/>
                      <a:pt x="447477" y="119724"/>
                      <a:pt x="431801" y="110795"/>
                    </a:cubicBezTo>
                    <a:lnTo>
                      <a:pt x="254000" y="8992"/>
                    </a:lnTo>
                    <a:cubicBezTo>
                      <a:pt x="238261" y="0"/>
                      <a:pt x="218940" y="0"/>
                      <a:pt x="203200" y="8992"/>
                    </a:cubicBezTo>
                    <a:lnTo>
                      <a:pt x="25400" y="110795"/>
                    </a:lnTo>
                    <a:cubicBezTo>
                      <a:pt x="9677" y="119812"/>
                      <a:pt x="0" y="136449"/>
                      <a:pt x="0" y="154432"/>
                    </a:cubicBezTo>
                    <a:lnTo>
                      <a:pt x="0" y="358090"/>
                    </a:lnTo>
                    <a:cubicBezTo>
                      <a:pt x="0" y="376098"/>
                      <a:pt x="9677" y="392710"/>
                      <a:pt x="25400" y="401701"/>
                    </a:cubicBezTo>
                    <a:lnTo>
                      <a:pt x="203200" y="503505"/>
                    </a:lnTo>
                    <a:cubicBezTo>
                      <a:pt x="218940" y="512496"/>
                      <a:pt x="238261" y="512496"/>
                      <a:pt x="254000" y="503505"/>
                    </a:cubicBezTo>
                    <a:lnTo>
                      <a:pt x="431801" y="401701"/>
                    </a:lnTo>
                    <a:cubicBezTo>
                      <a:pt x="447523" y="392684"/>
                      <a:pt x="457201" y="376047"/>
                      <a:pt x="457201" y="358064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906000" y="2190750"/>
                <a:ext cx="9525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0">
                    <a:moveTo>
                      <a:pt x="0" y="2540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906000" y="2062734"/>
                <a:ext cx="221742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21742" h="128016">
                    <a:moveTo>
                      <a:pt x="0" y="128016"/>
                    </a:moveTo>
                    <a:lnTo>
                      <a:pt x="221742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684258" y="2062734"/>
                <a:ext cx="221742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21742" h="128016">
                    <a:moveTo>
                      <a:pt x="0" y="0"/>
                    </a:moveTo>
                    <a:lnTo>
                      <a:pt x="221742" y="128016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9489034" y="2680335"/>
              <a:ext cx="8339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F8F6A"/>
                  </a:solidFill>
                  <a:latin typeface="+mj-lt"/>
                  <a:ea typeface="+mj-ea"/>
                  <a:cs typeface="+mj-cs"/>
                </a:rPr>
                <a:t>包括</a:t>
              </a:r>
              <a:endParaRPr lang="zh-CN" sz="2700" b="1" dirty="0">
                <a:solidFill>
                  <a:srgbClr val="2F8F6A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48675" y="3245644"/>
              <a:ext cx="240434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限制到：选定的物体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49818" y="3650932"/>
              <a:ext cx="13054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网格：开启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49818" y="3974782"/>
              <a:ext cx="26715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空物体：仅根节点 / 挂点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49818" y="4298632"/>
              <a:ext cx="2704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相机 / 灯光 / 骨架：关闭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49818" y="4622482"/>
              <a:ext cx="24161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自定义属性：默认关闭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458200" y="5124450"/>
              <a:ext cx="2895600" cy="2476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975968" y="5167789"/>
              <a:ext cx="18600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rPr>
                <a:t>先在 3D 视图选好对象</a:t>
              </a:r>
              <a:endParaRPr lang="zh-CN" sz="1280" b="1" dirty="0">
                <a:solidFill>
                  <a:srgbClr val="2F8F6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2171700" y="5657850"/>
            <a:ext cx="7848600" cy="420815"/>
            <a:chOff x="2171700" y="5657850"/>
            <a:chExt cx="7848600" cy="420815"/>
          </a:xfrm>
        </p:grpSpPr>
        <p:sp>
          <p:nvSpPr>
            <p:cNvPr id="48" name="Rectangle 48"/>
            <p:cNvSpPr/>
            <p:nvPr/>
          </p:nvSpPr>
          <p:spPr>
            <a:xfrm>
              <a:off x="2171700" y="5657850"/>
              <a:ext cx="7848600" cy="400050"/>
            </a:xfrm>
            <a:prstGeom prst="roundRect">
              <a:avLst>
                <a:gd name="adj" fmla="val 42857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383040" y="5755958"/>
              <a:ext cx="54259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最稳妥的原则：视图里选什么，FBX 就只带走什么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1" name="Line 51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AD0CD78-36C6-4707-BCB4-8AF0B012F865}" type="slidenum">
              <a:rPr lang="en-US" sz="1350" dirty="0">
                <a:solidFill>
                  <a:schemeClr val="accent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</a:fld>
            <a:endParaRPr lang="en-US" sz="1350" dirty="0">
              <a:solidFill>
                <a:schemeClr val="accent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10511089" cy="973074"/>
            <a:chOff x="552450" y="346710"/>
            <a:chExt cx="10511089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1051108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尺寸和朝向，应在 Blender 源头正确</a:t>
              </a:r>
              <a:endPara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5599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不要把 Unity 的 Transform 缩放当作长期补救工具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90550" y="1504950"/>
            <a:ext cx="4095750" cy="3943350"/>
            <a:chOff x="590550" y="1504950"/>
            <a:chExt cx="4095750" cy="3943350"/>
          </a:xfrm>
        </p:grpSpPr>
        <p:sp>
          <p:nvSpPr>
            <p:cNvPr id="5" name="Rectangle 5"/>
            <p:cNvSpPr/>
            <p:nvPr/>
          </p:nvSpPr>
          <p:spPr>
            <a:xfrm>
              <a:off x="590550" y="1504950"/>
              <a:ext cx="4095750" cy="3943350"/>
            </a:xfrm>
            <a:prstGeom prst="roundRect">
              <a:avLst>
                <a:gd name="adj" fmla="val 6763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1976" y="1686878"/>
              <a:ext cx="37928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8C5A00"/>
                  </a:solidFill>
                  <a:latin typeface="+mj-lt"/>
                  <a:ea typeface="+mj-ea"/>
                  <a:cs typeface="+mj-cs"/>
                </a:rPr>
                <a:t>Blender → Unity 轴向</a:t>
              </a:r>
              <a:endParaRPr lang="zh-CN" sz="2550" b="1" dirty="0">
                <a:solidFill>
                  <a:srgbClr val="8C5A00"/>
                </a:solidFill>
                <a:latin typeface="+mj-lt"/>
                <a:ea typeface="+mj-ea"/>
                <a:cs typeface="+mj-cs"/>
              </a:endParaRP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1695450" y="2609850"/>
              <a:ext cx="2266950" cy="2209800"/>
              <a:chOff x="1695450" y="2609850"/>
              <a:chExt cx="2266950" cy="2209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2628900" y="4038600"/>
                <a:ext cx="131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14450" h="9525">
                    <a:moveTo>
                      <a:pt x="0" y="0"/>
                    </a:moveTo>
                    <a:lnTo>
                      <a:pt x="1314450" y="0"/>
                    </a:lnTo>
                  </a:path>
                </a:pathLst>
              </a:custGeom>
              <a:noFill/>
              <a:ln w="57150" cap="rnd">
                <a:solidFill>
                  <a:srgbClr val="D85C45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628900" y="2628900"/>
                <a:ext cx="9525" cy="1409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09700">
                    <a:moveTo>
                      <a:pt x="0" y="1409700"/>
                    </a:moveTo>
                    <a:lnTo>
                      <a:pt x="0" y="0"/>
                    </a:lnTo>
                  </a:path>
                </a:pathLst>
              </a:custGeom>
              <a:noFill/>
              <a:ln w="57150" cap="rnd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714500" y="4038600"/>
                <a:ext cx="9144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762000">
                    <a:moveTo>
                      <a:pt x="914400" y="0"/>
                    </a:moveTo>
                    <a:lnTo>
                      <a:pt x="0" y="762000"/>
                    </a:lnTo>
                  </a:path>
                </a:pathLst>
              </a:custGeom>
              <a:noFill/>
              <a:ln w="57150" cap="rnd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3790950" y="3914775"/>
                <a:ext cx="1714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47650">
                    <a:moveTo>
                      <a:pt x="0" y="0"/>
                    </a:moveTo>
                    <a:lnTo>
                      <a:pt x="171450" y="123825"/>
                    </a:lnTo>
                    <a:lnTo>
                      <a:pt x="0" y="247650"/>
                    </a:lnTo>
                  </a:path>
                </a:pathLst>
              </a:custGeom>
              <a:noFill/>
              <a:ln w="57150" cap="rnd">
                <a:solidFill>
                  <a:srgbClr val="D85C45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505075" y="2609850"/>
                <a:ext cx="2476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190500">
                    <a:moveTo>
                      <a:pt x="0" y="190500"/>
                    </a:moveTo>
                    <a:lnTo>
                      <a:pt x="123825" y="0"/>
                    </a:lnTo>
                    <a:lnTo>
                      <a:pt x="247650" y="190500"/>
                    </a:lnTo>
                  </a:path>
                </a:pathLst>
              </a:custGeom>
              <a:noFill/>
              <a:ln w="57150" cap="rnd">
                <a:solidFill>
                  <a:schemeClr val="accent3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695450" y="4629150"/>
                <a:ext cx="2381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90500">
                    <a:moveTo>
                      <a:pt x="152400" y="0"/>
                    </a:moveTo>
                    <a:lnTo>
                      <a:pt x="0" y="190500"/>
                    </a:lnTo>
                    <a:lnTo>
                      <a:pt x="238125" y="152400"/>
                    </a:lnTo>
                  </a:path>
                </a:pathLst>
              </a:custGeom>
              <a:noFill/>
              <a:ln w="57150" cap="rnd">
                <a:solidFill>
                  <a:schemeClr val="accent1"/>
                </a:solidFill>
              </a:ln>
            </p:spPr>
          </p:sp>
        </p:grpSp>
        <p:sp>
          <p:nvSpPr>
            <p:cNvPr id="14" name="Ellipse 14"/>
            <p:cNvSpPr/>
            <p:nvPr/>
          </p:nvSpPr>
          <p:spPr>
            <a:xfrm>
              <a:off x="2228850" y="3638550"/>
              <a:ext cx="800100" cy="80010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rgbClr val="1A1A1A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2428875" y="3814372"/>
              <a:ext cx="400049" cy="448433"/>
              <a:chOff x="2428875" y="3814372"/>
              <a:chExt cx="400049" cy="44843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2428875" y="3814372"/>
                <a:ext cx="400049" cy="448433"/>
              </a:xfrm>
              <a:custGeom>
                <a:avLst/>
                <a:gdLst/>
                <a:ahLst/>
                <a:cxnLst/>
                <a:rect l="l" t="t" r="r" b="b"/>
                <a:pathLst>
                  <a:path w="400049" h="448433">
                    <a:moveTo>
                      <a:pt x="400049" y="313305"/>
                    </a:moveTo>
                    <a:lnTo>
                      <a:pt x="400049" y="135106"/>
                    </a:lnTo>
                    <a:cubicBezTo>
                      <a:pt x="400022" y="119320"/>
                      <a:pt x="391541" y="104758"/>
                      <a:pt x="377824" y="96945"/>
                    </a:cubicBezTo>
                    <a:lnTo>
                      <a:pt x="222250" y="7868"/>
                    </a:lnTo>
                    <a:cubicBezTo>
                      <a:pt x="208477" y="0"/>
                      <a:pt x="191572" y="0"/>
                      <a:pt x="177800" y="7868"/>
                    </a:cubicBezTo>
                    <a:lnTo>
                      <a:pt x="22225" y="96945"/>
                    </a:lnTo>
                    <a:cubicBezTo>
                      <a:pt x="8468" y="104835"/>
                      <a:pt x="0" y="119392"/>
                      <a:pt x="0" y="135128"/>
                    </a:cubicBezTo>
                    <a:lnTo>
                      <a:pt x="0" y="313328"/>
                    </a:lnTo>
                    <a:cubicBezTo>
                      <a:pt x="0" y="329085"/>
                      <a:pt x="8468" y="343620"/>
                      <a:pt x="22225" y="351488"/>
                    </a:cubicBezTo>
                    <a:lnTo>
                      <a:pt x="177800" y="440565"/>
                    </a:lnTo>
                    <a:cubicBezTo>
                      <a:pt x="191572" y="448433"/>
                      <a:pt x="208477" y="448433"/>
                      <a:pt x="222250" y="440565"/>
                    </a:cubicBezTo>
                    <a:lnTo>
                      <a:pt x="377824" y="351488"/>
                    </a:lnTo>
                    <a:cubicBezTo>
                      <a:pt x="391582" y="343598"/>
                      <a:pt x="400049" y="329041"/>
                      <a:pt x="400049" y="31330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628900" y="4038600"/>
                <a:ext cx="9525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0">
                    <a:moveTo>
                      <a:pt x="0" y="2222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2628900" y="3926586"/>
                <a:ext cx="194024" cy="112014"/>
              </a:xfrm>
              <a:custGeom>
                <a:avLst/>
                <a:gdLst/>
                <a:ahLst/>
                <a:cxnLst/>
                <a:rect l="l" t="t" r="r" b="b"/>
                <a:pathLst>
                  <a:path w="194024" h="112014">
                    <a:moveTo>
                      <a:pt x="0" y="112014"/>
                    </a:moveTo>
                    <a:lnTo>
                      <a:pt x="194024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434876" y="3926586"/>
                <a:ext cx="194024" cy="112014"/>
              </a:xfrm>
              <a:custGeom>
                <a:avLst/>
                <a:gdLst/>
                <a:ahLst/>
                <a:cxnLst/>
                <a:rect l="l" t="t" r="r" b="b"/>
                <a:pathLst>
                  <a:path w="194024" h="112014">
                    <a:moveTo>
                      <a:pt x="0" y="0"/>
                    </a:moveTo>
                    <a:lnTo>
                      <a:pt x="194024" y="112014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4058412" y="3928586"/>
              <a:ext cx="15922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rgbClr val="D85C4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X</a:t>
              </a:r>
              <a:endParaRPr lang="en-US" sz="1720" b="1" dirty="0">
                <a:solidFill>
                  <a:srgbClr val="D85C4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63012" y="2461736"/>
              <a:ext cx="51990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rgbClr val="2F8F6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Y UP</a:t>
              </a:r>
              <a:endParaRPr lang="en-US" sz="1720" b="1" dirty="0">
                <a:solidFill>
                  <a:srgbClr val="2F8F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7087" y="4881086"/>
              <a:ext cx="147314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-Z FORWARD</a:t>
              </a:r>
              <a:endParaRPr lang="en-US" sz="172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143000" y="5086350"/>
              <a:ext cx="299085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820947" y="5120164"/>
              <a:ext cx="16349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使用空间变换：开启</a:t>
              </a:r>
              <a:endParaRPr lang="zh-CN" sz="1280" b="1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029200" y="1504950"/>
            <a:ext cx="6591300" cy="1141095"/>
            <a:chOff x="5029200" y="1504950"/>
            <a:chExt cx="6591300" cy="1141095"/>
          </a:xfrm>
        </p:grpSpPr>
        <p:sp>
          <p:nvSpPr>
            <p:cNvPr id="26" name="Rectangle 26"/>
            <p:cNvSpPr/>
            <p:nvPr/>
          </p:nvSpPr>
          <p:spPr>
            <a:xfrm>
              <a:off x="5029200" y="1504950"/>
              <a:ext cx="6591300" cy="1123950"/>
            </a:xfrm>
            <a:prstGeom prst="roundRect">
              <a:avLst>
                <a:gd name="adj" fmla="val 18644"/>
              </a:avLst>
            </a:prstGeom>
            <a:solidFill>
              <a:srgbClr val="FFF0D1"/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5343525" y="1838325"/>
              <a:ext cx="342900" cy="342900"/>
              <a:chOff x="5343525" y="1838325"/>
              <a:chExt cx="342900" cy="3429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343525" y="1838325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21431" y="0"/>
                    </a:moveTo>
                    <a:lnTo>
                      <a:pt x="321469" y="0"/>
                    </a:lnTo>
                    <a:cubicBezTo>
                      <a:pt x="333305" y="0"/>
                      <a:pt x="342900" y="9595"/>
                      <a:pt x="342900" y="21431"/>
                    </a:cubicBezTo>
                    <a:lnTo>
                      <a:pt x="342900" y="128588"/>
                    </a:lnTo>
                    <a:cubicBezTo>
                      <a:pt x="342900" y="140424"/>
                      <a:pt x="333305" y="150019"/>
                      <a:pt x="321469" y="150019"/>
                    </a:cubicBezTo>
                    <a:lnTo>
                      <a:pt x="171450" y="150019"/>
                    </a:lnTo>
                    <a:cubicBezTo>
                      <a:pt x="159614" y="150019"/>
                      <a:pt x="150019" y="159614"/>
                      <a:pt x="150019" y="171450"/>
                    </a:cubicBezTo>
                    <a:lnTo>
                      <a:pt x="150019" y="321469"/>
                    </a:lnTo>
                    <a:cubicBezTo>
                      <a:pt x="150019" y="333305"/>
                      <a:pt x="140424" y="342900"/>
                      <a:pt x="128588" y="342900"/>
                    </a:cubicBezTo>
                    <a:lnTo>
                      <a:pt x="21431" y="342900"/>
                    </a:lnTo>
                    <a:cubicBezTo>
                      <a:pt x="9595" y="342900"/>
                      <a:pt x="0" y="333305"/>
                      <a:pt x="0" y="321469"/>
                    </a:cubicBezTo>
                    <a:lnTo>
                      <a:pt x="0" y="21431"/>
                    </a:lnTo>
                    <a:cubicBezTo>
                      <a:pt x="0" y="9595"/>
                      <a:pt x="9595" y="0"/>
                      <a:pt x="21431" y="0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343525" y="1924050"/>
                <a:ext cx="428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9525">
                    <a:moveTo>
                      <a:pt x="0" y="0"/>
                    </a:moveTo>
                    <a:lnTo>
                      <a:pt x="42862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343525" y="2009775"/>
                <a:ext cx="6429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4294" h="9525">
                    <a:moveTo>
                      <a:pt x="0" y="0"/>
                    </a:moveTo>
                    <a:lnTo>
                      <a:pt x="64294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343525" y="2095500"/>
                <a:ext cx="428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9525">
                    <a:moveTo>
                      <a:pt x="0" y="0"/>
                    </a:moveTo>
                    <a:lnTo>
                      <a:pt x="42862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429250" y="1838325"/>
                <a:ext cx="95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2862">
                    <a:moveTo>
                      <a:pt x="0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514975" y="1838325"/>
                <a:ext cx="9525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4294">
                    <a:moveTo>
                      <a:pt x="0" y="0"/>
                    </a:moveTo>
                    <a:lnTo>
                      <a:pt x="0" y="64294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600700" y="1838325"/>
                <a:ext cx="95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2862">
                    <a:moveTo>
                      <a:pt x="0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5949696" y="1629728"/>
              <a:ext cx="32250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8C5A00"/>
                  </a:solidFill>
                  <a:latin typeface="+mj-lt"/>
                  <a:ea typeface="+mj-ea"/>
                  <a:cs typeface="+mj-cs"/>
                </a:rPr>
                <a:t>1. 单位与真实尺寸</a:t>
              </a:r>
              <a:endParaRPr lang="zh-CN" sz="2550" b="1" dirty="0">
                <a:solidFill>
                  <a:srgbClr val="8C5A00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953887" y="2061686"/>
              <a:ext cx="510951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Metric · Unit Scale 1.0 · 1 Blender Unit = 1 m</a:t>
              </a:r>
              <a:endParaRPr lang="en-US" sz="17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955030" y="2352675"/>
              <a:ext cx="35692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导出缩放保持 1.00，并开启“应用单位”</a:t>
              </a:r>
              <a:endParaRPr lang="zh-CN" sz="15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029200" y="2819400"/>
            <a:ext cx="6591300" cy="1141095"/>
            <a:chOff x="5029200" y="2819400"/>
            <a:chExt cx="6591300" cy="1141095"/>
          </a:xfrm>
        </p:grpSpPr>
        <p:sp>
          <p:nvSpPr>
            <p:cNvPr id="39" name="Rectangle 39"/>
            <p:cNvSpPr/>
            <p:nvPr/>
          </p:nvSpPr>
          <p:spPr>
            <a:xfrm>
              <a:off x="5029200" y="2819400"/>
              <a:ext cx="6591300" cy="1123950"/>
            </a:xfrm>
            <a:prstGeom prst="roundRect">
              <a:avLst>
                <a:gd name="adj" fmla="val 18644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5322094" y="3131344"/>
              <a:ext cx="407194" cy="385763"/>
              <a:chOff x="5322094" y="3131344"/>
              <a:chExt cx="407194" cy="38576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5514975" y="3131344"/>
                <a:ext cx="150019" cy="235744"/>
              </a:xfrm>
              <a:custGeom>
                <a:avLst/>
                <a:gdLst/>
                <a:ahLst/>
                <a:cxnLst/>
                <a:rect l="l" t="t" r="r" b="b"/>
                <a:pathLst>
                  <a:path w="150019" h="235744">
                    <a:moveTo>
                      <a:pt x="0" y="0"/>
                    </a:moveTo>
                    <a:cubicBezTo>
                      <a:pt x="82853" y="0"/>
                      <a:pt x="150019" y="67166"/>
                      <a:pt x="150019" y="150019"/>
                    </a:cubicBezTo>
                    <a:lnTo>
                      <a:pt x="150019" y="235744"/>
                    </a:lnTo>
                    <a:lnTo>
                      <a:pt x="85725" y="1714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5664994" y="3302794"/>
                <a:ext cx="64294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64294" h="64294">
                    <a:moveTo>
                      <a:pt x="64294" y="0"/>
                    </a:moveTo>
                    <a:lnTo>
                      <a:pt x="0" y="64294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5322094" y="3270647"/>
                <a:ext cx="214312" cy="246459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46459">
                    <a:moveTo>
                      <a:pt x="107156" y="128588"/>
                    </a:moveTo>
                    <a:lnTo>
                      <a:pt x="0" y="64294"/>
                    </a:lnTo>
                    <a:lnTo>
                      <a:pt x="107156" y="0"/>
                    </a:lnTo>
                    <a:lnTo>
                      <a:pt x="214312" y="64294"/>
                    </a:lnTo>
                    <a:lnTo>
                      <a:pt x="214312" y="182166"/>
                    </a:lnTo>
                    <a:lnTo>
                      <a:pt x="107156" y="246459"/>
                    </a:lnTo>
                    <a:lnTo>
                      <a:pt x="107156" y="128588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322094" y="3334941"/>
                <a:ext cx="1071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82166">
                    <a:moveTo>
                      <a:pt x="0" y="0"/>
                    </a:moveTo>
                    <a:lnTo>
                      <a:pt x="0" y="117872"/>
                    </a:lnTo>
                    <a:lnTo>
                      <a:pt x="107156" y="182166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5429250" y="3335262"/>
                <a:ext cx="107156" cy="64937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64937">
                    <a:moveTo>
                      <a:pt x="0" y="64937"/>
                    </a:moveTo>
                    <a:lnTo>
                      <a:pt x="107156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5949696" y="2944178"/>
              <a:ext cx="28441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2. 应用对象变换</a:t>
              </a:r>
              <a:endParaRPr lang="zh-CN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53887" y="3376136"/>
              <a:ext cx="481309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Ctrl + A &gt; Rotation &amp; Scale → Scale (1,1,1)</a:t>
              </a:r>
              <a:endParaRPr lang="en-US" sz="17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955030" y="3667125"/>
              <a:ext cx="38721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导出面板里的实验性“应用变换”仍保持关闭</a:t>
              </a:r>
              <a:endParaRPr lang="zh-CN" sz="15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029200" y="4133850"/>
            <a:ext cx="8115167" cy="1314450"/>
            <a:chOff x="5029200" y="4133850"/>
            <a:chExt cx="8115167" cy="1314450"/>
          </a:xfrm>
        </p:grpSpPr>
        <p:sp>
          <p:nvSpPr>
            <p:cNvPr id="50" name="Rectangle 50"/>
            <p:cNvSpPr/>
            <p:nvPr/>
          </p:nvSpPr>
          <p:spPr>
            <a:xfrm>
              <a:off x="5029200" y="4133850"/>
              <a:ext cx="6591300" cy="1314450"/>
            </a:xfrm>
            <a:prstGeom prst="roundRect">
              <a:avLst>
                <a:gd name="adj" fmla="val 15942"/>
              </a:avLst>
            </a:prstGeom>
            <a:solidFill>
              <a:srgbClr val="E8F5F0"/>
            </a:solidFill>
            <a:ln w="28575">
              <a:solidFill>
                <a:schemeClr val="accent3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5322094" y="4483894"/>
              <a:ext cx="385763" cy="385763"/>
              <a:chOff x="5322094" y="4483894"/>
              <a:chExt cx="385763" cy="38576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5322094" y="4483894"/>
                <a:ext cx="128588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28588">
                    <a:moveTo>
                      <a:pt x="0" y="64294"/>
                    </a:moveTo>
                    <a:cubicBezTo>
                      <a:pt x="0" y="99802"/>
                      <a:pt x="28785" y="128588"/>
                      <a:pt x="64294" y="128588"/>
                    </a:cubicBezTo>
                    <a:cubicBezTo>
                      <a:pt x="99802" y="128588"/>
                      <a:pt x="128588" y="99802"/>
                      <a:pt x="128588" y="64294"/>
                    </a:cubicBezTo>
                    <a:cubicBezTo>
                      <a:pt x="128588" y="28785"/>
                      <a:pt x="99802" y="0"/>
                      <a:pt x="64294" y="0"/>
                    </a:cubicBezTo>
                    <a:cubicBezTo>
                      <a:pt x="28785" y="0"/>
                      <a:pt x="0" y="28785"/>
                      <a:pt x="0" y="64294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5536406" y="4483894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171450" y="171450"/>
                    </a:moveTo>
                    <a:lnTo>
                      <a:pt x="171450" y="107156"/>
                    </a:lnTo>
                    <a:cubicBezTo>
                      <a:pt x="171450" y="83484"/>
                      <a:pt x="152260" y="64294"/>
                      <a:pt x="128588" y="64294"/>
                    </a:cubicBezTo>
                    <a:lnTo>
                      <a:pt x="0" y="64294"/>
                    </a:lnTo>
                    <a:lnTo>
                      <a:pt x="64294" y="128588"/>
                    </a:lnTo>
                    <a:moveTo>
                      <a:pt x="64294" y="0"/>
                    </a:moveTo>
                    <a:lnTo>
                      <a:pt x="0" y="64294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5322094" y="4698206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0"/>
                    </a:moveTo>
                    <a:lnTo>
                      <a:pt x="0" y="64294"/>
                    </a:lnTo>
                    <a:cubicBezTo>
                      <a:pt x="0" y="87966"/>
                      <a:pt x="19190" y="107156"/>
                      <a:pt x="42862" y="107156"/>
                    </a:cubicBezTo>
                    <a:lnTo>
                      <a:pt x="171450" y="107156"/>
                    </a:lnTo>
                    <a:lnTo>
                      <a:pt x="107156" y="42862"/>
                    </a:lnTo>
                    <a:moveTo>
                      <a:pt x="107156" y="171450"/>
                    </a:moveTo>
                    <a:lnTo>
                      <a:pt x="171450" y="107156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5579269" y="4741069"/>
                <a:ext cx="128588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28588">
                    <a:moveTo>
                      <a:pt x="0" y="64294"/>
                    </a:moveTo>
                    <a:cubicBezTo>
                      <a:pt x="0" y="99802"/>
                      <a:pt x="28785" y="128588"/>
                      <a:pt x="64294" y="128588"/>
                    </a:cubicBezTo>
                    <a:cubicBezTo>
                      <a:pt x="99802" y="128588"/>
                      <a:pt x="128588" y="99802"/>
                      <a:pt x="128588" y="64294"/>
                    </a:cubicBezTo>
                    <a:cubicBezTo>
                      <a:pt x="128588" y="28785"/>
                      <a:pt x="99802" y="0"/>
                      <a:pt x="64294" y="0"/>
                    </a:cubicBezTo>
                    <a:cubicBezTo>
                      <a:pt x="28785" y="0"/>
                      <a:pt x="0" y="28785"/>
                      <a:pt x="0" y="64294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5949696" y="4258628"/>
              <a:ext cx="50354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F8F6A"/>
                  </a:solidFill>
                  <a:latin typeface="+mj-lt"/>
                  <a:ea typeface="+mj-ea"/>
                  <a:cs typeface="+mj-cs"/>
                </a:rPr>
                <a:t>3. Origin 是游戏行为的支点</a:t>
              </a:r>
              <a:endParaRPr lang="zh-CN" sz="2550" b="1" dirty="0">
                <a:solidFill>
                  <a:srgbClr val="2F8F6A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953887" y="4709636"/>
              <a:ext cx="719048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门的 Origin 放铰链，转动时才符合预期；同类资源保持同一轴心规则</a:t>
              </a:r>
              <a:endParaRPr lang="zh-CN" sz="17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962650" y="5086350"/>
              <a:ext cx="531495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960666" y="5120164"/>
              <a:ext cx="53189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D85C45"/>
                  </a:solidFill>
                  <a:latin typeface="+mn-lt"/>
                  <a:ea typeface="+mn-ea"/>
                  <a:cs typeface="+mn-cs"/>
                </a:rPr>
                <a:t>如果 Unity 必须 Scale=0.01 才正常，应回 Blender 修单位与尺寸</a:t>
              </a:r>
              <a:endParaRPr lang="zh-CN" sz="1280" b="1" dirty="0">
                <a:solidFill>
                  <a:srgbClr val="D85C4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61" name="Line 61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AD0CD78-36C6-4707-BCB4-8AF0B012F865}" type="slidenum">
              <a:rPr lang="en-US" sz="1350" dirty="0">
                <a:solidFill>
                  <a:schemeClr val="accent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</a:fld>
            <a:endParaRPr lang="en-US" sz="1350" dirty="0">
              <a:solidFill>
                <a:schemeClr val="accent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12583668" cy="973074"/>
            <a:chOff x="552450" y="346710"/>
            <a:chExt cx="12583668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1258366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程序化材质不会自动还原，贴图类型必须明确</a:t>
              </a:r>
              <a:endPara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70383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Blender 负责输出贴图，Unity 负责按当前渲染管线重新组装材质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52450" y="1600200"/>
            <a:ext cx="11010900" cy="3524250"/>
            <a:chOff x="552450" y="1600200"/>
            <a:chExt cx="11010900" cy="3524250"/>
          </a:xfrm>
        </p:grpSpPr>
        <p:grpSp>
          <p:nvGrpSpPr>
            <p:cNvPr id="19" name="Group 19"/>
            <p:cNvGrpSpPr/>
            <p:nvPr/>
          </p:nvGrpSpPr>
          <p:grpSpPr>
            <a:xfrm>
              <a:off x="552450" y="1600200"/>
              <a:ext cx="2438400" cy="3524250"/>
              <a:chOff x="552450" y="1600200"/>
              <a:chExt cx="2438400" cy="3524250"/>
            </a:xfrm>
          </p:grpSpPr>
          <p:sp>
            <p:nvSpPr>
              <p:cNvPr id="5" name="Ellipse 5"/>
              <p:cNvSpPr/>
              <p:nvPr/>
            </p:nvSpPr>
            <p:spPr>
              <a:xfrm>
                <a:off x="1409700" y="1600200"/>
                <a:ext cx="723900" cy="723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10" name="Group 10"/>
              <p:cNvGrpSpPr/>
              <p:nvPr/>
            </p:nvGrpSpPr>
            <p:grpSpPr>
              <a:xfrm>
                <a:off x="1593056" y="1783556"/>
                <a:ext cx="357187" cy="357187"/>
                <a:chOff x="1593056" y="1783556"/>
                <a:chExt cx="357187" cy="357187"/>
              </a:xfrm>
            </p:grpSpPr>
            <p:sp>
              <p:nvSpPr>
                <p:cNvPr id="6" name="Freeform 6"/>
                <p:cNvSpPr/>
                <p:nvPr/>
              </p:nvSpPr>
              <p:spPr>
                <a:xfrm>
                  <a:off x="1831181" y="18827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98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1593056" y="1783556"/>
                  <a:ext cx="357187" cy="357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87" h="357187">
                      <a:moveTo>
                        <a:pt x="0" y="59531"/>
                      </a:moveTo>
                      <a:cubicBezTo>
                        <a:pt x="0" y="26653"/>
                        <a:pt x="26653" y="0"/>
                        <a:pt x="59531" y="0"/>
                      </a:cubicBezTo>
                      <a:lnTo>
                        <a:pt x="297656" y="0"/>
                      </a:lnTo>
                      <a:cubicBezTo>
                        <a:pt x="330534" y="0"/>
                        <a:pt x="357187" y="26653"/>
                        <a:pt x="357187" y="59531"/>
                      </a:cubicBezTo>
                      <a:lnTo>
                        <a:pt x="357187" y="297656"/>
                      </a:lnTo>
                      <a:cubicBezTo>
                        <a:pt x="357187" y="330534"/>
                        <a:pt x="330534" y="357187"/>
                        <a:pt x="297656" y="357187"/>
                      </a:cubicBezTo>
                      <a:lnTo>
                        <a:pt x="59531" y="357187"/>
                      </a:lnTo>
                      <a:cubicBezTo>
                        <a:pt x="26653" y="357187"/>
                        <a:pt x="0" y="330534"/>
                        <a:pt x="0" y="297656"/>
                      </a:cubicBezTo>
                      <a:lnTo>
                        <a:pt x="0" y="59531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1593056" y="1924585"/>
                  <a:ext cx="257968" cy="1169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968" h="116939">
                      <a:moveTo>
                        <a:pt x="0" y="116939"/>
                      </a:moveTo>
                      <a:lnTo>
                        <a:pt x="99219" y="17720"/>
                      </a:lnTo>
                      <a:cubicBezTo>
                        <a:pt x="117634" y="0"/>
                        <a:pt x="140335" y="0"/>
                        <a:pt x="158750" y="17720"/>
                      </a:cubicBezTo>
                      <a:lnTo>
                        <a:pt x="257968" y="116939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811337" y="1964273"/>
                  <a:ext cx="138906" cy="77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906" h="77252">
                      <a:moveTo>
                        <a:pt x="0" y="37564"/>
                      </a:moveTo>
                      <a:lnTo>
                        <a:pt x="19844" y="17720"/>
                      </a:lnTo>
                      <a:cubicBezTo>
                        <a:pt x="38259" y="0"/>
                        <a:pt x="60960" y="0"/>
                        <a:pt x="79375" y="17720"/>
                      </a:cubicBezTo>
                      <a:lnTo>
                        <a:pt x="138906" y="77252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1" name="Rectangle 11"/>
              <p:cNvSpPr/>
              <p:nvPr/>
            </p:nvSpPr>
            <p:spPr>
              <a:xfrm>
                <a:off x="552450" y="2457450"/>
                <a:ext cx="2438400" cy="2667000"/>
              </a:xfrm>
              <a:prstGeom prst="roundRect">
                <a:avLst>
                  <a:gd name="adj" fmla="val 8594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91657" y="2598420"/>
                <a:ext cx="195998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8C5A00"/>
                    </a:solidFill>
                    <a:latin typeface="+mj-lt"/>
                    <a:ea typeface="+mj-ea"/>
                    <a:cs typeface="+mj-cs"/>
                  </a:rPr>
                  <a:t>1. 独立贴图</a:t>
                </a:r>
                <a:endParaRPr lang="zh-CN" sz="2400" b="1" dirty="0">
                  <a:solidFill>
                    <a:srgbClr val="8C5A00"/>
                  </a:solidFill>
                  <a:latin typeface="+mj-lt"/>
                  <a:ea typeface="+mj-ea"/>
                  <a:cs typeface="+mj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73049" y="3125629"/>
                <a:ext cx="102506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BaseColor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73049" y="3468529"/>
                <a:ext cx="71158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Normal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73049" y="3811429"/>
                <a:ext cx="1374452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Metallic / AO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73049" y="4154329"/>
                <a:ext cx="1072134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Roughness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62000" y="4686300"/>
                <a:ext cx="20193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64060" y="4748689"/>
                <a:ext cx="181517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不要依赖嵌入材质节点</a:t>
                </a:r>
                <a:endParaRPr lang="zh-CN" sz="1280" b="1" dirty="0">
                  <a:solidFill>
                    <a:srgbClr val="8C5A00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3086100" y="37909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333750" y="3657600"/>
              <a:ext cx="152400" cy="266700"/>
            </a:xfrm>
            <a:custGeom>
              <a:avLst/>
              <a:gdLst/>
              <a:ahLst/>
              <a:cxnLst/>
              <a:rect l="l" t="t" r="r" b="b"/>
              <a:pathLst>
                <a:path w="152400" h="266700">
                  <a:moveTo>
                    <a:pt x="0" y="0"/>
                  </a:moveTo>
                  <a:lnTo>
                    <a:pt x="152400" y="133350"/>
                  </a:lnTo>
                  <a:lnTo>
                    <a:pt x="0" y="26670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  <a:round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3409950" y="1600200"/>
              <a:ext cx="2438400" cy="3524250"/>
              <a:chOff x="3409950" y="1600200"/>
              <a:chExt cx="2438400" cy="352425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4267200" y="1600200"/>
                <a:ext cx="723900" cy="72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4470400" y="1803400"/>
                <a:ext cx="317499" cy="337343"/>
                <a:chOff x="4470400" y="1803400"/>
                <a:chExt cx="317499" cy="337343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4470400" y="2061368"/>
                  <a:ext cx="317499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499" h="79375">
                      <a:moveTo>
                        <a:pt x="0" y="0"/>
                      </a:moveTo>
                      <a:lnTo>
                        <a:pt x="0" y="39687"/>
                      </a:lnTo>
                      <a:cubicBezTo>
                        <a:pt x="0" y="61606"/>
                        <a:pt x="17769" y="79375"/>
                        <a:pt x="39687" y="79375"/>
                      </a:cubicBezTo>
                      <a:lnTo>
                        <a:pt x="277812" y="79375"/>
                      </a:lnTo>
                      <a:cubicBezTo>
                        <a:pt x="299731" y="79375"/>
                        <a:pt x="317499" y="61606"/>
                        <a:pt x="317499" y="39687"/>
                      </a:cubicBezTo>
                      <a:lnTo>
                        <a:pt x="317499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529931" y="1942306"/>
                  <a:ext cx="198437" cy="99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437" h="99219">
                      <a:moveTo>
                        <a:pt x="0" y="0"/>
                      </a:moveTo>
                      <a:lnTo>
                        <a:pt x="99219" y="99219"/>
                      </a:lnTo>
                      <a:lnTo>
                        <a:pt x="198437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629150" y="1803400"/>
                  <a:ext cx="9525" cy="23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38125">
                      <a:moveTo>
                        <a:pt x="0" y="0"/>
                      </a:moveTo>
                      <a:lnTo>
                        <a:pt x="0" y="2381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7" name="Rectangle 27"/>
              <p:cNvSpPr/>
              <p:nvPr/>
            </p:nvSpPr>
            <p:spPr>
              <a:xfrm>
                <a:off x="3409950" y="2457450"/>
                <a:ext cx="2438400" cy="2667000"/>
              </a:xfrm>
              <a:prstGeom prst="roundRect">
                <a:avLst>
                  <a:gd name="adj" fmla="val 8594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3649157" y="2598420"/>
                <a:ext cx="195998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2. 导入类型</a:t>
                </a:r>
                <a:endPara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630549" y="3125629"/>
                <a:ext cx="207410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Base Color：sRGB 开</a:t>
                </a:r>
                <a:endPara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630549" y="3468529"/>
                <a:ext cx="208522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Normal：Normal Map</a:t>
                </a:r>
                <a:endPara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630549" y="3811429"/>
                <a:ext cx="212522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Metal / AO：sRGB 关</a:t>
                </a:r>
                <a:endPara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630549" y="4154329"/>
                <a:ext cx="202185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Mask 数据：sRGB 关</a:t>
                </a:r>
                <a:endPara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3619500" y="4686300"/>
                <a:ext cx="20193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3811672" y="4748689"/>
                <a:ext cx="163495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颜色与数据不可混淆</a:t>
                </a:r>
                <a:endPara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36" name="Freeform 36"/>
            <p:cNvSpPr/>
            <p:nvPr/>
          </p:nvSpPr>
          <p:spPr>
            <a:xfrm>
              <a:off x="5943600" y="37909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191250" y="3657600"/>
              <a:ext cx="152400" cy="266700"/>
            </a:xfrm>
            <a:custGeom>
              <a:avLst/>
              <a:gdLst/>
              <a:ahLst/>
              <a:cxnLst/>
              <a:rect l="l" t="t" r="r" b="b"/>
              <a:pathLst>
                <a:path w="152400" h="266700">
                  <a:moveTo>
                    <a:pt x="0" y="0"/>
                  </a:moveTo>
                  <a:lnTo>
                    <a:pt x="152400" y="133350"/>
                  </a:lnTo>
                  <a:lnTo>
                    <a:pt x="0" y="26670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  <a:round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267450" y="1600200"/>
              <a:ext cx="3115633" cy="3524250"/>
              <a:chOff x="6267450" y="1600200"/>
              <a:chExt cx="3115633" cy="3524250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7124700" y="1600200"/>
                <a:ext cx="723900" cy="723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7308056" y="1783556"/>
                <a:ext cx="357187" cy="358194"/>
                <a:chOff x="7308056" y="1783556"/>
                <a:chExt cx="357187" cy="358194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7308056" y="1783556"/>
                  <a:ext cx="357187" cy="358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87" h="358194">
                      <a:moveTo>
                        <a:pt x="178593" y="357187"/>
                      </a:moveTo>
                      <a:cubicBezTo>
                        <a:pt x="79959" y="357187"/>
                        <a:pt x="0" y="277228"/>
                        <a:pt x="0" y="178593"/>
                      </a:cubicBezTo>
                      <a:cubicBezTo>
                        <a:pt x="0" y="79959"/>
                        <a:pt x="79959" y="0"/>
                        <a:pt x="178593" y="0"/>
                      </a:cubicBezTo>
                      <a:cubicBezTo>
                        <a:pt x="277217" y="0"/>
                        <a:pt x="357187" y="71080"/>
                        <a:pt x="357187" y="158750"/>
                      </a:cubicBezTo>
                      <a:cubicBezTo>
                        <a:pt x="357187" y="179784"/>
                        <a:pt x="347781" y="199985"/>
                        <a:pt x="331033" y="214868"/>
                      </a:cubicBezTo>
                      <a:cubicBezTo>
                        <a:pt x="314285" y="229751"/>
                        <a:pt x="291564" y="238125"/>
                        <a:pt x="267890" y="238125"/>
                      </a:cubicBezTo>
                      <a:lnTo>
                        <a:pt x="218281" y="238125"/>
                      </a:lnTo>
                      <a:cubicBezTo>
                        <a:pt x="200065" y="237831"/>
                        <a:pt x="183988" y="249978"/>
                        <a:pt x="179294" y="267581"/>
                      </a:cubicBezTo>
                      <a:cubicBezTo>
                        <a:pt x="174600" y="285184"/>
                        <a:pt x="182494" y="303723"/>
                        <a:pt x="198437" y="312539"/>
                      </a:cubicBezTo>
                      <a:cubicBezTo>
                        <a:pt x="206561" y="320035"/>
                        <a:pt x="209006" y="331873"/>
                        <a:pt x="204517" y="341974"/>
                      </a:cubicBezTo>
                      <a:cubicBezTo>
                        <a:pt x="200027" y="352075"/>
                        <a:pt x="189601" y="358194"/>
                        <a:pt x="178593" y="357187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7397353" y="1912540"/>
                  <a:ext cx="39687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87" h="39687">
                      <a:moveTo>
                        <a:pt x="0" y="19844"/>
                      </a:moveTo>
                      <a:cubicBezTo>
                        <a:pt x="0" y="30803"/>
                        <a:pt x="8884" y="39687"/>
                        <a:pt x="19844" y="39687"/>
                      </a:cubicBezTo>
                      <a:cubicBezTo>
                        <a:pt x="30803" y="39687"/>
                        <a:pt x="39687" y="30803"/>
                        <a:pt x="39687" y="19844"/>
                      </a:cubicBezTo>
                      <a:cubicBezTo>
                        <a:pt x="39687" y="8884"/>
                        <a:pt x="30803" y="0"/>
                        <a:pt x="19844" y="0"/>
                      </a:cubicBezTo>
                      <a:cubicBezTo>
                        <a:pt x="8884" y="0"/>
                        <a:pt x="0" y="8884"/>
                        <a:pt x="0" y="19844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7476728" y="1853009"/>
                  <a:ext cx="39687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87" h="39687">
                      <a:moveTo>
                        <a:pt x="0" y="19844"/>
                      </a:moveTo>
                      <a:cubicBezTo>
                        <a:pt x="0" y="30803"/>
                        <a:pt x="8884" y="39687"/>
                        <a:pt x="19844" y="39687"/>
                      </a:cubicBezTo>
                      <a:cubicBezTo>
                        <a:pt x="30803" y="39687"/>
                        <a:pt x="39687" y="30803"/>
                        <a:pt x="39687" y="19844"/>
                      </a:cubicBezTo>
                      <a:cubicBezTo>
                        <a:pt x="39687" y="8884"/>
                        <a:pt x="30803" y="0"/>
                        <a:pt x="19844" y="0"/>
                      </a:cubicBezTo>
                      <a:cubicBezTo>
                        <a:pt x="8884" y="0"/>
                        <a:pt x="0" y="8884"/>
                        <a:pt x="0" y="19844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7556103" y="1912540"/>
                  <a:ext cx="39687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87" h="39687">
                      <a:moveTo>
                        <a:pt x="0" y="19844"/>
                      </a:moveTo>
                      <a:cubicBezTo>
                        <a:pt x="0" y="30803"/>
                        <a:pt x="8884" y="39687"/>
                        <a:pt x="19844" y="39687"/>
                      </a:cubicBezTo>
                      <a:cubicBezTo>
                        <a:pt x="30803" y="39687"/>
                        <a:pt x="39687" y="30803"/>
                        <a:pt x="39687" y="19844"/>
                      </a:cubicBezTo>
                      <a:cubicBezTo>
                        <a:pt x="39687" y="8884"/>
                        <a:pt x="30803" y="0"/>
                        <a:pt x="19844" y="0"/>
                      </a:cubicBezTo>
                      <a:cubicBezTo>
                        <a:pt x="8884" y="0"/>
                        <a:pt x="0" y="8884"/>
                        <a:pt x="0" y="19844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44" name="Rectangle 44"/>
              <p:cNvSpPr/>
              <p:nvPr/>
            </p:nvSpPr>
            <p:spPr>
              <a:xfrm>
                <a:off x="6267450" y="2457450"/>
                <a:ext cx="2438400" cy="2667000"/>
              </a:xfrm>
              <a:prstGeom prst="roundRect">
                <a:avLst>
                  <a:gd name="adj" fmla="val 8594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315657" y="2598420"/>
                <a:ext cx="234198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2F8F6A"/>
                    </a:solidFill>
                    <a:latin typeface="+mj-lt"/>
                    <a:ea typeface="+mj-ea"/>
                    <a:cs typeface="+mj-cs"/>
                  </a:rPr>
                  <a:t>3. Unity 材质</a:t>
                </a:r>
                <a:endParaRPr lang="zh-CN" sz="2400" b="1" dirty="0">
                  <a:solidFill>
                    <a:srgbClr val="2F8F6A"/>
                  </a:solidFill>
                  <a:latin typeface="+mj-lt"/>
                  <a:ea typeface="+mj-ea"/>
                  <a:cs typeface="+mj-cs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488049" y="3125629"/>
                <a:ext cx="2664504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选择 URP / HDRP / Built-in</a:t>
                </a:r>
                <a:endPara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488049" y="3468529"/>
                <a:ext cx="1214552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对应 Shader</a:t>
                </a:r>
                <a:endPara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488430" y="3857625"/>
                <a:ext cx="28946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D85C4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Smoothness = 1 - Roughness</a:t>
                </a:r>
                <a:endParaRPr lang="en-US" sz="1500" b="1" dirty="0">
                  <a:solidFill>
                    <a:srgbClr val="D85C4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488049" y="4192429"/>
                <a:ext cx="254524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通过 Remapped Materials</a:t>
                </a:r>
                <a:endPara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6477000" y="4686300"/>
                <a:ext cx="20193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6759283" y="4748689"/>
                <a:ext cx="145473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材质资产独立复用</a:t>
                </a:r>
                <a:endParaRPr lang="zh-CN" sz="128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53" name="Freeform 53"/>
            <p:cNvSpPr/>
            <p:nvPr/>
          </p:nvSpPr>
          <p:spPr>
            <a:xfrm>
              <a:off x="8801100" y="37909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9048750" y="3657600"/>
              <a:ext cx="152400" cy="266700"/>
            </a:xfrm>
            <a:custGeom>
              <a:avLst/>
              <a:gdLst/>
              <a:ahLst/>
              <a:cxnLst/>
              <a:rect l="l" t="t" r="r" b="b"/>
              <a:pathLst>
                <a:path w="152400" h="266700">
                  <a:moveTo>
                    <a:pt x="0" y="0"/>
                  </a:moveTo>
                  <a:lnTo>
                    <a:pt x="152400" y="133350"/>
                  </a:lnTo>
                  <a:lnTo>
                    <a:pt x="0" y="26670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  <a:round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9124950" y="1600200"/>
              <a:ext cx="2438400" cy="3524250"/>
              <a:chOff x="9124950" y="1600200"/>
              <a:chExt cx="2438400" cy="3524250"/>
            </a:xfrm>
          </p:grpSpPr>
          <p:sp>
            <p:nvSpPr>
              <p:cNvPr id="55" name="Ellipse 55"/>
              <p:cNvSpPr/>
              <p:nvPr/>
            </p:nvSpPr>
            <p:spPr>
              <a:xfrm>
                <a:off x="9982200" y="1600200"/>
                <a:ext cx="723900" cy="72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58" name="Group 58"/>
              <p:cNvGrpSpPr/>
              <p:nvPr/>
            </p:nvGrpSpPr>
            <p:grpSpPr>
              <a:xfrm>
                <a:off x="10165556" y="1783556"/>
                <a:ext cx="357187" cy="357187"/>
                <a:chOff x="10165556" y="1783556"/>
                <a:chExt cx="357187" cy="357187"/>
              </a:xfrm>
            </p:grpSpPr>
            <p:sp>
              <p:nvSpPr>
                <p:cNvPr id="56" name="Freeform 56"/>
                <p:cNvSpPr/>
                <p:nvPr/>
              </p:nvSpPr>
              <p:spPr>
                <a:xfrm>
                  <a:off x="10264775" y="1882775"/>
                  <a:ext cx="158750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0" h="158750">
                      <a:moveTo>
                        <a:pt x="0" y="79375"/>
                      </a:moveTo>
                      <a:cubicBezTo>
                        <a:pt x="0" y="123212"/>
                        <a:pt x="35537" y="158750"/>
                        <a:pt x="79375" y="158750"/>
                      </a:cubicBezTo>
                      <a:cubicBezTo>
                        <a:pt x="123212" y="158750"/>
                        <a:pt x="158750" y="123212"/>
                        <a:pt x="158750" y="79375"/>
                      </a:cubicBezTo>
                      <a:cubicBezTo>
                        <a:pt x="158750" y="35537"/>
                        <a:pt x="123212" y="0"/>
                        <a:pt x="79375" y="0"/>
                      </a:cubicBezTo>
                      <a:cubicBezTo>
                        <a:pt x="35537" y="0"/>
                        <a:pt x="0" y="35537"/>
                        <a:pt x="0" y="7937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10165556" y="1783556"/>
                  <a:ext cx="357187" cy="357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87" h="357187">
                      <a:moveTo>
                        <a:pt x="0" y="178593"/>
                      </a:moveTo>
                      <a:lnTo>
                        <a:pt x="19844" y="178593"/>
                      </a:lnTo>
                      <a:moveTo>
                        <a:pt x="178593" y="0"/>
                      </a:moveTo>
                      <a:lnTo>
                        <a:pt x="178593" y="19844"/>
                      </a:lnTo>
                      <a:moveTo>
                        <a:pt x="337343" y="178593"/>
                      </a:moveTo>
                      <a:lnTo>
                        <a:pt x="357187" y="178593"/>
                      </a:lnTo>
                      <a:moveTo>
                        <a:pt x="178593" y="337343"/>
                      </a:moveTo>
                      <a:lnTo>
                        <a:pt x="178593" y="357187"/>
                      </a:lnTo>
                      <a:moveTo>
                        <a:pt x="51594" y="51594"/>
                      </a:moveTo>
                      <a:lnTo>
                        <a:pt x="65484" y="65484"/>
                      </a:lnTo>
                      <a:moveTo>
                        <a:pt x="305593" y="51594"/>
                      </a:moveTo>
                      <a:lnTo>
                        <a:pt x="291703" y="65484"/>
                      </a:lnTo>
                      <a:moveTo>
                        <a:pt x="291703" y="291703"/>
                      </a:moveTo>
                      <a:lnTo>
                        <a:pt x="305593" y="305593"/>
                      </a:lnTo>
                      <a:moveTo>
                        <a:pt x="65484" y="291703"/>
                      </a:moveTo>
                      <a:lnTo>
                        <a:pt x="51594" y="30559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59" name="Rectangle 59"/>
              <p:cNvSpPr/>
              <p:nvPr/>
            </p:nvSpPr>
            <p:spPr>
              <a:xfrm>
                <a:off x="9124950" y="2457450"/>
                <a:ext cx="2438400" cy="2667000"/>
              </a:xfrm>
              <a:prstGeom prst="roundRect">
                <a:avLst>
                  <a:gd name="adj" fmla="val 8594"/>
                </a:avLst>
              </a:prstGeom>
              <a:solidFill>
                <a:srgbClr val="FFFFFF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9364157" y="2598420"/>
                <a:ext cx="195998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4. 最终画面</a:t>
                </a:r>
                <a:endPara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endParaRP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345168" y="31365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D85C45"/>
                    </a:solidFill>
                    <a:latin typeface="+mn-lt"/>
                    <a:ea typeface="+mn-ea"/>
                    <a:cs typeface="+mn-cs"/>
                  </a:rPr>
                  <a:t>粉红模型</a:t>
                </a:r>
                <a:endParaRPr lang="zh-CN" sz="1650" b="1" dirty="0">
                  <a:solidFill>
                    <a:srgbClr val="D85C4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345930" y="3457575"/>
                <a:ext cx="197205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Shader 与管线不兼容</a:t>
                </a:r>
                <a:endPara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9345168" y="38795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白色模型</a:t>
                </a:r>
                <a:endParaRPr lang="zh-CN" sz="16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9345930" y="4200525"/>
                <a:ext cx="1630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材质或贴图未映射</a:t>
                </a:r>
                <a:endPara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5" name="Rectangle 65"/>
              <p:cNvSpPr/>
              <p:nvPr/>
            </p:nvSpPr>
            <p:spPr>
              <a:xfrm>
                <a:off x="9334500" y="4686300"/>
                <a:ext cx="20193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9616783" y="4748689"/>
                <a:ext cx="145473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在场景灯光下验收</a:t>
                </a:r>
                <a:endPara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1" name="Group 71"/>
          <p:cNvGrpSpPr/>
          <p:nvPr/>
        </p:nvGrpSpPr>
        <p:grpSpPr>
          <a:xfrm>
            <a:off x="1695450" y="5486400"/>
            <a:ext cx="8801100" cy="533400"/>
            <a:chOff x="1695450" y="5486400"/>
            <a:chExt cx="8801100" cy="533400"/>
          </a:xfrm>
        </p:grpSpPr>
        <p:sp>
          <p:nvSpPr>
            <p:cNvPr id="69" name="Rectangle 69"/>
            <p:cNvSpPr/>
            <p:nvPr/>
          </p:nvSpPr>
          <p:spPr>
            <a:xfrm>
              <a:off x="1695450" y="5486400"/>
              <a:ext cx="8801100" cy="533400"/>
            </a:xfrm>
            <a:prstGeom prst="roundRect">
              <a:avLst>
                <a:gd name="adj" fmla="val 32143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2801391" y="5643086"/>
              <a:ext cx="658921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Blender 节点图是制作环境；Unity 材质才是运行时渲染配置</a:t>
              </a:r>
              <a:endParaRPr lang="zh-CN" sz="17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72" name="Line 72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1141373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AD0CD78-36C6-4707-BCB4-8AF0B012F865}" type="slidenum">
              <a:rPr lang="en-US" sz="1350" dirty="0">
                <a:solidFill>
                  <a:schemeClr val="accent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</a:fld>
            <a:endParaRPr lang="en-US" sz="1350" dirty="0">
              <a:solidFill>
                <a:schemeClr val="accent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F2937"/>
      </a:dk1>
      <a:lt1>
        <a:srgbClr val="FFFDF6"/>
      </a:lt1>
      <a:dk2>
        <a:srgbClr val="596273"/>
      </a:dk2>
      <a:lt2>
        <a:srgbClr val="F4F0E8"/>
      </a:lt2>
      <a:accent1>
        <a:srgbClr val="2457A6"/>
      </a:accent1>
      <a:accent2>
        <a:srgbClr val="F2A93B"/>
      </a:accent2>
      <a:accent3>
        <a:srgbClr val="55A68B"/>
      </a:accent3>
      <a:accent4>
        <a:srgbClr val="D8D2C5"/>
      </a:accent4>
      <a:accent5>
        <a:srgbClr val="8A8F98"/>
      </a:accent5>
      <a:accent6>
        <a:srgbClr val="1A1A1A"/>
      </a:accent6>
      <a:hlink>
        <a:srgbClr val="F2A93B"/>
      </a:hlink>
      <a:folHlink>
        <a:srgbClr val="55A68B"/>
      </a:folHlink>
    </a:clrScheme>
    <a:fontScheme name="PPT Master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F2937"/>
      </a:dk1>
      <a:lt1>
        <a:srgbClr val="FFFDF6"/>
      </a:lt1>
      <a:dk2>
        <a:srgbClr val="596273"/>
      </a:dk2>
      <a:lt2>
        <a:srgbClr val="F4F0E8"/>
      </a:lt2>
      <a:accent1>
        <a:srgbClr val="2457A6"/>
      </a:accent1>
      <a:accent2>
        <a:srgbClr val="F2A93B"/>
      </a:accent2>
      <a:accent3>
        <a:srgbClr val="55A68B"/>
      </a:accent3>
      <a:accent4>
        <a:srgbClr val="D8D2C5"/>
      </a:accent4>
      <a:accent5>
        <a:srgbClr val="8A8F98"/>
      </a:accent5>
      <a:accent6>
        <a:srgbClr val="1A1A1A"/>
      </a:accent6>
      <a:hlink>
        <a:srgbClr val="F2A93B"/>
      </a:hlink>
      <a:folHlink>
        <a:srgbClr val="55A68B"/>
      </a:folHlink>
    </a:clrScheme>
    <a:fontScheme name="PPT Master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1251</Words>
  <Application>WPS 演示</Application>
  <PresentationFormat>On-screen Show (16:9)</PresentationFormat>
  <Paragraphs>185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Arial</vt:lpstr>
      <vt:lpstr>Consolas</vt:lpstr>
      <vt:lpstr>微软雅黑</vt:lpstr>
      <vt:lpstr>Trebuchet MS</vt:lpstr>
      <vt:lpstr>楷体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陷入旋流的蚕</cp:lastModifiedBy>
  <cp:revision>3</cp:revision>
  <dcterms:created xsi:type="dcterms:W3CDTF">2026-07-18T15:31:00Z</dcterms:created>
  <dcterms:modified xsi:type="dcterms:W3CDTF">2026-07-19T04:18:25Z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D427CE09F5694F67AAFF5938DDDC4B13_12</vt:lpwstr>
  </property>
</Properties>
</file>