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8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en-US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这一单元把 Unity 场景中的核心概念串成一条完整工作流。我们会从对象和组件开始，经过物理、渲染与复用，最后导出一个可以运行的 Windows 程序。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整套内容分成四段：先组织场景，再建立物理交互，然后完成渲染与镜头，最后用 Prefab 和 Build 收尾。学习时始终问自己两个问题：当前对象由谁驱动，它最终要输出什么结果。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Scene 是对象的组织容器，GameObject 本身更像一个空壳。对象通过 Transform、Collider、Renderer 和脚本等组件组合出具体能力，这也是 Unity 常见的组合式设计思路。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Transform 同时描述位置、旋转和缩放，并区分本地空间与世界空间。父物体变化会带动子物体，因此适合把角色模型、相机轴和功能节点挂到稳定的根节点下。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碰撞体只描述物理边界，不必和可见模型完全一致。优先使用 Box、Sphere 或 Capsule，只有在简单形状和组合碰撞体都无法满足需求时，才考虑 Mesh Collider。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静态对象属于世界，不应在运行时频繁移动；动态对象交给物理系统处理；运动学对象则由脚本控制轨迹。确定移动责任后再设置 Rigidbody，可以避免抖动、穿透和不可预期的碰撞。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Trigger 不产生阻挡，而是报告进入、停留与离开事件。事件不触发时，从 Rigidbody、Is Trigger、Layer 碰撞矩阵、脚本挂载位置和方法签名依次排查，效率最高。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Texture 提供表面数据，Shader 定义计算规则，Material 保存参数，Renderer 负责把它们绑定到对象并输出画面。Skinned Mesh Renderer 在此基础上增加骨骼变形能力，通常用于角色动画。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先用天空盒和主方向光确定场景基调，再用局部光源补充重点区域。静态环境适合烘焙，动态变化适合实时光；两者合理组合，能同时兼顾效果与性能。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Camera 可以把结果写入 RenderTexture，RawImage 再把这张纹理显示在 Canvas 上。小地图、监控屏和角色预览都可以复用这条管线，关键是两端引用同一张纹理资产。</a:t>
            </a:r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Prefab 把配置好的对象保存为可复用资产，多个实例共享来源，同时允许保留局部覆盖。角色则用 PlayerRoot 作为稳定根节点，让视觉、物理、镜头和脚本模块各司其职。</a:t>
            </a:r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打包前先保存场景并清理 Console，再在 Build Profiles 中选择 Windows、加入需要的场景并执行 Build。最终交付时要保留生成目录的完整结构，因为可执行文件通常依赖旁边的数据文件夹和运行库。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8" Type="http://schemas.openxmlformats.org/officeDocument/2006/relationships/notesSlide" Target="../notesSlides/notesSlide1.xml"/><Relationship Id="rId27" Type="http://schemas.openxmlformats.org/officeDocument/2006/relationships/slideLayout" Target="../slideLayouts/slideLayout1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4953000"/>
            <a:ext cx="12192000" cy="1905000"/>
          </a:xfrm>
          <a:custGeom>
            <a:avLst/>
            <a:gdLst/>
            <a:ahLst/>
            <a:cxnLst/>
            <a:rect l="l" t="t" r="r" b="b"/>
            <a:pathLst>
              <a:path w="12192000" h="1905000">
                <a:moveTo>
                  <a:pt x="0" y="619125"/>
                </a:moveTo>
                <a:cubicBezTo>
                  <a:pt x="2095500" y="0"/>
                  <a:pt x="3429000" y="1524000"/>
                  <a:pt x="5810250" y="876300"/>
                </a:cubicBezTo>
                <a:cubicBezTo>
                  <a:pt x="8001000" y="285750"/>
                  <a:pt x="9620250" y="857250"/>
                  <a:pt x="12192000" y="0"/>
                </a:cubicBezTo>
                <a:lnTo>
                  <a:pt x="12192000" y="1905000"/>
                </a:lnTo>
                <a:lnTo>
                  <a:pt x="0" y="190500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  <p:sp>
        <p:nvSpPr>
          <p:cNvPr id="3" name="Freeform 3"/>
          <p:cNvSpPr/>
          <p:nvPr/>
        </p:nvSpPr>
        <p:spPr>
          <a:xfrm>
            <a:off x="666750" y="866775"/>
            <a:ext cx="3924300" cy="238125"/>
          </a:xfrm>
          <a:custGeom>
            <a:avLst/>
            <a:gdLst/>
            <a:ahLst/>
            <a:cxnLst/>
            <a:rect l="l" t="t" r="r" b="b"/>
            <a:pathLst>
              <a:path w="3924300" h="238125">
                <a:moveTo>
                  <a:pt x="0" y="238125"/>
                </a:moveTo>
                <a:cubicBezTo>
                  <a:pt x="1524000" y="0"/>
                  <a:pt x="2619375" y="95250"/>
                  <a:pt x="3924300" y="9525"/>
                </a:cubicBezTo>
              </a:path>
            </a:pathLst>
          </a:custGeom>
          <a:noFill/>
          <a:ln w="95250" cap="rnd">
            <a:solidFill>
              <a:schemeClr val="accent2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609600" y="1579245"/>
            <a:ext cx="5196633" cy="1333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9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Unity 基础</a:t>
            </a:r>
            <a:endParaRPr lang="zh-CN" sz="6900" b="1" dirty="0">
              <a:solidFill>
                <a:schemeClr val="dk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50748" y="2612708"/>
            <a:ext cx="6618427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场景、组件、物理、渲染与打包</a:t>
            </a:r>
            <a:endParaRPr lang="zh-CN" sz="3150" b="1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73608" y="3341370"/>
            <a:ext cx="6486144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把编辑器里的层级结构，变成可以运行的游戏</a:t>
            </a:r>
            <a:endParaRPr lang="zh-CN" sz="2400" dirty="0">
              <a:solidFill>
                <a:schemeClr val="dk2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35" name="Group 35"/>
          <p:cNvGrpSpPr/>
          <p:nvPr>
            <p:custDataLst>
              <p:tags r:id="rId1"/>
            </p:custDataLst>
          </p:nvPr>
        </p:nvGrpSpPr>
        <p:grpSpPr>
          <a:xfrm>
            <a:off x="7334250" y="781050"/>
            <a:ext cx="4048125" cy="4476750"/>
            <a:chOff x="7334250" y="781050"/>
            <a:chExt cx="4048125" cy="4476750"/>
          </a:xfrm>
        </p:grpSpPr>
        <p:sp>
          <p:nvSpPr>
            <p:cNvPr id="7" name="Rectangle 7"/>
            <p:cNvSpPr/>
            <p:nvPr>
              <p:custDataLst>
                <p:tags r:id="rId2"/>
              </p:custDataLst>
            </p:nvPr>
          </p:nvSpPr>
          <p:spPr>
            <a:xfrm>
              <a:off x="7334250" y="781050"/>
              <a:ext cx="4048125" cy="4476750"/>
            </a:xfrm>
            <a:prstGeom prst="roundRect">
              <a:avLst>
                <a:gd name="adj" fmla="val 6588"/>
              </a:avLst>
            </a:prstGeom>
            <a:solidFill>
              <a:srgbClr val="FFF9E9"/>
            </a:solidFill>
            <a:ln w="28575">
              <a:solidFill>
                <a:schemeClr val="accent4"/>
              </a:solidFill>
            </a:ln>
          </p:spPr>
        </p:sp>
        <p:sp>
          <p:nvSpPr>
            <p:cNvPr id="8" name="TextBox 8"/>
            <p:cNvSpPr txBox="1"/>
            <p:nvPr>
              <p:custDataLst>
                <p:tags r:id="rId3"/>
              </p:custDataLst>
            </p:nvPr>
          </p:nvSpPr>
          <p:spPr>
            <a:xfrm>
              <a:off x="7629906" y="1082040"/>
              <a:ext cx="165689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accent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SCENE → BUILD</a:t>
              </a:r>
              <a:endParaRPr lang="en-US" sz="1800" dirty="0">
                <a:solidFill>
                  <a:schemeClr val="accent5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8153400" y="1847850"/>
              <a:ext cx="2428875" cy="790575"/>
              <a:chOff x="8153400" y="1847850"/>
              <a:chExt cx="2428875" cy="790575"/>
            </a:xfrm>
          </p:grpSpPr>
          <p:sp>
            <p:nvSpPr>
              <p:cNvPr id="9" name="Line 9"/>
              <p:cNvSpPr/>
              <p:nvPr>
                <p:custDataLst>
                  <p:tags r:id="rId4"/>
                </p:custDataLst>
              </p:nvPr>
            </p:nvSpPr>
            <p:spPr>
              <a:xfrm>
                <a:off x="9363075" y="1847850"/>
                <a:ext cx="9525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38150">
                    <a:moveTo>
                      <a:pt x="0" y="0"/>
                    </a:moveTo>
                    <a:lnTo>
                      <a:pt x="0" y="438150"/>
                    </a:lnTo>
                  </a:path>
                </a:pathLst>
              </a:custGeom>
              <a:noFill/>
              <a:ln w="38100" cap="rnd">
                <a:solidFill>
                  <a:schemeClr val="accent1"/>
                </a:solidFill>
                <a:round/>
              </a:ln>
            </p:spPr>
          </p:sp>
          <p:sp>
            <p:nvSpPr>
              <p:cNvPr id="10" name="Line 10"/>
              <p:cNvSpPr/>
              <p:nvPr>
                <p:custDataLst>
                  <p:tags r:id="rId5"/>
                </p:custDataLst>
              </p:nvPr>
            </p:nvSpPr>
            <p:spPr>
              <a:xfrm>
                <a:off x="8153400" y="2286000"/>
                <a:ext cx="24193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419350" h="9525">
                    <a:moveTo>
                      <a:pt x="0" y="0"/>
                    </a:moveTo>
                    <a:lnTo>
                      <a:pt x="2419350" y="0"/>
                    </a:lnTo>
                  </a:path>
                </a:pathLst>
              </a:custGeom>
              <a:noFill/>
              <a:ln w="38100" cap="rnd">
                <a:solidFill>
                  <a:schemeClr val="accent1"/>
                </a:solidFill>
                <a:round/>
              </a:ln>
            </p:spPr>
          </p:sp>
          <p:sp>
            <p:nvSpPr>
              <p:cNvPr id="11" name="Line 11"/>
              <p:cNvSpPr/>
              <p:nvPr>
                <p:custDataLst>
                  <p:tags r:id="rId6"/>
                </p:custDataLst>
              </p:nvPr>
            </p:nvSpPr>
            <p:spPr>
              <a:xfrm>
                <a:off x="8153400" y="2286000"/>
                <a:ext cx="9525" cy="3524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52425">
                    <a:moveTo>
                      <a:pt x="0" y="0"/>
                    </a:moveTo>
                    <a:lnTo>
                      <a:pt x="0" y="352425"/>
                    </a:lnTo>
                  </a:path>
                </a:pathLst>
              </a:custGeom>
              <a:noFill/>
              <a:ln w="38100" cap="rnd">
                <a:solidFill>
                  <a:schemeClr val="accent1"/>
                </a:solidFill>
                <a:round/>
              </a:ln>
            </p:spPr>
          </p:sp>
          <p:sp>
            <p:nvSpPr>
              <p:cNvPr id="12" name="Line 12"/>
              <p:cNvSpPr/>
              <p:nvPr>
                <p:custDataLst>
                  <p:tags r:id="rId7"/>
                </p:custDataLst>
              </p:nvPr>
            </p:nvSpPr>
            <p:spPr>
              <a:xfrm>
                <a:off x="9363075" y="2286000"/>
                <a:ext cx="9525" cy="3524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52425">
                    <a:moveTo>
                      <a:pt x="0" y="0"/>
                    </a:moveTo>
                    <a:lnTo>
                      <a:pt x="0" y="352425"/>
                    </a:lnTo>
                  </a:path>
                </a:pathLst>
              </a:custGeom>
              <a:noFill/>
              <a:ln w="38100" cap="rnd">
                <a:solidFill>
                  <a:schemeClr val="accent1"/>
                </a:solidFill>
                <a:round/>
              </a:ln>
            </p:spPr>
          </p:sp>
          <p:sp>
            <p:nvSpPr>
              <p:cNvPr id="13" name="Line 13"/>
              <p:cNvSpPr/>
              <p:nvPr>
                <p:custDataLst>
                  <p:tags r:id="rId8"/>
                </p:custDataLst>
              </p:nvPr>
            </p:nvSpPr>
            <p:spPr>
              <a:xfrm>
                <a:off x="10572750" y="2286000"/>
                <a:ext cx="9525" cy="3524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52425">
                    <a:moveTo>
                      <a:pt x="0" y="0"/>
                    </a:moveTo>
                    <a:lnTo>
                      <a:pt x="0" y="352425"/>
                    </a:lnTo>
                  </a:path>
                </a:pathLst>
              </a:custGeom>
              <a:noFill/>
              <a:ln w="38100" cap="rnd">
                <a:solidFill>
                  <a:schemeClr val="accent1"/>
                </a:solidFill>
                <a:round/>
              </a:ln>
            </p:spPr>
          </p:sp>
        </p:grpSp>
        <p:sp>
          <p:nvSpPr>
            <p:cNvPr id="15" name="Rectangle 15"/>
            <p:cNvSpPr/>
            <p:nvPr>
              <p:custDataLst>
                <p:tags r:id="rId9"/>
              </p:custDataLst>
            </p:nvPr>
          </p:nvSpPr>
          <p:spPr>
            <a:xfrm>
              <a:off x="8620125" y="1447800"/>
              <a:ext cx="1485900" cy="457200"/>
            </a:xfrm>
            <a:prstGeom prst="roundRect">
              <a:avLst>
                <a:gd name="adj" fmla="val 2916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TextBox 16"/>
            <p:cNvSpPr txBox="1"/>
            <p:nvPr>
              <p:custDataLst>
                <p:tags r:id="rId10"/>
              </p:custDataLst>
            </p:nvPr>
          </p:nvSpPr>
          <p:spPr>
            <a:xfrm>
              <a:off x="9000127" y="1567815"/>
              <a:ext cx="7258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Scene</a:t>
              </a:r>
              <a:endParaRPr lang="en-US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7562850" y="2638425"/>
              <a:ext cx="3600450" cy="647700"/>
              <a:chOff x="7562850" y="2638425"/>
              <a:chExt cx="3600450" cy="647700"/>
            </a:xfrm>
          </p:grpSpPr>
          <p:sp>
            <p:nvSpPr>
              <p:cNvPr id="17" name="Rectangle 17"/>
              <p:cNvSpPr/>
              <p:nvPr>
                <p:custDataLst>
                  <p:tags r:id="rId11"/>
                </p:custDataLst>
              </p:nvPr>
            </p:nvSpPr>
            <p:spPr>
              <a:xfrm>
                <a:off x="7562850" y="2638425"/>
                <a:ext cx="1181100" cy="647700"/>
              </a:xfrm>
              <a:prstGeom prst="roundRect">
                <a:avLst>
                  <a:gd name="adj" fmla="val 23529"/>
                </a:avLst>
              </a:prstGeom>
              <a:solidFill>
                <a:srgbClr val="EAF0FA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18" name="TextBox 18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7889824" y="2853690"/>
                <a:ext cx="5271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环境</a:t>
                </a:r>
                <a:endPara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9" name="Rectangle 19"/>
              <p:cNvSpPr/>
              <p:nvPr>
                <p:custDataLst>
                  <p:tags r:id="rId13"/>
                </p:custDataLst>
              </p:nvPr>
            </p:nvSpPr>
            <p:spPr>
              <a:xfrm>
                <a:off x="8772525" y="2638425"/>
                <a:ext cx="1181100" cy="647700"/>
              </a:xfrm>
              <a:prstGeom prst="roundRect">
                <a:avLst>
                  <a:gd name="adj" fmla="val 23529"/>
                </a:avLst>
              </a:prstGeom>
              <a:solidFill>
                <a:srgbClr val="E8F5F0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20" name="TextBox 20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9099499" y="2853690"/>
                <a:ext cx="5271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2F8F6A"/>
                    </a:solidFill>
                    <a:latin typeface="+mn-lt"/>
                    <a:ea typeface="+mn-ea"/>
                    <a:cs typeface="+mn-cs"/>
                  </a:rPr>
                  <a:t>玩家</a:t>
                </a:r>
                <a:endParaRPr lang="zh-CN" sz="1800" b="1" dirty="0">
                  <a:solidFill>
                    <a:srgbClr val="2F8F6A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1" name="Rectangle 21"/>
              <p:cNvSpPr/>
              <p:nvPr>
                <p:custDataLst>
                  <p:tags r:id="rId15"/>
                </p:custDataLst>
              </p:nvPr>
            </p:nvSpPr>
            <p:spPr>
              <a:xfrm>
                <a:off x="9982200" y="2638425"/>
                <a:ext cx="1181100" cy="647700"/>
              </a:xfrm>
              <a:prstGeom prst="roundRect">
                <a:avLst>
                  <a:gd name="adj" fmla="val 23529"/>
                </a:avLst>
              </a:prstGeom>
              <a:solidFill>
                <a:srgbClr val="FFF0D1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22" name="TextBox 22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10309174" y="2853690"/>
                <a:ext cx="5271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8C5A00"/>
                    </a:solidFill>
                    <a:latin typeface="+mn-lt"/>
                    <a:ea typeface="+mn-ea"/>
                    <a:cs typeface="+mn-cs"/>
                  </a:rPr>
                  <a:t>相机</a:t>
                </a:r>
                <a:endParaRPr lang="zh-CN" sz="1800" b="1" dirty="0">
                  <a:solidFill>
                    <a:srgbClr val="8C5A00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24" name="Freeform 24"/>
            <p:cNvSpPr/>
            <p:nvPr>
              <p:custDataLst>
                <p:tags r:id="rId17"/>
              </p:custDataLst>
            </p:nvPr>
          </p:nvSpPr>
          <p:spPr>
            <a:xfrm>
              <a:off x="9363075" y="3505200"/>
              <a:ext cx="9525" cy="752475"/>
            </a:xfrm>
            <a:custGeom>
              <a:avLst/>
              <a:gdLst/>
              <a:ahLst/>
              <a:cxnLst/>
              <a:rect l="l" t="t" r="r" b="b"/>
              <a:pathLst>
                <a:path w="9525" h="752475">
                  <a:moveTo>
                    <a:pt x="0" y="0"/>
                  </a:moveTo>
                  <a:cubicBezTo>
                    <a:pt x="0" y="342900"/>
                    <a:pt x="0" y="485775"/>
                    <a:pt x="0" y="752475"/>
                  </a:cubicBezTo>
                </a:path>
              </a:pathLst>
            </a:custGeom>
            <a:noFill/>
            <a:ln w="47625" cap="rnd">
              <a:solidFill>
                <a:schemeClr val="dk2"/>
              </a:solidFill>
            </a:ln>
          </p:spPr>
        </p:sp>
        <p:sp>
          <p:nvSpPr>
            <p:cNvPr id="25" name="Freeform 25"/>
            <p:cNvSpPr/>
            <p:nvPr>
              <p:custDataLst>
                <p:tags r:id="rId18"/>
              </p:custDataLst>
            </p:nvPr>
          </p:nvSpPr>
          <p:spPr>
            <a:xfrm>
              <a:off x="9220200" y="4105275"/>
              <a:ext cx="285750" cy="171450"/>
            </a:xfrm>
            <a:custGeom>
              <a:avLst/>
              <a:gdLst/>
              <a:ahLst/>
              <a:cxnLst/>
              <a:rect l="l" t="t" r="r" b="b"/>
              <a:pathLst>
                <a:path w="285750" h="171450">
                  <a:moveTo>
                    <a:pt x="0" y="0"/>
                  </a:moveTo>
                  <a:lnTo>
                    <a:pt x="142875" y="171450"/>
                  </a:lnTo>
                  <a:lnTo>
                    <a:pt x="285750" y="0"/>
                  </a:lnTo>
                </a:path>
              </a:pathLst>
            </a:custGeom>
            <a:noFill/>
            <a:ln w="47625" cap="rnd">
              <a:solidFill>
                <a:schemeClr val="dk2"/>
              </a:solidFill>
              <a:round/>
            </a:ln>
          </p:spPr>
        </p:sp>
        <p:sp>
          <p:nvSpPr>
            <p:cNvPr id="26" name="Rectangle 26"/>
            <p:cNvSpPr/>
            <p:nvPr>
              <p:custDataLst>
                <p:tags r:id="rId19"/>
              </p:custDataLst>
            </p:nvPr>
          </p:nvSpPr>
          <p:spPr>
            <a:xfrm>
              <a:off x="8324850" y="4419600"/>
              <a:ext cx="2076450" cy="552450"/>
            </a:xfrm>
            <a:prstGeom prst="roundRect">
              <a:avLst>
                <a:gd name="adj" fmla="val 31034"/>
              </a:avLst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8566150" y="4581525"/>
              <a:ext cx="228600" cy="228600"/>
              <a:chOff x="8566150" y="4581525"/>
              <a:chExt cx="228600" cy="228600"/>
            </a:xfrm>
          </p:grpSpPr>
          <p:sp>
            <p:nvSpPr>
              <p:cNvPr id="27" name="Freeform 27"/>
              <p:cNvSpPr/>
              <p:nvPr>
                <p:custDataLst>
                  <p:tags r:id="rId20"/>
                </p:custDataLst>
              </p:nvPr>
            </p:nvSpPr>
            <p:spPr>
              <a:xfrm>
                <a:off x="8566150" y="4581525"/>
                <a:ext cx="203199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203199" h="228599">
                    <a:moveTo>
                      <a:pt x="101600" y="228599"/>
                    </a:moveTo>
                    <a:lnTo>
                      <a:pt x="0" y="171450"/>
                    </a:lnTo>
                    <a:lnTo>
                      <a:pt x="0" y="57150"/>
                    </a:lnTo>
                    <a:lnTo>
                      <a:pt x="101600" y="0"/>
                    </a:lnTo>
                    <a:lnTo>
                      <a:pt x="203199" y="57150"/>
                    </a:lnTo>
                    <a:lnTo>
                      <a:pt x="203199" y="11430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8" name="Freeform 28"/>
              <p:cNvSpPr/>
              <p:nvPr>
                <p:custDataLst>
                  <p:tags r:id="rId21"/>
                </p:custDataLst>
              </p:nvPr>
            </p:nvSpPr>
            <p:spPr>
              <a:xfrm>
                <a:off x="8667750" y="4638675"/>
                <a:ext cx="1016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57150">
                    <a:moveTo>
                      <a:pt x="0" y="57150"/>
                    </a:moveTo>
                    <a:lnTo>
                      <a:pt x="1016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29" name="Freeform 29"/>
              <p:cNvSpPr/>
              <p:nvPr>
                <p:custDataLst>
                  <p:tags r:id="rId22"/>
                </p:custDataLst>
              </p:nvPr>
            </p:nvSpPr>
            <p:spPr>
              <a:xfrm>
                <a:off x="8667750" y="4695825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0" name="Freeform 30"/>
              <p:cNvSpPr/>
              <p:nvPr>
                <p:custDataLst>
                  <p:tags r:id="rId23"/>
                </p:custDataLst>
              </p:nvPr>
            </p:nvSpPr>
            <p:spPr>
              <a:xfrm>
                <a:off x="8566150" y="4638675"/>
                <a:ext cx="1016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101600" h="57150">
                    <a:moveTo>
                      <a:pt x="101600" y="5715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1" name="Freeform 31"/>
              <p:cNvSpPr/>
              <p:nvPr>
                <p:custDataLst>
                  <p:tags r:id="rId24"/>
                </p:custDataLst>
              </p:nvPr>
            </p:nvSpPr>
            <p:spPr>
              <a:xfrm>
                <a:off x="8705850" y="4772024"/>
                <a:ext cx="88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9525">
                    <a:moveTo>
                      <a:pt x="0" y="0"/>
                    </a:moveTo>
                    <a:lnTo>
                      <a:pt x="8890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32" name="Freeform 32"/>
              <p:cNvSpPr/>
              <p:nvPr>
                <p:custDataLst>
                  <p:tags r:id="rId25"/>
                </p:custDataLst>
              </p:nvPr>
            </p:nvSpPr>
            <p:spPr>
              <a:xfrm>
                <a:off x="8756649" y="4733925"/>
                <a:ext cx="381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76200">
                    <a:moveTo>
                      <a:pt x="0" y="0"/>
                    </a:moveTo>
                    <a:lnTo>
                      <a:pt x="38100" y="38100"/>
                    </a:lnTo>
                    <a:lnTo>
                      <a:pt x="0" y="7620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34" name="TextBox 34"/>
            <p:cNvSpPr txBox="1"/>
            <p:nvPr>
              <p:custDataLst>
                <p:tags r:id="rId26"/>
              </p:custDataLst>
            </p:nvPr>
          </p:nvSpPr>
          <p:spPr>
            <a:xfrm>
              <a:off x="9121775" y="4587240"/>
              <a:ext cx="6350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 Build</a:t>
              </a:r>
              <a:endParaRPr lang="en-US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66750" y="4762500"/>
            <a:ext cx="5810250" cy="781050"/>
            <a:chOff x="666750" y="4762500"/>
            <a:chExt cx="5810250" cy="781050"/>
          </a:xfrm>
        </p:grpSpPr>
        <p:sp>
          <p:nvSpPr>
            <p:cNvPr id="36" name="Rectangle 36"/>
            <p:cNvSpPr/>
            <p:nvPr/>
          </p:nvSpPr>
          <p:spPr>
            <a:xfrm>
              <a:off x="666750" y="4762500"/>
              <a:ext cx="5810250" cy="781050"/>
            </a:xfrm>
            <a:prstGeom prst="roundRect">
              <a:avLst>
                <a:gd name="adj" fmla="val 24390"/>
              </a:avLst>
            </a:prstGeom>
            <a:solidFill>
              <a:srgbClr val="FFFFFF"/>
            </a:solidFill>
            <a:ln w="28575">
              <a:solidFill>
                <a:schemeClr val="accent4"/>
              </a:solidFill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942975" y="4992862"/>
              <a:ext cx="285751" cy="320310"/>
              <a:chOff x="942975" y="4992862"/>
              <a:chExt cx="285751" cy="32031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942975" y="4992862"/>
                <a:ext cx="285751" cy="320310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320310">
                    <a:moveTo>
                      <a:pt x="285751" y="223790"/>
                    </a:moveTo>
                    <a:lnTo>
                      <a:pt x="285751" y="96504"/>
                    </a:lnTo>
                    <a:cubicBezTo>
                      <a:pt x="285731" y="85229"/>
                      <a:pt x="279673" y="74828"/>
                      <a:pt x="269876" y="69247"/>
                    </a:cubicBezTo>
                    <a:lnTo>
                      <a:pt x="158750" y="5620"/>
                    </a:lnTo>
                    <a:cubicBezTo>
                      <a:pt x="148913" y="0"/>
                      <a:pt x="136838" y="0"/>
                      <a:pt x="127000" y="5620"/>
                    </a:cubicBezTo>
                    <a:lnTo>
                      <a:pt x="15875" y="69247"/>
                    </a:lnTo>
                    <a:cubicBezTo>
                      <a:pt x="6048" y="74882"/>
                      <a:pt x="0" y="85281"/>
                      <a:pt x="0" y="96520"/>
                    </a:cubicBezTo>
                    <a:lnTo>
                      <a:pt x="0" y="223806"/>
                    </a:lnTo>
                    <a:cubicBezTo>
                      <a:pt x="0" y="235062"/>
                      <a:pt x="6048" y="245444"/>
                      <a:pt x="15875" y="251064"/>
                    </a:cubicBezTo>
                    <a:lnTo>
                      <a:pt x="127000" y="314691"/>
                    </a:lnTo>
                    <a:cubicBezTo>
                      <a:pt x="136838" y="320310"/>
                      <a:pt x="148913" y="320310"/>
                      <a:pt x="158750" y="314691"/>
                    </a:cubicBezTo>
                    <a:lnTo>
                      <a:pt x="269876" y="251064"/>
                    </a:lnTo>
                    <a:cubicBezTo>
                      <a:pt x="279702" y="245428"/>
                      <a:pt x="285751" y="235030"/>
                      <a:pt x="285751" y="223790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1085850" y="5153025"/>
                <a:ext cx="9525" cy="158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8750">
                    <a:moveTo>
                      <a:pt x="0" y="15875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1085850" y="5073015"/>
                <a:ext cx="138589" cy="80010"/>
              </a:xfrm>
              <a:custGeom>
                <a:avLst/>
                <a:gdLst/>
                <a:ahLst/>
                <a:cxnLst/>
                <a:rect l="l" t="t" r="r" b="b"/>
                <a:pathLst>
                  <a:path w="138589" h="80010">
                    <a:moveTo>
                      <a:pt x="0" y="80010"/>
                    </a:moveTo>
                    <a:lnTo>
                      <a:pt x="138589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947261" y="5073015"/>
                <a:ext cx="138589" cy="80010"/>
              </a:xfrm>
              <a:custGeom>
                <a:avLst/>
                <a:gdLst/>
                <a:ahLst/>
                <a:cxnLst/>
                <a:rect l="l" t="t" r="r" b="b"/>
                <a:pathLst>
                  <a:path w="138589" h="80010">
                    <a:moveTo>
                      <a:pt x="0" y="0"/>
                    </a:moveTo>
                    <a:lnTo>
                      <a:pt x="138589" y="8001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457706" y="5063490"/>
              <a:ext cx="46992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GameObject + Component + Transform</a:t>
              </a:r>
              <a:endParaRPr lang="en-US" sz="1800" b="1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50" y="289560"/>
            <a:ext cx="10570104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一张地图，串起 Unity 的基础工作流</a:t>
            </a:r>
            <a:endParaRPr lang="zh-CN" sz="4200" b="1" dirty="0">
              <a:solidFill>
                <a:schemeClr val="dk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571500" y="838200"/>
            <a:ext cx="5048250" cy="285750"/>
          </a:xfrm>
          <a:custGeom>
            <a:avLst/>
            <a:gdLst/>
            <a:ahLst/>
            <a:cxnLst/>
            <a:rect l="l" t="t" r="r" b="b"/>
            <a:pathLst>
              <a:path w="5048250" h="285750">
                <a:moveTo>
                  <a:pt x="0" y="133350"/>
                </a:moveTo>
                <a:cubicBezTo>
                  <a:pt x="1809750" y="285750"/>
                  <a:pt x="3276600" y="0"/>
                  <a:pt x="5048250" y="152400"/>
                </a:cubicBezTo>
              </a:path>
            </a:pathLst>
          </a:custGeom>
          <a:noFill/>
          <a:ln w="76200" cap="rnd">
            <a:solidFill>
              <a:schemeClr val="accent2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581406" y="1196340"/>
            <a:ext cx="491307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从“组织场景”出发，到“交付可运行程序”结束</a:t>
            </a:r>
            <a:endParaRPr lang="zh-CN" sz="1800" dirty="0">
              <a:solidFill>
                <a:schemeClr val="dk2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63" name="Group 63"/>
          <p:cNvGrpSpPr/>
          <p:nvPr/>
        </p:nvGrpSpPr>
        <p:grpSpPr>
          <a:xfrm>
            <a:off x="685800" y="1714500"/>
            <a:ext cx="10791825" cy="4238625"/>
            <a:chOff x="685800" y="1714500"/>
            <a:chExt cx="10791825" cy="4238625"/>
          </a:xfrm>
        </p:grpSpPr>
        <p:grpSp>
          <p:nvGrpSpPr>
            <p:cNvPr id="24" name="Group 24"/>
            <p:cNvGrpSpPr/>
            <p:nvPr/>
          </p:nvGrpSpPr>
          <p:grpSpPr>
            <a:xfrm>
              <a:off x="685800" y="1714500"/>
              <a:ext cx="10791825" cy="952500"/>
              <a:chOff x="685800" y="1714500"/>
              <a:chExt cx="10791825" cy="952500"/>
            </a:xfrm>
          </p:grpSpPr>
          <p:sp>
            <p:nvSpPr>
              <p:cNvPr id="5" name="Ellipse 5"/>
              <p:cNvSpPr/>
              <p:nvPr/>
            </p:nvSpPr>
            <p:spPr>
              <a:xfrm>
                <a:off x="685800" y="1809750"/>
                <a:ext cx="762000" cy="7620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868025" y="2036445"/>
                <a:ext cx="397551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01</a:t>
                </a:r>
                <a:endParaRPr lang="en-US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7" name="Rectangle 7"/>
              <p:cNvSpPr/>
              <p:nvPr/>
            </p:nvSpPr>
            <p:spPr>
              <a:xfrm>
                <a:off x="1619250" y="1714500"/>
                <a:ext cx="9858375" cy="952500"/>
              </a:xfrm>
              <a:prstGeom prst="roundRect">
                <a:avLst>
                  <a:gd name="adj" fmla="val 22000"/>
                </a:avLst>
              </a:prstGeom>
              <a:solidFill>
                <a:srgbClr val="FFFFFF"/>
              </a:solidFill>
              <a:ln w="28575">
                <a:solidFill>
                  <a:schemeClr val="accent4"/>
                </a:solidFill>
              </a:ln>
            </p:spPr>
          </p:sp>
          <p:grpSp>
            <p:nvGrpSpPr>
              <p:cNvPr id="20" name="Group 20"/>
              <p:cNvGrpSpPr/>
              <p:nvPr/>
            </p:nvGrpSpPr>
            <p:grpSpPr>
              <a:xfrm>
                <a:off x="1905000" y="2019300"/>
                <a:ext cx="381000" cy="342900"/>
                <a:chOff x="1905000" y="2019300"/>
                <a:chExt cx="381000" cy="342900"/>
              </a:xfrm>
            </p:grpSpPr>
            <p:sp>
              <p:nvSpPr>
                <p:cNvPr id="8" name="Freeform 8"/>
                <p:cNvSpPr/>
                <p:nvPr/>
              </p:nvSpPr>
              <p:spPr>
                <a:xfrm>
                  <a:off x="2057400" y="2019300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38100"/>
                      </a:moveTo>
                      <a:cubicBezTo>
                        <a:pt x="0" y="59142"/>
                        <a:pt x="17058" y="76200"/>
                        <a:pt x="38100" y="76200"/>
                      </a:cubicBezTo>
                      <a:cubicBezTo>
                        <a:pt x="59142" y="76200"/>
                        <a:pt x="76200" y="59142"/>
                        <a:pt x="76200" y="38100"/>
                      </a:cubicBezTo>
                      <a:cubicBezTo>
                        <a:pt x="76200" y="17058"/>
                        <a:pt x="59142" y="0"/>
                        <a:pt x="38100" y="0"/>
                      </a:cubicBezTo>
                      <a:cubicBezTo>
                        <a:pt x="17058" y="0"/>
                        <a:pt x="0" y="17058"/>
                        <a:pt x="0" y="38100"/>
                      </a:cubicBez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9" name="Freeform 9"/>
                <p:cNvSpPr/>
                <p:nvPr/>
              </p:nvSpPr>
              <p:spPr>
                <a:xfrm>
                  <a:off x="1981200" y="2152650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38100"/>
                      </a:moveTo>
                      <a:cubicBezTo>
                        <a:pt x="0" y="59142"/>
                        <a:pt x="17058" y="76200"/>
                        <a:pt x="38100" y="76200"/>
                      </a:cubicBezTo>
                      <a:cubicBezTo>
                        <a:pt x="59142" y="76200"/>
                        <a:pt x="76200" y="59142"/>
                        <a:pt x="76200" y="38100"/>
                      </a:cubicBezTo>
                      <a:cubicBezTo>
                        <a:pt x="76200" y="17058"/>
                        <a:pt x="59142" y="0"/>
                        <a:pt x="38100" y="0"/>
                      </a:cubicBezTo>
                      <a:cubicBezTo>
                        <a:pt x="17058" y="0"/>
                        <a:pt x="0" y="17058"/>
                        <a:pt x="0" y="38100"/>
                      </a:cubicBez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0" name="Freeform 10"/>
                <p:cNvSpPr/>
                <p:nvPr/>
              </p:nvSpPr>
              <p:spPr>
                <a:xfrm>
                  <a:off x="2057400" y="2286000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38100"/>
                      </a:moveTo>
                      <a:cubicBezTo>
                        <a:pt x="0" y="59142"/>
                        <a:pt x="17058" y="76200"/>
                        <a:pt x="38100" y="76200"/>
                      </a:cubicBezTo>
                      <a:cubicBezTo>
                        <a:pt x="59142" y="76200"/>
                        <a:pt x="76200" y="59142"/>
                        <a:pt x="76200" y="38100"/>
                      </a:cubicBezTo>
                      <a:cubicBezTo>
                        <a:pt x="76200" y="17058"/>
                        <a:pt x="59142" y="0"/>
                        <a:pt x="38100" y="0"/>
                      </a:cubicBezTo>
                      <a:cubicBezTo>
                        <a:pt x="17058" y="0"/>
                        <a:pt x="0" y="17058"/>
                        <a:pt x="0" y="38100"/>
                      </a:cubicBez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2209800" y="2286000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38100"/>
                      </a:moveTo>
                      <a:cubicBezTo>
                        <a:pt x="0" y="59142"/>
                        <a:pt x="17058" y="76200"/>
                        <a:pt x="38100" y="76200"/>
                      </a:cubicBezTo>
                      <a:cubicBezTo>
                        <a:pt x="59142" y="76200"/>
                        <a:pt x="76200" y="59142"/>
                        <a:pt x="76200" y="38100"/>
                      </a:cubicBezTo>
                      <a:cubicBezTo>
                        <a:pt x="76200" y="17058"/>
                        <a:pt x="59142" y="0"/>
                        <a:pt x="38100" y="0"/>
                      </a:cubicBezTo>
                      <a:cubicBezTo>
                        <a:pt x="17058" y="0"/>
                        <a:pt x="0" y="17058"/>
                        <a:pt x="0" y="38100"/>
                      </a:cubicBez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1905000" y="2286000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38100"/>
                      </a:moveTo>
                      <a:cubicBezTo>
                        <a:pt x="0" y="59142"/>
                        <a:pt x="17058" y="76200"/>
                        <a:pt x="38100" y="76200"/>
                      </a:cubicBezTo>
                      <a:cubicBezTo>
                        <a:pt x="59142" y="76200"/>
                        <a:pt x="76200" y="59142"/>
                        <a:pt x="76200" y="38100"/>
                      </a:cubicBezTo>
                      <a:cubicBezTo>
                        <a:pt x="76200" y="17058"/>
                        <a:pt x="59142" y="0"/>
                        <a:pt x="38100" y="0"/>
                      </a:cubicBezTo>
                      <a:cubicBezTo>
                        <a:pt x="17058" y="0"/>
                        <a:pt x="0" y="17058"/>
                        <a:pt x="0" y="38100"/>
                      </a:cubicBez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2133600" y="2152650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38100"/>
                      </a:moveTo>
                      <a:cubicBezTo>
                        <a:pt x="0" y="59142"/>
                        <a:pt x="17058" y="76200"/>
                        <a:pt x="38100" y="76200"/>
                      </a:cubicBezTo>
                      <a:cubicBezTo>
                        <a:pt x="59142" y="76200"/>
                        <a:pt x="76200" y="59142"/>
                        <a:pt x="76200" y="38100"/>
                      </a:cubicBezTo>
                      <a:cubicBezTo>
                        <a:pt x="76200" y="17058"/>
                        <a:pt x="59142" y="0"/>
                        <a:pt x="38100" y="0"/>
                      </a:cubicBezTo>
                      <a:cubicBezTo>
                        <a:pt x="17058" y="0"/>
                        <a:pt x="0" y="17058"/>
                        <a:pt x="0" y="38100"/>
                      </a:cubicBez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1962150" y="2228850"/>
                  <a:ext cx="3810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57150">
                      <a:moveTo>
                        <a:pt x="0" y="57150"/>
                      </a:moveTo>
                      <a:lnTo>
                        <a:pt x="38100" y="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2038350" y="2095500"/>
                  <a:ext cx="3810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57150">
                      <a:moveTo>
                        <a:pt x="0" y="57150"/>
                      </a:moveTo>
                      <a:lnTo>
                        <a:pt x="38100" y="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2114550" y="2095500"/>
                  <a:ext cx="3810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57150">
                      <a:moveTo>
                        <a:pt x="0" y="0"/>
                      </a:moveTo>
                      <a:lnTo>
                        <a:pt x="38100" y="571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2190750" y="2228850"/>
                  <a:ext cx="3810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57150">
                      <a:moveTo>
                        <a:pt x="0" y="0"/>
                      </a:moveTo>
                      <a:lnTo>
                        <a:pt x="38100" y="571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2114550" y="2228850"/>
                  <a:ext cx="3810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57150">
                      <a:moveTo>
                        <a:pt x="38100" y="0"/>
                      </a:moveTo>
                      <a:lnTo>
                        <a:pt x="0" y="571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2038350" y="2228850"/>
                  <a:ext cx="3810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57150">
                      <a:moveTo>
                        <a:pt x="0" y="0"/>
                      </a:moveTo>
                      <a:lnTo>
                        <a:pt x="38100" y="5715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</p:grpSp>
          <p:sp>
            <p:nvSpPr>
              <p:cNvPr id="21" name="TextBox 21"/>
              <p:cNvSpPr txBox="1"/>
              <p:nvPr/>
            </p:nvSpPr>
            <p:spPr>
              <a:xfrm>
                <a:off x="2540508" y="1884045"/>
                <a:ext cx="172059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场景与层级</a:t>
                </a:r>
                <a:endPara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848606" y="1948815"/>
                <a:ext cx="543161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Scene · GameObject · Component · Transform</a:t>
                </a:r>
                <a:endParaRPr lang="en-US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2543556" y="2263140"/>
                <a:ext cx="462229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先理解对象如何被组织，再谈功能如何叠加</a:t>
                </a:r>
                <a:endPara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685800" y="2809875"/>
              <a:ext cx="10791825" cy="952500"/>
              <a:chOff x="685800" y="2809875"/>
              <a:chExt cx="10791825" cy="952500"/>
            </a:xfrm>
          </p:grpSpPr>
          <p:sp>
            <p:nvSpPr>
              <p:cNvPr id="25" name="Ellipse 25"/>
              <p:cNvSpPr/>
              <p:nvPr/>
            </p:nvSpPr>
            <p:spPr>
              <a:xfrm>
                <a:off x="685800" y="2905125"/>
                <a:ext cx="762000" cy="762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868025" y="3131820"/>
                <a:ext cx="397551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02</a:t>
                </a:r>
                <a:endParaRPr lang="en-US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7" name="Rectangle 27"/>
              <p:cNvSpPr/>
              <p:nvPr/>
            </p:nvSpPr>
            <p:spPr>
              <a:xfrm>
                <a:off x="1619250" y="2809875"/>
                <a:ext cx="9858375" cy="952500"/>
              </a:xfrm>
              <a:prstGeom prst="roundRect">
                <a:avLst>
                  <a:gd name="adj" fmla="val 22000"/>
                </a:avLst>
              </a:prstGeom>
              <a:solidFill>
                <a:srgbClr val="FFFFFF"/>
              </a:solidFill>
              <a:ln w="28575">
                <a:solidFill>
                  <a:schemeClr val="accent4"/>
                </a:solidFill>
              </a:ln>
            </p:spPr>
          </p:sp>
          <p:grpSp>
            <p:nvGrpSpPr>
              <p:cNvPr id="32" name="Group 32"/>
              <p:cNvGrpSpPr/>
              <p:nvPr/>
            </p:nvGrpSpPr>
            <p:grpSpPr>
              <a:xfrm>
                <a:off x="1943100" y="3114675"/>
                <a:ext cx="304800" cy="342900"/>
                <a:chOff x="1943100" y="3114675"/>
                <a:chExt cx="304800" cy="342900"/>
              </a:xfrm>
            </p:grpSpPr>
            <p:sp>
              <p:nvSpPr>
                <p:cNvPr id="28" name="Freeform 28"/>
                <p:cNvSpPr/>
                <p:nvPr/>
              </p:nvSpPr>
              <p:spPr>
                <a:xfrm>
                  <a:off x="1943100" y="3114675"/>
                  <a:ext cx="304800" cy="342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800" h="342900">
                      <a:moveTo>
                        <a:pt x="152400" y="0"/>
                      </a:moveTo>
                      <a:lnTo>
                        <a:pt x="304800" y="85725"/>
                      </a:lnTo>
                      <a:lnTo>
                        <a:pt x="304800" y="257175"/>
                      </a:lnTo>
                      <a:lnTo>
                        <a:pt x="152400" y="342900"/>
                      </a:lnTo>
                      <a:lnTo>
                        <a:pt x="0" y="257175"/>
                      </a:lnTo>
                      <a:lnTo>
                        <a:pt x="0" y="85725"/>
                      </a:lnTo>
                      <a:lnTo>
                        <a:pt x="152400" y="0"/>
                      </a:lnTo>
                    </a:path>
                  </a:pathLst>
                </a:custGeom>
                <a:noFill/>
                <a:ln w="19050">
                  <a:solidFill>
                    <a:schemeClr val="accent3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2095500" y="3200400"/>
                  <a:ext cx="152400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85725">
                      <a:moveTo>
                        <a:pt x="0" y="85725"/>
                      </a:moveTo>
                      <a:lnTo>
                        <a:pt x="152400" y="0"/>
                      </a:lnTo>
                    </a:path>
                  </a:pathLst>
                </a:custGeom>
                <a:noFill/>
                <a:ln w="19050">
                  <a:solidFill>
                    <a:schemeClr val="accent3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2095500" y="3286125"/>
                  <a:ext cx="9525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71450">
                      <a:moveTo>
                        <a:pt x="0" y="0"/>
                      </a:moveTo>
                      <a:lnTo>
                        <a:pt x="0" y="171450"/>
                      </a:lnTo>
                    </a:path>
                  </a:pathLst>
                </a:custGeom>
                <a:noFill/>
                <a:ln w="19050">
                  <a:solidFill>
                    <a:schemeClr val="accent3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1943100" y="3200400"/>
                  <a:ext cx="152400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85725">
                      <a:moveTo>
                        <a:pt x="152400" y="85725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chemeClr val="accent3"/>
                  </a:solidFill>
                </a:ln>
              </p:spPr>
            </p:sp>
          </p:grpSp>
          <p:sp>
            <p:nvSpPr>
              <p:cNvPr id="33" name="TextBox 33"/>
              <p:cNvSpPr txBox="1"/>
              <p:nvPr/>
            </p:nvSpPr>
            <p:spPr>
              <a:xfrm>
                <a:off x="2540508" y="2979420"/>
                <a:ext cx="172059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碰撞与物理</a:t>
                </a:r>
                <a:endPara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848606" y="3044190"/>
                <a:ext cx="343471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Collider · Rigidbody · Trigger</a:t>
                </a:r>
                <a:endParaRPr lang="en-US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2543556" y="3358515"/>
                <a:ext cx="416189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明确“谁移动、谁阻挡、谁只负责检测”</a:t>
                </a:r>
                <a:endPara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685800" y="3905250"/>
              <a:ext cx="10791825" cy="952500"/>
              <a:chOff x="685800" y="3905250"/>
              <a:chExt cx="10791825" cy="952500"/>
            </a:xfrm>
          </p:grpSpPr>
          <p:sp>
            <p:nvSpPr>
              <p:cNvPr id="37" name="Ellipse 37"/>
              <p:cNvSpPr/>
              <p:nvPr/>
            </p:nvSpPr>
            <p:spPr>
              <a:xfrm>
                <a:off x="685800" y="4000500"/>
                <a:ext cx="762000" cy="7620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868025" y="4227195"/>
                <a:ext cx="397551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03</a:t>
                </a:r>
                <a:endParaRPr lang="en-US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9" name="Rectangle 39"/>
              <p:cNvSpPr/>
              <p:nvPr/>
            </p:nvSpPr>
            <p:spPr>
              <a:xfrm>
                <a:off x="1619250" y="3905250"/>
                <a:ext cx="9858375" cy="952500"/>
              </a:xfrm>
              <a:prstGeom prst="roundRect">
                <a:avLst>
                  <a:gd name="adj" fmla="val 22000"/>
                </a:avLst>
              </a:prstGeom>
              <a:solidFill>
                <a:srgbClr val="FFFFFF"/>
              </a:solidFill>
              <a:ln w="28575">
                <a:solidFill>
                  <a:schemeClr val="accent4"/>
                </a:solidFill>
              </a:ln>
            </p:spPr>
          </p:sp>
          <p:grpSp>
            <p:nvGrpSpPr>
              <p:cNvPr id="44" name="Group 44"/>
              <p:cNvGrpSpPr/>
              <p:nvPr/>
            </p:nvGrpSpPr>
            <p:grpSpPr>
              <a:xfrm>
                <a:off x="1924050" y="4210050"/>
                <a:ext cx="342900" cy="343867"/>
                <a:chOff x="1924050" y="4210050"/>
                <a:chExt cx="342900" cy="343867"/>
              </a:xfrm>
            </p:grpSpPr>
            <p:sp>
              <p:nvSpPr>
                <p:cNvPr id="40" name="Freeform 40"/>
                <p:cNvSpPr/>
                <p:nvPr/>
              </p:nvSpPr>
              <p:spPr>
                <a:xfrm>
                  <a:off x="1924050" y="4210050"/>
                  <a:ext cx="342900" cy="3438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900" h="343867">
                      <a:moveTo>
                        <a:pt x="171450" y="342900"/>
                      </a:moveTo>
                      <a:cubicBezTo>
                        <a:pt x="76761" y="342900"/>
                        <a:pt x="0" y="266139"/>
                        <a:pt x="0" y="171450"/>
                      </a:cubicBezTo>
                      <a:cubicBezTo>
                        <a:pt x="0" y="76761"/>
                        <a:pt x="76761" y="0"/>
                        <a:pt x="171450" y="0"/>
                      </a:cubicBezTo>
                      <a:cubicBezTo>
                        <a:pt x="266128" y="0"/>
                        <a:pt x="342900" y="68237"/>
                        <a:pt x="342900" y="152400"/>
                      </a:cubicBezTo>
                      <a:cubicBezTo>
                        <a:pt x="342900" y="172593"/>
                        <a:pt x="333870" y="191986"/>
                        <a:pt x="317792" y="206273"/>
                      </a:cubicBezTo>
                      <a:cubicBezTo>
                        <a:pt x="301714" y="220561"/>
                        <a:pt x="279902" y="228600"/>
                        <a:pt x="257175" y="228600"/>
                      </a:cubicBezTo>
                      <a:lnTo>
                        <a:pt x="209550" y="228600"/>
                      </a:lnTo>
                      <a:cubicBezTo>
                        <a:pt x="192062" y="228318"/>
                        <a:pt x="176629" y="239979"/>
                        <a:pt x="172123" y="256878"/>
                      </a:cubicBezTo>
                      <a:cubicBezTo>
                        <a:pt x="167616" y="273777"/>
                        <a:pt x="175194" y="291574"/>
                        <a:pt x="190500" y="300038"/>
                      </a:cubicBezTo>
                      <a:cubicBezTo>
                        <a:pt x="198299" y="307234"/>
                        <a:pt x="200646" y="318599"/>
                        <a:pt x="196336" y="328296"/>
                      </a:cubicBezTo>
                      <a:cubicBezTo>
                        <a:pt x="192026" y="337993"/>
                        <a:pt x="182018" y="343867"/>
                        <a:pt x="171450" y="342900"/>
                      </a:cubicBez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2009775" y="4333875"/>
                  <a:ext cx="381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38100">
                      <a:moveTo>
                        <a:pt x="0" y="19050"/>
                      </a:moveTo>
                      <a:cubicBezTo>
                        <a:pt x="0" y="29571"/>
                        <a:pt x="8529" y="38100"/>
                        <a:pt x="19050" y="38100"/>
                      </a:cubicBezTo>
                      <a:cubicBezTo>
                        <a:pt x="29571" y="38100"/>
                        <a:pt x="38100" y="29571"/>
                        <a:pt x="38100" y="19050"/>
                      </a:cubicBezTo>
                      <a:cubicBezTo>
                        <a:pt x="38100" y="8529"/>
                        <a:pt x="29571" y="0"/>
                        <a:pt x="19050" y="0"/>
                      </a:cubicBezTo>
                      <a:cubicBezTo>
                        <a:pt x="8529" y="0"/>
                        <a:pt x="0" y="8529"/>
                        <a:pt x="0" y="19050"/>
                      </a:cubicBez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2085975" y="4276725"/>
                  <a:ext cx="381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38100">
                      <a:moveTo>
                        <a:pt x="0" y="19050"/>
                      </a:moveTo>
                      <a:cubicBezTo>
                        <a:pt x="0" y="29571"/>
                        <a:pt x="8529" y="38100"/>
                        <a:pt x="19050" y="38100"/>
                      </a:cubicBezTo>
                      <a:cubicBezTo>
                        <a:pt x="29571" y="38100"/>
                        <a:pt x="38100" y="29571"/>
                        <a:pt x="38100" y="19050"/>
                      </a:cubicBezTo>
                      <a:cubicBezTo>
                        <a:pt x="38100" y="8529"/>
                        <a:pt x="29571" y="0"/>
                        <a:pt x="19050" y="0"/>
                      </a:cubicBezTo>
                      <a:cubicBezTo>
                        <a:pt x="8529" y="0"/>
                        <a:pt x="0" y="8529"/>
                        <a:pt x="0" y="19050"/>
                      </a:cubicBez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2162175" y="4333875"/>
                  <a:ext cx="381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38100">
                      <a:moveTo>
                        <a:pt x="0" y="19050"/>
                      </a:moveTo>
                      <a:cubicBezTo>
                        <a:pt x="0" y="29571"/>
                        <a:pt x="8529" y="38100"/>
                        <a:pt x="19050" y="38100"/>
                      </a:cubicBezTo>
                      <a:cubicBezTo>
                        <a:pt x="29571" y="38100"/>
                        <a:pt x="38100" y="29571"/>
                        <a:pt x="38100" y="19050"/>
                      </a:cubicBezTo>
                      <a:cubicBezTo>
                        <a:pt x="38100" y="8529"/>
                        <a:pt x="29571" y="0"/>
                        <a:pt x="19050" y="0"/>
                      </a:cubicBezTo>
                      <a:cubicBezTo>
                        <a:pt x="8529" y="0"/>
                        <a:pt x="0" y="8529"/>
                        <a:pt x="0" y="19050"/>
                      </a:cubicBez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</p:grpSp>
          <p:sp>
            <p:nvSpPr>
              <p:cNvPr id="45" name="TextBox 45"/>
              <p:cNvSpPr txBox="1"/>
              <p:nvPr/>
            </p:nvSpPr>
            <p:spPr>
              <a:xfrm>
                <a:off x="2540508" y="4074795"/>
                <a:ext cx="172059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渲染与镜头</a:t>
                </a:r>
                <a:endPara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4848606" y="4139565"/>
                <a:ext cx="407576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材质 · 灯光 · 相机 · RenderTexture</a:t>
                </a:r>
                <a:endPara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2543556" y="4453890"/>
                <a:ext cx="394380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让场景“看得见”，也让画面“送得到”</a:t>
                </a:r>
                <a:endPara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62" name="Group 62"/>
            <p:cNvGrpSpPr/>
            <p:nvPr/>
          </p:nvGrpSpPr>
          <p:grpSpPr>
            <a:xfrm>
              <a:off x="685800" y="5000625"/>
              <a:ext cx="10791825" cy="952500"/>
              <a:chOff x="685800" y="5000625"/>
              <a:chExt cx="10791825" cy="952500"/>
            </a:xfrm>
          </p:grpSpPr>
          <p:sp>
            <p:nvSpPr>
              <p:cNvPr id="49" name="Ellipse 49"/>
              <p:cNvSpPr/>
              <p:nvPr/>
            </p:nvSpPr>
            <p:spPr>
              <a:xfrm>
                <a:off x="685800" y="5095875"/>
                <a:ext cx="762000" cy="762000"/>
              </a:xfrm>
              <a:prstGeom prst="ellipse">
                <a:avLst/>
              </a:prstGeom>
              <a:solidFill>
                <a:srgbClr val="D85C45"/>
              </a:solidFill>
              <a:ln>
                <a:noFill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868025" y="5322570"/>
                <a:ext cx="397551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04</a:t>
                </a:r>
                <a:endParaRPr lang="en-US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1" name="Rectangle 51"/>
              <p:cNvSpPr/>
              <p:nvPr/>
            </p:nvSpPr>
            <p:spPr>
              <a:xfrm>
                <a:off x="1619250" y="5000625"/>
                <a:ext cx="9858375" cy="952500"/>
              </a:xfrm>
              <a:prstGeom prst="roundRect">
                <a:avLst>
                  <a:gd name="adj" fmla="val 22000"/>
                </a:avLst>
              </a:prstGeom>
              <a:solidFill>
                <a:srgbClr val="FFFFFF"/>
              </a:solidFill>
              <a:ln w="28575">
                <a:solidFill>
                  <a:schemeClr val="accent4"/>
                </a:solidFill>
              </a:ln>
            </p:spPr>
          </p:sp>
          <p:grpSp>
            <p:nvGrpSpPr>
              <p:cNvPr id="58" name="Group 58"/>
              <p:cNvGrpSpPr/>
              <p:nvPr/>
            </p:nvGrpSpPr>
            <p:grpSpPr>
              <a:xfrm>
                <a:off x="1943100" y="5305425"/>
                <a:ext cx="342900" cy="342900"/>
                <a:chOff x="1943100" y="5305425"/>
                <a:chExt cx="342900" cy="342900"/>
              </a:xfrm>
            </p:grpSpPr>
            <p:sp>
              <p:nvSpPr>
                <p:cNvPr id="52" name="Freeform 52"/>
                <p:cNvSpPr/>
                <p:nvPr/>
              </p:nvSpPr>
              <p:spPr>
                <a:xfrm>
                  <a:off x="1943100" y="5305425"/>
                  <a:ext cx="304800" cy="342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800" h="342900">
                      <a:moveTo>
                        <a:pt x="152400" y="342900"/>
                      </a:moveTo>
                      <a:lnTo>
                        <a:pt x="0" y="257175"/>
                      </a:lnTo>
                      <a:lnTo>
                        <a:pt x="0" y="85725"/>
                      </a:lnTo>
                      <a:lnTo>
                        <a:pt x="152400" y="0"/>
                      </a:lnTo>
                      <a:lnTo>
                        <a:pt x="304800" y="85725"/>
                      </a:lnTo>
                      <a:lnTo>
                        <a:pt x="304800" y="171450"/>
                      </a:lnTo>
                    </a:path>
                  </a:pathLst>
                </a:custGeom>
                <a:noFill/>
                <a:ln w="19050">
                  <a:solidFill>
                    <a:srgbClr val="D85C45"/>
                  </a:solidFill>
                </a:ln>
              </p:spPr>
            </p:sp>
            <p:sp>
              <p:nvSpPr>
                <p:cNvPr id="53" name="Freeform 53"/>
                <p:cNvSpPr/>
                <p:nvPr/>
              </p:nvSpPr>
              <p:spPr>
                <a:xfrm>
                  <a:off x="2095500" y="5391150"/>
                  <a:ext cx="152400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85725">
                      <a:moveTo>
                        <a:pt x="0" y="85725"/>
                      </a:moveTo>
                      <a:lnTo>
                        <a:pt x="152400" y="0"/>
                      </a:lnTo>
                    </a:path>
                  </a:pathLst>
                </a:custGeom>
                <a:noFill/>
                <a:ln w="19050">
                  <a:solidFill>
                    <a:srgbClr val="D85C45"/>
                  </a:solidFill>
                </a:ln>
              </p:spPr>
            </p:sp>
            <p:sp>
              <p:nvSpPr>
                <p:cNvPr id="54" name="Freeform 54"/>
                <p:cNvSpPr/>
                <p:nvPr/>
              </p:nvSpPr>
              <p:spPr>
                <a:xfrm>
                  <a:off x="2095500" y="5476875"/>
                  <a:ext cx="9525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71450">
                      <a:moveTo>
                        <a:pt x="0" y="0"/>
                      </a:moveTo>
                      <a:lnTo>
                        <a:pt x="0" y="171450"/>
                      </a:lnTo>
                    </a:path>
                  </a:pathLst>
                </a:custGeom>
                <a:noFill/>
                <a:ln w="19050">
                  <a:solidFill>
                    <a:srgbClr val="D85C45"/>
                  </a:solidFill>
                </a:ln>
              </p:spPr>
            </p:sp>
            <p:sp>
              <p:nvSpPr>
                <p:cNvPr id="55" name="Freeform 55"/>
                <p:cNvSpPr/>
                <p:nvPr/>
              </p:nvSpPr>
              <p:spPr>
                <a:xfrm>
                  <a:off x="1943100" y="5391150"/>
                  <a:ext cx="152400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85725">
                      <a:moveTo>
                        <a:pt x="152400" y="85725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D85C45"/>
                  </a:solidFill>
                </a:ln>
              </p:spPr>
            </p:sp>
            <p:sp>
              <p:nvSpPr>
                <p:cNvPr id="56" name="Freeform 56"/>
                <p:cNvSpPr/>
                <p:nvPr/>
              </p:nvSpPr>
              <p:spPr>
                <a:xfrm>
                  <a:off x="2152650" y="5591175"/>
                  <a:ext cx="1333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9525">
                      <a:moveTo>
                        <a:pt x="0" y="0"/>
                      </a:moveTo>
                      <a:lnTo>
                        <a:pt x="133350" y="0"/>
                      </a:lnTo>
                    </a:path>
                  </a:pathLst>
                </a:custGeom>
                <a:noFill/>
                <a:ln w="19050">
                  <a:solidFill>
                    <a:srgbClr val="D85C45"/>
                  </a:solidFill>
                </a:ln>
              </p:spPr>
            </p:sp>
            <p:sp>
              <p:nvSpPr>
                <p:cNvPr id="57" name="Freeform 57"/>
                <p:cNvSpPr/>
                <p:nvPr/>
              </p:nvSpPr>
              <p:spPr>
                <a:xfrm>
                  <a:off x="2228850" y="5534025"/>
                  <a:ext cx="5715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114300">
                      <a:moveTo>
                        <a:pt x="0" y="0"/>
                      </a:moveTo>
                      <a:lnTo>
                        <a:pt x="57150" y="57150"/>
                      </a:lnTo>
                      <a:lnTo>
                        <a:pt x="0" y="114300"/>
                      </a:lnTo>
                    </a:path>
                  </a:pathLst>
                </a:custGeom>
                <a:noFill/>
                <a:ln w="19050">
                  <a:solidFill>
                    <a:srgbClr val="D85C45"/>
                  </a:solidFill>
                </a:ln>
              </p:spPr>
            </p:sp>
          </p:grpSp>
          <p:sp>
            <p:nvSpPr>
              <p:cNvPr id="59" name="TextBox 59"/>
              <p:cNvSpPr txBox="1"/>
              <p:nvPr/>
            </p:nvSpPr>
            <p:spPr>
              <a:xfrm>
                <a:off x="2540508" y="5170170"/>
                <a:ext cx="172059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复用与打包</a:t>
                </a:r>
                <a:endPara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4848606" y="5234940"/>
                <a:ext cx="425126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Prefab · PlayerRoot · Build Profiles</a:t>
                </a:r>
                <a:endParaRPr lang="en-US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2543556" y="5549265"/>
                <a:ext cx="437997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把可复用对象整理成稳定、可交付的工程</a:t>
                </a:r>
                <a:endPara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7" name="Group 67"/>
          <p:cNvGrpSpPr/>
          <p:nvPr/>
        </p:nvGrpSpPr>
        <p:grpSpPr>
          <a:xfrm>
            <a:off x="552450" y="6353175"/>
            <a:ext cx="11055858" cy="432626"/>
            <a:chOff x="552450" y="6353175"/>
            <a:chExt cx="11055858" cy="432626"/>
          </a:xfrm>
        </p:grpSpPr>
        <p:sp>
          <p:nvSpPr>
            <p:cNvPr id="64" name="Line 64"/>
            <p:cNvSpPr/>
            <p:nvPr/>
          </p:nvSpPr>
          <p:spPr>
            <a:xfrm>
              <a:off x="552450" y="635317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11394681" y="652176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</a:t>
              </a:r>
              <a:endParaRPr lang="en-US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50" y="289560"/>
            <a:ext cx="12990503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Unity 的基本语法：对象是容器，组件给能力</a:t>
            </a:r>
            <a:endParaRPr lang="zh-CN" sz="4200" b="1" dirty="0">
              <a:solidFill>
                <a:schemeClr val="dk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81406" y="1043940"/>
            <a:ext cx="510692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场景负责组织对象，对象通过组合组件获得行为</a:t>
            </a:r>
            <a:endParaRPr lang="zh-CN" sz="1800" dirty="0">
              <a:solidFill>
                <a:schemeClr val="dk2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2514600" y="1952625"/>
            <a:ext cx="7172325" cy="962025"/>
            <a:chOff x="2514600" y="1952625"/>
            <a:chExt cx="7172325" cy="962025"/>
          </a:xfrm>
        </p:grpSpPr>
        <p:sp>
          <p:nvSpPr>
            <p:cNvPr id="4" name="Line 4"/>
            <p:cNvSpPr/>
            <p:nvPr/>
          </p:nvSpPr>
          <p:spPr>
            <a:xfrm>
              <a:off x="6096000" y="1952625"/>
              <a:ext cx="9525" cy="504825"/>
            </a:xfrm>
            <a:custGeom>
              <a:avLst/>
              <a:gdLst/>
              <a:ahLst/>
              <a:cxnLst/>
              <a:rect l="l" t="t" r="r" b="b"/>
              <a:pathLst>
                <a:path w="9525" h="504825">
                  <a:moveTo>
                    <a:pt x="0" y="0"/>
                  </a:moveTo>
                  <a:lnTo>
                    <a:pt x="0" y="504825"/>
                  </a:lnTo>
                </a:path>
              </a:pathLst>
            </a:custGeom>
            <a:noFill/>
            <a:ln w="38100" cap="rnd">
              <a:solidFill>
                <a:schemeClr val="dk2"/>
              </a:solidFill>
              <a:round/>
            </a:ln>
          </p:spPr>
        </p:sp>
        <p:sp>
          <p:nvSpPr>
            <p:cNvPr id="5" name="Line 5"/>
            <p:cNvSpPr/>
            <p:nvPr/>
          </p:nvSpPr>
          <p:spPr>
            <a:xfrm>
              <a:off x="2514600" y="2457450"/>
              <a:ext cx="7162800" cy="9525"/>
            </a:xfrm>
            <a:custGeom>
              <a:avLst/>
              <a:gdLst/>
              <a:ahLst/>
              <a:cxnLst/>
              <a:rect l="l" t="t" r="r" b="b"/>
              <a:pathLst>
                <a:path w="7162800" h="9525">
                  <a:moveTo>
                    <a:pt x="0" y="0"/>
                  </a:moveTo>
                  <a:lnTo>
                    <a:pt x="7162800" y="0"/>
                  </a:lnTo>
                </a:path>
              </a:pathLst>
            </a:custGeom>
            <a:noFill/>
            <a:ln w="38100" cap="rnd">
              <a:solidFill>
                <a:schemeClr val="dk2"/>
              </a:solidFill>
              <a:round/>
            </a:ln>
          </p:spPr>
        </p:sp>
        <p:sp>
          <p:nvSpPr>
            <p:cNvPr id="6" name="Line 6"/>
            <p:cNvSpPr/>
            <p:nvPr/>
          </p:nvSpPr>
          <p:spPr>
            <a:xfrm>
              <a:off x="2514600" y="2457450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38100" cap="rnd">
              <a:solidFill>
                <a:schemeClr val="dk2"/>
              </a:solidFill>
              <a:round/>
            </a:ln>
          </p:spPr>
        </p:sp>
        <p:sp>
          <p:nvSpPr>
            <p:cNvPr id="7" name="Line 7"/>
            <p:cNvSpPr/>
            <p:nvPr/>
          </p:nvSpPr>
          <p:spPr>
            <a:xfrm>
              <a:off x="6096000" y="2457450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38100" cap="rnd">
              <a:solidFill>
                <a:schemeClr val="dk2"/>
              </a:solidFill>
              <a:round/>
            </a:ln>
          </p:spPr>
        </p:sp>
        <p:sp>
          <p:nvSpPr>
            <p:cNvPr id="8" name="Line 8"/>
            <p:cNvSpPr/>
            <p:nvPr/>
          </p:nvSpPr>
          <p:spPr>
            <a:xfrm>
              <a:off x="9677400" y="2457450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38100" cap="rnd">
              <a:solidFill>
                <a:schemeClr val="dk2"/>
              </a:solidFill>
              <a:round/>
            </a:ln>
          </p:spPr>
        </p:sp>
      </p:grpSp>
      <p:sp>
        <p:nvSpPr>
          <p:cNvPr id="10" name="Rectangle 10"/>
          <p:cNvSpPr/>
          <p:nvPr/>
        </p:nvSpPr>
        <p:spPr>
          <a:xfrm>
            <a:off x="4810125" y="1524000"/>
            <a:ext cx="2571750" cy="609600"/>
          </a:xfrm>
          <a:prstGeom prst="roundRect">
            <a:avLst>
              <a:gd name="adj" fmla="val 31250"/>
            </a:avLst>
          </a:prstGeom>
          <a:solidFill>
            <a:schemeClr val="accent1"/>
          </a:solidFill>
          <a:ln>
            <a:noFill/>
          </a:ln>
        </p:spPr>
      </p:sp>
      <p:grpSp>
        <p:nvGrpSpPr>
          <p:cNvPr id="23" name="Group 23"/>
          <p:cNvGrpSpPr/>
          <p:nvPr/>
        </p:nvGrpSpPr>
        <p:grpSpPr>
          <a:xfrm>
            <a:off x="5056188" y="1716881"/>
            <a:ext cx="269875" cy="242888"/>
            <a:chOff x="5056188" y="1716881"/>
            <a:chExt cx="269875" cy="242888"/>
          </a:xfrm>
        </p:grpSpPr>
        <p:sp>
          <p:nvSpPr>
            <p:cNvPr id="11" name="Freeform 11"/>
            <p:cNvSpPr/>
            <p:nvPr/>
          </p:nvSpPr>
          <p:spPr>
            <a:xfrm>
              <a:off x="5164138" y="1716881"/>
              <a:ext cx="53975" cy="53975"/>
            </a:xfrm>
            <a:custGeom>
              <a:avLst/>
              <a:gdLst/>
              <a:ahLst/>
              <a:cxnLst/>
              <a:rect l="l" t="t" r="r" b="b"/>
              <a:pathLst>
                <a:path w="53975" h="53975">
                  <a:moveTo>
                    <a:pt x="0" y="26988"/>
                  </a:moveTo>
                  <a:cubicBezTo>
                    <a:pt x="0" y="41892"/>
                    <a:pt x="12083" y="53975"/>
                    <a:pt x="26988" y="53975"/>
                  </a:cubicBezTo>
                  <a:cubicBezTo>
                    <a:pt x="41892" y="53975"/>
                    <a:pt x="53975" y="41892"/>
                    <a:pt x="53975" y="26988"/>
                  </a:cubicBezTo>
                  <a:cubicBezTo>
                    <a:pt x="53975" y="12083"/>
                    <a:pt x="41892" y="0"/>
                    <a:pt x="26988" y="0"/>
                  </a:cubicBezTo>
                  <a:cubicBezTo>
                    <a:pt x="12083" y="0"/>
                    <a:pt x="0" y="12083"/>
                    <a:pt x="0" y="26988"/>
                  </a:cubicBez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5110163" y="1811338"/>
              <a:ext cx="53975" cy="53975"/>
            </a:xfrm>
            <a:custGeom>
              <a:avLst/>
              <a:gdLst/>
              <a:ahLst/>
              <a:cxnLst/>
              <a:rect l="l" t="t" r="r" b="b"/>
              <a:pathLst>
                <a:path w="53975" h="53975">
                  <a:moveTo>
                    <a:pt x="0" y="26988"/>
                  </a:moveTo>
                  <a:cubicBezTo>
                    <a:pt x="0" y="41892"/>
                    <a:pt x="12083" y="53975"/>
                    <a:pt x="26988" y="53975"/>
                  </a:cubicBezTo>
                  <a:cubicBezTo>
                    <a:pt x="41892" y="53975"/>
                    <a:pt x="53975" y="41892"/>
                    <a:pt x="53975" y="26988"/>
                  </a:cubicBezTo>
                  <a:cubicBezTo>
                    <a:pt x="53975" y="12083"/>
                    <a:pt x="41892" y="0"/>
                    <a:pt x="26988" y="0"/>
                  </a:cubicBezTo>
                  <a:cubicBezTo>
                    <a:pt x="12083" y="0"/>
                    <a:pt x="0" y="12083"/>
                    <a:pt x="0" y="26988"/>
                  </a:cubicBez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5164138" y="1905794"/>
              <a:ext cx="53975" cy="53975"/>
            </a:xfrm>
            <a:custGeom>
              <a:avLst/>
              <a:gdLst/>
              <a:ahLst/>
              <a:cxnLst/>
              <a:rect l="l" t="t" r="r" b="b"/>
              <a:pathLst>
                <a:path w="53975" h="53975">
                  <a:moveTo>
                    <a:pt x="0" y="26988"/>
                  </a:moveTo>
                  <a:cubicBezTo>
                    <a:pt x="0" y="41892"/>
                    <a:pt x="12083" y="53975"/>
                    <a:pt x="26988" y="53975"/>
                  </a:cubicBezTo>
                  <a:cubicBezTo>
                    <a:pt x="41892" y="53975"/>
                    <a:pt x="53975" y="41892"/>
                    <a:pt x="53975" y="26988"/>
                  </a:cubicBezTo>
                  <a:cubicBezTo>
                    <a:pt x="53975" y="12083"/>
                    <a:pt x="41892" y="0"/>
                    <a:pt x="26988" y="0"/>
                  </a:cubicBezTo>
                  <a:cubicBezTo>
                    <a:pt x="12083" y="0"/>
                    <a:pt x="0" y="12083"/>
                    <a:pt x="0" y="26988"/>
                  </a:cubicBez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5272088" y="1905794"/>
              <a:ext cx="53975" cy="53975"/>
            </a:xfrm>
            <a:custGeom>
              <a:avLst/>
              <a:gdLst/>
              <a:ahLst/>
              <a:cxnLst/>
              <a:rect l="l" t="t" r="r" b="b"/>
              <a:pathLst>
                <a:path w="53975" h="53975">
                  <a:moveTo>
                    <a:pt x="0" y="26988"/>
                  </a:moveTo>
                  <a:cubicBezTo>
                    <a:pt x="0" y="41892"/>
                    <a:pt x="12083" y="53975"/>
                    <a:pt x="26988" y="53975"/>
                  </a:cubicBezTo>
                  <a:cubicBezTo>
                    <a:pt x="41892" y="53975"/>
                    <a:pt x="53975" y="41892"/>
                    <a:pt x="53975" y="26988"/>
                  </a:cubicBezTo>
                  <a:cubicBezTo>
                    <a:pt x="53975" y="12083"/>
                    <a:pt x="41892" y="0"/>
                    <a:pt x="26988" y="0"/>
                  </a:cubicBezTo>
                  <a:cubicBezTo>
                    <a:pt x="12083" y="0"/>
                    <a:pt x="0" y="12083"/>
                    <a:pt x="0" y="26988"/>
                  </a:cubicBez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5056188" y="1905794"/>
              <a:ext cx="53975" cy="53975"/>
            </a:xfrm>
            <a:custGeom>
              <a:avLst/>
              <a:gdLst/>
              <a:ahLst/>
              <a:cxnLst/>
              <a:rect l="l" t="t" r="r" b="b"/>
              <a:pathLst>
                <a:path w="53975" h="53975">
                  <a:moveTo>
                    <a:pt x="0" y="26988"/>
                  </a:moveTo>
                  <a:cubicBezTo>
                    <a:pt x="0" y="41892"/>
                    <a:pt x="12083" y="53975"/>
                    <a:pt x="26988" y="53975"/>
                  </a:cubicBezTo>
                  <a:cubicBezTo>
                    <a:pt x="41892" y="53975"/>
                    <a:pt x="53975" y="41892"/>
                    <a:pt x="53975" y="26988"/>
                  </a:cubicBezTo>
                  <a:cubicBezTo>
                    <a:pt x="53975" y="12083"/>
                    <a:pt x="41892" y="0"/>
                    <a:pt x="26988" y="0"/>
                  </a:cubicBezTo>
                  <a:cubicBezTo>
                    <a:pt x="12083" y="0"/>
                    <a:pt x="0" y="12083"/>
                    <a:pt x="0" y="26988"/>
                  </a:cubicBez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5218113" y="1811338"/>
              <a:ext cx="53975" cy="53975"/>
            </a:xfrm>
            <a:custGeom>
              <a:avLst/>
              <a:gdLst/>
              <a:ahLst/>
              <a:cxnLst/>
              <a:rect l="l" t="t" r="r" b="b"/>
              <a:pathLst>
                <a:path w="53975" h="53975">
                  <a:moveTo>
                    <a:pt x="0" y="26988"/>
                  </a:moveTo>
                  <a:cubicBezTo>
                    <a:pt x="0" y="41892"/>
                    <a:pt x="12083" y="53975"/>
                    <a:pt x="26988" y="53975"/>
                  </a:cubicBezTo>
                  <a:cubicBezTo>
                    <a:pt x="41892" y="53975"/>
                    <a:pt x="53975" y="41892"/>
                    <a:pt x="53975" y="26988"/>
                  </a:cubicBezTo>
                  <a:cubicBezTo>
                    <a:pt x="53975" y="12083"/>
                    <a:pt x="41892" y="0"/>
                    <a:pt x="26988" y="0"/>
                  </a:cubicBezTo>
                  <a:cubicBezTo>
                    <a:pt x="12083" y="0"/>
                    <a:pt x="0" y="12083"/>
                    <a:pt x="0" y="26988"/>
                  </a:cubicBez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5096669" y="1865313"/>
              <a:ext cx="26988" cy="40481"/>
            </a:xfrm>
            <a:custGeom>
              <a:avLst/>
              <a:gdLst/>
              <a:ahLst/>
              <a:cxnLst/>
              <a:rect l="l" t="t" r="r" b="b"/>
              <a:pathLst>
                <a:path w="26988" h="40481">
                  <a:moveTo>
                    <a:pt x="0" y="40481"/>
                  </a:moveTo>
                  <a:lnTo>
                    <a:pt x="26988" y="0"/>
                  </a:ln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5150644" y="1770856"/>
              <a:ext cx="26988" cy="40481"/>
            </a:xfrm>
            <a:custGeom>
              <a:avLst/>
              <a:gdLst/>
              <a:ahLst/>
              <a:cxnLst/>
              <a:rect l="l" t="t" r="r" b="b"/>
              <a:pathLst>
                <a:path w="26988" h="40481">
                  <a:moveTo>
                    <a:pt x="0" y="40481"/>
                  </a:moveTo>
                  <a:lnTo>
                    <a:pt x="26988" y="0"/>
                  </a:ln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5204619" y="1770856"/>
              <a:ext cx="26988" cy="40481"/>
            </a:xfrm>
            <a:custGeom>
              <a:avLst/>
              <a:gdLst/>
              <a:ahLst/>
              <a:cxnLst/>
              <a:rect l="l" t="t" r="r" b="b"/>
              <a:pathLst>
                <a:path w="26988" h="40481">
                  <a:moveTo>
                    <a:pt x="0" y="0"/>
                  </a:moveTo>
                  <a:lnTo>
                    <a:pt x="26988" y="40481"/>
                  </a:ln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5258594" y="1865313"/>
              <a:ext cx="26988" cy="40481"/>
            </a:xfrm>
            <a:custGeom>
              <a:avLst/>
              <a:gdLst/>
              <a:ahLst/>
              <a:cxnLst/>
              <a:rect l="l" t="t" r="r" b="b"/>
              <a:pathLst>
                <a:path w="26988" h="40481">
                  <a:moveTo>
                    <a:pt x="0" y="0"/>
                  </a:moveTo>
                  <a:lnTo>
                    <a:pt x="26988" y="40481"/>
                  </a:ln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5204619" y="1865313"/>
              <a:ext cx="26988" cy="40481"/>
            </a:xfrm>
            <a:custGeom>
              <a:avLst/>
              <a:gdLst/>
              <a:ahLst/>
              <a:cxnLst/>
              <a:rect l="l" t="t" r="r" b="b"/>
              <a:pathLst>
                <a:path w="26988" h="40481">
                  <a:moveTo>
                    <a:pt x="26988" y="0"/>
                  </a:moveTo>
                  <a:lnTo>
                    <a:pt x="0" y="40481"/>
                  </a:ln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5150644" y="1865313"/>
              <a:ext cx="26988" cy="40481"/>
            </a:xfrm>
            <a:custGeom>
              <a:avLst/>
              <a:gdLst/>
              <a:ahLst/>
              <a:cxnLst/>
              <a:rect l="l" t="t" r="r" b="b"/>
              <a:pathLst>
                <a:path w="26988" h="40481">
                  <a:moveTo>
                    <a:pt x="0" y="0"/>
                  </a:moveTo>
                  <a:lnTo>
                    <a:pt x="26988" y="40481"/>
                  </a:ln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</p:grpSp>
      <p:sp>
        <p:nvSpPr>
          <p:cNvPr id="24" name="TextBox 24"/>
          <p:cNvSpPr txBox="1"/>
          <p:nvPr/>
        </p:nvSpPr>
        <p:spPr>
          <a:xfrm>
            <a:off x="5331824" y="1674495"/>
            <a:ext cx="1756953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Scene 场景</a:t>
            </a:r>
            <a:endParaRPr lang="zh-CN" sz="2400" b="1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69" name="Group 69"/>
          <p:cNvGrpSpPr/>
          <p:nvPr/>
        </p:nvGrpSpPr>
        <p:grpSpPr>
          <a:xfrm>
            <a:off x="895350" y="2914650"/>
            <a:ext cx="10401300" cy="2724150"/>
            <a:chOff x="895350" y="2914650"/>
            <a:chExt cx="10401300" cy="2724150"/>
          </a:xfrm>
        </p:grpSpPr>
        <p:grpSp>
          <p:nvGrpSpPr>
            <p:cNvPr id="37" name="Group 37"/>
            <p:cNvGrpSpPr/>
            <p:nvPr/>
          </p:nvGrpSpPr>
          <p:grpSpPr>
            <a:xfrm>
              <a:off x="895350" y="2914650"/>
              <a:ext cx="3238500" cy="2724150"/>
              <a:chOff x="895350" y="2914650"/>
              <a:chExt cx="3238500" cy="272415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895350" y="2914650"/>
                <a:ext cx="3238500" cy="2724150"/>
              </a:xfrm>
              <a:prstGeom prst="roundRect">
                <a:avLst>
                  <a:gd name="adj" fmla="val 8392"/>
                </a:avLst>
              </a:prstGeom>
              <a:solidFill>
                <a:srgbClr val="FFFFFF"/>
              </a:solidFill>
              <a:ln w="28575">
                <a:solidFill>
                  <a:schemeClr val="accent4"/>
                </a:solidFill>
              </a:ln>
            </p:spPr>
          </p:sp>
          <p:sp>
            <p:nvSpPr>
              <p:cNvPr id="26" name="Rectangle 26"/>
              <p:cNvSpPr/>
              <p:nvPr/>
            </p:nvSpPr>
            <p:spPr>
              <a:xfrm>
                <a:off x="895350" y="2933700"/>
                <a:ext cx="3238500" cy="704850"/>
              </a:xfrm>
              <a:prstGeom prst="roundRect">
                <a:avLst>
                  <a:gd name="adj" fmla="val 32432"/>
                </a:avLst>
              </a:prstGeom>
              <a:solidFill>
                <a:srgbClr val="EAF0FA"/>
              </a:solidFill>
              <a:ln>
                <a:noFill/>
              </a:ln>
            </p:spPr>
          </p:sp>
          <p:grpSp>
            <p:nvGrpSpPr>
              <p:cNvPr id="31" name="Group 31"/>
              <p:cNvGrpSpPr/>
              <p:nvPr/>
            </p:nvGrpSpPr>
            <p:grpSpPr>
              <a:xfrm>
                <a:off x="1169194" y="3114920"/>
                <a:ext cx="271462" cy="304294"/>
                <a:chOff x="1169194" y="3114920"/>
                <a:chExt cx="271462" cy="304294"/>
              </a:xfrm>
            </p:grpSpPr>
            <p:sp>
              <p:nvSpPr>
                <p:cNvPr id="27" name="Freeform 27"/>
                <p:cNvSpPr/>
                <p:nvPr/>
              </p:nvSpPr>
              <p:spPr>
                <a:xfrm>
                  <a:off x="1169194" y="3114920"/>
                  <a:ext cx="271462" cy="3042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1462" h="304294">
                      <a:moveTo>
                        <a:pt x="271462" y="212600"/>
                      </a:moveTo>
                      <a:lnTo>
                        <a:pt x="271462" y="91679"/>
                      </a:lnTo>
                      <a:cubicBezTo>
                        <a:pt x="271443" y="80967"/>
                        <a:pt x="265688" y="71086"/>
                        <a:pt x="256381" y="65784"/>
                      </a:cubicBezTo>
                      <a:lnTo>
                        <a:pt x="150812" y="5339"/>
                      </a:lnTo>
                      <a:cubicBezTo>
                        <a:pt x="141467" y="0"/>
                        <a:pt x="129995" y="0"/>
                        <a:pt x="120650" y="5339"/>
                      </a:cubicBezTo>
                      <a:lnTo>
                        <a:pt x="15081" y="65784"/>
                      </a:lnTo>
                      <a:cubicBezTo>
                        <a:pt x="5746" y="71138"/>
                        <a:pt x="0" y="81016"/>
                        <a:pt x="0" y="91694"/>
                      </a:cubicBezTo>
                      <a:lnTo>
                        <a:pt x="0" y="212615"/>
                      </a:lnTo>
                      <a:cubicBezTo>
                        <a:pt x="0" y="223308"/>
                        <a:pt x="5746" y="233171"/>
                        <a:pt x="15081" y="238509"/>
                      </a:cubicBezTo>
                      <a:lnTo>
                        <a:pt x="120650" y="298955"/>
                      </a:lnTo>
                      <a:cubicBezTo>
                        <a:pt x="129995" y="304294"/>
                        <a:pt x="141467" y="304294"/>
                        <a:pt x="150812" y="298955"/>
                      </a:cubicBezTo>
                      <a:lnTo>
                        <a:pt x="256381" y="238509"/>
                      </a:lnTo>
                      <a:cubicBezTo>
                        <a:pt x="265716" y="233156"/>
                        <a:pt x="271462" y="223277"/>
                        <a:pt x="271462" y="212600"/>
                      </a:cubicBez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1304925" y="3267075"/>
                  <a:ext cx="9525" cy="150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50812">
                      <a:moveTo>
                        <a:pt x="0" y="150812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1304925" y="3191065"/>
                  <a:ext cx="131659" cy="760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659" h="76009">
                      <a:moveTo>
                        <a:pt x="0" y="76009"/>
                      </a:moveTo>
                      <a:lnTo>
                        <a:pt x="131659" y="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1173266" y="3191065"/>
                  <a:ext cx="131659" cy="760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659" h="76009">
                      <a:moveTo>
                        <a:pt x="0" y="0"/>
                      </a:moveTo>
                      <a:lnTo>
                        <a:pt x="131659" y="76009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</p:grpSp>
          <p:sp>
            <p:nvSpPr>
              <p:cNvPr id="32" name="TextBox 32"/>
              <p:cNvSpPr txBox="1"/>
              <p:nvPr/>
            </p:nvSpPr>
            <p:spPr>
              <a:xfrm>
                <a:off x="1664208" y="3122295"/>
                <a:ext cx="2070312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4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Environment</a:t>
                </a:r>
                <a:endPara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1152906" y="3882390"/>
                <a:ext cx="202951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地面 · 墙体 · 道具</a:t>
                </a:r>
                <a:endPara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152906" y="4291965"/>
                <a:ext cx="150853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灯光 · 天空盒</a:t>
                </a:r>
                <a:endPara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5" name="Freeform 35"/>
              <p:cNvSpPr/>
              <p:nvPr/>
            </p:nvSpPr>
            <p:spPr>
              <a:xfrm>
                <a:off x="1162050" y="4667250"/>
                <a:ext cx="262890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2628900" h="285750">
                    <a:moveTo>
                      <a:pt x="0" y="133350"/>
                    </a:moveTo>
                    <a:cubicBezTo>
                      <a:pt x="628650" y="0"/>
                      <a:pt x="1333500" y="285750"/>
                      <a:pt x="2628900" y="95250"/>
                    </a:cubicBezTo>
                  </a:path>
                </a:pathLst>
              </a:custGeom>
              <a:noFill/>
              <a:ln w="57150" cap="rnd">
                <a:solidFill>
                  <a:schemeClr val="accent2"/>
                </a:solidFill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1152906" y="5053965"/>
                <a:ext cx="154487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负责构成世界</a:t>
                </a:r>
                <a:endPara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4476750" y="2914650"/>
              <a:ext cx="3238500" cy="2724150"/>
              <a:chOff x="4476750" y="2914650"/>
              <a:chExt cx="3238500" cy="272415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4476750" y="2914650"/>
                <a:ext cx="3238500" cy="2724150"/>
              </a:xfrm>
              <a:prstGeom prst="roundRect">
                <a:avLst>
                  <a:gd name="adj" fmla="val 8392"/>
                </a:avLst>
              </a:prstGeom>
              <a:solidFill>
                <a:srgbClr val="FFFFFF"/>
              </a:solidFill>
              <a:ln w="38100">
                <a:solidFill>
                  <a:schemeClr val="accent3"/>
                </a:solidFill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9" name="Rectangle 39"/>
              <p:cNvSpPr/>
              <p:nvPr/>
            </p:nvSpPr>
            <p:spPr>
              <a:xfrm>
                <a:off x="4476750" y="2940050"/>
                <a:ext cx="3238500" cy="704850"/>
              </a:xfrm>
              <a:prstGeom prst="roundRect">
                <a:avLst>
                  <a:gd name="adj" fmla="val 32432"/>
                </a:avLst>
              </a:prstGeom>
              <a:solidFill>
                <a:srgbClr val="E8F5F0"/>
              </a:solidFill>
              <a:ln>
                <a:noFill/>
              </a:ln>
            </p:spPr>
          </p:sp>
          <p:grpSp>
            <p:nvGrpSpPr>
              <p:cNvPr id="44" name="Group 44"/>
              <p:cNvGrpSpPr/>
              <p:nvPr/>
            </p:nvGrpSpPr>
            <p:grpSpPr>
              <a:xfrm>
                <a:off x="4795837" y="3131344"/>
                <a:ext cx="180975" cy="271462"/>
                <a:chOff x="4795837" y="3131344"/>
                <a:chExt cx="180975" cy="271462"/>
              </a:xfrm>
            </p:grpSpPr>
            <p:sp>
              <p:nvSpPr>
                <p:cNvPr id="40" name="Freeform 40"/>
                <p:cNvSpPr/>
                <p:nvPr/>
              </p:nvSpPr>
              <p:spPr>
                <a:xfrm>
                  <a:off x="4886325" y="3131344"/>
                  <a:ext cx="30162" cy="301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162" h="30162">
                      <a:moveTo>
                        <a:pt x="0" y="15081"/>
                      </a:moveTo>
                      <a:cubicBezTo>
                        <a:pt x="0" y="23410"/>
                        <a:pt x="6752" y="30162"/>
                        <a:pt x="15081" y="30162"/>
                      </a:cubicBezTo>
                      <a:cubicBezTo>
                        <a:pt x="23410" y="30162"/>
                        <a:pt x="30162" y="23410"/>
                        <a:pt x="30162" y="15081"/>
                      </a:cubicBezTo>
                      <a:cubicBezTo>
                        <a:pt x="30162" y="6752"/>
                        <a:pt x="23410" y="0"/>
                        <a:pt x="15081" y="0"/>
                      </a:cubicBezTo>
                      <a:cubicBezTo>
                        <a:pt x="6752" y="0"/>
                        <a:pt x="0" y="6752"/>
                        <a:pt x="0" y="15081"/>
                      </a:cubicBezTo>
                    </a:path>
                  </a:pathLst>
                </a:custGeom>
                <a:noFill/>
                <a:ln w="19050">
                  <a:solidFill>
                    <a:schemeClr val="accent3"/>
                  </a:solidFill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4810919" y="3342481"/>
                  <a:ext cx="45244" cy="60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44" h="60325">
                      <a:moveTo>
                        <a:pt x="0" y="60325"/>
                      </a:moveTo>
                      <a:lnTo>
                        <a:pt x="45244" y="0"/>
                      </a:lnTo>
                    </a:path>
                  </a:pathLst>
                </a:custGeom>
                <a:noFill/>
                <a:ln w="19050">
                  <a:solidFill>
                    <a:schemeClr val="accent3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4871243" y="3206750"/>
                  <a:ext cx="75406" cy="1960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06" h="196056">
                      <a:moveTo>
                        <a:pt x="75406" y="196056"/>
                      </a:moveTo>
                      <a:lnTo>
                        <a:pt x="45244" y="135731"/>
                      </a:lnTo>
                      <a:lnTo>
                        <a:pt x="0" y="90487"/>
                      </a:lnTo>
                      <a:lnTo>
                        <a:pt x="15081" y="0"/>
                      </a:lnTo>
                    </a:path>
                  </a:pathLst>
                </a:custGeom>
                <a:noFill/>
                <a:ln w="19050">
                  <a:solidFill>
                    <a:schemeClr val="accent3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4795837" y="3206750"/>
                  <a:ext cx="180975" cy="60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975" h="60325">
                      <a:moveTo>
                        <a:pt x="0" y="60325"/>
                      </a:moveTo>
                      <a:lnTo>
                        <a:pt x="30162" y="15081"/>
                      </a:lnTo>
                      <a:lnTo>
                        <a:pt x="90487" y="0"/>
                      </a:lnTo>
                      <a:lnTo>
                        <a:pt x="135731" y="45244"/>
                      </a:lnTo>
                      <a:lnTo>
                        <a:pt x="180975" y="60325"/>
                      </a:lnTo>
                    </a:path>
                  </a:pathLst>
                </a:custGeom>
                <a:noFill/>
                <a:ln w="19050">
                  <a:solidFill>
                    <a:schemeClr val="accent3"/>
                  </a:solidFill>
                </a:ln>
              </p:spPr>
            </p:sp>
          </p:grpSp>
          <p:sp>
            <p:nvSpPr>
              <p:cNvPr id="45" name="TextBox 45"/>
              <p:cNvSpPr txBox="1"/>
              <p:nvPr/>
            </p:nvSpPr>
            <p:spPr>
              <a:xfrm>
                <a:off x="5245608" y="3122295"/>
                <a:ext cx="1068835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400" b="1" dirty="0">
                    <a:solidFill>
                      <a:srgbClr val="2F8F6A"/>
                    </a:solidFill>
                    <a:latin typeface="+mn-lt"/>
                    <a:ea typeface="+mn-ea"/>
                    <a:cs typeface="+mn-cs"/>
                  </a:rPr>
                  <a:t>Player</a:t>
                </a:r>
                <a:endParaRPr lang="en-US" sz="2400" b="1" dirty="0">
                  <a:solidFill>
                    <a:srgbClr val="2F8F6A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grpSp>
            <p:nvGrpSpPr>
              <p:cNvPr id="50" name="Group 50"/>
              <p:cNvGrpSpPr/>
              <p:nvPr/>
            </p:nvGrpSpPr>
            <p:grpSpPr>
              <a:xfrm>
                <a:off x="4705350" y="3886200"/>
                <a:ext cx="2781300" cy="1123950"/>
                <a:chOff x="4705350" y="3886200"/>
                <a:chExt cx="2781300" cy="1123950"/>
              </a:xfrm>
            </p:grpSpPr>
            <p:sp>
              <p:nvSpPr>
                <p:cNvPr id="46" name="Rectangle 46"/>
                <p:cNvSpPr/>
                <p:nvPr/>
              </p:nvSpPr>
              <p:spPr>
                <a:xfrm>
                  <a:off x="4705350" y="3886200"/>
                  <a:ext cx="1257300" cy="476250"/>
                </a:xfrm>
                <a:prstGeom prst="roundRect">
                  <a:avLst>
                    <a:gd name="adj" fmla="val 28000"/>
                  </a:avLst>
                </a:prstGeom>
                <a:solidFill>
                  <a:srgbClr val="FFF9E9"/>
                </a:solidFill>
                <a:ln w="19050">
                  <a:solidFill>
                    <a:schemeClr val="accent4"/>
                  </a:solidFill>
                </a:ln>
              </p:spPr>
            </p:sp>
            <p:sp>
              <p:nvSpPr>
                <p:cNvPr id="47" name="Rectangle 47"/>
                <p:cNvSpPr/>
                <p:nvPr/>
              </p:nvSpPr>
              <p:spPr>
                <a:xfrm>
                  <a:off x="6229350" y="3886200"/>
                  <a:ext cx="1257300" cy="476250"/>
                </a:xfrm>
                <a:prstGeom prst="roundRect">
                  <a:avLst>
                    <a:gd name="adj" fmla="val 28000"/>
                  </a:avLst>
                </a:prstGeom>
                <a:solidFill>
                  <a:srgbClr val="FFF9E9"/>
                </a:solidFill>
                <a:ln w="19050">
                  <a:solidFill>
                    <a:schemeClr val="accent4"/>
                  </a:solidFill>
                </a:ln>
              </p:spPr>
            </p:sp>
            <p:sp>
              <p:nvSpPr>
                <p:cNvPr id="48" name="Rectangle 48"/>
                <p:cNvSpPr/>
                <p:nvPr/>
              </p:nvSpPr>
              <p:spPr>
                <a:xfrm>
                  <a:off x="4705350" y="4533900"/>
                  <a:ext cx="1257300" cy="476250"/>
                </a:xfrm>
                <a:prstGeom prst="roundRect">
                  <a:avLst>
                    <a:gd name="adj" fmla="val 28000"/>
                  </a:avLst>
                </a:prstGeom>
                <a:solidFill>
                  <a:srgbClr val="FFF9E9"/>
                </a:solidFill>
                <a:ln w="19050">
                  <a:solidFill>
                    <a:schemeClr val="accent4"/>
                  </a:solidFill>
                </a:ln>
              </p:spPr>
            </p:sp>
            <p:sp>
              <p:nvSpPr>
                <p:cNvPr id="49" name="Rectangle 49"/>
                <p:cNvSpPr/>
                <p:nvPr/>
              </p:nvSpPr>
              <p:spPr>
                <a:xfrm>
                  <a:off x="6229350" y="4533900"/>
                  <a:ext cx="1257300" cy="476250"/>
                </a:xfrm>
                <a:prstGeom prst="roundRect">
                  <a:avLst>
                    <a:gd name="adj" fmla="val 28000"/>
                  </a:avLst>
                </a:prstGeom>
                <a:solidFill>
                  <a:srgbClr val="FFF9E9"/>
                </a:solidFill>
                <a:ln w="19050">
                  <a:solidFill>
                    <a:schemeClr val="accent4"/>
                  </a:solidFill>
                </a:ln>
              </p:spPr>
            </p:sp>
          </p:grpSp>
          <p:grpSp>
            <p:nvGrpSpPr>
              <p:cNvPr id="55" name="Group 55"/>
              <p:cNvGrpSpPr/>
              <p:nvPr/>
            </p:nvGrpSpPr>
            <p:grpSpPr>
              <a:xfrm>
                <a:off x="4665574" y="4015740"/>
                <a:ext cx="2669194" cy="999744"/>
                <a:chOff x="4665574" y="4015740"/>
                <a:chExt cx="2669194" cy="999744"/>
              </a:xfrm>
            </p:grpSpPr>
            <p:sp>
              <p:nvSpPr>
                <p:cNvPr id="51" name="TextBox 51"/>
                <p:cNvSpPr txBox="1"/>
                <p:nvPr/>
              </p:nvSpPr>
              <p:spPr>
                <a:xfrm>
                  <a:off x="4665574" y="4015740"/>
                  <a:ext cx="1336853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80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Transform</a:t>
                  </a:r>
                  <a:endParaRPr lang="en-US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2" name="TextBox 52"/>
                <p:cNvSpPr txBox="1"/>
                <p:nvPr/>
              </p:nvSpPr>
              <p:spPr>
                <a:xfrm>
                  <a:off x="6381233" y="4015740"/>
                  <a:ext cx="953535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80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Collider</a:t>
                  </a:r>
                  <a:endParaRPr lang="en-US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3" name="TextBox 53"/>
                <p:cNvSpPr txBox="1"/>
                <p:nvPr/>
              </p:nvSpPr>
              <p:spPr>
                <a:xfrm>
                  <a:off x="4761146" y="4663440"/>
                  <a:ext cx="1145709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80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Renderer</a:t>
                  </a:r>
                  <a:endParaRPr lang="en-US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4" name="TextBox 54"/>
                <p:cNvSpPr txBox="1"/>
                <p:nvPr/>
              </p:nvSpPr>
              <p:spPr>
                <a:xfrm>
                  <a:off x="6457187" y="4663440"/>
                  <a:ext cx="801626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80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Script</a:t>
                  </a:r>
                  <a:endParaRPr lang="en-US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56" name="TextBox 56"/>
              <p:cNvSpPr txBox="1"/>
              <p:nvPr/>
            </p:nvSpPr>
            <p:spPr>
              <a:xfrm>
                <a:off x="5117592" y="5196840"/>
                <a:ext cx="19568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能力来自组件组合</a:t>
                </a:r>
                <a:endPara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68" name="Group 68"/>
            <p:cNvGrpSpPr/>
            <p:nvPr/>
          </p:nvGrpSpPr>
          <p:grpSpPr>
            <a:xfrm>
              <a:off x="8058150" y="2914650"/>
              <a:ext cx="3238500" cy="2724150"/>
              <a:chOff x="8058150" y="2914650"/>
              <a:chExt cx="3238500" cy="2724150"/>
            </a:xfrm>
          </p:grpSpPr>
          <p:sp>
            <p:nvSpPr>
              <p:cNvPr id="58" name="Rectangle 58"/>
              <p:cNvSpPr/>
              <p:nvPr/>
            </p:nvSpPr>
            <p:spPr>
              <a:xfrm>
                <a:off x="8058150" y="2914650"/>
                <a:ext cx="3238500" cy="2724150"/>
              </a:xfrm>
              <a:prstGeom prst="roundRect">
                <a:avLst>
                  <a:gd name="adj" fmla="val 8392"/>
                </a:avLst>
              </a:prstGeom>
              <a:solidFill>
                <a:srgbClr val="FFFFFF"/>
              </a:solidFill>
              <a:ln w="28575">
                <a:solidFill>
                  <a:schemeClr val="accent4"/>
                </a:solidFill>
              </a:ln>
            </p:spPr>
          </p:sp>
          <p:sp>
            <p:nvSpPr>
              <p:cNvPr id="59" name="Rectangle 59"/>
              <p:cNvSpPr/>
              <p:nvPr/>
            </p:nvSpPr>
            <p:spPr>
              <a:xfrm>
                <a:off x="8058150" y="2933700"/>
                <a:ext cx="3238500" cy="704850"/>
              </a:xfrm>
              <a:prstGeom prst="roundRect">
                <a:avLst>
                  <a:gd name="adj" fmla="val 32432"/>
                </a:avLst>
              </a:prstGeom>
              <a:solidFill>
                <a:srgbClr val="FFF0D1"/>
              </a:solidFill>
              <a:ln>
                <a:noFill/>
              </a:ln>
            </p:spPr>
          </p:sp>
          <p:grpSp>
            <p:nvGrpSpPr>
              <p:cNvPr id="62" name="Group 62"/>
              <p:cNvGrpSpPr/>
              <p:nvPr/>
            </p:nvGrpSpPr>
            <p:grpSpPr>
              <a:xfrm>
                <a:off x="8331994" y="3146425"/>
                <a:ext cx="271462" cy="241299"/>
                <a:chOff x="8331994" y="3146425"/>
                <a:chExt cx="271462" cy="241299"/>
              </a:xfrm>
            </p:grpSpPr>
            <p:sp>
              <p:nvSpPr>
                <p:cNvPr id="60" name="Freeform 60"/>
                <p:cNvSpPr/>
                <p:nvPr/>
              </p:nvSpPr>
              <p:spPr>
                <a:xfrm>
                  <a:off x="8331994" y="3146425"/>
                  <a:ext cx="271462" cy="2412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1462" h="241299">
                      <a:moveTo>
                        <a:pt x="30162" y="45244"/>
                      </a:moveTo>
                      <a:lnTo>
                        <a:pt x="45244" y="45244"/>
                      </a:lnTo>
                      <a:cubicBezTo>
                        <a:pt x="61902" y="45244"/>
                        <a:pt x="75406" y="31739"/>
                        <a:pt x="75406" y="15081"/>
                      </a:cubicBezTo>
                      <a:cubicBezTo>
                        <a:pt x="75406" y="6752"/>
                        <a:pt x="82158" y="0"/>
                        <a:pt x="90487" y="0"/>
                      </a:cubicBezTo>
                      <a:lnTo>
                        <a:pt x="180975" y="0"/>
                      </a:lnTo>
                      <a:cubicBezTo>
                        <a:pt x="189304" y="0"/>
                        <a:pt x="196056" y="6752"/>
                        <a:pt x="196056" y="15081"/>
                      </a:cubicBezTo>
                      <a:cubicBezTo>
                        <a:pt x="196056" y="31739"/>
                        <a:pt x="209560" y="45244"/>
                        <a:pt x="226218" y="45244"/>
                      </a:cubicBezTo>
                      <a:lnTo>
                        <a:pt x="241299" y="45244"/>
                      </a:lnTo>
                      <a:cubicBezTo>
                        <a:pt x="257958" y="45244"/>
                        <a:pt x="271462" y="58748"/>
                        <a:pt x="271462" y="75406"/>
                      </a:cubicBezTo>
                      <a:lnTo>
                        <a:pt x="271462" y="211137"/>
                      </a:lnTo>
                      <a:cubicBezTo>
                        <a:pt x="271462" y="227795"/>
                        <a:pt x="257958" y="241299"/>
                        <a:pt x="241299" y="241299"/>
                      </a:cubicBezTo>
                      <a:lnTo>
                        <a:pt x="30162" y="241299"/>
                      </a:lnTo>
                      <a:cubicBezTo>
                        <a:pt x="13504" y="241299"/>
                        <a:pt x="0" y="227795"/>
                        <a:pt x="0" y="211137"/>
                      </a:cubicBezTo>
                      <a:lnTo>
                        <a:pt x="0" y="75406"/>
                      </a:lnTo>
                      <a:cubicBezTo>
                        <a:pt x="0" y="58748"/>
                        <a:pt x="13504" y="45244"/>
                        <a:pt x="30162" y="45244"/>
                      </a:cubicBez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61" name="Freeform 61"/>
                <p:cNvSpPr/>
                <p:nvPr/>
              </p:nvSpPr>
              <p:spPr>
                <a:xfrm>
                  <a:off x="8422481" y="3236912"/>
                  <a:ext cx="90487" cy="90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487" h="90487">
                      <a:moveTo>
                        <a:pt x="0" y="45244"/>
                      </a:moveTo>
                      <a:cubicBezTo>
                        <a:pt x="0" y="70231"/>
                        <a:pt x="20256" y="90487"/>
                        <a:pt x="45244" y="90487"/>
                      </a:cubicBezTo>
                      <a:cubicBezTo>
                        <a:pt x="70231" y="90487"/>
                        <a:pt x="90487" y="70231"/>
                        <a:pt x="90487" y="45244"/>
                      </a:cubicBezTo>
                      <a:cubicBezTo>
                        <a:pt x="90487" y="20256"/>
                        <a:pt x="70231" y="0"/>
                        <a:pt x="45244" y="0"/>
                      </a:cubicBezTo>
                      <a:cubicBezTo>
                        <a:pt x="20256" y="0"/>
                        <a:pt x="0" y="20256"/>
                        <a:pt x="0" y="45244"/>
                      </a:cubicBez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</p:grpSp>
          <p:sp>
            <p:nvSpPr>
              <p:cNvPr id="63" name="TextBox 63"/>
              <p:cNvSpPr txBox="1"/>
              <p:nvPr/>
            </p:nvSpPr>
            <p:spPr>
              <a:xfrm>
                <a:off x="8827008" y="3122295"/>
                <a:ext cx="1222934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400" b="1" dirty="0">
                    <a:solidFill>
                      <a:srgbClr val="8C5A00"/>
                    </a:solidFill>
                    <a:latin typeface="+mn-lt"/>
                    <a:ea typeface="+mn-ea"/>
                    <a:cs typeface="+mn-cs"/>
                  </a:rPr>
                  <a:t>Camera</a:t>
                </a:r>
                <a:endParaRPr lang="en-US" sz="2400" b="1" dirty="0">
                  <a:solidFill>
                    <a:srgbClr val="8C5A00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8315706" y="3882390"/>
                <a:ext cx="12298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位置与朝向</a:t>
                </a:r>
                <a:endPara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8315706" y="4291965"/>
                <a:ext cx="147218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视野与裁剪面</a:t>
                </a:r>
                <a:endPara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6" name="Freeform 66"/>
              <p:cNvSpPr/>
              <p:nvPr/>
            </p:nvSpPr>
            <p:spPr>
              <a:xfrm>
                <a:off x="8324850" y="4629150"/>
                <a:ext cx="2628900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2628900" h="323850">
                    <a:moveTo>
                      <a:pt x="0" y="171450"/>
                    </a:moveTo>
                    <a:cubicBezTo>
                      <a:pt x="762000" y="323850"/>
                      <a:pt x="1733550" y="0"/>
                      <a:pt x="2628900" y="171450"/>
                    </a:cubicBezTo>
                  </a:path>
                </a:pathLst>
              </a:custGeom>
              <a:noFill/>
              <a:ln w="57150" cap="rnd">
                <a:solidFill>
                  <a:schemeClr val="accent1"/>
                </a:solidFill>
              </a:ln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8315706" y="5053965"/>
                <a:ext cx="205374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决定玩家看见什么</a:t>
                </a:r>
                <a:endPara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73" name="Group 73"/>
          <p:cNvGrpSpPr/>
          <p:nvPr/>
        </p:nvGrpSpPr>
        <p:grpSpPr>
          <a:xfrm>
            <a:off x="552450" y="6353175"/>
            <a:ext cx="11055858" cy="432626"/>
            <a:chOff x="552450" y="6353175"/>
            <a:chExt cx="11055858" cy="432626"/>
          </a:xfrm>
        </p:grpSpPr>
        <p:sp>
          <p:nvSpPr>
            <p:cNvPr id="70" name="Line 70"/>
            <p:cNvSpPr/>
            <p:nvPr/>
          </p:nvSpPr>
          <p:spPr>
            <a:xfrm>
              <a:off x="552450" y="635317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11394681" y="652176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</a:t>
              </a:r>
              <a:endParaRPr lang="en-US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50" y="270510"/>
            <a:ext cx="13620918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Transform：位置、旋转、缩放，以及父子关系</a:t>
            </a:r>
            <a:endParaRPr lang="zh-CN" sz="4200" b="1" dirty="0">
              <a:solidFill>
                <a:schemeClr val="dk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81406" y="986790"/>
            <a:ext cx="752387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每个 GameObject 都有 Transform；子物体会继承父物体的空间变化</a:t>
            </a:r>
            <a:endParaRPr lang="zh-CN" sz="1800" dirty="0">
              <a:solidFill>
                <a:schemeClr val="dk2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19" name="Group 19"/>
          <p:cNvGrpSpPr/>
          <p:nvPr/>
        </p:nvGrpSpPr>
        <p:grpSpPr>
          <a:xfrm>
            <a:off x="934085" y="1476375"/>
            <a:ext cx="3475355" cy="2124710"/>
            <a:chOff x="590550" y="1476375"/>
            <a:chExt cx="3905250" cy="4114800"/>
          </a:xfrm>
        </p:grpSpPr>
        <p:sp>
          <p:nvSpPr>
            <p:cNvPr id="4" name="Rectangle 4"/>
            <p:cNvSpPr/>
            <p:nvPr/>
          </p:nvSpPr>
          <p:spPr>
            <a:xfrm>
              <a:off x="590550" y="1476375"/>
              <a:ext cx="3905250" cy="4114800"/>
            </a:xfrm>
            <a:prstGeom prst="roundRect">
              <a:avLst>
                <a:gd name="adj" fmla="val 6829"/>
              </a:avLst>
            </a:prstGeom>
            <a:solidFill>
              <a:srgbClr val="FFFFFF"/>
            </a:solidFill>
            <a:ln w="28575">
              <a:solidFill>
                <a:schemeClr val="accent4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62412" y="1698963"/>
              <a:ext cx="859112" cy="242018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空间坐标系</a:t>
              </a:r>
              <a:endParaRPr lang="zh-CN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1858056" y="2263167"/>
              <a:ext cx="1697956" cy="2082376"/>
              <a:chOff x="1858056" y="2263167"/>
              <a:chExt cx="1697956" cy="2082376"/>
            </a:xfrm>
          </p:grpSpPr>
          <p:sp>
            <p:nvSpPr>
              <p:cNvPr id="6" name="Line 6"/>
              <p:cNvSpPr/>
              <p:nvPr/>
            </p:nvSpPr>
            <p:spPr>
              <a:xfrm>
                <a:off x="1926988" y="3908425"/>
                <a:ext cx="1143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0" h="9525">
                    <a:moveTo>
                      <a:pt x="0" y="0"/>
                    </a:moveTo>
                    <a:lnTo>
                      <a:pt x="1143000" y="0"/>
                    </a:lnTo>
                  </a:path>
                </a:pathLst>
              </a:custGeom>
              <a:noFill/>
              <a:ln w="76200" cap="rnd">
                <a:solidFill>
                  <a:srgbClr val="D85C45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2979646" y="3794125"/>
                <a:ext cx="1905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228600">
                    <a:moveTo>
                      <a:pt x="0" y="0"/>
                    </a:moveTo>
                    <a:lnTo>
                      <a:pt x="190500" y="114300"/>
                    </a:lnTo>
                    <a:lnTo>
                      <a:pt x="0" y="228600"/>
                    </a:lnTo>
                  </a:path>
                </a:pathLst>
              </a:custGeom>
              <a:noFill/>
              <a:ln w="76200" cap="rnd">
                <a:solidFill>
                  <a:srgbClr val="D85C45"/>
                </a:solidFill>
                <a:round/>
              </a:ln>
            </p:spPr>
          </p:sp>
          <p:sp>
            <p:nvSpPr>
              <p:cNvPr id="8" name="Line 8"/>
              <p:cNvSpPr/>
              <p:nvPr/>
            </p:nvSpPr>
            <p:spPr>
              <a:xfrm>
                <a:off x="2066688" y="2765425"/>
                <a:ext cx="9525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0">
                    <a:moveTo>
                      <a:pt x="0" y="1143000"/>
                    </a:moveTo>
                    <a:lnTo>
                      <a:pt x="0" y="0"/>
                    </a:lnTo>
                  </a:path>
                </a:pathLst>
              </a:custGeom>
              <a:noFill/>
              <a:ln w="76200" cap="rnd">
                <a:solidFill>
                  <a:schemeClr val="accent3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948649" y="2727325"/>
                <a:ext cx="2286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90500">
                    <a:moveTo>
                      <a:pt x="0" y="190500"/>
                    </a:moveTo>
                    <a:lnTo>
                      <a:pt x="114300" y="0"/>
                    </a:lnTo>
                    <a:lnTo>
                      <a:pt x="228600" y="190500"/>
                    </a:lnTo>
                  </a:path>
                </a:pathLst>
              </a:custGeom>
              <a:noFill/>
              <a:ln w="76200" cap="rnd">
                <a:solidFill>
                  <a:schemeClr val="accent3"/>
                </a:solidFill>
                <a:round/>
              </a:ln>
            </p:spPr>
          </p:sp>
          <p:sp>
            <p:nvSpPr>
              <p:cNvPr id="10" name="Line 10"/>
              <p:cNvSpPr/>
              <p:nvPr/>
            </p:nvSpPr>
            <p:spPr>
              <a:xfrm>
                <a:off x="1990448" y="3279775"/>
                <a:ext cx="781050" cy="742950"/>
              </a:xfrm>
              <a:custGeom>
                <a:avLst/>
                <a:gdLst/>
                <a:ahLst/>
                <a:cxnLst/>
                <a:rect l="l" t="t" r="r" b="b"/>
                <a:pathLst>
                  <a:path w="781050" h="742950">
                    <a:moveTo>
                      <a:pt x="781050" y="0"/>
                    </a:moveTo>
                    <a:lnTo>
                      <a:pt x="0" y="742950"/>
                    </a:lnTo>
                  </a:path>
                </a:pathLst>
              </a:custGeom>
              <a:noFill/>
              <a:ln w="76200" cap="rnd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 rot="10800000">
                <a:off x="2597150" y="3203575"/>
                <a:ext cx="2667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266700">
                    <a:moveTo>
                      <a:pt x="266700" y="171450"/>
                    </a:moveTo>
                    <a:lnTo>
                      <a:pt x="0" y="266700"/>
                    </a:lnTo>
                    <a:lnTo>
                      <a:pt x="76200" y="0"/>
                    </a:lnTo>
                  </a:path>
                </a:pathLst>
              </a:custGeom>
              <a:noFill/>
              <a:ln w="76200" cap="rnd">
                <a:solidFill>
                  <a:schemeClr val="accent1"/>
                </a:solidFill>
                <a:round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2" name="Ellipse 12"/>
              <p:cNvSpPr/>
              <p:nvPr/>
            </p:nvSpPr>
            <p:spPr>
              <a:xfrm>
                <a:off x="1858056" y="3698875"/>
                <a:ext cx="419100" cy="419100"/>
              </a:xfrm>
              <a:prstGeom prst="ellipse">
                <a:avLst/>
              </a:prstGeom>
              <a:solidFill>
                <a:srgbClr val="FFF9E9"/>
              </a:solidFill>
              <a:ln w="38100" cap="rnd">
                <a:solidFill>
                  <a:schemeClr val="dk1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3396906" y="3809365"/>
                <a:ext cx="159106" cy="53617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US" sz="1800" dirty="0">
                    <a:solidFill>
                      <a:srgbClr val="D85C45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X</a:t>
                </a:r>
                <a:endParaRPr lang="en-US" sz="1800" dirty="0">
                  <a:solidFill>
                    <a:srgbClr val="D85C45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2172081" y="2263167"/>
                <a:ext cx="159106" cy="5664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US" sz="1800" dirty="0">
                    <a:solidFill>
                      <a:srgbClr val="2F8F6A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Y</a:t>
                </a:r>
                <a:endParaRPr lang="en-US" sz="1800" dirty="0">
                  <a:solidFill>
                    <a:srgbClr val="2F8F6A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2910586" y="3201453"/>
                <a:ext cx="159106" cy="5664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US" sz="1800" dirty="0">
                    <a:solidFill>
                      <a:schemeClr val="accent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Z</a:t>
                </a:r>
                <a:endParaRPr lang="en-US" sz="1800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</p:grpSp>
        <p:sp>
          <p:nvSpPr>
            <p:cNvPr id="17" name="Rectangle 17"/>
            <p:cNvSpPr/>
            <p:nvPr/>
          </p:nvSpPr>
          <p:spPr>
            <a:xfrm>
              <a:off x="857250" y="4750151"/>
              <a:ext cx="3371850" cy="533400"/>
            </a:xfrm>
            <a:prstGeom prst="roundRect">
              <a:avLst>
                <a:gd name="adj" fmla="val 2857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46160" y="4802901"/>
              <a:ext cx="3484934" cy="53617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本地坐标 ≠ 世界坐标</a:t>
              </a:r>
              <a:endPara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4707890" y="1623060"/>
            <a:ext cx="6686550" cy="4599940"/>
            <a:chOff x="4762500" y="1476375"/>
            <a:chExt cx="6686550" cy="4302760"/>
          </a:xfrm>
        </p:grpSpPr>
        <p:grpSp>
          <p:nvGrpSpPr>
            <p:cNvPr id="28" name="Group 28"/>
            <p:cNvGrpSpPr/>
            <p:nvPr/>
          </p:nvGrpSpPr>
          <p:grpSpPr>
            <a:xfrm>
              <a:off x="4762500" y="1476375"/>
              <a:ext cx="2076450" cy="1866900"/>
              <a:chOff x="4762500" y="1476375"/>
              <a:chExt cx="2076450" cy="186690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4762500" y="1476375"/>
                <a:ext cx="2076450" cy="1866900"/>
              </a:xfrm>
              <a:prstGeom prst="roundRect">
                <a:avLst>
                  <a:gd name="adj" fmla="val 12245"/>
                </a:avLst>
              </a:prstGeom>
              <a:solidFill>
                <a:srgbClr val="EAF0FA"/>
              </a:solidFill>
              <a:ln w="28575">
                <a:solidFill>
                  <a:schemeClr val="accent1"/>
                </a:solidFill>
              </a:ln>
            </p:spPr>
          </p:sp>
          <p:grpSp>
            <p:nvGrpSpPr>
              <p:cNvPr id="25" name="Group 25"/>
              <p:cNvGrpSpPr/>
              <p:nvPr/>
            </p:nvGrpSpPr>
            <p:grpSpPr>
              <a:xfrm>
                <a:off x="5586412" y="1776412"/>
                <a:ext cx="428626" cy="428626"/>
                <a:chOff x="5586412" y="1776412"/>
                <a:chExt cx="428626" cy="428626"/>
              </a:xfrm>
            </p:grpSpPr>
            <p:sp>
              <p:nvSpPr>
                <p:cNvPr id="21" name="Freeform 21"/>
                <p:cNvSpPr/>
                <p:nvPr/>
              </p:nvSpPr>
              <p:spPr>
                <a:xfrm>
                  <a:off x="5586412" y="1776412"/>
                  <a:ext cx="14287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42875">
                      <a:moveTo>
                        <a:pt x="0" y="71438"/>
                      </a:moveTo>
                      <a:cubicBezTo>
                        <a:pt x="0" y="110891"/>
                        <a:pt x="31984" y="142875"/>
                        <a:pt x="71438" y="142875"/>
                      </a:cubicBezTo>
                      <a:cubicBezTo>
                        <a:pt x="110891" y="142875"/>
                        <a:pt x="142875" y="110891"/>
                        <a:pt x="142875" y="71438"/>
                      </a:cubicBezTo>
                      <a:cubicBezTo>
                        <a:pt x="142875" y="31984"/>
                        <a:pt x="110891" y="0"/>
                        <a:pt x="71438" y="0"/>
                      </a:cubicBezTo>
                      <a:cubicBezTo>
                        <a:pt x="31984" y="0"/>
                        <a:pt x="0" y="31984"/>
                        <a:pt x="0" y="71438"/>
                      </a:cubicBez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5824538" y="1776412"/>
                  <a:ext cx="19050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190500">
                      <a:moveTo>
                        <a:pt x="190500" y="190500"/>
                      </a:moveTo>
                      <a:lnTo>
                        <a:pt x="190500" y="119062"/>
                      </a:lnTo>
                      <a:cubicBezTo>
                        <a:pt x="190500" y="92760"/>
                        <a:pt x="169178" y="71438"/>
                        <a:pt x="142875" y="71438"/>
                      </a:cubicBezTo>
                      <a:lnTo>
                        <a:pt x="0" y="71438"/>
                      </a:lnTo>
                      <a:lnTo>
                        <a:pt x="71438" y="142875"/>
                      </a:lnTo>
                      <a:moveTo>
                        <a:pt x="71438" y="0"/>
                      </a:moveTo>
                      <a:lnTo>
                        <a:pt x="0" y="71438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5586412" y="2014538"/>
                  <a:ext cx="19050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190500">
                      <a:moveTo>
                        <a:pt x="0" y="0"/>
                      </a:moveTo>
                      <a:lnTo>
                        <a:pt x="0" y="71438"/>
                      </a:lnTo>
                      <a:cubicBezTo>
                        <a:pt x="0" y="97740"/>
                        <a:pt x="21322" y="119062"/>
                        <a:pt x="47625" y="119062"/>
                      </a:cubicBezTo>
                      <a:lnTo>
                        <a:pt x="190500" y="119062"/>
                      </a:lnTo>
                      <a:lnTo>
                        <a:pt x="119062" y="47625"/>
                      </a:lnTo>
                      <a:moveTo>
                        <a:pt x="119062" y="190500"/>
                      </a:moveTo>
                      <a:lnTo>
                        <a:pt x="190500" y="119062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5872162" y="2062162"/>
                  <a:ext cx="14287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42875">
                      <a:moveTo>
                        <a:pt x="0" y="71438"/>
                      </a:moveTo>
                      <a:cubicBezTo>
                        <a:pt x="0" y="110891"/>
                        <a:pt x="31984" y="142875"/>
                        <a:pt x="71438" y="142875"/>
                      </a:cubicBezTo>
                      <a:cubicBezTo>
                        <a:pt x="110891" y="142875"/>
                        <a:pt x="142875" y="110891"/>
                        <a:pt x="142875" y="71438"/>
                      </a:cubicBezTo>
                      <a:cubicBezTo>
                        <a:pt x="142875" y="31984"/>
                        <a:pt x="110891" y="0"/>
                        <a:pt x="71438" y="0"/>
                      </a:cubicBezTo>
                      <a:cubicBezTo>
                        <a:pt x="31984" y="0"/>
                        <a:pt x="0" y="31984"/>
                        <a:pt x="0" y="71438"/>
                      </a:cubicBez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</p:grpSp>
          <p:sp>
            <p:nvSpPr>
              <p:cNvPr id="26" name="TextBox 26"/>
              <p:cNvSpPr txBox="1"/>
              <p:nvPr/>
            </p:nvSpPr>
            <p:spPr>
              <a:xfrm>
                <a:off x="5122330" y="2379345"/>
                <a:ext cx="1356791" cy="34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Position</a:t>
                </a:r>
                <a:endParaRPr lang="en-US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5428107" y="2787015"/>
                <a:ext cx="745236" cy="2589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在哪里</a:t>
                </a:r>
                <a:endPara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7067550" y="1476375"/>
              <a:ext cx="2076450" cy="1866900"/>
              <a:chOff x="7067550" y="1476375"/>
              <a:chExt cx="2076450" cy="186690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7067550" y="1476375"/>
                <a:ext cx="2076450" cy="1866900"/>
              </a:xfrm>
              <a:prstGeom prst="roundRect">
                <a:avLst>
                  <a:gd name="adj" fmla="val 12245"/>
                </a:avLst>
              </a:prstGeom>
              <a:solidFill>
                <a:srgbClr val="E8F5F0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696200" y="1685925"/>
                <a:ext cx="8763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876300" h="419100">
                    <a:moveTo>
                      <a:pt x="0" y="419100"/>
                    </a:moveTo>
                    <a:cubicBezTo>
                      <a:pt x="76200" y="57150"/>
                      <a:pt x="723900" y="0"/>
                      <a:pt x="876300" y="400050"/>
                    </a:cubicBezTo>
                  </a:path>
                </a:pathLst>
              </a:custGeom>
              <a:noFill/>
              <a:ln w="76200" cap="rnd">
                <a:solidFill>
                  <a:schemeClr val="accent3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362950" y="1905000"/>
                <a:ext cx="228600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57175">
                    <a:moveTo>
                      <a:pt x="85725" y="0"/>
                    </a:moveTo>
                    <a:lnTo>
                      <a:pt x="228600" y="200025"/>
                    </a:lnTo>
                    <a:lnTo>
                      <a:pt x="0" y="257175"/>
                    </a:lnTo>
                  </a:path>
                </a:pathLst>
              </a:custGeom>
              <a:noFill/>
              <a:ln w="76200">
                <a:solidFill>
                  <a:schemeClr val="accent3"/>
                </a:solidFill>
                <a:round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384674" y="2379345"/>
                <a:ext cx="1442201" cy="34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Rotation</a:t>
                </a:r>
                <a:endParaRPr lang="en-US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611999" y="2787015"/>
                <a:ext cx="987552" cy="2589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朝向哪里</a:t>
                </a:r>
                <a:endPara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9372600" y="1476375"/>
              <a:ext cx="2076450" cy="1866900"/>
              <a:chOff x="9372600" y="1476375"/>
              <a:chExt cx="2076450" cy="1866900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9372600" y="1476375"/>
                <a:ext cx="2076450" cy="1866900"/>
              </a:xfrm>
              <a:prstGeom prst="roundRect">
                <a:avLst>
                  <a:gd name="adj" fmla="val 12245"/>
                </a:avLst>
              </a:prstGeom>
              <a:solidFill>
                <a:srgbClr val="FFF0D1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36" name="Rectangle 36"/>
              <p:cNvSpPr/>
              <p:nvPr/>
            </p:nvSpPr>
            <p:spPr>
              <a:xfrm>
                <a:off x="10067925" y="1762125"/>
                <a:ext cx="685800" cy="552450"/>
              </a:xfrm>
              <a:prstGeom prst="roundRect">
                <a:avLst>
                  <a:gd name="adj" fmla="val 13793"/>
                </a:avLst>
              </a:prstGeom>
              <a:noFill/>
              <a:ln w="66675">
                <a:solidFill>
                  <a:schemeClr val="accent2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9858375" y="1562100"/>
                <a:ext cx="110490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1104900" h="952500">
                    <a:moveTo>
                      <a:pt x="104775" y="847725"/>
                    </a:moveTo>
                    <a:lnTo>
                      <a:pt x="0" y="952500"/>
                    </a:lnTo>
                    <a:moveTo>
                      <a:pt x="1000125" y="847725"/>
                    </a:moveTo>
                    <a:lnTo>
                      <a:pt x="1104900" y="952500"/>
                    </a:lnTo>
                    <a:moveTo>
                      <a:pt x="104775" y="104775"/>
                    </a:moveTo>
                    <a:lnTo>
                      <a:pt x="0" y="0"/>
                    </a:lnTo>
                    <a:moveTo>
                      <a:pt x="1000125" y="104775"/>
                    </a:moveTo>
                    <a:lnTo>
                      <a:pt x="1104900" y="0"/>
                    </a:lnTo>
                  </a:path>
                </a:pathLst>
              </a:custGeom>
              <a:solidFill>
                <a:srgbClr val="000000"/>
              </a:solidFill>
              <a:ln w="66675" cap="rnd">
                <a:solidFill>
                  <a:schemeClr val="accent2"/>
                </a:solidFill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9969779" y="2379345"/>
                <a:ext cx="882091" cy="34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Scale</a:t>
                </a:r>
                <a:endParaRPr lang="en-US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10038207" y="2787015"/>
                <a:ext cx="745236" cy="2589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有多大</a:t>
                </a:r>
                <a:endPara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41" name="Rectangle 41"/>
            <p:cNvSpPr/>
            <p:nvPr/>
          </p:nvSpPr>
          <p:spPr>
            <a:xfrm>
              <a:off x="4762500" y="3609975"/>
              <a:ext cx="6686550" cy="2169160"/>
            </a:xfrm>
            <a:prstGeom prst="roundRect">
              <a:avLst>
                <a:gd name="adj" fmla="val 13462"/>
              </a:avLst>
            </a:prstGeom>
            <a:solidFill>
              <a:srgbClr val="FFFFFF"/>
            </a:solidFill>
            <a:ln w="28575">
              <a:solidFill>
                <a:schemeClr val="accent4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015484" y="3756660"/>
              <a:ext cx="5370500" cy="3884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父子层级：一起移动，分别控制</a:t>
              </a:r>
              <a:endPara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47" name="Group 47"/>
            <p:cNvGrpSpPr/>
            <p:nvPr/>
          </p:nvGrpSpPr>
          <p:grpSpPr>
            <a:xfrm>
              <a:off x="6343650" y="4467225"/>
              <a:ext cx="3514725" cy="647700"/>
              <a:chOff x="6343650" y="4467225"/>
              <a:chExt cx="3514725" cy="647700"/>
            </a:xfrm>
          </p:grpSpPr>
          <p:sp>
            <p:nvSpPr>
              <p:cNvPr id="43" name="Line 43"/>
              <p:cNvSpPr/>
              <p:nvPr/>
            </p:nvSpPr>
            <p:spPr>
              <a:xfrm>
                <a:off x="8096250" y="4467225"/>
                <a:ext cx="9525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0">
                    <a:moveTo>
                      <a:pt x="0" y="0"/>
                    </a:moveTo>
                    <a:lnTo>
                      <a:pt x="0" y="381000"/>
                    </a:lnTo>
                  </a:path>
                </a:pathLst>
              </a:custGeom>
              <a:noFill/>
              <a:ln w="38100" cap="rnd">
                <a:solidFill>
                  <a:schemeClr val="dk2"/>
                </a:solidFill>
              </a:ln>
            </p:spPr>
          </p:sp>
          <p:sp>
            <p:nvSpPr>
              <p:cNvPr id="44" name="Line 44"/>
              <p:cNvSpPr/>
              <p:nvPr/>
            </p:nvSpPr>
            <p:spPr>
              <a:xfrm>
                <a:off x="6343650" y="4848225"/>
                <a:ext cx="3505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505200" h="9525">
                    <a:moveTo>
                      <a:pt x="0" y="0"/>
                    </a:moveTo>
                    <a:lnTo>
                      <a:pt x="3505200" y="0"/>
                    </a:lnTo>
                  </a:path>
                </a:pathLst>
              </a:custGeom>
              <a:noFill/>
              <a:ln w="38100" cap="rnd">
                <a:solidFill>
                  <a:schemeClr val="dk2"/>
                </a:solidFill>
              </a:ln>
            </p:spPr>
          </p:sp>
          <p:sp>
            <p:nvSpPr>
              <p:cNvPr id="45" name="Line 45"/>
              <p:cNvSpPr/>
              <p:nvPr/>
            </p:nvSpPr>
            <p:spPr>
              <a:xfrm>
                <a:off x="6343650" y="4848225"/>
                <a:ext cx="9525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6700">
                    <a:moveTo>
                      <a:pt x="0" y="0"/>
                    </a:moveTo>
                    <a:lnTo>
                      <a:pt x="0" y="266700"/>
                    </a:lnTo>
                  </a:path>
                </a:pathLst>
              </a:custGeom>
              <a:noFill/>
              <a:ln w="38100" cap="rnd">
                <a:solidFill>
                  <a:schemeClr val="dk2"/>
                </a:solidFill>
              </a:ln>
            </p:spPr>
          </p:sp>
          <p:sp>
            <p:nvSpPr>
              <p:cNvPr id="46" name="Line 46"/>
              <p:cNvSpPr/>
              <p:nvPr/>
            </p:nvSpPr>
            <p:spPr>
              <a:xfrm>
                <a:off x="9848850" y="4848225"/>
                <a:ext cx="9525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6700">
                    <a:moveTo>
                      <a:pt x="0" y="0"/>
                    </a:moveTo>
                    <a:lnTo>
                      <a:pt x="0" y="266700"/>
                    </a:lnTo>
                  </a:path>
                </a:pathLst>
              </a:custGeom>
              <a:noFill/>
              <a:ln w="38100" cap="rnd">
                <a:solidFill>
                  <a:schemeClr val="dk2"/>
                </a:solidFill>
              </a:ln>
            </p:spPr>
          </p:sp>
        </p:grpSp>
        <p:sp>
          <p:nvSpPr>
            <p:cNvPr id="48" name="Rectangle 48"/>
            <p:cNvSpPr/>
            <p:nvPr/>
          </p:nvSpPr>
          <p:spPr>
            <a:xfrm>
              <a:off x="7219950" y="4219575"/>
              <a:ext cx="1752600" cy="514350"/>
            </a:xfrm>
            <a:prstGeom prst="roundRect">
              <a:avLst>
                <a:gd name="adj" fmla="val 2963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411662" y="4377690"/>
              <a:ext cx="1369177" cy="25897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PlayerRoot</a:t>
              </a:r>
              <a:endParaRPr lang="en-US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429250" y="5114925"/>
              <a:ext cx="1828800" cy="476250"/>
            </a:xfrm>
            <a:prstGeom prst="roundRect">
              <a:avLst>
                <a:gd name="adj" fmla="val 28000"/>
              </a:avLst>
            </a:prstGeom>
            <a:solidFill>
              <a:srgbClr val="E8F5F0"/>
            </a:solidFill>
            <a:ln w="19050">
              <a:solidFill>
                <a:schemeClr val="accent3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992063" y="5244465"/>
              <a:ext cx="703174" cy="25897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2F8F6A"/>
                  </a:solidFill>
                  <a:latin typeface="+mn-lt"/>
                  <a:ea typeface="+mn-ea"/>
                  <a:cs typeface="+mn-cs"/>
                </a:rPr>
                <a:t>Visual</a:t>
              </a:r>
              <a:endParaRPr lang="en-US" sz="1800" dirty="0">
                <a:solidFill>
                  <a:srgbClr val="2F8F6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8934450" y="5114925"/>
              <a:ext cx="1828800" cy="476250"/>
            </a:xfrm>
            <a:prstGeom prst="roundRect">
              <a:avLst>
                <a:gd name="adj" fmla="val 28000"/>
              </a:avLst>
            </a:prstGeom>
            <a:solidFill>
              <a:srgbClr val="FFF0D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105277" y="5244465"/>
              <a:ext cx="1487147" cy="25897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8C5A00"/>
                  </a:solidFill>
                  <a:latin typeface="+mn-lt"/>
                  <a:ea typeface="+mn-ea"/>
                  <a:cs typeface="+mn-cs"/>
                </a:rPr>
                <a:t>CameraPivot</a:t>
              </a:r>
              <a:endParaRPr lang="en-US" sz="1800" dirty="0">
                <a:solidFill>
                  <a:srgbClr val="8C5A00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52450" y="6353175"/>
            <a:ext cx="11055858" cy="432626"/>
            <a:chOff x="552450" y="6353175"/>
            <a:chExt cx="11055858" cy="432626"/>
          </a:xfrm>
        </p:grpSpPr>
        <p:sp>
          <p:nvSpPr>
            <p:cNvPr id="55" name="Line 55"/>
            <p:cNvSpPr/>
            <p:nvPr/>
          </p:nvSpPr>
          <p:spPr>
            <a:xfrm>
              <a:off x="552450" y="635317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1394681" y="652176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</a:t>
              </a:r>
              <a:endParaRPr lang="en-US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56" name="Rectangle 29"/>
          <p:cNvSpPr/>
          <p:nvPr/>
        </p:nvSpPr>
        <p:spPr>
          <a:xfrm>
            <a:off x="593725" y="3756660"/>
            <a:ext cx="3724910" cy="2487930"/>
          </a:xfrm>
          <a:prstGeom prst="roundRect">
            <a:avLst>
              <a:gd name="adj" fmla="val 12245"/>
            </a:avLst>
          </a:prstGeom>
          <a:solidFill>
            <a:srgbClr val="E8F5F0"/>
          </a:solidFill>
          <a:ln w="28575">
            <a:solidFill>
              <a:schemeClr val="accent3"/>
            </a:solidFill>
          </a:ln>
        </p:spPr>
        <p:txBody>
          <a:bodyPr/>
          <a:p>
            <a:r>
              <a:rPr lang="en-US" altLang="zh-CN"/>
              <a:t>rotation * dir / trans.TransDir</a:t>
            </a:r>
            <a:endParaRPr lang="en-US" altLang="zh-CN"/>
          </a:p>
          <a:p>
            <a:r>
              <a:rPr lang="zh-CN" altLang="en-US"/>
              <a:t>局部</a:t>
            </a:r>
            <a:r>
              <a:rPr lang="en-US" altLang="zh-CN"/>
              <a:t> -</a:t>
            </a:r>
            <a:r>
              <a:rPr lang="zh-CN" altLang="en-US"/>
              <a:t>》世界（</a:t>
            </a:r>
            <a:r>
              <a:rPr lang="en-US" altLang="zh-CN"/>
              <a:t>0</a:t>
            </a:r>
            <a:r>
              <a:rPr lang="zh-CN" altLang="en-US"/>
              <a:t>，</a:t>
            </a:r>
            <a:r>
              <a:rPr lang="en-US" altLang="zh-CN"/>
              <a:t>1</a:t>
            </a:r>
            <a:r>
              <a:rPr lang="zh-CN" altLang="en-US"/>
              <a:t>）</a:t>
            </a:r>
            <a:r>
              <a:rPr lang="en-US" altLang="zh-CN"/>
              <a:t>-&gt;(1,0)</a:t>
            </a:r>
            <a:endParaRPr lang="en-US" altLang="zh-CN"/>
          </a:p>
          <a:p>
            <a:r>
              <a:rPr lang="zh-CN" altLang="en-US"/>
              <a:t>我视角的方向在世界的</a:t>
            </a:r>
            <a:r>
              <a:rPr lang="zh-CN" altLang="en-US"/>
              <a:t>情况</a:t>
            </a:r>
            <a:endParaRPr lang="zh-CN" altLang="en-US"/>
          </a:p>
          <a:p>
            <a:r>
              <a:rPr lang="zh-CN" altLang="en-US"/>
              <a:t>（</a:t>
            </a:r>
            <a:r>
              <a:rPr lang="en-US" altLang="zh-CN"/>
              <a:t>W</a:t>
            </a:r>
            <a:r>
              <a:rPr lang="zh-CN" altLang="en-US"/>
              <a:t>）</a:t>
            </a:r>
            <a:r>
              <a:rPr lang="en-US" altLang="zh-CN"/>
              <a:t>-&gt;(</a:t>
            </a:r>
            <a:r>
              <a:rPr lang="zh-CN" altLang="en-US"/>
              <a:t>相机：右</a:t>
            </a:r>
            <a:r>
              <a:rPr lang="en-US" altLang="zh-CN"/>
              <a:t>) -&gt;(</a:t>
            </a:r>
            <a:r>
              <a:rPr lang="zh-CN" altLang="en-US"/>
              <a:t>朝向：右</a:t>
            </a:r>
            <a:r>
              <a:rPr lang="en-US" altLang="zh-CN"/>
              <a:t>)</a:t>
            </a:r>
            <a:endParaRPr lang="zh-CN" altLang="en-US"/>
          </a:p>
          <a:p>
            <a:r>
              <a:rPr lang="en-US" altLang="zh-CN"/>
              <a:t>inverse(rot)*d / trans.invertransd</a:t>
            </a:r>
            <a:endParaRPr lang="en-US" altLang="zh-CN"/>
          </a:p>
          <a:p>
            <a:r>
              <a:rPr lang="zh-CN" altLang="en-US"/>
              <a:t>世界</a:t>
            </a:r>
            <a:r>
              <a:rPr lang="en-US" altLang="zh-CN"/>
              <a:t> -</a:t>
            </a:r>
            <a:r>
              <a:rPr lang="zh-CN" altLang="en-US"/>
              <a:t>》局部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0</a:t>
            </a:r>
            <a:r>
              <a:rPr lang="zh-CN" altLang="en-US">
                <a:sym typeface="+mn-ea"/>
              </a:rPr>
              <a:t>，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</a:t>
            </a:r>
            <a:r>
              <a:rPr lang="en-US" altLang="zh-CN">
                <a:sym typeface="+mn-ea"/>
              </a:rPr>
              <a:t>-&gt;(-1,0)</a:t>
            </a:r>
            <a:endParaRPr lang="en-US" altLang="zh-CN">
              <a:sym typeface="+mn-ea"/>
            </a:endParaRPr>
          </a:p>
          <a:p>
            <a:r>
              <a:rPr lang="zh-CN" altLang="en-US">
                <a:sym typeface="+mn-ea"/>
              </a:rPr>
              <a:t>世界视角的方向在我视角的情况</a:t>
            </a:r>
            <a:endParaRPr lang="zh-CN" altLang="en-US"/>
          </a:p>
          <a:p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W</a:t>
            </a:r>
            <a:r>
              <a:rPr lang="zh-CN" altLang="en-US">
                <a:sym typeface="+mn-ea"/>
              </a:rPr>
              <a:t>）</a:t>
            </a:r>
            <a:r>
              <a:rPr lang="en-US" altLang="zh-CN">
                <a:sym typeface="+mn-ea"/>
              </a:rPr>
              <a:t>-&gt;(</a:t>
            </a:r>
            <a:r>
              <a:rPr lang="zh-CN" altLang="en-US">
                <a:sym typeface="+mn-ea"/>
              </a:rPr>
              <a:t>相机：右</a:t>
            </a:r>
            <a:r>
              <a:rPr lang="en-US" altLang="zh-CN">
                <a:sym typeface="+mn-ea"/>
              </a:rPr>
              <a:t>) -&gt;(</a:t>
            </a:r>
            <a:r>
              <a:rPr lang="zh-CN" altLang="en-US">
                <a:sym typeface="+mn-ea"/>
              </a:rPr>
              <a:t>朝向：左</a:t>
            </a:r>
            <a:r>
              <a:rPr lang="en-US" altLang="zh-CN">
                <a:sym typeface="+mn-ea"/>
              </a:rPr>
              <a:t>)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50" y="270510"/>
            <a:ext cx="13531586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Collider 选型：先选简单形状，再考虑精确贴合</a:t>
            </a:r>
            <a:endParaRPr lang="zh-CN" sz="4200" b="1" dirty="0">
              <a:solidFill>
                <a:schemeClr val="dk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81406" y="986790"/>
            <a:ext cx="534924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碰撞体定义物理边界；它可以和可见模型完全不同</a:t>
            </a:r>
            <a:endParaRPr lang="zh-CN" sz="1800" dirty="0">
              <a:solidFill>
                <a:schemeClr val="dk2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46" name="Group 46"/>
          <p:cNvGrpSpPr/>
          <p:nvPr/>
        </p:nvGrpSpPr>
        <p:grpSpPr>
          <a:xfrm>
            <a:off x="571500" y="1524000"/>
            <a:ext cx="11298653" cy="4076700"/>
            <a:chOff x="571500" y="1524000"/>
            <a:chExt cx="11298653" cy="4076700"/>
          </a:xfrm>
        </p:grpSpPr>
        <p:grpSp>
          <p:nvGrpSpPr>
            <p:cNvPr id="13" name="Group 13"/>
            <p:cNvGrpSpPr/>
            <p:nvPr/>
          </p:nvGrpSpPr>
          <p:grpSpPr>
            <a:xfrm>
              <a:off x="571500" y="1524000"/>
              <a:ext cx="3390900" cy="1847850"/>
              <a:chOff x="571500" y="1524000"/>
              <a:chExt cx="3390900" cy="1847850"/>
            </a:xfrm>
          </p:grpSpPr>
          <p:sp>
            <p:nvSpPr>
              <p:cNvPr id="4" name="Rectangle 4"/>
              <p:cNvSpPr/>
              <p:nvPr/>
            </p:nvSpPr>
            <p:spPr>
              <a:xfrm>
                <a:off x="571500" y="1524000"/>
                <a:ext cx="3390900" cy="1847850"/>
              </a:xfrm>
              <a:prstGeom prst="roundRect">
                <a:avLst>
                  <a:gd name="adj" fmla="val 12371"/>
                </a:avLst>
              </a:prstGeom>
              <a:solidFill>
                <a:srgbClr val="FFFFFF"/>
              </a:solidFill>
              <a:ln w="28575">
                <a:solidFill>
                  <a:schemeClr val="accent1"/>
                </a:solidFill>
              </a:ln>
            </p:spPr>
          </p:sp>
          <p:grpSp>
            <p:nvGrpSpPr>
              <p:cNvPr id="9" name="Group 9"/>
              <p:cNvGrpSpPr/>
              <p:nvPr/>
            </p:nvGrpSpPr>
            <p:grpSpPr>
              <a:xfrm>
                <a:off x="898525" y="1826419"/>
                <a:ext cx="393700" cy="442912"/>
                <a:chOff x="898525" y="1826419"/>
                <a:chExt cx="393700" cy="442912"/>
              </a:xfrm>
            </p:grpSpPr>
            <p:sp>
              <p:nvSpPr>
                <p:cNvPr id="5" name="Freeform 5"/>
                <p:cNvSpPr/>
                <p:nvPr/>
              </p:nvSpPr>
              <p:spPr>
                <a:xfrm>
                  <a:off x="898525" y="1826419"/>
                  <a:ext cx="393699" cy="4429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699" h="442912">
                      <a:moveTo>
                        <a:pt x="196850" y="0"/>
                      </a:moveTo>
                      <a:lnTo>
                        <a:pt x="393699" y="110728"/>
                      </a:lnTo>
                      <a:lnTo>
                        <a:pt x="393699" y="332184"/>
                      </a:lnTo>
                      <a:lnTo>
                        <a:pt x="196850" y="442912"/>
                      </a:lnTo>
                      <a:lnTo>
                        <a:pt x="0" y="332184"/>
                      </a:lnTo>
                      <a:lnTo>
                        <a:pt x="0" y="110728"/>
                      </a:lnTo>
                      <a:lnTo>
                        <a:pt x="196850" y="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6" name="Freeform 6"/>
                <p:cNvSpPr/>
                <p:nvPr/>
              </p:nvSpPr>
              <p:spPr>
                <a:xfrm>
                  <a:off x="1095375" y="1937147"/>
                  <a:ext cx="196850" cy="110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850" h="110728">
                      <a:moveTo>
                        <a:pt x="0" y="110728"/>
                      </a:moveTo>
                      <a:lnTo>
                        <a:pt x="196850" y="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7" name="Freeform 7"/>
                <p:cNvSpPr/>
                <p:nvPr/>
              </p:nvSpPr>
              <p:spPr>
                <a:xfrm>
                  <a:off x="1095375" y="2047875"/>
                  <a:ext cx="9525" cy="2214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21456">
                      <a:moveTo>
                        <a:pt x="0" y="0"/>
                      </a:moveTo>
                      <a:lnTo>
                        <a:pt x="0" y="221456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8" name="Freeform 8"/>
                <p:cNvSpPr/>
                <p:nvPr/>
              </p:nvSpPr>
              <p:spPr>
                <a:xfrm>
                  <a:off x="898525" y="1937147"/>
                  <a:ext cx="196850" cy="110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850" h="110728">
                      <a:moveTo>
                        <a:pt x="196850" y="110728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</p:grpSp>
          <p:sp>
            <p:nvSpPr>
              <p:cNvPr id="10" name="TextBox 10"/>
              <p:cNvSpPr txBox="1"/>
              <p:nvPr/>
            </p:nvSpPr>
            <p:spPr>
              <a:xfrm>
                <a:off x="1607058" y="1779270"/>
                <a:ext cx="1943693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Box Collider</a:t>
                </a:r>
                <a:endParaRPr lang="en-US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90956" y="2377440"/>
                <a:ext cx="202951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墙体 · 地面 · 箱子</a:t>
                </a:r>
                <a:endPara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790956" y="2758440"/>
                <a:ext cx="171450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2F8F6A"/>
                    </a:solidFill>
                    <a:latin typeface="+mn-lt"/>
                    <a:ea typeface="+mn-ea"/>
                    <a:cs typeface="+mn-cs"/>
                  </a:rPr>
                  <a:t>性能优先，首选</a:t>
                </a:r>
                <a:endParaRPr lang="zh-CN" sz="1800" dirty="0">
                  <a:solidFill>
                    <a:srgbClr val="2F8F6A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4400550" y="1524000"/>
              <a:ext cx="3539338" cy="1847850"/>
              <a:chOff x="4400550" y="1524000"/>
              <a:chExt cx="3539338" cy="184785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4400550" y="1524000"/>
                <a:ext cx="3390900" cy="1847850"/>
              </a:xfrm>
              <a:prstGeom prst="roundRect">
                <a:avLst>
                  <a:gd name="adj" fmla="val 12371"/>
                </a:avLst>
              </a:prstGeom>
              <a:solidFill>
                <a:srgbClr val="FFFFFF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4702969" y="1826419"/>
                <a:ext cx="442912" cy="442912"/>
              </a:xfrm>
              <a:custGeom>
                <a:avLst/>
                <a:gdLst/>
                <a:ahLst/>
                <a:cxnLst/>
                <a:rect l="l" t="t" r="r" b="b"/>
                <a:pathLst>
                  <a:path w="442912" h="442912">
                    <a:moveTo>
                      <a:pt x="0" y="221456"/>
                    </a:moveTo>
                    <a:cubicBezTo>
                      <a:pt x="0" y="343763"/>
                      <a:pt x="99149" y="442912"/>
                      <a:pt x="221456" y="442912"/>
                    </a:cubicBezTo>
                    <a:cubicBezTo>
                      <a:pt x="343763" y="442912"/>
                      <a:pt x="442912" y="343763"/>
                      <a:pt x="442912" y="221456"/>
                    </a:cubicBezTo>
                    <a:cubicBezTo>
                      <a:pt x="442912" y="99149"/>
                      <a:pt x="343763" y="0"/>
                      <a:pt x="221456" y="0"/>
                    </a:cubicBezTo>
                    <a:cubicBezTo>
                      <a:pt x="99149" y="0"/>
                      <a:pt x="0" y="99149"/>
                      <a:pt x="0" y="221456"/>
                    </a:cubicBez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5436108" y="1779270"/>
                <a:ext cx="2503780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Sphere Collider</a:t>
                </a:r>
                <a:endParaRPr lang="en-US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620006" y="2377440"/>
                <a:ext cx="175084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球体 · 范围检测</a:t>
                </a:r>
                <a:endPara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620006" y="2758440"/>
                <a:ext cx="19568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2F8F6A"/>
                    </a:solidFill>
                    <a:latin typeface="+mn-lt"/>
                    <a:ea typeface="+mn-ea"/>
                    <a:cs typeface="+mn-cs"/>
                  </a:rPr>
                  <a:t>旋转稳定，计算轻</a:t>
                </a:r>
                <a:endParaRPr lang="zh-CN" sz="1800" dirty="0">
                  <a:solidFill>
                    <a:srgbClr val="2F8F6A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8229600" y="1524000"/>
              <a:ext cx="3640553" cy="1847850"/>
              <a:chOff x="8229600" y="1524000"/>
              <a:chExt cx="3640553" cy="184785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8229600" y="1524000"/>
                <a:ext cx="3390900" cy="1847850"/>
              </a:xfrm>
              <a:prstGeom prst="roundRect">
                <a:avLst>
                  <a:gd name="adj" fmla="val 12371"/>
                </a:avLst>
              </a:prstGeom>
              <a:solidFill>
                <a:srgbClr val="FFFFFF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605837" y="1826419"/>
                <a:ext cx="295275" cy="442912"/>
              </a:xfrm>
              <a:custGeom>
                <a:avLst/>
                <a:gdLst/>
                <a:ahLst/>
                <a:cxnLst/>
                <a:rect l="l" t="t" r="r" b="b"/>
                <a:pathLst>
                  <a:path w="295275" h="442912">
                    <a:moveTo>
                      <a:pt x="0" y="147637"/>
                    </a:moveTo>
                    <a:cubicBezTo>
                      <a:pt x="0" y="66099"/>
                      <a:pt x="66099" y="0"/>
                      <a:pt x="147637" y="0"/>
                    </a:cubicBezTo>
                    <a:cubicBezTo>
                      <a:pt x="229175" y="0"/>
                      <a:pt x="295275" y="66099"/>
                      <a:pt x="295275" y="147637"/>
                    </a:cubicBezTo>
                    <a:lnTo>
                      <a:pt x="295275" y="295275"/>
                    </a:lnTo>
                    <a:cubicBezTo>
                      <a:pt x="295275" y="376812"/>
                      <a:pt x="229175" y="442912"/>
                      <a:pt x="147637" y="442912"/>
                    </a:cubicBezTo>
                    <a:cubicBezTo>
                      <a:pt x="66099" y="442912"/>
                      <a:pt x="0" y="376812"/>
                      <a:pt x="0" y="295275"/>
                    </a:cubicBezTo>
                    <a:lnTo>
                      <a:pt x="0" y="147637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9265158" y="1779270"/>
                <a:ext cx="2604995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Capsule Collider</a:t>
                </a:r>
                <a:endParaRPr lang="en-US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449056" y="2377440"/>
                <a:ext cx="175084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角色 · 柱状物体</a:t>
                </a:r>
                <a:endPara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449056" y="2758440"/>
                <a:ext cx="147218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8C5A00"/>
                    </a:solidFill>
                    <a:latin typeface="+mn-lt"/>
                    <a:ea typeface="+mn-ea"/>
                    <a:cs typeface="+mn-cs"/>
                  </a:rPr>
                  <a:t>转角不易卡住</a:t>
                </a:r>
                <a:endParaRPr lang="zh-CN" sz="1800" dirty="0">
                  <a:solidFill>
                    <a:srgbClr val="8C5A00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1524000" y="3714750"/>
              <a:ext cx="4171950" cy="1885950"/>
              <a:chOff x="1524000" y="3714750"/>
              <a:chExt cx="4171950" cy="188595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1524000" y="3714750"/>
                <a:ext cx="4171950" cy="1885950"/>
              </a:xfrm>
              <a:prstGeom prst="roundRect">
                <a:avLst>
                  <a:gd name="adj" fmla="val 12121"/>
                </a:avLst>
              </a:prstGeom>
              <a:solidFill>
                <a:srgbClr val="FFFFFF"/>
              </a:solidFill>
              <a:ln w="28575">
                <a:solidFill>
                  <a:schemeClr val="accent4"/>
                </a:solidFill>
              </a:ln>
            </p:spPr>
          </p:sp>
          <p:grpSp>
            <p:nvGrpSpPr>
              <p:cNvPr id="31" name="Group 31"/>
              <p:cNvGrpSpPr/>
              <p:nvPr/>
            </p:nvGrpSpPr>
            <p:grpSpPr>
              <a:xfrm>
                <a:off x="1826419" y="3990373"/>
                <a:ext cx="442912" cy="496480"/>
                <a:chOff x="1826419" y="3990373"/>
                <a:chExt cx="442912" cy="496480"/>
              </a:xfrm>
            </p:grpSpPr>
            <p:sp>
              <p:nvSpPr>
                <p:cNvPr id="27" name="Freeform 27"/>
                <p:cNvSpPr/>
                <p:nvPr/>
              </p:nvSpPr>
              <p:spPr>
                <a:xfrm>
                  <a:off x="1826419" y="3990373"/>
                  <a:ext cx="442912" cy="4964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2912" h="496480">
                      <a:moveTo>
                        <a:pt x="442912" y="346874"/>
                      </a:moveTo>
                      <a:lnTo>
                        <a:pt x="442912" y="149581"/>
                      </a:lnTo>
                      <a:cubicBezTo>
                        <a:pt x="442881" y="132104"/>
                        <a:pt x="433492" y="115982"/>
                        <a:pt x="418306" y="107332"/>
                      </a:cubicBezTo>
                      <a:lnTo>
                        <a:pt x="246062" y="8711"/>
                      </a:lnTo>
                      <a:cubicBezTo>
                        <a:pt x="230814" y="0"/>
                        <a:pt x="212098" y="0"/>
                        <a:pt x="196850" y="8711"/>
                      </a:cubicBezTo>
                      <a:lnTo>
                        <a:pt x="24606" y="107332"/>
                      </a:lnTo>
                      <a:cubicBezTo>
                        <a:pt x="9375" y="116067"/>
                        <a:pt x="0" y="132185"/>
                        <a:pt x="0" y="149606"/>
                      </a:cubicBezTo>
                      <a:lnTo>
                        <a:pt x="0" y="346898"/>
                      </a:lnTo>
                      <a:cubicBezTo>
                        <a:pt x="0" y="364344"/>
                        <a:pt x="9375" y="380437"/>
                        <a:pt x="24606" y="389147"/>
                      </a:cubicBezTo>
                      <a:lnTo>
                        <a:pt x="196850" y="487769"/>
                      </a:lnTo>
                      <a:cubicBezTo>
                        <a:pt x="212098" y="496480"/>
                        <a:pt x="230814" y="496480"/>
                        <a:pt x="246062" y="487769"/>
                      </a:cubicBezTo>
                      <a:lnTo>
                        <a:pt x="418306" y="389147"/>
                      </a:lnTo>
                      <a:cubicBezTo>
                        <a:pt x="433537" y="380412"/>
                        <a:pt x="442912" y="364295"/>
                        <a:pt x="442912" y="346874"/>
                      </a:cubicBezTo>
                    </a:path>
                  </a:pathLst>
                </a:custGeom>
                <a:noFill/>
                <a:ln w="19050">
                  <a:solidFill>
                    <a:schemeClr val="dk2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2047875" y="4238625"/>
                  <a:ext cx="9525" cy="246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46062">
                      <a:moveTo>
                        <a:pt x="0" y="246062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chemeClr val="dk2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2047875" y="4114609"/>
                  <a:ext cx="214812" cy="1240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812" h="124015">
                      <a:moveTo>
                        <a:pt x="0" y="124015"/>
                      </a:moveTo>
                      <a:lnTo>
                        <a:pt x="214812" y="0"/>
                      </a:lnTo>
                    </a:path>
                  </a:pathLst>
                </a:custGeom>
                <a:noFill/>
                <a:ln w="19050">
                  <a:solidFill>
                    <a:schemeClr val="dk2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1833062" y="4114609"/>
                  <a:ext cx="214812" cy="1240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812" h="124015">
                      <a:moveTo>
                        <a:pt x="0" y="0"/>
                      </a:moveTo>
                      <a:lnTo>
                        <a:pt x="214812" y="124015"/>
                      </a:lnTo>
                    </a:path>
                  </a:pathLst>
                </a:custGeom>
                <a:noFill/>
                <a:ln w="19050">
                  <a:solidFill>
                    <a:schemeClr val="dk2"/>
                  </a:solidFill>
                </a:ln>
              </p:spPr>
            </p:sp>
          </p:grpSp>
          <p:sp>
            <p:nvSpPr>
              <p:cNvPr id="32" name="TextBox 32"/>
              <p:cNvSpPr txBox="1"/>
              <p:nvPr/>
            </p:nvSpPr>
            <p:spPr>
              <a:xfrm>
                <a:off x="2559558" y="3970020"/>
                <a:ext cx="219889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Mesh Collider</a:t>
                </a:r>
                <a:endParaRPr lang="en-US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1743456" y="4568190"/>
                <a:ext cx="296242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复杂静态模型 · 不规则地形</a:t>
                </a:r>
                <a:endPara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743456" y="4949190"/>
                <a:ext cx="316839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D85C45"/>
                    </a:solidFill>
                    <a:latin typeface="+mn-lt"/>
                    <a:ea typeface="+mn-ea"/>
                    <a:cs typeface="+mn-cs"/>
                  </a:rPr>
                  <a:t>开销较大，谨慎用于动态物体</a:t>
                </a:r>
                <a:endParaRPr lang="zh-CN" sz="1800" dirty="0">
                  <a:solidFill>
                    <a:srgbClr val="D85C45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6496050" y="3714750"/>
              <a:ext cx="4171950" cy="1885950"/>
              <a:chOff x="6496050" y="3714750"/>
              <a:chExt cx="4171950" cy="188595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6496050" y="3714750"/>
                <a:ext cx="4171950" cy="1885950"/>
              </a:xfrm>
              <a:prstGeom prst="roundRect">
                <a:avLst>
                  <a:gd name="adj" fmla="val 12121"/>
                </a:avLst>
              </a:prstGeom>
              <a:solidFill>
                <a:srgbClr val="FFF0D1"/>
              </a:solidFill>
              <a:ln w="28575">
                <a:solidFill>
                  <a:schemeClr val="accent2"/>
                </a:solidFill>
              </a:ln>
            </p:spPr>
          </p:sp>
          <p:grpSp>
            <p:nvGrpSpPr>
              <p:cNvPr id="41" name="Group 41"/>
              <p:cNvGrpSpPr/>
              <p:nvPr/>
            </p:nvGrpSpPr>
            <p:grpSpPr>
              <a:xfrm>
                <a:off x="6847681" y="4041775"/>
                <a:ext cx="369093" cy="418306"/>
                <a:chOff x="6847681" y="4041775"/>
                <a:chExt cx="369093" cy="418306"/>
              </a:xfrm>
            </p:grpSpPr>
            <p:sp>
              <p:nvSpPr>
                <p:cNvPr id="37" name="Freeform 37"/>
                <p:cNvSpPr/>
                <p:nvPr/>
              </p:nvSpPr>
              <p:spPr>
                <a:xfrm>
                  <a:off x="6847681" y="4041775"/>
                  <a:ext cx="295275" cy="3936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5275" h="393699">
                      <a:moveTo>
                        <a:pt x="113558" y="393699"/>
                      </a:moveTo>
                      <a:lnTo>
                        <a:pt x="49212" y="393699"/>
                      </a:lnTo>
                      <a:cubicBezTo>
                        <a:pt x="22033" y="393699"/>
                        <a:pt x="0" y="371666"/>
                        <a:pt x="0" y="344487"/>
                      </a:cubicBezTo>
                      <a:lnTo>
                        <a:pt x="0" y="49212"/>
                      </a:lnTo>
                      <a:cubicBezTo>
                        <a:pt x="0" y="22033"/>
                        <a:pt x="22033" y="0"/>
                        <a:pt x="49212" y="0"/>
                      </a:cubicBezTo>
                      <a:lnTo>
                        <a:pt x="246062" y="0"/>
                      </a:lnTo>
                      <a:cubicBezTo>
                        <a:pt x="273241" y="0"/>
                        <a:pt x="295275" y="22033"/>
                        <a:pt x="295275" y="49212"/>
                      </a:cubicBezTo>
                      <a:lnTo>
                        <a:pt x="295275" y="246062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7069137" y="4361656"/>
                  <a:ext cx="147637" cy="98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637" h="98425">
                      <a:moveTo>
                        <a:pt x="0" y="49212"/>
                      </a:moveTo>
                      <a:lnTo>
                        <a:pt x="49212" y="98425"/>
                      </a:lnTo>
                      <a:lnTo>
                        <a:pt x="147637" y="0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6946106" y="4140200"/>
                  <a:ext cx="984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425" h="9525">
                      <a:moveTo>
                        <a:pt x="0" y="0"/>
                      </a:moveTo>
                      <a:lnTo>
                        <a:pt x="98425" y="0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6946106" y="4238625"/>
                  <a:ext cx="49212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212" h="9525">
                      <a:moveTo>
                        <a:pt x="0" y="0"/>
                      </a:moveTo>
                      <a:lnTo>
                        <a:pt x="49212" y="0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</p:grpSp>
          <p:sp>
            <p:nvSpPr>
              <p:cNvPr id="42" name="TextBox 42"/>
              <p:cNvSpPr txBox="1"/>
              <p:nvPr/>
            </p:nvSpPr>
            <p:spPr>
              <a:xfrm>
                <a:off x="7531608" y="3970020"/>
                <a:ext cx="1381354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选型顺序</a:t>
                </a:r>
                <a:endPara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6715506" y="4568190"/>
                <a:ext cx="19568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① 盒 → ② 球 / 胶囊</a:t>
                </a:r>
                <a:endPara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715506" y="4949190"/>
                <a:ext cx="192046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③ 组合体 → ④ 网格</a:t>
                </a:r>
                <a:endPara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sp>
        <p:nvSpPr>
          <p:cNvPr id="47" name="Freeform 47"/>
          <p:cNvSpPr/>
          <p:nvPr/>
        </p:nvSpPr>
        <p:spPr>
          <a:xfrm>
            <a:off x="5810250" y="3048000"/>
            <a:ext cx="514350" cy="190500"/>
          </a:xfrm>
          <a:custGeom>
            <a:avLst/>
            <a:gdLst/>
            <a:ahLst/>
            <a:cxnLst/>
            <a:rect l="l" t="t" r="r" b="b"/>
            <a:pathLst>
              <a:path w="514350" h="190500">
                <a:moveTo>
                  <a:pt x="0" y="0"/>
                </a:moveTo>
                <a:cubicBezTo>
                  <a:pt x="171450" y="190500"/>
                  <a:pt x="342900" y="190500"/>
                  <a:pt x="514350" y="0"/>
                </a:cubicBezTo>
              </a:path>
            </a:pathLst>
          </a:custGeom>
          <a:noFill/>
          <a:ln w="66675" cap="rnd">
            <a:solidFill>
              <a:schemeClr val="accent2"/>
            </a:solidFill>
          </a:ln>
        </p:spPr>
      </p:sp>
      <p:grpSp>
        <p:nvGrpSpPr>
          <p:cNvPr id="51" name="Group 51"/>
          <p:cNvGrpSpPr/>
          <p:nvPr/>
        </p:nvGrpSpPr>
        <p:grpSpPr>
          <a:xfrm>
            <a:off x="552450" y="6353175"/>
            <a:ext cx="11055858" cy="432626"/>
            <a:chOff x="552450" y="6353175"/>
            <a:chExt cx="11055858" cy="432626"/>
          </a:xfrm>
        </p:grpSpPr>
        <p:sp>
          <p:nvSpPr>
            <p:cNvPr id="48" name="Line 48"/>
            <p:cNvSpPr/>
            <p:nvPr/>
          </p:nvSpPr>
          <p:spPr>
            <a:xfrm>
              <a:off x="552450" y="635317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1394681" y="652176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</a:t>
              </a:r>
              <a:endParaRPr lang="en-US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50" y="270510"/>
            <a:ext cx="4823460" cy="6457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物理对象的三种角色</a:t>
            </a:r>
            <a:endParaRPr lang="zh-CN" sz="4200" b="1" dirty="0">
              <a:solidFill>
                <a:schemeClr val="dk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81406" y="986790"/>
            <a:ext cx="565306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先确定“谁驱动移动”，再配置 Rigidbody 与 Collider</a:t>
            </a:r>
            <a:endParaRPr lang="zh-CN" sz="1800" dirty="0">
              <a:solidFill>
                <a:schemeClr val="dk2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48" name="Group 48"/>
          <p:cNvGrpSpPr/>
          <p:nvPr/>
        </p:nvGrpSpPr>
        <p:grpSpPr>
          <a:xfrm>
            <a:off x="552450" y="1562100"/>
            <a:ext cx="11211302" cy="4171950"/>
            <a:chOff x="552450" y="1562100"/>
            <a:chExt cx="11211302" cy="4171950"/>
          </a:xfrm>
        </p:grpSpPr>
        <p:grpSp>
          <p:nvGrpSpPr>
            <p:cNvPr id="19" name="Group 19"/>
            <p:cNvGrpSpPr/>
            <p:nvPr/>
          </p:nvGrpSpPr>
          <p:grpSpPr>
            <a:xfrm>
              <a:off x="552450" y="1562100"/>
              <a:ext cx="3486150" cy="4171950"/>
              <a:chOff x="552450" y="1562100"/>
              <a:chExt cx="3486150" cy="4171950"/>
            </a:xfrm>
          </p:grpSpPr>
          <p:sp>
            <p:nvSpPr>
              <p:cNvPr id="4" name="Rectangle 4"/>
              <p:cNvSpPr/>
              <p:nvPr/>
            </p:nvSpPr>
            <p:spPr>
              <a:xfrm>
                <a:off x="552450" y="1562100"/>
                <a:ext cx="3486150" cy="4171950"/>
              </a:xfrm>
              <a:prstGeom prst="roundRect">
                <a:avLst>
                  <a:gd name="adj" fmla="val 7650"/>
                </a:avLst>
              </a:prstGeom>
              <a:solidFill>
                <a:srgbClr val="FFFFFF"/>
              </a:solidFill>
              <a:ln w="38100">
                <a:solidFill>
                  <a:schemeClr val="accent1"/>
                </a:solidFill>
              </a:ln>
            </p:spPr>
          </p:sp>
          <p:sp>
            <p:nvSpPr>
              <p:cNvPr id="5" name="Rectangle 5"/>
              <p:cNvSpPr/>
              <p:nvPr/>
            </p:nvSpPr>
            <p:spPr>
              <a:xfrm>
                <a:off x="552450" y="1562100"/>
                <a:ext cx="3486150" cy="895350"/>
              </a:xfrm>
              <a:prstGeom prst="roundRect">
                <a:avLst>
                  <a:gd name="adj" fmla="val 29787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824484" y="1851660"/>
                <a:ext cx="2088510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Static 静态</a:t>
                </a:r>
                <a:endParaRPr lang="zh-CN" sz="27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806958" y="2693670"/>
                <a:ext cx="2059838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世界的一部分</a:t>
                </a:r>
                <a:endPara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810006" y="3253740"/>
                <a:ext cx="185851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94310" indent="-194310" algn="l">
                  <a:buClr>
                    <a:schemeClr val="dk2"/>
                  </a:buClr>
                  <a:buSzTx/>
                  <a:buFontTx/>
                  <a:buChar char="•"/>
                </a:pPr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不挂 Rigidbody</a:t>
                </a:r>
                <a:endPara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810006" y="3653790"/>
                <a:ext cx="198181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94310" indent="-194310" algn="l">
                  <a:buClr>
                    <a:schemeClr val="dk2"/>
                  </a:buClr>
                  <a:buSzTx/>
                  <a:buFontTx/>
                  <a:buChar char="•"/>
                </a:pPr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由 Collider 阻挡</a:t>
                </a:r>
                <a:endPara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810006" y="4053840"/>
                <a:ext cx="239344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94310" indent="-194310" algn="l">
                  <a:buClr>
                    <a:schemeClr val="dk2"/>
                  </a:buClr>
                  <a:buSzTx/>
                  <a:buFontTx/>
                  <a:buChar char="•"/>
                </a:pPr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墙、地面、固定建筑</a:t>
                </a:r>
                <a:endPara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6" name="Rectangle 16"/>
              <p:cNvSpPr/>
              <p:nvPr/>
            </p:nvSpPr>
            <p:spPr>
              <a:xfrm>
                <a:off x="819150" y="4667250"/>
                <a:ext cx="2952750" cy="723900"/>
              </a:xfrm>
              <a:prstGeom prst="roundRect">
                <a:avLst>
                  <a:gd name="adj" fmla="val 23684"/>
                </a:avLst>
              </a:prstGeom>
              <a:solidFill>
                <a:srgbClr val="EAF0FA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801749" y="477774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性能稳定</a:t>
                </a:r>
                <a:endPara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268654" y="5073015"/>
                <a:ext cx="205374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不要在运行时移动</a:t>
                </a:r>
                <a:endPara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4352925" y="1562100"/>
              <a:ext cx="3486150" cy="4171950"/>
              <a:chOff x="4352925" y="1562100"/>
              <a:chExt cx="3486150" cy="417195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4352925" y="1562100"/>
                <a:ext cx="3486150" cy="4171950"/>
              </a:xfrm>
              <a:prstGeom prst="roundRect">
                <a:avLst>
                  <a:gd name="adj" fmla="val 7650"/>
                </a:avLst>
              </a:prstGeom>
              <a:solidFill>
                <a:srgbClr val="FFFFFF"/>
              </a:solidFill>
              <a:ln w="38100">
                <a:solidFill>
                  <a:schemeClr val="accent3"/>
                </a:solidFill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4352925" y="1562100"/>
                <a:ext cx="3486150" cy="895350"/>
              </a:xfrm>
              <a:prstGeom prst="roundRect">
                <a:avLst>
                  <a:gd name="adj" fmla="val 29787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4624959" y="1851660"/>
                <a:ext cx="2374308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Dynamic 动态</a:t>
                </a:r>
                <a:endParaRPr lang="zh-CN" sz="27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607433" y="2693670"/>
                <a:ext cx="2399081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由物理系统驱动</a:t>
                </a:r>
                <a:endPara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610481" y="3253740"/>
                <a:ext cx="246894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94310" indent="-194310" algn="l">
                  <a:buClr>
                    <a:schemeClr val="dk2"/>
                  </a:buClr>
                  <a:buSzTx/>
                  <a:buFontTx/>
                  <a:buChar char="•"/>
                </a:pPr>
                <a:r>
                  <a:rPr lang="en-US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Rigidbody + Collider</a:t>
                </a:r>
                <a:endParaRPr lang="en-US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4610481" y="3653790"/>
                <a:ext cx="263575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94310" indent="-194310" algn="l">
                  <a:buClr>
                    <a:schemeClr val="dk2"/>
                  </a:buClr>
                  <a:buSzTx/>
                  <a:buFontTx/>
                  <a:buChar char="•"/>
                </a:pPr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受重力、力与碰撞影响</a:t>
                </a:r>
                <a:endPara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4610481" y="4053840"/>
                <a:ext cx="263575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94310" indent="-194310" algn="l">
                  <a:buClr>
                    <a:schemeClr val="dk2"/>
                  </a:buClr>
                  <a:buSzTx/>
                  <a:buFontTx/>
                  <a:buChar char="•"/>
                </a:pPr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球、箱子、可推动道具</a:t>
                </a:r>
                <a:endPara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4619625" y="4667250"/>
                <a:ext cx="2952750" cy="723900"/>
              </a:xfrm>
              <a:prstGeom prst="roundRect">
                <a:avLst>
                  <a:gd name="adj" fmla="val 23684"/>
                </a:avLst>
              </a:prstGeom>
              <a:solidFill>
                <a:srgbClr val="E8F5F0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4770584" y="4777740"/>
                <a:ext cx="265083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rgbClr val="2F8F6A"/>
                    </a:solidFill>
                    <a:latin typeface="+mn-lt"/>
                    <a:ea typeface="+mn-ea"/>
                    <a:cs typeface="+mn-cs"/>
                  </a:rPr>
                  <a:t>用 AddForce / Velocity</a:t>
                </a:r>
                <a:endParaRPr lang="zh-CN" sz="1800" dirty="0">
                  <a:solidFill>
                    <a:srgbClr val="2F8F6A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4749089" y="5073015"/>
                <a:ext cx="269382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2F8F6A"/>
                    </a:solidFill>
                    <a:latin typeface="+mn-lt"/>
                    <a:ea typeface="+mn-ea"/>
                    <a:cs typeface="+mn-cs"/>
                  </a:rPr>
                  <a:t>避免直接改 Transform</a:t>
                </a:r>
                <a:endParaRPr lang="zh-CN" sz="1800" b="1" dirty="0">
                  <a:solidFill>
                    <a:srgbClr val="2F8F6A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8153400" y="1562100"/>
              <a:ext cx="3610352" cy="4171950"/>
              <a:chOff x="8153400" y="1562100"/>
              <a:chExt cx="3610352" cy="417195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8153400" y="1562100"/>
                <a:ext cx="3486150" cy="4171950"/>
              </a:xfrm>
              <a:prstGeom prst="roundRect">
                <a:avLst>
                  <a:gd name="adj" fmla="val 7650"/>
                </a:avLst>
              </a:prstGeom>
              <a:solidFill>
                <a:srgbClr val="FFFFFF"/>
              </a:solidFill>
              <a:ln w="38100">
                <a:solidFill>
                  <a:schemeClr val="accent2"/>
                </a:solidFill>
              </a:ln>
            </p:spPr>
          </p:sp>
          <p:sp>
            <p:nvSpPr>
              <p:cNvPr id="33" name="Rectangle 33"/>
              <p:cNvSpPr/>
              <p:nvPr/>
            </p:nvSpPr>
            <p:spPr>
              <a:xfrm>
                <a:off x="8153400" y="1562100"/>
                <a:ext cx="3486150" cy="895350"/>
              </a:xfrm>
              <a:prstGeom prst="roundRect">
                <a:avLst>
                  <a:gd name="adj" fmla="val 29787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8425434" y="1851660"/>
                <a:ext cx="3080614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Kinematic 运动学</a:t>
                </a:r>
                <a:endParaRPr lang="zh-CN" sz="27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407908" y="2693670"/>
                <a:ext cx="172059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由脚本驱动</a:t>
                </a:r>
                <a:endPara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8410956" y="3253740"/>
                <a:ext cx="335279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94310" indent="-194310" algn="l">
                  <a:buClr>
                    <a:schemeClr val="dk2"/>
                  </a:buClr>
                  <a:buSzTx/>
                  <a:buFontTx/>
                  <a:buChar char="•"/>
                </a:pPr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Rigidbody 勾选 Is Kinematic</a:t>
                </a:r>
                <a:endPara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8410956" y="3653790"/>
                <a:ext cx="312039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94310" indent="-194310" algn="l">
                  <a:buClr>
                    <a:schemeClr val="dk2"/>
                  </a:buClr>
                  <a:buSzTx/>
                  <a:buFontTx/>
                  <a:buChar char="•"/>
                </a:pPr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不被力推动，但能参与检测</a:t>
                </a:r>
                <a:endPara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8410956" y="4053840"/>
                <a:ext cx="287807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94310" indent="-194310" algn="l">
                  <a:buClr>
                    <a:schemeClr val="dk2"/>
                  </a:buClr>
                  <a:buSzTx/>
                  <a:buFontTx/>
                  <a:buChar char="•"/>
                </a:pPr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门、移动平台、动画机关</a:t>
                </a:r>
                <a:endPara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4" name="Rectangle 44"/>
              <p:cNvSpPr/>
              <p:nvPr/>
            </p:nvSpPr>
            <p:spPr>
              <a:xfrm>
                <a:off x="8420100" y="4667250"/>
                <a:ext cx="2952750" cy="723900"/>
              </a:xfrm>
              <a:prstGeom prst="roundRect">
                <a:avLst>
                  <a:gd name="adj" fmla="val 23684"/>
                </a:avLst>
              </a:prstGeom>
              <a:solidFill>
                <a:srgbClr val="FFF0D1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8957843" y="4777740"/>
                <a:ext cx="187726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rgbClr val="8C5A00"/>
                    </a:solidFill>
                    <a:latin typeface="+mn-lt"/>
                    <a:ea typeface="+mn-ea"/>
                    <a:cs typeface="+mn-cs"/>
                  </a:rPr>
                  <a:t>用 MovePosition</a:t>
                </a:r>
                <a:endParaRPr lang="zh-CN" sz="1800" dirty="0">
                  <a:solidFill>
                    <a:srgbClr val="8C5A00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9378467" y="5073015"/>
                <a:ext cx="103601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8C5A00"/>
                    </a:solidFill>
                    <a:latin typeface="+mn-lt"/>
                    <a:ea typeface="+mn-ea"/>
                    <a:cs typeface="+mn-cs"/>
                  </a:rPr>
                  <a:t>轨迹可控</a:t>
                </a:r>
                <a:endParaRPr lang="zh-CN" sz="1800" b="1" dirty="0">
                  <a:solidFill>
                    <a:srgbClr val="8C5A00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2" name="Group 52"/>
          <p:cNvGrpSpPr/>
          <p:nvPr/>
        </p:nvGrpSpPr>
        <p:grpSpPr>
          <a:xfrm>
            <a:off x="552450" y="6353175"/>
            <a:ext cx="11055858" cy="432626"/>
            <a:chOff x="552450" y="6353175"/>
            <a:chExt cx="11055858" cy="432626"/>
          </a:xfrm>
        </p:grpSpPr>
        <p:sp>
          <p:nvSpPr>
            <p:cNvPr id="49" name="Line 49"/>
            <p:cNvSpPr/>
            <p:nvPr/>
          </p:nvSpPr>
          <p:spPr>
            <a:xfrm>
              <a:off x="552450" y="635317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1394681" y="652176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</a:t>
              </a:r>
              <a:endParaRPr lang="en-US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50" y="270510"/>
            <a:ext cx="11376025" cy="6457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Trigger：不阻挡，能感知“进入、停留、离开”</a:t>
            </a:r>
            <a:endParaRPr lang="zh-CN" sz="4200" b="1" dirty="0">
              <a:solidFill>
                <a:schemeClr val="dk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81406" y="986790"/>
            <a:ext cx="534924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适合门、任务区、拾取范围、检测区域与剧情触发</a:t>
            </a:r>
            <a:endParaRPr lang="zh-CN" sz="1800" dirty="0">
              <a:solidFill>
                <a:schemeClr val="dk2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20" name="Group 20"/>
          <p:cNvGrpSpPr/>
          <p:nvPr/>
        </p:nvGrpSpPr>
        <p:grpSpPr>
          <a:xfrm>
            <a:off x="571500" y="1524000"/>
            <a:ext cx="4762500" cy="4171950"/>
            <a:chOff x="571500" y="1524000"/>
            <a:chExt cx="4762500" cy="4171950"/>
          </a:xfrm>
        </p:grpSpPr>
        <p:sp>
          <p:nvSpPr>
            <p:cNvPr id="4" name="Rectangle 4"/>
            <p:cNvSpPr/>
            <p:nvPr/>
          </p:nvSpPr>
          <p:spPr>
            <a:xfrm>
              <a:off x="571500" y="1524000"/>
              <a:ext cx="4762500" cy="4171950"/>
            </a:xfrm>
            <a:prstGeom prst="roundRect">
              <a:avLst>
                <a:gd name="adj" fmla="val 6393"/>
              </a:avLst>
            </a:prstGeom>
            <a:solidFill>
              <a:srgbClr val="FFFFFF"/>
            </a:solidFill>
            <a:ln w="28575">
              <a:solidFill>
                <a:schemeClr val="accent3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43534" y="1765935"/>
              <a:ext cx="155402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2F8F6A"/>
                  </a:solidFill>
                  <a:latin typeface="+mn-lt"/>
                  <a:ea typeface="+mn-ea"/>
                  <a:cs typeface="+mn-cs"/>
                </a:rPr>
                <a:t>事件顺序</a:t>
              </a:r>
              <a:endParaRPr lang="zh-CN" sz="2700" b="1" dirty="0">
                <a:solidFill>
                  <a:srgbClr val="2F8F6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Line 6"/>
            <p:cNvSpPr/>
            <p:nvPr/>
          </p:nvSpPr>
          <p:spPr>
            <a:xfrm>
              <a:off x="1371600" y="2647950"/>
              <a:ext cx="9525" cy="2209800"/>
            </a:xfrm>
            <a:custGeom>
              <a:avLst/>
              <a:gdLst/>
              <a:ahLst/>
              <a:cxnLst/>
              <a:rect l="l" t="t" r="r" b="b"/>
              <a:pathLst>
                <a:path w="9525" h="2209800">
                  <a:moveTo>
                    <a:pt x="0" y="0"/>
                  </a:moveTo>
                  <a:lnTo>
                    <a:pt x="0" y="2209800"/>
                  </a:lnTo>
                </a:path>
              </a:pathLst>
            </a:custGeom>
            <a:noFill/>
            <a:ln w="76200" cap="rnd">
              <a:solidFill>
                <a:schemeClr val="accent3"/>
              </a:solidFill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1028700" y="2419350"/>
              <a:ext cx="3346704" cy="2919984"/>
              <a:chOff x="1028700" y="2419350"/>
              <a:chExt cx="3346704" cy="2919984"/>
            </a:xfrm>
          </p:grpSpPr>
          <p:sp>
            <p:nvSpPr>
              <p:cNvPr id="7" name="Ellipse 7"/>
              <p:cNvSpPr/>
              <p:nvPr/>
            </p:nvSpPr>
            <p:spPr>
              <a:xfrm>
                <a:off x="1028700" y="2419350"/>
                <a:ext cx="685800" cy="6858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266116" y="2607945"/>
                <a:ext cx="210967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  <a:endParaRPr lang="en-US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933956" y="2491740"/>
                <a:ext cx="198830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OnTriggerEnter</a:t>
                </a:r>
                <a:endParaRPr lang="en-US" sz="180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933956" y="2815590"/>
                <a:ext cx="19568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第一次进入检测区</a:t>
                </a:r>
                <a:endPara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1" name="Ellipse 11"/>
              <p:cNvSpPr/>
              <p:nvPr/>
            </p:nvSpPr>
            <p:spPr>
              <a:xfrm>
                <a:off x="1028700" y="3505200"/>
                <a:ext cx="685800" cy="6858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266116" y="3693795"/>
                <a:ext cx="210967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  <a:endParaRPr lang="en-US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933956" y="3577590"/>
                <a:ext cx="184835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OnTriggerStay</a:t>
                </a:r>
                <a:endParaRPr lang="en-US" sz="180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933956" y="3901440"/>
                <a:ext cx="244144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仍在区域内，每帧调用</a:t>
                </a:r>
                <a:endPara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5" name="Ellipse 15"/>
              <p:cNvSpPr/>
              <p:nvPr/>
            </p:nvSpPr>
            <p:spPr>
              <a:xfrm>
                <a:off x="1028700" y="4591050"/>
                <a:ext cx="685800" cy="685800"/>
              </a:xfrm>
              <a:prstGeom prst="ellipse">
                <a:avLst/>
              </a:prstGeom>
              <a:solidFill>
                <a:srgbClr val="D85C45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266116" y="4779645"/>
                <a:ext cx="210967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  <a:endParaRPr lang="en-US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933956" y="4663440"/>
                <a:ext cx="178391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chemeClr val="dk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OnTriggerExit</a:t>
                </a:r>
                <a:endParaRPr lang="en-US" sz="180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933956" y="4987290"/>
                <a:ext cx="219913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离开区域，收尾状态</a:t>
                </a:r>
                <a:endPara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3" name="Group 53"/>
          <p:cNvGrpSpPr/>
          <p:nvPr/>
        </p:nvGrpSpPr>
        <p:grpSpPr>
          <a:xfrm>
            <a:off x="5715000" y="1524000"/>
            <a:ext cx="5905500" cy="4171950"/>
            <a:chOff x="5715000" y="1524000"/>
            <a:chExt cx="5905500" cy="4171950"/>
          </a:xfrm>
        </p:grpSpPr>
        <p:sp>
          <p:nvSpPr>
            <p:cNvPr id="21" name="Rectangle 21"/>
            <p:cNvSpPr/>
            <p:nvPr/>
          </p:nvSpPr>
          <p:spPr>
            <a:xfrm>
              <a:off x="5715000" y="1524000"/>
              <a:ext cx="5905500" cy="4171950"/>
            </a:xfrm>
            <a:prstGeom prst="roundRect">
              <a:avLst>
                <a:gd name="adj" fmla="val 6393"/>
              </a:avLst>
            </a:prstGeom>
            <a:solidFill>
              <a:srgbClr val="FFF9E9"/>
            </a:solidFill>
            <a:ln w="28575">
              <a:solidFill>
                <a:schemeClr val="accent4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6076950" y="1809750"/>
              <a:ext cx="285750" cy="323850"/>
              <a:chOff x="6076950" y="1809750"/>
              <a:chExt cx="285750" cy="32385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6076950" y="1809750"/>
                <a:ext cx="22860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304800">
                    <a:moveTo>
                      <a:pt x="87916" y="304800"/>
                    </a:moveTo>
                    <a:lnTo>
                      <a:pt x="38100" y="304800"/>
                    </a:lnTo>
                    <a:cubicBezTo>
                      <a:pt x="17058" y="304800"/>
                      <a:pt x="0" y="287742"/>
                      <a:pt x="0" y="2667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lnTo>
                      <a:pt x="190500" y="0"/>
                    </a:lnTo>
                    <a:cubicBezTo>
                      <a:pt x="211542" y="0"/>
                      <a:pt x="228600" y="17058"/>
                      <a:pt x="228600" y="38100"/>
                    </a:cubicBezTo>
                    <a:lnTo>
                      <a:pt x="228600" y="1905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248400" y="2057400"/>
                <a:ext cx="1143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76200">
                    <a:moveTo>
                      <a:pt x="0" y="38100"/>
                    </a:moveTo>
                    <a:lnTo>
                      <a:pt x="38100" y="76200"/>
                    </a:lnTo>
                    <a:lnTo>
                      <a:pt x="11430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153150" y="1885950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153150" y="1962150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0" y="0"/>
                    </a:moveTo>
                    <a:lnTo>
                      <a:pt x="3810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6596634" y="1784985"/>
              <a:ext cx="422555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事件没触发？按顺序检查</a:t>
              </a:r>
              <a:endPara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52" name="Group 52"/>
            <p:cNvGrpSpPr/>
            <p:nvPr/>
          </p:nvGrpSpPr>
          <p:grpSpPr>
            <a:xfrm>
              <a:off x="5981700" y="2428875"/>
              <a:ext cx="3724199" cy="3043809"/>
              <a:chOff x="5981700" y="2428875"/>
              <a:chExt cx="3724199" cy="3043809"/>
            </a:xfrm>
          </p:grpSpPr>
          <p:grpSp>
            <p:nvGrpSpPr>
              <p:cNvPr id="31" name="Group 31"/>
              <p:cNvGrpSpPr/>
              <p:nvPr/>
            </p:nvGrpSpPr>
            <p:grpSpPr>
              <a:xfrm>
                <a:off x="5981700" y="2428875"/>
                <a:ext cx="2862834" cy="376809"/>
                <a:chOff x="5981700" y="2428875"/>
                <a:chExt cx="2862834" cy="376809"/>
              </a:xfrm>
            </p:grpSpPr>
            <p:sp>
              <p:nvSpPr>
                <p:cNvPr id="28" name="Ellipse 28"/>
                <p:cNvSpPr/>
                <p:nvPr/>
              </p:nvSpPr>
              <p:spPr>
                <a:xfrm>
                  <a:off x="5981700" y="2428875"/>
                  <a:ext cx="285750" cy="28575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29" name="TextBox 29"/>
                <p:cNvSpPr txBox="1"/>
                <p:nvPr/>
              </p:nvSpPr>
              <p:spPr>
                <a:xfrm>
                  <a:off x="6048794" y="2453640"/>
                  <a:ext cx="151562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800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✓</a:t>
                  </a:r>
                  <a:endParaRPr lang="en-US" sz="18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0" name="TextBox 30"/>
                <p:cNvSpPr txBox="1"/>
                <p:nvPr/>
              </p:nvSpPr>
              <p:spPr>
                <a:xfrm>
                  <a:off x="6448806" y="2453640"/>
                  <a:ext cx="2395728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至少一方有 Rigidbody</a:t>
                  </a:r>
                  <a:endPara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5" name="Group 35"/>
              <p:cNvGrpSpPr/>
              <p:nvPr/>
            </p:nvGrpSpPr>
            <p:grpSpPr>
              <a:xfrm>
                <a:off x="5981700" y="2962275"/>
                <a:ext cx="2951302" cy="376809"/>
                <a:chOff x="5981700" y="2962275"/>
                <a:chExt cx="2951302" cy="376809"/>
              </a:xfrm>
            </p:grpSpPr>
            <p:sp>
              <p:nvSpPr>
                <p:cNvPr id="32" name="Ellipse 32"/>
                <p:cNvSpPr/>
                <p:nvPr/>
              </p:nvSpPr>
              <p:spPr>
                <a:xfrm>
                  <a:off x="5981700" y="2962275"/>
                  <a:ext cx="285750" cy="28575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6048794" y="2987040"/>
                  <a:ext cx="151562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800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✓</a:t>
                  </a:r>
                  <a:endParaRPr lang="en-US" sz="18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6448806" y="2987040"/>
                  <a:ext cx="2484196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检测区勾选 Is Trigger</a:t>
                  </a:r>
                  <a:endPara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9" name="Group 39"/>
              <p:cNvGrpSpPr/>
              <p:nvPr/>
            </p:nvGrpSpPr>
            <p:grpSpPr>
              <a:xfrm>
                <a:off x="5981700" y="3495675"/>
                <a:ext cx="3266816" cy="376809"/>
                <a:chOff x="5981700" y="3495675"/>
                <a:chExt cx="3266816" cy="376809"/>
              </a:xfrm>
            </p:grpSpPr>
            <p:sp>
              <p:nvSpPr>
                <p:cNvPr id="36" name="Ellipse 36"/>
                <p:cNvSpPr/>
                <p:nvPr/>
              </p:nvSpPr>
              <p:spPr>
                <a:xfrm>
                  <a:off x="5981700" y="3495675"/>
                  <a:ext cx="285750" cy="28575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6048794" y="3520440"/>
                  <a:ext cx="151562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800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✓</a:t>
                  </a:r>
                  <a:endParaRPr lang="en-US" sz="18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6448806" y="3520440"/>
                  <a:ext cx="2799710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两者 Layer 允许相互碰撞</a:t>
                  </a:r>
                  <a:endPara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43" name="Group 43"/>
              <p:cNvGrpSpPr/>
              <p:nvPr/>
            </p:nvGrpSpPr>
            <p:grpSpPr>
              <a:xfrm>
                <a:off x="5981700" y="4029075"/>
                <a:ext cx="2666238" cy="376809"/>
                <a:chOff x="5981700" y="4029075"/>
                <a:chExt cx="2666238" cy="376809"/>
              </a:xfrm>
            </p:grpSpPr>
            <p:sp>
              <p:nvSpPr>
                <p:cNvPr id="40" name="Ellipse 40"/>
                <p:cNvSpPr/>
                <p:nvPr/>
              </p:nvSpPr>
              <p:spPr>
                <a:xfrm>
                  <a:off x="5981700" y="4029075"/>
                  <a:ext cx="285750" cy="28575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41" name="TextBox 41"/>
                <p:cNvSpPr txBox="1"/>
                <p:nvPr/>
              </p:nvSpPr>
              <p:spPr>
                <a:xfrm>
                  <a:off x="6048794" y="4053840"/>
                  <a:ext cx="151562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800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✓</a:t>
                  </a:r>
                  <a:endParaRPr lang="en-US" sz="18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42" name="TextBox 42"/>
                <p:cNvSpPr txBox="1"/>
                <p:nvPr/>
              </p:nvSpPr>
              <p:spPr>
                <a:xfrm>
                  <a:off x="6448806" y="4053840"/>
                  <a:ext cx="2199132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脚本挂在正确对象上</a:t>
                  </a:r>
                  <a:endPara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47" name="Group 47"/>
              <p:cNvGrpSpPr/>
              <p:nvPr/>
            </p:nvGrpSpPr>
            <p:grpSpPr>
              <a:xfrm>
                <a:off x="5981700" y="4562475"/>
                <a:ext cx="3724199" cy="376809"/>
                <a:chOff x="5981700" y="4562475"/>
                <a:chExt cx="3724199" cy="376809"/>
              </a:xfrm>
            </p:grpSpPr>
            <p:sp>
              <p:nvSpPr>
                <p:cNvPr id="44" name="Ellipse 44"/>
                <p:cNvSpPr/>
                <p:nvPr/>
              </p:nvSpPr>
              <p:spPr>
                <a:xfrm>
                  <a:off x="5981700" y="4562475"/>
                  <a:ext cx="285750" cy="28575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45" name="TextBox 45"/>
                <p:cNvSpPr txBox="1"/>
                <p:nvPr/>
              </p:nvSpPr>
              <p:spPr>
                <a:xfrm>
                  <a:off x="6048794" y="4587240"/>
                  <a:ext cx="151562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800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✓</a:t>
                  </a:r>
                  <a:endParaRPr lang="en-US" sz="18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46" name="TextBox 46"/>
                <p:cNvSpPr txBox="1"/>
                <p:nvPr/>
              </p:nvSpPr>
              <p:spPr>
                <a:xfrm>
                  <a:off x="6448806" y="4587240"/>
                  <a:ext cx="3257093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方法签名与 2D / 3D API 一致</a:t>
                  </a:r>
                  <a:endPara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51" name="Group 51"/>
              <p:cNvGrpSpPr/>
              <p:nvPr/>
            </p:nvGrpSpPr>
            <p:grpSpPr>
              <a:xfrm>
                <a:off x="5981700" y="5095875"/>
                <a:ext cx="3709830" cy="376809"/>
                <a:chOff x="5981700" y="5095875"/>
                <a:chExt cx="3709830" cy="376809"/>
              </a:xfrm>
            </p:grpSpPr>
            <p:sp>
              <p:nvSpPr>
                <p:cNvPr id="48" name="Ellipse 48"/>
                <p:cNvSpPr/>
                <p:nvPr/>
              </p:nvSpPr>
              <p:spPr>
                <a:xfrm>
                  <a:off x="5981700" y="5095875"/>
                  <a:ext cx="285750" cy="28575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49" name="TextBox 49"/>
                <p:cNvSpPr txBox="1"/>
                <p:nvPr/>
              </p:nvSpPr>
              <p:spPr>
                <a:xfrm>
                  <a:off x="6079084" y="5120640"/>
                  <a:ext cx="90983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800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!</a:t>
                  </a:r>
                  <a:endParaRPr lang="en-US" sz="18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0" name="TextBox 50"/>
                <p:cNvSpPr txBox="1"/>
                <p:nvPr/>
              </p:nvSpPr>
              <p:spPr>
                <a:xfrm>
                  <a:off x="6448806" y="5120640"/>
                  <a:ext cx="3242724" cy="35204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dirty="0">
                      <a:solidFill>
                        <a:srgbClr val="8C5A00"/>
                      </a:solidFill>
                      <a:latin typeface="+mn-lt"/>
                      <a:ea typeface="+mn-ea"/>
                      <a:cs typeface="+mn-cs"/>
                    </a:rPr>
                    <a:t>用 Console 日志定位到哪一步</a:t>
                  </a:r>
                  <a:endParaRPr lang="zh-CN" sz="1800" dirty="0">
                    <a:solidFill>
                      <a:srgbClr val="8C5A00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p:grpSp>
        </p:grpSp>
      </p:grpSp>
      <p:grpSp>
        <p:nvGrpSpPr>
          <p:cNvPr id="57" name="Group 57"/>
          <p:cNvGrpSpPr/>
          <p:nvPr/>
        </p:nvGrpSpPr>
        <p:grpSpPr>
          <a:xfrm>
            <a:off x="552450" y="6353175"/>
            <a:ext cx="11055858" cy="432626"/>
            <a:chOff x="552450" y="6353175"/>
            <a:chExt cx="11055858" cy="432626"/>
          </a:xfrm>
        </p:grpSpPr>
        <p:sp>
          <p:nvSpPr>
            <p:cNvPr id="54" name="Line 54"/>
            <p:cNvSpPr/>
            <p:nvPr/>
          </p:nvSpPr>
          <p:spPr>
            <a:xfrm>
              <a:off x="552450" y="635317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1394681" y="652176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</a:t>
              </a:r>
              <a:endParaRPr lang="en-US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50" y="270510"/>
            <a:ext cx="3215640" cy="6457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从贴图到画面</a:t>
            </a:r>
            <a:endParaRPr lang="zh-CN" sz="4200" b="1" dirty="0">
              <a:solidFill>
                <a:schemeClr val="dk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81406" y="986790"/>
            <a:ext cx="645177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四者不是同义词，而是一条“数据 → 规则 → 绑定 → 输出”的链</a:t>
            </a:r>
            <a:endParaRPr lang="zh-CN" sz="1800" dirty="0">
              <a:solidFill>
                <a:schemeClr val="dk2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44" name="Group 44"/>
          <p:cNvGrpSpPr/>
          <p:nvPr/>
        </p:nvGrpSpPr>
        <p:grpSpPr>
          <a:xfrm>
            <a:off x="666750" y="1504950"/>
            <a:ext cx="8191500" cy="3882009"/>
            <a:chOff x="666750" y="1504950"/>
            <a:chExt cx="8191500" cy="3882009"/>
          </a:xfrm>
        </p:grpSpPr>
        <p:grpSp>
          <p:nvGrpSpPr>
            <p:cNvPr id="14" name="Group 14"/>
            <p:cNvGrpSpPr/>
            <p:nvPr/>
          </p:nvGrpSpPr>
          <p:grpSpPr>
            <a:xfrm>
              <a:off x="666750" y="1504950"/>
              <a:ext cx="8191500" cy="853059"/>
              <a:chOff x="666750" y="1504950"/>
              <a:chExt cx="8191500" cy="853059"/>
            </a:xfrm>
          </p:grpSpPr>
          <p:sp>
            <p:nvSpPr>
              <p:cNvPr id="4" name="Rectangle 4"/>
              <p:cNvSpPr/>
              <p:nvPr/>
            </p:nvSpPr>
            <p:spPr>
              <a:xfrm>
                <a:off x="666750" y="1504950"/>
                <a:ext cx="8191500" cy="838200"/>
              </a:xfrm>
              <a:prstGeom prst="roundRect">
                <a:avLst>
                  <a:gd name="adj" fmla="val 22727"/>
                </a:avLst>
              </a:prstGeom>
              <a:solidFill>
                <a:srgbClr val="EAF0FA"/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5" name="Rectangle 5"/>
              <p:cNvSpPr/>
              <p:nvPr/>
            </p:nvSpPr>
            <p:spPr>
              <a:xfrm>
                <a:off x="666750" y="1504950"/>
                <a:ext cx="1066800" cy="838200"/>
              </a:xfrm>
              <a:prstGeom prst="roundRect">
                <a:avLst>
                  <a:gd name="adj" fmla="val 22727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1001375" y="1788795"/>
                <a:ext cx="397551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01</a:t>
                </a:r>
                <a:endParaRPr lang="en-US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grpSp>
            <p:nvGrpSpPr>
              <p:cNvPr id="11" name="Group 11"/>
              <p:cNvGrpSpPr/>
              <p:nvPr/>
            </p:nvGrpSpPr>
            <p:grpSpPr>
              <a:xfrm>
                <a:off x="2057400" y="1752600"/>
                <a:ext cx="342900" cy="343867"/>
                <a:chOff x="2057400" y="1752600"/>
                <a:chExt cx="342900" cy="343867"/>
              </a:xfrm>
            </p:grpSpPr>
            <p:sp>
              <p:nvSpPr>
                <p:cNvPr id="7" name="Freeform 7"/>
                <p:cNvSpPr/>
                <p:nvPr/>
              </p:nvSpPr>
              <p:spPr>
                <a:xfrm>
                  <a:off x="2057400" y="1752600"/>
                  <a:ext cx="342900" cy="3438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900" h="343867">
                      <a:moveTo>
                        <a:pt x="171450" y="342900"/>
                      </a:moveTo>
                      <a:cubicBezTo>
                        <a:pt x="76761" y="342900"/>
                        <a:pt x="0" y="266139"/>
                        <a:pt x="0" y="171450"/>
                      </a:cubicBezTo>
                      <a:cubicBezTo>
                        <a:pt x="0" y="76761"/>
                        <a:pt x="76761" y="0"/>
                        <a:pt x="171450" y="0"/>
                      </a:cubicBezTo>
                      <a:cubicBezTo>
                        <a:pt x="266128" y="0"/>
                        <a:pt x="342900" y="68237"/>
                        <a:pt x="342900" y="152400"/>
                      </a:cubicBezTo>
                      <a:cubicBezTo>
                        <a:pt x="342900" y="172593"/>
                        <a:pt x="333870" y="191986"/>
                        <a:pt x="317792" y="206273"/>
                      </a:cubicBezTo>
                      <a:cubicBezTo>
                        <a:pt x="301714" y="220561"/>
                        <a:pt x="279902" y="228600"/>
                        <a:pt x="257175" y="228600"/>
                      </a:cubicBezTo>
                      <a:lnTo>
                        <a:pt x="209550" y="228600"/>
                      </a:lnTo>
                      <a:cubicBezTo>
                        <a:pt x="192062" y="228318"/>
                        <a:pt x="176629" y="239979"/>
                        <a:pt x="172123" y="256878"/>
                      </a:cubicBezTo>
                      <a:cubicBezTo>
                        <a:pt x="167616" y="273777"/>
                        <a:pt x="175194" y="291574"/>
                        <a:pt x="190500" y="300038"/>
                      </a:cubicBezTo>
                      <a:cubicBezTo>
                        <a:pt x="198299" y="307234"/>
                        <a:pt x="200646" y="318599"/>
                        <a:pt x="196336" y="328296"/>
                      </a:cubicBezTo>
                      <a:cubicBezTo>
                        <a:pt x="192026" y="337993"/>
                        <a:pt x="182018" y="343867"/>
                        <a:pt x="171450" y="342900"/>
                      </a:cubicBez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8" name="Freeform 8"/>
                <p:cNvSpPr/>
                <p:nvPr/>
              </p:nvSpPr>
              <p:spPr>
                <a:xfrm>
                  <a:off x="2143125" y="1876425"/>
                  <a:ext cx="381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38100">
                      <a:moveTo>
                        <a:pt x="0" y="19050"/>
                      </a:moveTo>
                      <a:cubicBezTo>
                        <a:pt x="0" y="29571"/>
                        <a:pt x="8529" y="38100"/>
                        <a:pt x="19050" y="38100"/>
                      </a:cubicBezTo>
                      <a:cubicBezTo>
                        <a:pt x="29571" y="38100"/>
                        <a:pt x="38100" y="29571"/>
                        <a:pt x="38100" y="19050"/>
                      </a:cubicBezTo>
                      <a:cubicBezTo>
                        <a:pt x="38100" y="8529"/>
                        <a:pt x="29571" y="0"/>
                        <a:pt x="19050" y="0"/>
                      </a:cubicBezTo>
                      <a:cubicBezTo>
                        <a:pt x="8529" y="0"/>
                        <a:pt x="0" y="8529"/>
                        <a:pt x="0" y="19050"/>
                      </a:cubicBez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9" name="Freeform 9"/>
                <p:cNvSpPr/>
                <p:nvPr/>
              </p:nvSpPr>
              <p:spPr>
                <a:xfrm>
                  <a:off x="2219325" y="1819275"/>
                  <a:ext cx="381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38100">
                      <a:moveTo>
                        <a:pt x="0" y="19050"/>
                      </a:moveTo>
                      <a:cubicBezTo>
                        <a:pt x="0" y="29571"/>
                        <a:pt x="8529" y="38100"/>
                        <a:pt x="19050" y="38100"/>
                      </a:cubicBezTo>
                      <a:cubicBezTo>
                        <a:pt x="29571" y="38100"/>
                        <a:pt x="38100" y="29571"/>
                        <a:pt x="38100" y="19050"/>
                      </a:cubicBezTo>
                      <a:cubicBezTo>
                        <a:pt x="38100" y="8529"/>
                        <a:pt x="29571" y="0"/>
                        <a:pt x="19050" y="0"/>
                      </a:cubicBezTo>
                      <a:cubicBezTo>
                        <a:pt x="8529" y="0"/>
                        <a:pt x="0" y="8529"/>
                        <a:pt x="0" y="19050"/>
                      </a:cubicBez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  <p:sp>
              <p:nvSpPr>
                <p:cNvPr id="10" name="Freeform 10"/>
                <p:cNvSpPr/>
                <p:nvPr/>
              </p:nvSpPr>
              <p:spPr>
                <a:xfrm>
                  <a:off x="2295525" y="1876425"/>
                  <a:ext cx="381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38100">
                      <a:moveTo>
                        <a:pt x="0" y="19050"/>
                      </a:moveTo>
                      <a:cubicBezTo>
                        <a:pt x="0" y="29571"/>
                        <a:pt x="8529" y="38100"/>
                        <a:pt x="19050" y="38100"/>
                      </a:cubicBezTo>
                      <a:cubicBezTo>
                        <a:pt x="29571" y="38100"/>
                        <a:pt x="38100" y="29571"/>
                        <a:pt x="38100" y="19050"/>
                      </a:cubicBezTo>
                      <a:cubicBezTo>
                        <a:pt x="38100" y="8529"/>
                        <a:pt x="29571" y="0"/>
                        <a:pt x="19050" y="0"/>
                      </a:cubicBezTo>
                      <a:cubicBezTo>
                        <a:pt x="8529" y="0"/>
                        <a:pt x="0" y="8529"/>
                        <a:pt x="0" y="19050"/>
                      </a:cubicBezTo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</a:ln>
              </p:spPr>
            </p:sp>
          </p:grpSp>
          <p:sp>
            <p:nvSpPr>
              <p:cNvPr id="12" name="TextBox 12"/>
              <p:cNvSpPr txBox="1"/>
              <p:nvPr/>
            </p:nvSpPr>
            <p:spPr>
              <a:xfrm>
                <a:off x="2654808" y="1645920"/>
                <a:ext cx="2127595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Texture 贴图</a:t>
                </a:r>
                <a:endPara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2657856" y="2005965"/>
                <a:ext cx="341071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颜色、法线、粗糙度等表面数据</a:t>
                </a:r>
                <a:endPara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666750" y="2514600"/>
              <a:ext cx="8191500" cy="853059"/>
              <a:chOff x="666750" y="2514600"/>
              <a:chExt cx="8191500" cy="853059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666750" y="2514600"/>
                <a:ext cx="8191500" cy="838200"/>
              </a:xfrm>
              <a:prstGeom prst="roundRect">
                <a:avLst>
                  <a:gd name="adj" fmla="val 22727"/>
                </a:avLst>
              </a:prstGeom>
              <a:solidFill>
                <a:srgbClr val="E8F5F0"/>
              </a:solidFill>
              <a:ln w="28575">
                <a:solidFill>
                  <a:schemeClr val="accent3"/>
                </a:solidFill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666750" y="2514600"/>
                <a:ext cx="1066800" cy="838200"/>
              </a:xfrm>
              <a:prstGeom prst="roundRect">
                <a:avLst>
                  <a:gd name="adj" fmla="val 22727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001375" y="2798445"/>
                <a:ext cx="397551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02</a:t>
                </a:r>
                <a:endParaRPr lang="en-US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8" name="Ellipse 18"/>
              <p:cNvSpPr/>
              <p:nvPr/>
            </p:nvSpPr>
            <p:spPr>
              <a:xfrm>
                <a:off x="1990725" y="2695575"/>
                <a:ext cx="476250" cy="476250"/>
              </a:xfrm>
              <a:prstGeom prst="ellipse">
                <a:avLst/>
              </a:prstGeom>
              <a:solidFill>
                <a:schemeClr val="accent2"/>
              </a:solidFill>
              <a:ln w="47625">
                <a:solidFill>
                  <a:srgbClr val="2F8F6A"/>
                </a:solidFill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2654808" y="2655570"/>
                <a:ext cx="2284506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Shader 着色器</a:t>
                </a:r>
                <a:endPara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2657856" y="3015615"/>
                <a:ext cx="292608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规定顶点与像素如何被计算</a:t>
                </a:r>
                <a:endPara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666750" y="3524250"/>
              <a:ext cx="8191500" cy="853059"/>
              <a:chOff x="666750" y="3524250"/>
              <a:chExt cx="8191500" cy="853059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666750" y="3524250"/>
                <a:ext cx="8191500" cy="838200"/>
              </a:xfrm>
              <a:prstGeom prst="roundRect">
                <a:avLst>
                  <a:gd name="adj" fmla="val 22727"/>
                </a:avLst>
              </a:prstGeom>
              <a:solidFill>
                <a:srgbClr val="FFF0D1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23" name="Rectangle 23"/>
              <p:cNvSpPr/>
              <p:nvPr/>
            </p:nvSpPr>
            <p:spPr>
              <a:xfrm>
                <a:off x="666750" y="3524250"/>
                <a:ext cx="1066800" cy="838200"/>
              </a:xfrm>
              <a:prstGeom prst="roundRect">
                <a:avLst>
                  <a:gd name="adj" fmla="val 22727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1001375" y="3808095"/>
                <a:ext cx="397551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03</a:t>
                </a:r>
                <a:endParaRPr lang="en-US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grpSp>
            <p:nvGrpSpPr>
              <p:cNvPr id="29" name="Group 29"/>
              <p:cNvGrpSpPr/>
              <p:nvPr/>
            </p:nvGrpSpPr>
            <p:grpSpPr>
              <a:xfrm>
                <a:off x="2057400" y="3771900"/>
                <a:ext cx="342900" cy="343867"/>
                <a:chOff x="2057400" y="3771900"/>
                <a:chExt cx="342900" cy="343867"/>
              </a:xfrm>
            </p:grpSpPr>
            <p:sp>
              <p:nvSpPr>
                <p:cNvPr id="25" name="Freeform 25"/>
                <p:cNvSpPr/>
                <p:nvPr/>
              </p:nvSpPr>
              <p:spPr>
                <a:xfrm>
                  <a:off x="2057400" y="3771900"/>
                  <a:ext cx="342900" cy="3438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900" h="343867">
                      <a:moveTo>
                        <a:pt x="171450" y="342900"/>
                      </a:moveTo>
                      <a:cubicBezTo>
                        <a:pt x="76761" y="342900"/>
                        <a:pt x="0" y="266139"/>
                        <a:pt x="0" y="171450"/>
                      </a:cubicBezTo>
                      <a:cubicBezTo>
                        <a:pt x="0" y="76761"/>
                        <a:pt x="76761" y="0"/>
                        <a:pt x="171450" y="0"/>
                      </a:cubicBezTo>
                      <a:cubicBezTo>
                        <a:pt x="266128" y="0"/>
                        <a:pt x="342900" y="68237"/>
                        <a:pt x="342900" y="152400"/>
                      </a:cubicBezTo>
                      <a:cubicBezTo>
                        <a:pt x="342900" y="172593"/>
                        <a:pt x="333870" y="191986"/>
                        <a:pt x="317792" y="206273"/>
                      </a:cubicBezTo>
                      <a:cubicBezTo>
                        <a:pt x="301714" y="220561"/>
                        <a:pt x="279902" y="228600"/>
                        <a:pt x="257175" y="228600"/>
                      </a:cubicBezTo>
                      <a:lnTo>
                        <a:pt x="209550" y="228600"/>
                      </a:lnTo>
                      <a:cubicBezTo>
                        <a:pt x="192062" y="228318"/>
                        <a:pt x="176629" y="239979"/>
                        <a:pt x="172123" y="256878"/>
                      </a:cubicBezTo>
                      <a:cubicBezTo>
                        <a:pt x="167616" y="273777"/>
                        <a:pt x="175194" y="291574"/>
                        <a:pt x="190500" y="300038"/>
                      </a:cubicBezTo>
                      <a:cubicBezTo>
                        <a:pt x="198299" y="307234"/>
                        <a:pt x="200646" y="318599"/>
                        <a:pt x="196336" y="328296"/>
                      </a:cubicBezTo>
                      <a:cubicBezTo>
                        <a:pt x="192026" y="337993"/>
                        <a:pt x="182018" y="343867"/>
                        <a:pt x="171450" y="342900"/>
                      </a:cubicBez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2143125" y="3895725"/>
                  <a:ext cx="381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38100">
                      <a:moveTo>
                        <a:pt x="0" y="19050"/>
                      </a:moveTo>
                      <a:cubicBezTo>
                        <a:pt x="0" y="29571"/>
                        <a:pt x="8529" y="38100"/>
                        <a:pt x="19050" y="38100"/>
                      </a:cubicBezTo>
                      <a:cubicBezTo>
                        <a:pt x="29571" y="38100"/>
                        <a:pt x="38100" y="29571"/>
                        <a:pt x="38100" y="19050"/>
                      </a:cubicBezTo>
                      <a:cubicBezTo>
                        <a:pt x="38100" y="8529"/>
                        <a:pt x="29571" y="0"/>
                        <a:pt x="19050" y="0"/>
                      </a:cubicBezTo>
                      <a:cubicBezTo>
                        <a:pt x="8529" y="0"/>
                        <a:pt x="0" y="8529"/>
                        <a:pt x="0" y="19050"/>
                      </a:cubicBez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2219325" y="3838575"/>
                  <a:ext cx="381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38100">
                      <a:moveTo>
                        <a:pt x="0" y="19050"/>
                      </a:moveTo>
                      <a:cubicBezTo>
                        <a:pt x="0" y="29571"/>
                        <a:pt x="8529" y="38100"/>
                        <a:pt x="19050" y="38100"/>
                      </a:cubicBezTo>
                      <a:cubicBezTo>
                        <a:pt x="29571" y="38100"/>
                        <a:pt x="38100" y="29571"/>
                        <a:pt x="38100" y="19050"/>
                      </a:cubicBezTo>
                      <a:cubicBezTo>
                        <a:pt x="38100" y="8529"/>
                        <a:pt x="29571" y="0"/>
                        <a:pt x="19050" y="0"/>
                      </a:cubicBezTo>
                      <a:cubicBezTo>
                        <a:pt x="8529" y="0"/>
                        <a:pt x="0" y="8529"/>
                        <a:pt x="0" y="19050"/>
                      </a:cubicBez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2295525" y="3895725"/>
                  <a:ext cx="381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38100">
                      <a:moveTo>
                        <a:pt x="0" y="19050"/>
                      </a:moveTo>
                      <a:cubicBezTo>
                        <a:pt x="0" y="29571"/>
                        <a:pt x="8529" y="38100"/>
                        <a:pt x="19050" y="38100"/>
                      </a:cubicBezTo>
                      <a:cubicBezTo>
                        <a:pt x="29571" y="38100"/>
                        <a:pt x="38100" y="29571"/>
                        <a:pt x="38100" y="19050"/>
                      </a:cubicBezTo>
                      <a:cubicBezTo>
                        <a:pt x="38100" y="8529"/>
                        <a:pt x="29571" y="0"/>
                        <a:pt x="19050" y="0"/>
                      </a:cubicBezTo>
                      <a:cubicBezTo>
                        <a:pt x="8529" y="0"/>
                        <a:pt x="0" y="8529"/>
                        <a:pt x="0" y="19050"/>
                      </a:cubicBez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</p:grpSp>
          <p:sp>
            <p:nvSpPr>
              <p:cNvPr id="30" name="TextBox 30"/>
              <p:cNvSpPr txBox="1"/>
              <p:nvPr/>
            </p:nvSpPr>
            <p:spPr>
              <a:xfrm>
                <a:off x="2654808" y="3665220"/>
                <a:ext cx="2210897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Material 材质</a:t>
                </a:r>
                <a:endPara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2657856" y="4025265"/>
                <a:ext cx="358947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选择 Shader，并保存它所需参数</a:t>
                </a:r>
                <a:endPara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666750" y="4533900"/>
              <a:ext cx="8191500" cy="853059"/>
              <a:chOff x="666750" y="4533900"/>
              <a:chExt cx="8191500" cy="853059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666750" y="4533900"/>
                <a:ext cx="8191500" cy="838200"/>
              </a:xfrm>
              <a:prstGeom prst="roundRect">
                <a:avLst>
                  <a:gd name="adj" fmla="val 22727"/>
                </a:avLst>
              </a:prstGeom>
              <a:solidFill>
                <a:schemeClr val="lt2"/>
              </a:solidFill>
              <a:ln w="28575">
                <a:solidFill>
                  <a:schemeClr val="dk2"/>
                </a:solidFill>
              </a:ln>
            </p:spPr>
          </p:sp>
          <p:sp>
            <p:nvSpPr>
              <p:cNvPr id="34" name="Rectangle 34"/>
              <p:cNvSpPr/>
              <p:nvPr/>
            </p:nvSpPr>
            <p:spPr>
              <a:xfrm>
                <a:off x="666750" y="4533900"/>
                <a:ext cx="1066800" cy="838200"/>
              </a:xfrm>
              <a:prstGeom prst="roundRect">
                <a:avLst>
                  <a:gd name="adj" fmla="val 22727"/>
                </a:avLst>
              </a:prstGeom>
              <a:solidFill>
                <a:schemeClr val="dk2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1001375" y="4817745"/>
                <a:ext cx="397551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04</a:t>
                </a:r>
                <a:endParaRPr lang="en-US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grpSp>
            <p:nvGrpSpPr>
              <p:cNvPr id="40" name="Group 40"/>
              <p:cNvGrpSpPr/>
              <p:nvPr/>
            </p:nvGrpSpPr>
            <p:grpSpPr>
              <a:xfrm>
                <a:off x="2057400" y="4760805"/>
                <a:ext cx="342900" cy="384372"/>
                <a:chOff x="2057400" y="4760805"/>
                <a:chExt cx="342900" cy="384372"/>
              </a:xfrm>
            </p:grpSpPr>
            <p:sp>
              <p:nvSpPr>
                <p:cNvPr id="36" name="Freeform 36"/>
                <p:cNvSpPr/>
                <p:nvPr/>
              </p:nvSpPr>
              <p:spPr>
                <a:xfrm>
                  <a:off x="2057400" y="4760805"/>
                  <a:ext cx="342900" cy="3843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900" h="384372">
                      <a:moveTo>
                        <a:pt x="342900" y="268548"/>
                      </a:moveTo>
                      <a:lnTo>
                        <a:pt x="342900" y="115805"/>
                      </a:lnTo>
                      <a:cubicBezTo>
                        <a:pt x="342876" y="102274"/>
                        <a:pt x="335607" y="89793"/>
                        <a:pt x="323850" y="83096"/>
                      </a:cubicBezTo>
                      <a:lnTo>
                        <a:pt x="190500" y="6744"/>
                      </a:lnTo>
                      <a:cubicBezTo>
                        <a:pt x="178695" y="0"/>
                        <a:pt x="164205" y="0"/>
                        <a:pt x="152400" y="6744"/>
                      </a:cubicBezTo>
                      <a:lnTo>
                        <a:pt x="19050" y="83096"/>
                      </a:lnTo>
                      <a:cubicBezTo>
                        <a:pt x="7258" y="89859"/>
                        <a:pt x="0" y="102337"/>
                        <a:pt x="0" y="115824"/>
                      </a:cubicBezTo>
                      <a:lnTo>
                        <a:pt x="0" y="268567"/>
                      </a:lnTo>
                      <a:cubicBezTo>
                        <a:pt x="0" y="282073"/>
                        <a:pt x="7258" y="294532"/>
                        <a:pt x="19050" y="301276"/>
                      </a:cubicBezTo>
                      <a:lnTo>
                        <a:pt x="152400" y="377628"/>
                      </a:lnTo>
                      <a:cubicBezTo>
                        <a:pt x="164205" y="384372"/>
                        <a:pt x="178695" y="384372"/>
                        <a:pt x="190500" y="377628"/>
                      </a:cubicBezTo>
                      <a:lnTo>
                        <a:pt x="323850" y="301276"/>
                      </a:lnTo>
                      <a:cubicBezTo>
                        <a:pt x="335642" y="294513"/>
                        <a:pt x="342900" y="282035"/>
                        <a:pt x="342900" y="268548"/>
                      </a:cubicBezTo>
                    </a:path>
                  </a:pathLst>
                </a:custGeom>
                <a:noFill/>
                <a:ln w="19050">
                  <a:solidFill>
                    <a:schemeClr val="dk2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2228850" y="4953000"/>
                  <a:ext cx="9525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90500">
                      <a:moveTo>
                        <a:pt x="0" y="19050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chemeClr val="dk2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2228850" y="4856988"/>
                  <a:ext cx="166307" cy="96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307" h="96012">
                      <a:moveTo>
                        <a:pt x="0" y="96012"/>
                      </a:moveTo>
                      <a:lnTo>
                        <a:pt x="166307" y="0"/>
                      </a:lnTo>
                    </a:path>
                  </a:pathLst>
                </a:custGeom>
                <a:noFill/>
                <a:ln w="19050">
                  <a:solidFill>
                    <a:schemeClr val="dk2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2062544" y="4856988"/>
                  <a:ext cx="166307" cy="96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307" h="96012">
                      <a:moveTo>
                        <a:pt x="0" y="0"/>
                      </a:moveTo>
                      <a:lnTo>
                        <a:pt x="166307" y="96012"/>
                      </a:lnTo>
                    </a:path>
                  </a:pathLst>
                </a:custGeom>
                <a:noFill/>
                <a:ln w="19050">
                  <a:solidFill>
                    <a:schemeClr val="dk2"/>
                  </a:solidFill>
                </a:ln>
              </p:spPr>
            </p:sp>
          </p:grpSp>
          <p:sp>
            <p:nvSpPr>
              <p:cNvPr id="41" name="TextBox 41"/>
              <p:cNvSpPr txBox="1"/>
              <p:nvPr/>
            </p:nvSpPr>
            <p:spPr>
              <a:xfrm>
                <a:off x="2654808" y="4674870"/>
                <a:ext cx="2655033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Renderer 渲染器</a:t>
                </a:r>
                <a:endPara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2657856" y="5034915"/>
                <a:ext cx="292608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把网格与材质送入渲染管线</a:t>
                </a:r>
                <a:endPara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8" name="Group 58"/>
          <p:cNvGrpSpPr/>
          <p:nvPr/>
        </p:nvGrpSpPr>
        <p:grpSpPr>
          <a:xfrm>
            <a:off x="9144000" y="1504950"/>
            <a:ext cx="2476500" cy="3867150"/>
            <a:chOff x="9144000" y="1504950"/>
            <a:chExt cx="2476500" cy="3867150"/>
          </a:xfrm>
        </p:grpSpPr>
        <p:sp>
          <p:nvSpPr>
            <p:cNvPr id="45" name="Rectangle 45"/>
            <p:cNvSpPr/>
            <p:nvPr/>
          </p:nvSpPr>
          <p:spPr>
            <a:xfrm>
              <a:off x="9144000" y="1504950"/>
              <a:ext cx="2476500" cy="3867150"/>
            </a:xfrm>
            <a:prstGeom prst="roundRect">
              <a:avLst>
                <a:gd name="adj" fmla="val 10769"/>
              </a:avLst>
            </a:prstGeom>
            <a:solidFill>
              <a:srgbClr val="FFFFFF"/>
            </a:solidFill>
            <a:ln w="28575">
              <a:solidFill>
                <a:schemeClr val="accent4"/>
              </a:solidFill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10145652" y="1962150"/>
              <a:ext cx="473197" cy="538896"/>
              <a:chOff x="10145652" y="1962150"/>
              <a:chExt cx="473197" cy="538896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10145652" y="1962150"/>
                <a:ext cx="473197" cy="538896"/>
              </a:xfrm>
              <a:custGeom>
                <a:avLst/>
                <a:gdLst/>
                <a:ahLst/>
                <a:cxnLst/>
                <a:rect l="l" t="t" r="r" b="b"/>
                <a:pathLst>
                  <a:path w="473197" h="538896">
                    <a:moveTo>
                      <a:pt x="3236" y="233362"/>
                    </a:moveTo>
                    <a:cubicBezTo>
                      <a:pt x="3236" y="104480"/>
                      <a:pt x="107716" y="0"/>
                      <a:pt x="236598" y="0"/>
                    </a:cubicBezTo>
                    <a:cubicBezTo>
                      <a:pt x="365481" y="0"/>
                      <a:pt x="469961" y="104480"/>
                      <a:pt x="469961" y="233362"/>
                    </a:cubicBezTo>
                    <a:lnTo>
                      <a:pt x="469961" y="466725"/>
                    </a:lnTo>
                    <a:cubicBezTo>
                      <a:pt x="473197" y="492551"/>
                      <a:pt x="459225" y="517471"/>
                      <a:pt x="435504" y="528184"/>
                    </a:cubicBezTo>
                    <a:cubicBezTo>
                      <a:pt x="411783" y="538896"/>
                      <a:pt x="383850" y="532901"/>
                      <a:pt x="366615" y="513397"/>
                    </a:cubicBezTo>
                    <a:cubicBezTo>
                      <a:pt x="356190" y="500060"/>
                      <a:pt x="340204" y="492266"/>
                      <a:pt x="323276" y="492266"/>
                    </a:cubicBezTo>
                    <a:cubicBezTo>
                      <a:pt x="306347" y="492266"/>
                      <a:pt x="290362" y="500060"/>
                      <a:pt x="279937" y="513397"/>
                    </a:cubicBezTo>
                    <a:cubicBezTo>
                      <a:pt x="269512" y="526735"/>
                      <a:pt x="253527" y="534529"/>
                      <a:pt x="236598" y="534529"/>
                    </a:cubicBezTo>
                    <a:cubicBezTo>
                      <a:pt x="219670" y="534529"/>
                      <a:pt x="203685" y="526735"/>
                      <a:pt x="193260" y="513397"/>
                    </a:cubicBezTo>
                    <a:cubicBezTo>
                      <a:pt x="182835" y="500060"/>
                      <a:pt x="166849" y="492266"/>
                      <a:pt x="149921" y="492266"/>
                    </a:cubicBezTo>
                    <a:cubicBezTo>
                      <a:pt x="132992" y="492266"/>
                      <a:pt x="117007" y="500060"/>
                      <a:pt x="106582" y="513397"/>
                    </a:cubicBezTo>
                    <a:cubicBezTo>
                      <a:pt x="89347" y="532901"/>
                      <a:pt x="61413" y="538896"/>
                      <a:pt x="37692" y="528184"/>
                    </a:cubicBezTo>
                    <a:cubicBezTo>
                      <a:pt x="13971" y="517471"/>
                      <a:pt x="0" y="492551"/>
                      <a:pt x="3236" y="466725"/>
                    </a:cubicBezTo>
                    <a:lnTo>
                      <a:pt x="3236" y="233362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10315575" y="21621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333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10448925" y="21621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333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10315575" y="2295525"/>
                <a:ext cx="133350" cy="27902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27902">
                    <a:moveTo>
                      <a:pt x="0" y="0"/>
                    </a:moveTo>
                    <a:cubicBezTo>
                      <a:pt x="40071" y="27902"/>
                      <a:pt x="93279" y="27902"/>
                      <a:pt x="133350" y="0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9153971" y="2737485"/>
              <a:ext cx="245655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Skinned Mesh</a:t>
              </a:r>
              <a:endParaRPr lang="en-US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618444" y="3169920"/>
              <a:ext cx="15276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Renderer</a:t>
              </a:r>
              <a:endParaRPr lang="en-US" sz="24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3" name="Freeform 53"/>
            <p:cNvSpPr/>
            <p:nvPr/>
          </p:nvSpPr>
          <p:spPr>
            <a:xfrm>
              <a:off x="9505950" y="3543300"/>
              <a:ext cx="1752600" cy="342900"/>
            </a:xfrm>
            <a:custGeom>
              <a:avLst/>
              <a:gdLst/>
              <a:ahLst/>
              <a:cxnLst/>
              <a:rect l="l" t="t" r="r" b="b"/>
              <a:pathLst>
                <a:path w="1752600" h="342900">
                  <a:moveTo>
                    <a:pt x="0" y="171450"/>
                  </a:moveTo>
                  <a:cubicBezTo>
                    <a:pt x="542925" y="0"/>
                    <a:pt x="1219200" y="342900"/>
                    <a:pt x="1752600" y="133350"/>
                  </a:cubicBezTo>
                </a:path>
              </a:pathLst>
            </a:custGeom>
            <a:noFill/>
            <a:ln w="66675" cap="rnd">
              <a:solidFill>
                <a:schemeClr val="accent2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401556" y="401574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骨骼驱动网格变形</a:t>
              </a:r>
              <a:endPara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401556" y="44157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常用于角色与动画</a:t>
              </a:r>
              <a:endPara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9410700" y="4838700"/>
              <a:ext cx="1943100" cy="361950"/>
            </a:xfrm>
            <a:prstGeom prst="roundRect">
              <a:avLst>
                <a:gd name="adj" fmla="val 31579"/>
              </a:avLst>
            </a:prstGeom>
            <a:solidFill>
              <a:srgbClr val="EAF0F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469873" y="4901565"/>
              <a:ext cx="182475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网格会“动起来”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52450" y="6353175"/>
            <a:ext cx="11055858" cy="432626"/>
            <a:chOff x="552450" y="6353175"/>
            <a:chExt cx="11055858" cy="432626"/>
          </a:xfrm>
        </p:grpSpPr>
        <p:sp>
          <p:nvSpPr>
            <p:cNvPr id="59" name="Line 59"/>
            <p:cNvSpPr/>
            <p:nvPr/>
          </p:nvSpPr>
          <p:spPr>
            <a:xfrm>
              <a:off x="552450" y="635317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1394681" y="652176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</a:t>
              </a:r>
              <a:endParaRPr lang="en-US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50" y="270510"/>
            <a:ext cx="10074554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让场景有氛围：天空盒、灯光与烘焙</a:t>
            </a:r>
            <a:endParaRPr lang="zh-CN" sz="4200" b="1" dirty="0">
              <a:solidFill>
                <a:schemeClr val="dk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81406" y="986790"/>
            <a:ext cx="437997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实时光负责变化，烘焙光负责稳定与性能</a:t>
            </a:r>
            <a:endParaRPr lang="zh-CN" sz="1800" dirty="0">
              <a:solidFill>
                <a:schemeClr val="dk2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24" name="Group 24"/>
          <p:cNvGrpSpPr/>
          <p:nvPr/>
        </p:nvGrpSpPr>
        <p:grpSpPr>
          <a:xfrm>
            <a:off x="666750" y="1524000"/>
            <a:ext cx="10858500" cy="2152650"/>
            <a:chOff x="666750" y="1524000"/>
            <a:chExt cx="10858500" cy="2152650"/>
          </a:xfrm>
        </p:grpSpPr>
        <p:sp>
          <p:nvSpPr>
            <p:cNvPr id="4" name="Rectangle 4"/>
            <p:cNvSpPr/>
            <p:nvPr/>
          </p:nvSpPr>
          <p:spPr>
            <a:xfrm>
              <a:off x="666750" y="1524000"/>
              <a:ext cx="10858500" cy="2152650"/>
            </a:xfrm>
            <a:prstGeom prst="roundRect">
              <a:avLst>
                <a:gd name="adj" fmla="val 13274"/>
              </a:avLst>
            </a:prstGeom>
            <a:solidFill>
              <a:srgbClr val="EAF0FA"/>
            </a:solidFill>
            <a:ln w="28575">
              <a:solidFill>
                <a:schemeClr val="accent1"/>
              </a:solidFill>
            </a:ln>
          </p:spPr>
        </p:sp>
        <p:sp>
          <p:nvSpPr>
            <p:cNvPr id="5" name="Ellipse 5"/>
            <p:cNvSpPr/>
            <p:nvPr/>
          </p:nvSpPr>
          <p:spPr>
            <a:xfrm>
              <a:off x="1524000" y="1981200"/>
              <a:ext cx="1219200" cy="1219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1066800" y="1524000"/>
              <a:ext cx="2133600" cy="2133600"/>
              <a:chOff x="1066800" y="1524000"/>
              <a:chExt cx="2133600" cy="2133600"/>
            </a:xfrm>
          </p:grpSpPr>
          <p:sp>
            <p:nvSpPr>
              <p:cNvPr id="6" name="Line 6"/>
              <p:cNvSpPr/>
              <p:nvPr/>
            </p:nvSpPr>
            <p:spPr>
              <a:xfrm>
                <a:off x="2133600" y="1524000"/>
                <a:ext cx="9525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8600">
                    <a:moveTo>
                      <a:pt x="0" y="228600"/>
                    </a:moveTo>
                    <a:lnTo>
                      <a:pt x="0" y="0"/>
                    </a:lnTo>
                  </a:path>
                </a:pathLst>
              </a:custGeom>
              <a:noFill/>
              <a:ln w="95250" cap="rnd">
                <a:solidFill>
                  <a:schemeClr val="accent2"/>
                </a:solidFill>
              </a:ln>
            </p:spPr>
          </p:sp>
          <p:sp>
            <p:nvSpPr>
              <p:cNvPr id="7" name="Line 7"/>
              <p:cNvSpPr/>
              <p:nvPr/>
            </p:nvSpPr>
            <p:spPr>
              <a:xfrm>
                <a:off x="2133600" y="3429000"/>
                <a:ext cx="9525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8600">
                    <a:moveTo>
                      <a:pt x="0" y="228600"/>
                    </a:moveTo>
                    <a:lnTo>
                      <a:pt x="0" y="0"/>
                    </a:lnTo>
                  </a:path>
                </a:pathLst>
              </a:custGeom>
              <a:noFill/>
              <a:ln w="95250" cap="rnd">
                <a:solidFill>
                  <a:schemeClr val="accent2"/>
                </a:solidFill>
              </a:ln>
            </p:spPr>
          </p:sp>
          <p:sp>
            <p:nvSpPr>
              <p:cNvPr id="8" name="Line 8"/>
              <p:cNvSpPr/>
              <p:nvPr/>
            </p:nvSpPr>
            <p:spPr>
              <a:xfrm>
                <a:off x="1066800" y="2590800"/>
                <a:ext cx="228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9525">
                    <a:moveTo>
                      <a:pt x="228600" y="0"/>
                    </a:moveTo>
                    <a:lnTo>
                      <a:pt x="0" y="0"/>
                    </a:lnTo>
                  </a:path>
                </a:pathLst>
              </a:custGeom>
              <a:noFill/>
              <a:ln w="95250" cap="rnd">
                <a:solidFill>
                  <a:schemeClr val="accent2"/>
                </a:solidFill>
              </a:ln>
            </p:spPr>
          </p:sp>
          <p:sp>
            <p:nvSpPr>
              <p:cNvPr id="9" name="Line 9"/>
              <p:cNvSpPr/>
              <p:nvPr/>
            </p:nvSpPr>
            <p:spPr>
              <a:xfrm>
                <a:off x="2971800" y="2590800"/>
                <a:ext cx="228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9525">
                    <a:moveTo>
                      <a:pt x="228600" y="0"/>
                    </a:moveTo>
                    <a:lnTo>
                      <a:pt x="0" y="0"/>
                    </a:lnTo>
                  </a:path>
                </a:pathLst>
              </a:custGeom>
              <a:noFill/>
              <a:ln w="95250" cap="rnd">
                <a:solidFill>
                  <a:schemeClr val="accent2"/>
                </a:solidFill>
              </a:ln>
            </p:spPr>
          </p:sp>
        </p:grpSp>
        <p:grpSp>
          <p:nvGrpSpPr>
            <p:cNvPr id="13" name="Group 13"/>
            <p:cNvGrpSpPr/>
            <p:nvPr/>
          </p:nvGrpSpPr>
          <p:grpSpPr>
            <a:xfrm>
              <a:off x="1876425" y="2333625"/>
              <a:ext cx="514350" cy="514350"/>
              <a:chOff x="1876425" y="2333625"/>
              <a:chExt cx="514350" cy="51435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2019300" y="247650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114300"/>
                    </a:moveTo>
                    <a:cubicBezTo>
                      <a:pt x="0" y="177426"/>
                      <a:pt x="51174" y="228600"/>
                      <a:pt x="114300" y="228600"/>
                    </a:cubicBezTo>
                    <a:cubicBezTo>
                      <a:pt x="177426" y="228600"/>
                      <a:pt x="228600" y="177426"/>
                      <a:pt x="228600" y="114300"/>
                    </a:cubicBezTo>
                    <a:cubicBezTo>
                      <a:pt x="228600" y="51174"/>
                      <a:pt x="177426" y="0"/>
                      <a:pt x="114300" y="0"/>
                    </a:cubicBezTo>
                    <a:cubicBezTo>
                      <a:pt x="51174" y="0"/>
                      <a:pt x="0" y="51174"/>
                      <a:pt x="0" y="11430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876425" y="2333625"/>
                <a:ext cx="514350" cy="514350"/>
              </a:xfrm>
              <a:custGeom>
                <a:avLst/>
                <a:gdLst/>
                <a:ahLst/>
                <a:cxnLst/>
                <a:rect l="l" t="t" r="r" b="b"/>
                <a:pathLst>
                  <a:path w="514350" h="514350">
                    <a:moveTo>
                      <a:pt x="0" y="257175"/>
                    </a:moveTo>
                    <a:lnTo>
                      <a:pt x="28575" y="257175"/>
                    </a:lnTo>
                    <a:moveTo>
                      <a:pt x="257175" y="0"/>
                    </a:moveTo>
                    <a:lnTo>
                      <a:pt x="257175" y="28575"/>
                    </a:lnTo>
                    <a:moveTo>
                      <a:pt x="485775" y="257175"/>
                    </a:moveTo>
                    <a:lnTo>
                      <a:pt x="514350" y="257175"/>
                    </a:lnTo>
                    <a:moveTo>
                      <a:pt x="257175" y="485775"/>
                    </a:moveTo>
                    <a:lnTo>
                      <a:pt x="257175" y="514350"/>
                    </a:lnTo>
                    <a:moveTo>
                      <a:pt x="74295" y="74295"/>
                    </a:moveTo>
                    <a:lnTo>
                      <a:pt x="94298" y="94298"/>
                    </a:lnTo>
                    <a:moveTo>
                      <a:pt x="440055" y="74295"/>
                    </a:moveTo>
                    <a:lnTo>
                      <a:pt x="420052" y="94298"/>
                    </a:lnTo>
                    <a:moveTo>
                      <a:pt x="420052" y="420053"/>
                    </a:moveTo>
                    <a:lnTo>
                      <a:pt x="440055" y="440055"/>
                    </a:lnTo>
                    <a:moveTo>
                      <a:pt x="94298" y="420053"/>
                    </a:moveTo>
                    <a:lnTo>
                      <a:pt x="74295" y="440055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3412998" y="1926908"/>
              <a:ext cx="566309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Skybox + Directional Light</a:t>
              </a:r>
              <a:endParaRPr lang="en-US" sz="31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435858" y="2465070"/>
              <a:ext cx="519379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先定天空与主光方向，再补局部光源</a:t>
              </a:r>
              <a:endParaRPr lang="zh-CN" sz="240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448050" y="3028950"/>
              <a:ext cx="3048000" cy="400050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817963" y="3120390"/>
              <a:ext cx="23081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环境色决定整体情绪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9148762" y="2290762"/>
              <a:ext cx="600075" cy="600075"/>
              <a:chOff x="9148762" y="2290762"/>
              <a:chExt cx="600075" cy="600075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9148762" y="2290762"/>
                <a:ext cx="600075" cy="300038"/>
              </a:xfrm>
              <a:custGeom>
                <a:avLst/>
                <a:gdLst/>
                <a:ahLst/>
                <a:cxnLst/>
                <a:rect l="l" t="t" r="r" b="b"/>
                <a:pathLst>
                  <a:path w="600075" h="300038">
                    <a:moveTo>
                      <a:pt x="0" y="300038"/>
                    </a:moveTo>
                    <a:lnTo>
                      <a:pt x="33338" y="300038"/>
                    </a:lnTo>
                    <a:moveTo>
                      <a:pt x="300038" y="0"/>
                    </a:moveTo>
                    <a:lnTo>
                      <a:pt x="300038" y="33338"/>
                    </a:lnTo>
                    <a:moveTo>
                      <a:pt x="566738" y="300038"/>
                    </a:moveTo>
                    <a:lnTo>
                      <a:pt x="600075" y="300038"/>
                    </a:lnTo>
                    <a:moveTo>
                      <a:pt x="86678" y="86677"/>
                    </a:moveTo>
                    <a:lnTo>
                      <a:pt x="110014" y="110014"/>
                    </a:lnTo>
                    <a:moveTo>
                      <a:pt x="513397" y="86677"/>
                    </a:moveTo>
                    <a:lnTo>
                      <a:pt x="490061" y="110014"/>
                    </a:ln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9267978" y="2424112"/>
                <a:ext cx="361644" cy="466725"/>
              </a:xfrm>
              <a:custGeom>
                <a:avLst/>
                <a:gdLst/>
                <a:ahLst/>
                <a:cxnLst/>
                <a:rect l="l" t="t" r="r" b="b"/>
                <a:pathLst>
                  <a:path w="361644" h="466725">
                    <a:moveTo>
                      <a:pt x="80810" y="300038"/>
                    </a:moveTo>
                    <a:cubicBezTo>
                      <a:pt x="23412" y="256989"/>
                      <a:pt x="0" y="182042"/>
                      <a:pt x="22689" y="113976"/>
                    </a:cubicBezTo>
                    <a:cubicBezTo>
                      <a:pt x="45377" y="45911"/>
                      <a:pt x="109075" y="0"/>
                      <a:pt x="180822" y="0"/>
                    </a:cubicBezTo>
                    <a:cubicBezTo>
                      <a:pt x="252570" y="0"/>
                      <a:pt x="316267" y="45911"/>
                      <a:pt x="338956" y="113976"/>
                    </a:cubicBezTo>
                    <a:cubicBezTo>
                      <a:pt x="361644" y="182042"/>
                      <a:pt x="338233" y="256989"/>
                      <a:pt x="280835" y="300038"/>
                    </a:cubicBezTo>
                    <a:cubicBezTo>
                      <a:pt x="254437" y="326168"/>
                      <a:pt x="242057" y="363307"/>
                      <a:pt x="247497" y="400050"/>
                    </a:cubicBezTo>
                    <a:cubicBezTo>
                      <a:pt x="247497" y="436874"/>
                      <a:pt x="217646" y="466725"/>
                      <a:pt x="180822" y="466725"/>
                    </a:cubicBezTo>
                    <a:cubicBezTo>
                      <a:pt x="143999" y="466725"/>
                      <a:pt x="114147" y="436874"/>
                      <a:pt x="114147" y="400050"/>
                    </a:cubicBezTo>
                    <a:cubicBezTo>
                      <a:pt x="119587" y="363307"/>
                      <a:pt x="107208" y="326168"/>
                      <a:pt x="80810" y="300038"/>
                    </a:cubicBez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9372124" y="2757488"/>
                <a:ext cx="15335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3352" h="9525">
                    <a:moveTo>
                      <a:pt x="0" y="0"/>
                    </a:moveTo>
                    <a:lnTo>
                      <a:pt x="153352" y="0"/>
                    </a:ln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9935566" y="2293620"/>
              <a:ext cx="70286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2F8F6A"/>
                  </a:solidFill>
                  <a:latin typeface="+mn-lt"/>
                  <a:ea typeface="+mn-ea"/>
                  <a:cs typeface="+mn-cs"/>
                </a:rPr>
                <a:t>补光</a:t>
              </a:r>
              <a:endParaRPr lang="zh-CN" sz="2400" b="1" dirty="0">
                <a:solidFill>
                  <a:srgbClr val="2F8F6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653892" y="2739390"/>
              <a:ext cx="12662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点光 / 聚光</a:t>
              </a:r>
              <a:endPara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66750" y="4057650"/>
            <a:ext cx="10668000" cy="1371600"/>
            <a:chOff x="666750" y="4057650"/>
            <a:chExt cx="10668000" cy="1371600"/>
          </a:xfrm>
        </p:grpSpPr>
        <p:sp>
          <p:nvSpPr>
            <p:cNvPr id="25" name="Polygon 25"/>
            <p:cNvSpPr/>
            <p:nvPr/>
          </p:nvSpPr>
          <p:spPr>
            <a:xfrm>
              <a:off x="666750" y="4057650"/>
              <a:ext cx="2667000" cy="1371600"/>
            </a:xfrm>
            <a:custGeom>
              <a:avLst/>
              <a:gdLst/>
              <a:ahLst/>
              <a:cxnLst/>
              <a:rect l="l" t="t" r="r" b="b"/>
              <a:pathLst>
                <a:path w="2667000" h="1371600">
                  <a:moveTo>
                    <a:pt x="0" y="0"/>
                  </a:moveTo>
                  <a:lnTo>
                    <a:pt x="2333625" y="0"/>
                  </a:lnTo>
                  <a:lnTo>
                    <a:pt x="2667000" y="685800"/>
                  </a:lnTo>
                  <a:lnTo>
                    <a:pt x="2333625" y="1371600"/>
                  </a:lnTo>
                  <a:lnTo>
                    <a:pt x="0" y="1371600"/>
                  </a:lnTo>
                  <a:lnTo>
                    <a:pt x="333375" y="6858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70331" y="4389120"/>
              <a:ext cx="205983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标记静态物体</a:t>
              </a:r>
              <a:endParaRPr lang="zh-CN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618088" y="4844415"/>
              <a:ext cx="7643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Static</a:t>
              </a:r>
              <a:endParaRPr lang="en-US" sz="18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Polygon 28"/>
            <p:cNvSpPr/>
            <p:nvPr/>
          </p:nvSpPr>
          <p:spPr>
            <a:xfrm>
              <a:off x="3238500" y="4057650"/>
              <a:ext cx="2667000" cy="1371600"/>
            </a:xfrm>
            <a:custGeom>
              <a:avLst/>
              <a:gdLst/>
              <a:ahLst/>
              <a:cxnLst/>
              <a:rect l="l" t="t" r="r" b="b"/>
              <a:pathLst>
                <a:path w="2667000" h="1371600">
                  <a:moveTo>
                    <a:pt x="0" y="0"/>
                  </a:moveTo>
                  <a:lnTo>
                    <a:pt x="2333625" y="0"/>
                  </a:lnTo>
                  <a:lnTo>
                    <a:pt x="2667000" y="685800"/>
                  </a:lnTo>
                  <a:lnTo>
                    <a:pt x="2333625" y="1371600"/>
                  </a:lnTo>
                  <a:lnTo>
                    <a:pt x="0" y="1371600"/>
                  </a:lnTo>
                  <a:lnTo>
                    <a:pt x="333375" y="68580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542081" y="4389120"/>
              <a:ext cx="205983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配置灯光模式</a:t>
              </a:r>
              <a:endParaRPr lang="zh-CN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754161" y="4844415"/>
              <a:ext cx="16356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Baked / Mixed</a:t>
              </a:r>
              <a:endParaRPr lang="en-US" sz="18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Polygon 31"/>
            <p:cNvSpPr/>
            <p:nvPr/>
          </p:nvSpPr>
          <p:spPr>
            <a:xfrm>
              <a:off x="5810250" y="4057650"/>
              <a:ext cx="2667000" cy="1371600"/>
            </a:xfrm>
            <a:custGeom>
              <a:avLst/>
              <a:gdLst/>
              <a:ahLst/>
              <a:cxnLst/>
              <a:rect l="l" t="t" r="r" b="b"/>
              <a:pathLst>
                <a:path w="2667000" h="1371600">
                  <a:moveTo>
                    <a:pt x="0" y="0"/>
                  </a:moveTo>
                  <a:lnTo>
                    <a:pt x="2333625" y="0"/>
                  </a:lnTo>
                  <a:lnTo>
                    <a:pt x="2667000" y="685800"/>
                  </a:lnTo>
                  <a:lnTo>
                    <a:pt x="2333625" y="1371600"/>
                  </a:lnTo>
                  <a:lnTo>
                    <a:pt x="0" y="1371600"/>
                  </a:lnTo>
                  <a:lnTo>
                    <a:pt x="333375" y="6858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113831" y="4389120"/>
              <a:ext cx="205983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生成光照数据</a:t>
              </a:r>
              <a:endParaRPr lang="zh-CN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085275" y="4844415"/>
              <a:ext cx="211695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Generate Lighting</a:t>
              </a:r>
              <a:endParaRPr lang="en-US" sz="18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Polygon 34"/>
            <p:cNvSpPr/>
            <p:nvPr/>
          </p:nvSpPr>
          <p:spPr>
            <a:xfrm>
              <a:off x="8382000" y="4057650"/>
              <a:ext cx="2952750" cy="1371600"/>
            </a:xfrm>
            <a:custGeom>
              <a:avLst/>
              <a:gdLst/>
              <a:ahLst/>
              <a:cxnLst/>
              <a:rect l="l" t="t" r="r" b="b"/>
              <a:pathLst>
                <a:path w="2952750" h="1371600">
                  <a:moveTo>
                    <a:pt x="0" y="0"/>
                  </a:moveTo>
                  <a:lnTo>
                    <a:pt x="2619375" y="0"/>
                  </a:lnTo>
                  <a:lnTo>
                    <a:pt x="2952750" y="685800"/>
                  </a:lnTo>
                  <a:lnTo>
                    <a:pt x="2619375" y="1371600"/>
                  </a:lnTo>
                  <a:lnTo>
                    <a:pt x="0" y="1371600"/>
                  </a:lnTo>
                  <a:lnTo>
                    <a:pt x="333375" y="685800"/>
                  </a:lnTo>
                  <a:close/>
                </a:path>
              </a:pathLst>
            </a:custGeom>
            <a:solidFill>
              <a:srgbClr val="D85C45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998077" y="4389120"/>
              <a:ext cx="172059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验证与优化</a:t>
              </a:r>
              <a:endParaRPr lang="zh-CN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843620" y="4844415"/>
              <a:ext cx="20295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阴影 · 内存 · 效果</a:t>
              </a:r>
              <a:endParaRPr lang="zh-CN" sz="18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52450" y="6353175"/>
            <a:ext cx="11055858" cy="432626"/>
            <a:chOff x="552450" y="6353175"/>
            <a:chExt cx="11055858" cy="432626"/>
          </a:xfrm>
        </p:grpSpPr>
        <p:sp>
          <p:nvSpPr>
            <p:cNvPr id="38" name="Line 38"/>
            <p:cNvSpPr/>
            <p:nvPr/>
          </p:nvSpPr>
          <p:spPr>
            <a:xfrm>
              <a:off x="552450" y="635317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1394681" y="652176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</a:t>
              </a:r>
              <a:endParaRPr lang="en-US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50" y="270510"/>
            <a:ext cx="4422140" cy="6457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把相机画面送进 UI</a:t>
            </a:r>
            <a:endParaRPr lang="zh-CN" sz="4200" b="1" dirty="0">
              <a:solidFill>
                <a:schemeClr val="dk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81406" y="986790"/>
            <a:ext cx="462229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常见于小地图、监控屏、角色预览与画中画</a:t>
            </a:r>
            <a:endParaRPr lang="zh-CN" sz="1800" dirty="0">
              <a:solidFill>
                <a:schemeClr val="dk2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36" name="Group 36"/>
          <p:cNvGrpSpPr/>
          <p:nvPr/>
        </p:nvGrpSpPr>
        <p:grpSpPr>
          <a:xfrm>
            <a:off x="666750" y="1619250"/>
            <a:ext cx="11239500" cy="3429000"/>
            <a:chOff x="666750" y="1619250"/>
            <a:chExt cx="11239500" cy="3429000"/>
          </a:xfrm>
        </p:grpSpPr>
        <p:grpSp>
          <p:nvGrpSpPr>
            <p:cNvPr id="13" name="Group 13"/>
            <p:cNvGrpSpPr/>
            <p:nvPr/>
          </p:nvGrpSpPr>
          <p:grpSpPr>
            <a:xfrm>
              <a:off x="666750" y="1619250"/>
              <a:ext cx="2952750" cy="3429000"/>
              <a:chOff x="666750" y="1619250"/>
              <a:chExt cx="2952750" cy="3429000"/>
            </a:xfrm>
          </p:grpSpPr>
          <p:sp>
            <p:nvSpPr>
              <p:cNvPr id="4" name="Rectangle 4"/>
              <p:cNvSpPr/>
              <p:nvPr/>
            </p:nvSpPr>
            <p:spPr>
              <a:xfrm>
                <a:off x="666750" y="1619250"/>
                <a:ext cx="2952750" cy="3429000"/>
              </a:xfrm>
              <a:prstGeom prst="roundRect">
                <a:avLst>
                  <a:gd name="adj" fmla="val 9677"/>
                </a:avLst>
              </a:prstGeom>
              <a:solidFill>
                <a:srgbClr val="EAF0FA"/>
              </a:solidFill>
              <a:ln w="38100">
                <a:solidFill>
                  <a:schemeClr val="accent1"/>
                </a:solidFill>
              </a:ln>
            </p:spPr>
          </p:sp>
          <p:sp>
            <p:nvSpPr>
              <p:cNvPr id="5" name="Ellipse 5"/>
              <p:cNvSpPr/>
              <p:nvPr/>
            </p:nvSpPr>
            <p:spPr>
              <a:xfrm>
                <a:off x="1457325" y="1924050"/>
                <a:ext cx="1371600" cy="1371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grpSp>
            <p:nvGrpSpPr>
              <p:cNvPr id="8" name="Group 8"/>
              <p:cNvGrpSpPr/>
              <p:nvPr/>
            </p:nvGrpSpPr>
            <p:grpSpPr>
              <a:xfrm>
                <a:off x="1800225" y="2305050"/>
                <a:ext cx="685800" cy="609600"/>
                <a:chOff x="1800225" y="2305050"/>
                <a:chExt cx="685800" cy="609600"/>
              </a:xfrm>
            </p:grpSpPr>
            <p:sp>
              <p:nvSpPr>
                <p:cNvPr id="6" name="Freeform 6"/>
                <p:cNvSpPr/>
                <p:nvPr/>
              </p:nvSpPr>
              <p:spPr>
                <a:xfrm>
                  <a:off x="1800225" y="2305050"/>
                  <a:ext cx="685800" cy="609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5800" h="609600">
                      <a:moveTo>
                        <a:pt x="76200" y="114300"/>
                      </a:moveTo>
                      <a:lnTo>
                        <a:pt x="114300" y="114300"/>
                      </a:lnTo>
                      <a:cubicBezTo>
                        <a:pt x="156384" y="114300"/>
                        <a:pt x="190500" y="80184"/>
                        <a:pt x="190500" y="38100"/>
                      </a:cubicBezTo>
                      <a:cubicBezTo>
                        <a:pt x="190500" y="17058"/>
                        <a:pt x="207558" y="0"/>
                        <a:pt x="228600" y="0"/>
                      </a:cubicBezTo>
                      <a:lnTo>
                        <a:pt x="457200" y="0"/>
                      </a:lnTo>
                      <a:cubicBezTo>
                        <a:pt x="478242" y="0"/>
                        <a:pt x="495300" y="17058"/>
                        <a:pt x="495300" y="38100"/>
                      </a:cubicBezTo>
                      <a:cubicBezTo>
                        <a:pt x="495300" y="80184"/>
                        <a:pt x="529416" y="114300"/>
                        <a:pt x="571500" y="114300"/>
                      </a:cubicBezTo>
                      <a:lnTo>
                        <a:pt x="609600" y="114300"/>
                      </a:lnTo>
                      <a:cubicBezTo>
                        <a:pt x="651684" y="114300"/>
                        <a:pt x="685800" y="148416"/>
                        <a:pt x="685800" y="190500"/>
                      </a:cubicBezTo>
                      <a:lnTo>
                        <a:pt x="685800" y="533400"/>
                      </a:lnTo>
                      <a:cubicBezTo>
                        <a:pt x="685800" y="575484"/>
                        <a:pt x="651684" y="609600"/>
                        <a:pt x="609600" y="609600"/>
                      </a:cubicBezTo>
                      <a:lnTo>
                        <a:pt x="76200" y="609600"/>
                      </a:lnTo>
                      <a:cubicBezTo>
                        <a:pt x="34116" y="609600"/>
                        <a:pt x="0" y="575484"/>
                        <a:pt x="0" y="533400"/>
                      </a:cubicBezTo>
                      <a:lnTo>
                        <a:pt x="0" y="190500"/>
                      </a:lnTo>
                      <a:cubicBezTo>
                        <a:pt x="0" y="148416"/>
                        <a:pt x="34116" y="114300"/>
                        <a:pt x="76200" y="114300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7" name="Freeform 7"/>
                <p:cNvSpPr/>
                <p:nvPr/>
              </p:nvSpPr>
              <p:spPr>
                <a:xfrm>
                  <a:off x="2028825" y="2533650"/>
                  <a:ext cx="228600" cy="22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228600">
                      <a:moveTo>
                        <a:pt x="0" y="114300"/>
                      </a:moveTo>
                      <a:cubicBezTo>
                        <a:pt x="0" y="177426"/>
                        <a:pt x="51174" y="228600"/>
                        <a:pt x="114300" y="228600"/>
                      </a:cubicBezTo>
                      <a:cubicBezTo>
                        <a:pt x="177426" y="228600"/>
                        <a:pt x="228600" y="177426"/>
                        <a:pt x="228600" y="114300"/>
                      </a:cubicBezTo>
                      <a:cubicBezTo>
                        <a:pt x="228600" y="51174"/>
                        <a:pt x="177426" y="0"/>
                        <a:pt x="114300" y="0"/>
                      </a:cubicBezTo>
                      <a:cubicBezTo>
                        <a:pt x="51174" y="0"/>
                        <a:pt x="0" y="51174"/>
                        <a:pt x="0" y="114300"/>
                      </a:cubicBez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9" name="TextBox 9"/>
              <p:cNvSpPr txBox="1"/>
              <p:nvPr/>
            </p:nvSpPr>
            <p:spPr>
              <a:xfrm>
                <a:off x="1455225" y="3404235"/>
                <a:ext cx="1375801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7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Camera</a:t>
                </a:r>
                <a:endParaRPr lang="en-US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164717" y="3939540"/>
                <a:ext cx="19568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选择要渲染的场景</a:t>
                </a:r>
                <a:endPara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1" name="Rectangle 11"/>
              <p:cNvSpPr/>
              <p:nvPr/>
            </p:nvSpPr>
            <p:spPr>
              <a:xfrm>
                <a:off x="1085850" y="4419600"/>
                <a:ext cx="2114550" cy="400050"/>
              </a:xfrm>
              <a:prstGeom prst="roundRect">
                <a:avLst>
                  <a:gd name="adj" fmla="val 33333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177969" y="4511040"/>
                <a:ext cx="193031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Target Texture</a:t>
                </a:r>
                <a:endPara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14" name="Freeform 14"/>
            <p:cNvSpPr/>
            <p:nvPr/>
          </p:nvSpPr>
          <p:spPr>
            <a:xfrm>
              <a:off x="3810000" y="3086100"/>
              <a:ext cx="1190625" cy="495300"/>
            </a:xfrm>
            <a:custGeom>
              <a:avLst/>
              <a:gdLst/>
              <a:ahLst/>
              <a:cxnLst/>
              <a:rect l="l" t="t" r="r" b="b"/>
              <a:pathLst>
                <a:path w="1190625" h="495300">
                  <a:moveTo>
                    <a:pt x="0" y="247650"/>
                  </a:moveTo>
                  <a:lnTo>
                    <a:pt x="714375" y="247650"/>
                  </a:lnTo>
                  <a:lnTo>
                    <a:pt x="714375" y="0"/>
                  </a:lnTo>
                  <a:lnTo>
                    <a:pt x="1190625" y="247650"/>
                  </a:lnTo>
                  <a:lnTo>
                    <a:pt x="714375" y="495300"/>
                  </a:lnTo>
                  <a:lnTo>
                    <a:pt x="714375" y="24765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4810125" y="1619250"/>
              <a:ext cx="2952750" cy="3429000"/>
              <a:chOff x="4810125" y="1619250"/>
              <a:chExt cx="2952750" cy="342900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4810125" y="1619250"/>
                <a:ext cx="2952750" cy="3429000"/>
              </a:xfrm>
              <a:prstGeom prst="roundRect">
                <a:avLst>
                  <a:gd name="adj" fmla="val 9677"/>
                </a:avLst>
              </a:prstGeom>
              <a:solidFill>
                <a:srgbClr val="FFF0D1"/>
              </a:solidFill>
              <a:ln w="38100">
                <a:solidFill>
                  <a:schemeClr val="accent2"/>
                </a:solidFill>
              </a:ln>
            </p:spPr>
          </p:sp>
          <p:sp>
            <p:nvSpPr>
              <p:cNvPr id="16" name="Ellipse 16"/>
              <p:cNvSpPr/>
              <p:nvPr/>
            </p:nvSpPr>
            <p:spPr>
              <a:xfrm>
                <a:off x="5600700" y="1924050"/>
                <a:ext cx="1371600" cy="1371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grpSp>
            <p:nvGrpSpPr>
              <p:cNvPr id="19" name="Group 19"/>
              <p:cNvGrpSpPr/>
              <p:nvPr/>
            </p:nvGrpSpPr>
            <p:grpSpPr>
              <a:xfrm>
                <a:off x="5943600" y="2266950"/>
                <a:ext cx="685800" cy="647700"/>
                <a:chOff x="5943600" y="2266950"/>
                <a:chExt cx="685800" cy="647700"/>
              </a:xfrm>
            </p:grpSpPr>
            <p:sp>
              <p:nvSpPr>
                <p:cNvPr id="17" name="Freeform 17"/>
                <p:cNvSpPr/>
                <p:nvPr/>
              </p:nvSpPr>
              <p:spPr>
                <a:xfrm>
                  <a:off x="5943600" y="2419350"/>
                  <a:ext cx="685800" cy="495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5800" h="495300">
                      <a:moveTo>
                        <a:pt x="0" y="76200"/>
                      </a:moveTo>
                      <a:cubicBezTo>
                        <a:pt x="0" y="34116"/>
                        <a:pt x="34116" y="0"/>
                        <a:pt x="76200" y="0"/>
                      </a:cubicBezTo>
                      <a:lnTo>
                        <a:pt x="609600" y="0"/>
                      </a:lnTo>
                      <a:cubicBezTo>
                        <a:pt x="651684" y="0"/>
                        <a:pt x="685800" y="34116"/>
                        <a:pt x="685800" y="76200"/>
                      </a:cubicBezTo>
                      <a:lnTo>
                        <a:pt x="685800" y="419100"/>
                      </a:lnTo>
                      <a:cubicBezTo>
                        <a:pt x="685800" y="461184"/>
                        <a:pt x="651684" y="495300"/>
                        <a:pt x="609600" y="495300"/>
                      </a:cubicBezTo>
                      <a:lnTo>
                        <a:pt x="76200" y="495300"/>
                      </a:lnTo>
                      <a:cubicBezTo>
                        <a:pt x="34116" y="495300"/>
                        <a:pt x="0" y="461184"/>
                        <a:pt x="0" y="419100"/>
                      </a:cubicBezTo>
                      <a:lnTo>
                        <a:pt x="0" y="7620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6134100" y="2266950"/>
                  <a:ext cx="304800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800" h="152400">
                      <a:moveTo>
                        <a:pt x="304800" y="0"/>
                      </a:moveTo>
                      <a:lnTo>
                        <a:pt x="152400" y="15240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20" name="TextBox 20"/>
              <p:cNvSpPr txBox="1"/>
              <p:nvPr/>
            </p:nvSpPr>
            <p:spPr>
              <a:xfrm>
                <a:off x="4896512" y="3404235"/>
                <a:ext cx="2779976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7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RenderTexture</a:t>
                </a:r>
                <a:endParaRPr lang="en-US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5186934" y="3939540"/>
                <a:ext cx="219913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接收相机输出的纹理</a:t>
                </a:r>
                <a:endPara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2" name="Rectangle 22"/>
              <p:cNvSpPr/>
              <p:nvPr/>
            </p:nvSpPr>
            <p:spPr>
              <a:xfrm>
                <a:off x="5229225" y="4419600"/>
                <a:ext cx="2114550" cy="400050"/>
              </a:xfrm>
              <a:prstGeom prst="roundRect">
                <a:avLst>
                  <a:gd name="adj" fmla="val 33333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5259629" y="4511040"/>
                <a:ext cx="205374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8C5A00"/>
                    </a:solidFill>
                    <a:latin typeface="+mn-lt"/>
                    <a:ea typeface="+mn-ea"/>
                    <a:cs typeface="+mn-cs"/>
                  </a:rPr>
                  <a:t>分辨率影响清晰度</a:t>
                </a:r>
                <a:endParaRPr lang="zh-CN" sz="1800" b="1" dirty="0">
                  <a:solidFill>
                    <a:srgbClr val="8C5A00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25" name="Freeform 25"/>
            <p:cNvSpPr/>
            <p:nvPr/>
          </p:nvSpPr>
          <p:spPr>
            <a:xfrm>
              <a:off x="7953375" y="3086100"/>
              <a:ext cx="1190625" cy="495300"/>
            </a:xfrm>
            <a:custGeom>
              <a:avLst/>
              <a:gdLst/>
              <a:ahLst/>
              <a:cxnLst/>
              <a:rect l="l" t="t" r="r" b="b"/>
              <a:pathLst>
                <a:path w="1190625" h="495300">
                  <a:moveTo>
                    <a:pt x="0" y="247650"/>
                  </a:moveTo>
                  <a:lnTo>
                    <a:pt x="714375" y="247650"/>
                  </a:lnTo>
                  <a:lnTo>
                    <a:pt x="714375" y="0"/>
                  </a:lnTo>
                  <a:lnTo>
                    <a:pt x="1190625" y="247650"/>
                  </a:lnTo>
                  <a:lnTo>
                    <a:pt x="714375" y="495300"/>
                  </a:lnTo>
                  <a:lnTo>
                    <a:pt x="714375" y="24765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8953500" y="1619250"/>
              <a:ext cx="2952750" cy="3429000"/>
              <a:chOff x="8953500" y="1619250"/>
              <a:chExt cx="2952750" cy="342900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8953500" y="1619250"/>
                <a:ext cx="2952750" cy="3429000"/>
              </a:xfrm>
              <a:prstGeom prst="roundRect">
                <a:avLst>
                  <a:gd name="adj" fmla="val 9677"/>
                </a:avLst>
              </a:prstGeom>
              <a:solidFill>
                <a:srgbClr val="E8F5F0"/>
              </a:solidFill>
              <a:ln w="38100">
                <a:solidFill>
                  <a:schemeClr val="accent3"/>
                </a:solidFill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9639300" y="2019300"/>
                <a:ext cx="1581150" cy="1181100"/>
              </a:xfrm>
              <a:prstGeom prst="roundRect">
                <a:avLst>
                  <a:gd name="adj" fmla="val 14516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  <p:grpSp>
            <p:nvGrpSpPr>
              <p:cNvPr id="30" name="Group 30"/>
              <p:cNvGrpSpPr/>
              <p:nvPr/>
            </p:nvGrpSpPr>
            <p:grpSpPr>
              <a:xfrm>
                <a:off x="10086975" y="2266950"/>
                <a:ext cx="685800" cy="647700"/>
                <a:chOff x="10086975" y="2266950"/>
                <a:chExt cx="685800" cy="647700"/>
              </a:xfrm>
            </p:grpSpPr>
            <p:sp>
              <p:nvSpPr>
                <p:cNvPr id="28" name="Freeform 28"/>
                <p:cNvSpPr/>
                <p:nvPr/>
              </p:nvSpPr>
              <p:spPr>
                <a:xfrm>
                  <a:off x="10086975" y="2419350"/>
                  <a:ext cx="685800" cy="495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5800" h="495300">
                      <a:moveTo>
                        <a:pt x="0" y="76200"/>
                      </a:moveTo>
                      <a:cubicBezTo>
                        <a:pt x="0" y="34116"/>
                        <a:pt x="34116" y="0"/>
                        <a:pt x="76200" y="0"/>
                      </a:cubicBezTo>
                      <a:lnTo>
                        <a:pt x="609600" y="0"/>
                      </a:lnTo>
                      <a:cubicBezTo>
                        <a:pt x="651684" y="0"/>
                        <a:pt x="685800" y="34116"/>
                        <a:pt x="685800" y="76200"/>
                      </a:cubicBezTo>
                      <a:lnTo>
                        <a:pt x="685800" y="419100"/>
                      </a:lnTo>
                      <a:cubicBezTo>
                        <a:pt x="685800" y="461184"/>
                        <a:pt x="651684" y="495300"/>
                        <a:pt x="609600" y="495300"/>
                      </a:cubicBezTo>
                      <a:lnTo>
                        <a:pt x="76200" y="495300"/>
                      </a:lnTo>
                      <a:cubicBezTo>
                        <a:pt x="34116" y="495300"/>
                        <a:pt x="0" y="461184"/>
                        <a:pt x="0" y="419100"/>
                      </a:cubicBezTo>
                      <a:lnTo>
                        <a:pt x="0" y="7620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10277475" y="2266950"/>
                  <a:ext cx="304800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800" h="152400">
                      <a:moveTo>
                        <a:pt x="304800" y="0"/>
                      </a:moveTo>
                      <a:lnTo>
                        <a:pt x="152400" y="15240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FFFFFF"/>
                  </a:solidFill>
                </a:ln>
              </p:spPr>
            </p:sp>
          </p:grpSp>
          <p:sp>
            <p:nvSpPr>
              <p:cNvPr id="31" name="TextBox 31"/>
              <p:cNvSpPr txBox="1"/>
              <p:nvPr/>
            </p:nvSpPr>
            <p:spPr>
              <a:xfrm>
                <a:off x="9535624" y="3404235"/>
                <a:ext cx="1788502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7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RawImage</a:t>
                </a:r>
                <a:endParaRPr lang="en-US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9209951" y="3939540"/>
                <a:ext cx="243984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在 Canvas 上显示纹理</a:t>
                </a:r>
                <a:endPara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3" name="Rectangle 33"/>
              <p:cNvSpPr/>
              <p:nvPr/>
            </p:nvSpPr>
            <p:spPr>
              <a:xfrm>
                <a:off x="9372600" y="4419600"/>
                <a:ext cx="2114550" cy="400050"/>
              </a:xfrm>
              <a:prstGeom prst="roundRect">
                <a:avLst>
                  <a:gd name="adj" fmla="val 33333"/>
                </a:avLst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9266530" y="4511040"/>
                <a:ext cx="232669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2F8F6A"/>
                    </a:solidFill>
                    <a:latin typeface="+mn-lt"/>
                    <a:ea typeface="+mn-ea"/>
                    <a:cs typeface="+mn-cs"/>
                  </a:rPr>
                  <a:t>Texture = 输出纹理</a:t>
                </a:r>
                <a:endParaRPr lang="zh-CN" sz="1800" b="1" dirty="0">
                  <a:solidFill>
                    <a:srgbClr val="2F8F6A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sp>
        <p:nvSpPr>
          <p:cNvPr id="37" name="Rectangle 37"/>
          <p:cNvSpPr/>
          <p:nvPr/>
        </p:nvSpPr>
        <p:spPr>
          <a:xfrm>
            <a:off x="2076450" y="5334000"/>
            <a:ext cx="8039100" cy="590550"/>
          </a:xfrm>
          <a:prstGeom prst="roundRect">
            <a:avLst>
              <a:gd name="adj" fmla="val 32258"/>
            </a:avLst>
          </a:prstGeom>
          <a:solidFill>
            <a:srgbClr val="FFFFFF"/>
          </a:solidFill>
          <a:ln w="28575">
            <a:solidFill>
              <a:schemeClr val="accent4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2261378" y="5474970"/>
            <a:ext cx="7669243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关键：相机与 UI 共享同一张 RenderTexture 资产</a:t>
            </a:r>
            <a:endParaRPr lang="zh-CN" sz="24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42" name="Group 42"/>
          <p:cNvGrpSpPr/>
          <p:nvPr/>
        </p:nvGrpSpPr>
        <p:grpSpPr>
          <a:xfrm>
            <a:off x="552450" y="6353175"/>
            <a:ext cx="11055858" cy="432626"/>
            <a:chOff x="552450" y="6353175"/>
            <a:chExt cx="11055858" cy="432626"/>
          </a:xfrm>
        </p:grpSpPr>
        <p:sp>
          <p:nvSpPr>
            <p:cNvPr id="39" name="Line 39"/>
            <p:cNvSpPr/>
            <p:nvPr/>
          </p:nvSpPr>
          <p:spPr>
            <a:xfrm>
              <a:off x="552450" y="635317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1394681" y="652176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fld id="{DAD15D95-BE8E-4D87-BF41-FEB6568C5127}" type="slidenum"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fld>
              <a:endParaRPr lang="en-US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50" y="270510"/>
            <a:ext cx="12576947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Prefab：把调好的对象，变成可复用的资产</a:t>
            </a:r>
            <a:endParaRPr lang="zh-CN" sz="4200" b="1" dirty="0">
              <a:solidFill>
                <a:schemeClr val="dk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81406" y="986790"/>
            <a:ext cx="708824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统一来源、批量复用、局部覆盖；角色再用 PlayerRoot 组织模块</a:t>
            </a:r>
            <a:endParaRPr lang="zh-CN" sz="1800" dirty="0">
              <a:solidFill>
                <a:schemeClr val="dk2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29" name="Group 29"/>
          <p:cNvGrpSpPr/>
          <p:nvPr/>
        </p:nvGrpSpPr>
        <p:grpSpPr>
          <a:xfrm>
            <a:off x="571500" y="1524000"/>
            <a:ext cx="4476750" cy="4171950"/>
            <a:chOff x="571500" y="1524000"/>
            <a:chExt cx="4476750" cy="4171950"/>
          </a:xfrm>
        </p:grpSpPr>
        <p:sp>
          <p:nvSpPr>
            <p:cNvPr id="4" name="Rectangle 4"/>
            <p:cNvSpPr/>
            <p:nvPr/>
          </p:nvSpPr>
          <p:spPr>
            <a:xfrm>
              <a:off x="571500" y="1524000"/>
              <a:ext cx="4476750" cy="4171950"/>
            </a:xfrm>
            <a:prstGeom prst="roundRect">
              <a:avLst>
                <a:gd name="adj" fmla="val 6393"/>
              </a:avLst>
            </a:prstGeom>
            <a:solidFill>
              <a:srgbClr val="FFFFFF"/>
            </a:solidFill>
            <a:ln w="28575">
              <a:solidFill>
                <a:schemeClr val="accent1"/>
              </a:solidFill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24484" y="1765935"/>
              <a:ext cx="334056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Prefab 资产与实例</a:t>
              </a:r>
              <a:endParaRPr lang="zh-CN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Rectangle 6"/>
            <p:cNvSpPr/>
            <p:nvPr/>
          </p:nvSpPr>
          <p:spPr>
            <a:xfrm>
              <a:off x="1847850" y="2400300"/>
              <a:ext cx="1924050" cy="781050"/>
            </a:xfrm>
            <a:prstGeom prst="roundRect">
              <a:avLst>
                <a:gd name="adj" fmla="val 21951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2105025" y="2631281"/>
              <a:ext cx="266700" cy="300038"/>
              <a:chOff x="2105025" y="2631281"/>
              <a:chExt cx="266700" cy="30003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2105025" y="2631281"/>
                <a:ext cx="266700" cy="300038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300038">
                    <a:moveTo>
                      <a:pt x="133350" y="0"/>
                    </a:moveTo>
                    <a:lnTo>
                      <a:pt x="266700" y="75009"/>
                    </a:lnTo>
                    <a:lnTo>
                      <a:pt x="266700" y="225028"/>
                    </a:lnTo>
                    <a:lnTo>
                      <a:pt x="133350" y="300038"/>
                    </a:lnTo>
                    <a:lnTo>
                      <a:pt x="0" y="225028"/>
                    </a:lnTo>
                    <a:lnTo>
                      <a:pt x="0" y="75009"/>
                    </a:lnTo>
                    <a:lnTo>
                      <a:pt x="13335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2238375" y="2706291"/>
                <a:ext cx="133350" cy="75009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75009">
                    <a:moveTo>
                      <a:pt x="0" y="75009"/>
                    </a:moveTo>
                    <a:lnTo>
                      <a:pt x="13335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2238375" y="2781300"/>
                <a:ext cx="9525" cy="15001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0019">
                    <a:moveTo>
                      <a:pt x="0" y="0"/>
                    </a:moveTo>
                    <a:lnTo>
                      <a:pt x="0" y="150019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2105025" y="2706291"/>
                <a:ext cx="133350" cy="75009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75009">
                    <a:moveTo>
                      <a:pt x="133350" y="75009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2171700" y="2668786"/>
                <a:ext cx="133350" cy="75009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75009">
                    <a:moveTo>
                      <a:pt x="133350" y="0"/>
                    </a:moveTo>
                    <a:lnTo>
                      <a:pt x="0" y="75009"/>
                    </a:ln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2061676" y="2682240"/>
              <a:ext cx="17821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Player.prefab</a:t>
              </a:r>
              <a:endParaRPr lang="en-US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1524000" y="3181350"/>
              <a:ext cx="2581275" cy="800100"/>
              <a:chOff x="1524000" y="3181350"/>
              <a:chExt cx="2581275" cy="800100"/>
            </a:xfrm>
          </p:grpSpPr>
          <p:sp>
            <p:nvSpPr>
              <p:cNvPr id="14" name="Line 14"/>
              <p:cNvSpPr/>
              <p:nvPr/>
            </p:nvSpPr>
            <p:spPr>
              <a:xfrm>
                <a:off x="2809875" y="3181350"/>
                <a:ext cx="9525" cy="533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3400">
                    <a:moveTo>
                      <a:pt x="0" y="0"/>
                    </a:moveTo>
                    <a:lnTo>
                      <a:pt x="0" y="533400"/>
                    </a:lnTo>
                  </a:path>
                </a:pathLst>
              </a:custGeom>
              <a:noFill/>
              <a:ln w="38100" cap="rnd">
                <a:solidFill>
                  <a:schemeClr val="dk2"/>
                </a:solidFill>
              </a:ln>
            </p:spPr>
          </p:sp>
          <p:sp>
            <p:nvSpPr>
              <p:cNvPr id="15" name="Line 15"/>
              <p:cNvSpPr/>
              <p:nvPr/>
            </p:nvSpPr>
            <p:spPr>
              <a:xfrm>
                <a:off x="1524000" y="3714750"/>
                <a:ext cx="2571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71750" h="9525">
                    <a:moveTo>
                      <a:pt x="0" y="0"/>
                    </a:moveTo>
                    <a:lnTo>
                      <a:pt x="2571750" y="0"/>
                    </a:lnTo>
                  </a:path>
                </a:pathLst>
              </a:custGeom>
              <a:noFill/>
              <a:ln w="38100" cap="rnd">
                <a:solidFill>
                  <a:schemeClr val="dk2"/>
                </a:solidFill>
              </a:ln>
            </p:spPr>
          </p:sp>
          <p:sp>
            <p:nvSpPr>
              <p:cNvPr id="16" name="Line 16"/>
              <p:cNvSpPr/>
              <p:nvPr/>
            </p:nvSpPr>
            <p:spPr>
              <a:xfrm>
                <a:off x="1524000" y="3714750"/>
                <a:ext cx="9525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6700">
                    <a:moveTo>
                      <a:pt x="0" y="0"/>
                    </a:moveTo>
                    <a:lnTo>
                      <a:pt x="0" y="266700"/>
                    </a:lnTo>
                  </a:path>
                </a:pathLst>
              </a:custGeom>
              <a:noFill/>
              <a:ln w="38100" cap="rnd">
                <a:solidFill>
                  <a:schemeClr val="dk2"/>
                </a:solidFill>
              </a:ln>
            </p:spPr>
          </p:sp>
          <p:sp>
            <p:nvSpPr>
              <p:cNvPr id="17" name="Line 17"/>
              <p:cNvSpPr/>
              <p:nvPr/>
            </p:nvSpPr>
            <p:spPr>
              <a:xfrm>
                <a:off x="2809875" y="3714750"/>
                <a:ext cx="9525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6700">
                    <a:moveTo>
                      <a:pt x="0" y="0"/>
                    </a:moveTo>
                    <a:lnTo>
                      <a:pt x="0" y="266700"/>
                    </a:lnTo>
                  </a:path>
                </a:pathLst>
              </a:custGeom>
              <a:noFill/>
              <a:ln w="38100" cap="rnd">
                <a:solidFill>
                  <a:schemeClr val="dk2"/>
                </a:solidFill>
              </a:ln>
            </p:spPr>
          </p:sp>
          <p:sp>
            <p:nvSpPr>
              <p:cNvPr id="18" name="Line 18"/>
              <p:cNvSpPr/>
              <p:nvPr/>
            </p:nvSpPr>
            <p:spPr>
              <a:xfrm>
                <a:off x="4095750" y="3714750"/>
                <a:ext cx="9525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6700">
                    <a:moveTo>
                      <a:pt x="0" y="0"/>
                    </a:moveTo>
                    <a:lnTo>
                      <a:pt x="0" y="266700"/>
                    </a:lnTo>
                  </a:path>
                </a:pathLst>
              </a:custGeom>
              <a:noFill/>
              <a:ln w="38100" cap="rnd">
                <a:solidFill>
                  <a:schemeClr val="dk2"/>
                </a:solidFill>
              </a:ln>
            </p:spPr>
          </p:sp>
        </p:grpSp>
        <p:grpSp>
          <p:nvGrpSpPr>
            <p:cNvPr id="26" name="Group 26"/>
            <p:cNvGrpSpPr/>
            <p:nvPr/>
          </p:nvGrpSpPr>
          <p:grpSpPr>
            <a:xfrm>
              <a:off x="895350" y="3981450"/>
              <a:ext cx="3829050" cy="704850"/>
              <a:chOff x="895350" y="3981450"/>
              <a:chExt cx="3829050" cy="70485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895350" y="3981450"/>
                <a:ext cx="1257300" cy="704850"/>
              </a:xfrm>
              <a:prstGeom prst="roundRect">
                <a:avLst>
                  <a:gd name="adj" fmla="val 21622"/>
                </a:avLst>
              </a:prstGeom>
              <a:solidFill>
                <a:srgbClr val="EAF0FA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2181225" y="3981450"/>
                <a:ext cx="1257300" cy="704850"/>
              </a:xfrm>
              <a:prstGeom prst="roundRect">
                <a:avLst>
                  <a:gd name="adj" fmla="val 21622"/>
                </a:avLst>
              </a:prstGeom>
              <a:solidFill>
                <a:srgbClr val="E8F5F0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3467100" y="3981450"/>
                <a:ext cx="1257300" cy="704850"/>
              </a:xfrm>
              <a:prstGeom prst="roundRect">
                <a:avLst>
                  <a:gd name="adj" fmla="val 21622"/>
                </a:avLst>
              </a:prstGeom>
              <a:solidFill>
                <a:srgbClr val="FFF0D1"/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150010" y="4225290"/>
                <a:ext cx="74797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实例 A</a:t>
                </a:r>
                <a:endPara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2435885" y="4225290"/>
                <a:ext cx="74797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rgbClr val="2F8F6A"/>
                    </a:solidFill>
                    <a:latin typeface="+mn-lt"/>
                    <a:ea typeface="+mn-ea"/>
                    <a:cs typeface="+mn-cs"/>
                  </a:rPr>
                  <a:t>实例 B</a:t>
                </a:r>
                <a:endParaRPr lang="zh-CN" sz="1800" dirty="0">
                  <a:solidFill>
                    <a:srgbClr val="2F8F6A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3721760" y="4225290"/>
                <a:ext cx="74797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rgbClr val="8C5A00"/>
                    </a:solidFill>
                    <a:latin typeface="+mn-lt"/>
                    <a:ea typeface="+mn-ea"/>
                    <a:cs typeface="+mn-cs"/>
                  </a:rPr>
                  <a:t>实例 C</a:t>
                </a:r>
                <a:endParaRPr lang="zh-CN" sz="1800" dirty="0">
                  <a:solidFill>
                    <a:srgbClr val="8C5A00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1692135" y="4968240"/>
              <a:ext cx="22354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修改资产 → 实例同步</a:t>
              </a:r>
              <a:endPara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564411" y="5311140"/>
              <a:ext cx="249092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D85C45"/>
                  </a:solidFill>
                  <a:latin typeface="+mn-lt"/>
                  <a:ea typeface="+mn-ea"/>
                  <a:cs typeface="+mn-cs"/>
                </a:rPr>
                <a:t>Override 只保留差异</a:t>
              </a:r>
              <a:endParaRPr lang="zh-CN" sz="1800" b="1" dirty="0">
                <a:solidFill>
                  <a:srgbClr val="D85C4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429250" y="1524000"/>
            <a:ext cx="6409113" cy="4171950"/>
            <a:chOff x="5429250" y="1524000"/>
            <a:chExt cx="6409113" cy="4171950"/>
          </a:xfrm>
        </p:grpSpPr>
        <p:sp>
          <p:nvSpPr>
            <p:cNvPr id="30" name="Rectangle 30"/>
            <p:cNvSpPr/>
            <p:nvPr/>
          </p:nvSpPr>
          <p:spPr>
            <a:xfrm>
              <a:off x="5429250" y="1524000"/>
              <a:ext cx="6191250" cy="4171950"/>
            </a:xfrm>
            <a:prstGeom prst="roundRect">
              <a:avLst>
                <a:gd name="adj" fmla="val 6393"/>
              </a:avLst>
            </a:prstGeom>
            <a:solidFill>
              <a:srgbClr val="FFF9E9"/>
            </a:solidFill>
            <a:ln w="28575">
              <a:solidFill>
                <a:schemeClr val="accent4"/>
              </a:solidFill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5810250" y="1771650"/>
              <a:ext cx="228600" cy="342900"/>
              <a:chOff x="5810250" y="1771650"/>
              <a:chExt cx="228600" cy="3429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5924550" y="177165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5829300" y="2038350"/>
                <a:ext cx="5715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76200">
                    <a:moveTo>
                      <a:pt x="0" y="76200"/>
                    </a:moveTo>
                    <a:lnTo>
                      <a:pt x="57150" y="0"/>
                    </a:ln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5905500" y="1866900"/>
                <a:ext cx="95250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247650">
                    <a:moveTo>
                      <a:pt x="95250" y="247650"/>
                    </a:moveTo>
                    <a:lnTo>
                      <a:pt x="57150" y="171450"/>
                    </a:lnTo>
                    <a:lnTo>
                      <a:pt x="0" y="114300"/>
                    </a:lnTo>
                    <a:lnTo>
                      <a:pt x="19050" y="0"/>
                    </a:ln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5810250" y="1866900"/>
                <a:ext cx="2286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76200">
                    <a:moveTo>
                      <a:pt x="0" y="76200"/>
                    </a:moveTo>
                    <a:lnTo>
                      <a:pt x="38100" y="19050"/>
                    </a:lnTo>
                    <a:lnTo>
                      <a:pt x="114300" y="0"/>
                    </a:lnTo>
                    <a:lnTo>
                      <a:pt x="171450" y="57150"/>
                    </a:lnTo>
                    <a:lnTo>
                      <a:pt x="228600" y="76200"/>
                    </a:lnTo>
                  </a:path>
                </a:pathLst>
              </a:custGeom>
              <a:noFill/>
              <a:ln w="19050">
                <a:solidFill>
                  <a:schemeClr val="accent3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6310884" y="1765935"/>
              <a:ext cx="552747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PlayerRoot：稳定的角色根节点</a:t>
              </a:r>
              <a:endPara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7143750" y="2381250"/>
              <a:ext cx="2762250" cy="609600"/>
            </a:xfrm>
            <a:prstGeom prst="roundRect">
              <a:avLst>
                <a:gd name="adj" fmla="val 28125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12090" y="2531745"/>
              <a:ext cx="182556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PlayerRoot</a:t>
              </a:r>
              <a:endParaRPr lang="en-US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45" name="Group 45"/>
            <p:cNvGrpSpPr/>
            <p:nvPr/>
          </p:nvGrpSpPr>
          <p:grpSpPr>
            <a:xfrm>
              <a:off x="6324600" y="2990850"/>
              <a:ext cx="4410075" cy="819150"/>
              <a:chOff x="6324600" y="2990850"/>
              <a:chExt cx="4410075" cy="819150"/>
            </a:xfrm>
          </p:grpSpPr>
          <p:sp>
            <p:nvSpPr>
              <p:cNvPr id="39" name="Line 39"/>
              <p:cNvSpPr/>
              <p:nvPr/>
            </p:nvSpPr>
            <p:spPr>
              <a:xfrm>
                <a:off x="8524875" y="2990850"/>
                <a:ext cx="9525" cy="5143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14350">
                    <a:moveTo>
                      <a:pt x="0" y="0"/>
                    </a:moveTo>
                    <a:lnTo>
                      <a:pt x="0" y="514350"/>
                    </a:lnTo>
                  </a:path>
                </a:pathLst>
              </a:custGeom>
              <a:noFill/>
              <a:ln w="38100" cap="rnd">
                <a:solidFill>
                  <a:schemeClr val="dk2"/>
                </a:solidFill>
              </a:ln>
            </p:spPr>
          </p:sp>
          <p:sp>
            <p:nvSpPr>
              <p:cNvPr id="40" name="Line 40"/>
              <p:cNvSpPr/>
              <p:nvPr/>
            </p:nvSpPr>
            <p:spPr>
              <a:xfrm>
                <a:off x="6324600" y="3505200"/>
                <a:ext cx="44005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400550" h="9525">
                    <a:moveTo>
                      <a:pt x="0" y="0"/>
                    </a:moveTo>
                    <a:lnTo>
                      <a:pt x="4400550" y="0"/>
                    </a:lnTo>
                  </a:path>
                </a:pathLst>
              </a:custGeom>
              <a:noFill/>
              <a:ln w="38100" cap="rnd">
                <a:solidFill>
                  <a:schemeClr val="dk2"/>
                </a:solidFill>
              </a:ln>
            </p:spPr>
          </p:sp>
          <p:sp>
            <p:nvSpPr>
              <p:cNvPr id="41" name="Line 41"/>
              <p:cNvSpPr/>
              <p:nvPr/>
            </p:nvSpPr>
            <p:spPr>
              <a:xfrm>
                <a:off x="6324600" y="3505200"/>
                <a:ext cx="9525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04800">
                    <a:moveTo>
                      <a:pt x="0" y="0"/>
                    </a:moveTo>
                    <a:lnTo>
                      <a:pt x="0" y="304800"/>
                    </a:lnTo>
                  </a:path>
                </a:pathLst>
              </a:custGeom>
              <a:noFill/>
              <a:ln w="38100" cap="rnd">
                <a:solidFill>
                  <a:schemeClr val="dk2"/>
                </a:solidFill>
              </a:ln>
            </p:spPr>
          </p:sp>
          <p:sp>
            <p:nvSpPr>
              <p:cNvPr id="42" name="Line 42"/>
              <p:cNvSpPr/>
              <p:nvPr/>
            </p:nvSpPr>
            <p:spPr>
              <a:xfrm>
                <a:off x="7791450" y="3505200"/>
                <a:ext cx="9525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04800">
                    <a:moveTo>
                      <a:pt x="0" y="0"/>
                    </a:moveTo>
                    <a:lnTo>
                      <a:pt x="0" y="304800"/>
                    </a:lnTo>
                  </a:path>
                </a:pathLst>
              </a:custGeom>
              <a:noFill/>
              <a:ln w="38100" cap="rnd">
                <a:solidFill>
                  <a:schemeClr val="dk2"/>
                </a:solidFill>
              </a:ln>
            </p:spPr>
          </p:sp>
          <p:sp>
            <p:nvSpPr>
              <p:cNvPr id="43" name="Line 43"/>
              <p:cNvSpPr/>
              <p:nvPr/>
            </p:nvSpPr>
            <p:spPr>
              <a:xfrm>
                <a:off x="9258300" y="3505200"/>
                <a:ext cx="9525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04800">
                    <a:moveTo>
                      <a:pt x="0" y="0"/>
                    </a:moveTo>
                    <a:lnTo>
                      <a:pt x="0" y="304800"/>
                    </a:lnTo>
                  </a:path>
                </a:pathLst>
              </a:custGeom>
              <a:noFill/>
              <a:ln w="38100" cap="rnd">
                <a:solidFill>
                  <a:schemeClr val="dk2"/>
                </a:solidFill>
              </a:ln>
            </p:spPr>
          </p:sp>
          <p:sp>
            <p:nvSpPr>
              <p:cNvPr id="44" name="Line 44"/>
              <p:cNvSpPr/>
              <p:nvPr/>
            </p:nvSpPr>
            <p:spPr>
              <a:xfrm>
                <a:off x="10725150" y="3505200"/>
                <a:ext cx="9525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04800">
                    <a:moveTo>
                      <a:pt x="0" y="0"/>
                    </a:moveTo>
                    <a:lnTo>
                      <a:pt x="0" y="304800"/>
                    </a:lnTo>
                  </a:path>
                </a:pathLst>
              </a:custGeom>
              <a:noFill/>
              <a:ln w="38100" cap="rnd">
                <a:solidFill>
                  <a:schemeClr val="dk2"/>
                </a:solidFill>
              </a:ln>
            </p:spPr>
          </p:sp>
        </p:grpSp>
        <p:grpSp>
          <p:nvGrpSpPr>
            <p:cNvPr id="58" name="Group 58"/>
            <p:cNvGrpSpPr/>
            <p:nvPr/>
          </p:nvGrpSpPr>
          <p:grpSpPr>
            <a:xfrm>
              <a:off x="5638800" y="3810000"/>
              <a:ext cx="5772150" cy="1104900"/>
              <a:chOff x="5638800" y="3810000"/>
              <a:chExt cx="5772150" cy="1104900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5638800" y="3810000"/>
                <a:ext cx="1371600" cy="1104900"/>
              </a:xfrm>
              <a:prstGeom prst="roundRect">
                <a:avLst>
                  <a:gd name="adj" fmla="val 15517"/>
                </a:avLst>
              </a:prstGeom>
              <a:solidFill>
                <a:srgbClr val="EAF0FA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47" name="Rectangle 47"/>
              <p:cNvSpPr/>
              <p:nvPr/>
            </p:nvSpPr>
            <p:spPr>
              <a:xfrm>
                <a:off x="7105650" y="3810000"/>
                <a:ext cx="1371600" cy="1104900"/>
              </a:xfrm>
              <a:prstGeom prst="roundRect">
                <a:avLst>
                  <a:gd name="adj" fmla="val 15517"/>
                </a:avLst>
              </a:prstGeom>
              <a:solidFill>
                <a:srgbClr val="E8F5F0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48" name="Rectangle 48"/>
              <p:cNvSpPr/>
              <p:nvPr/>
            </p:nvSpPr>
            <p:spPr>
              <a:xfrm>
                <a:off x="8572500" y="3810000"/>
                <a:ext cx="1371600" cy="1104900"/>
              </a:xfrm>
              <a:prstGeom prst="roundRect">
                <a:avLst>
                  <a:gd name="adj" fmla="val 15517"/>
                </a:avLst>
              </a:prstGeom>
              <a:solidFill>
                <a:srgbClr val="FFF0D1"/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49" name="Rectangle 49"/>
              <p:cNvSpPr/>
              <p:nvPr/>
            </p:nvSpPr>
            <p:spPr>
              <a:xfrm>
                <a:off x="10039350" y="3810000"/>
                <a:ext cx="1371600" cy="1104900"/>
              </a:xfrm>
              <a:prstGeom prst="roundRect">
                <a:avLst>
                  <a:gd name="adj" fmla="val 15517"/>
                </a:avLst>
              </a:prstGeom>
              <a:solidFill>
                <a:schemeClr val="lt2"/>
              </a:solidFill>
              <a:ln w="19050">
                <a:solidFill>
                  <a:schemeClr val="dk2"/>
                </a:solidFill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5955891" y="4053840"/>
                <a:ext cx="73741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Visual</a:t>
                </a:r>
                <a:endPara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5830824" y="443484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模型动画</a:t>
                </a:r>
                <a:endPara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7320625" y="4053840"/>
                <a:ext cx="94164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2F8F6A"/>
                    </a:solidFill>
                    <a:latin typeface="+mn-lt"/>
                    <a:ea typeface="+mn-ea"/>
                    <a:cs typeface="+mn-cs"/>
                  </a:rPr>
                  <a:t>Physics</a:t>
                </a:r>
                <a:endParaRPr lang="en-US" sz="1800" b="1" dirty="0">
                  <a:solidFill>
                    <a:srgbClr val="2F8F6A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7297674" y="443484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碰撞控制</a:t>
                </a:r>
                <a:endPara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799700" y="4053840"/>
                <a:ext cx="91720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8C5A00"/>
                    </a:solidFill>
                    <a:latin typeface="+mn-lt"/>
                    <a:ea typeface="+mn-ea"/>
                    <a:cs typeface="+mn-cs"/>
                  </a:rPr>
                  <a:t>Camera</a:t>
                </a:r>
                <a:endParaRPr lang="en-US" sz="1800" b="1" dirty="0">
                  <a:solidFill>
                    <a:srgbClr val="8C5A00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8885682" y="4434840"/>
                <a:ext cx="74523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镜头轴</a:t>
                </a:r>
                <a:endPara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10254325" y="4053840"/>
                <a:ext cx="94164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Scripts</a:t>
                </a:r>
                <a:endParaRPr lang="en-US" sz="180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10231374" y="4434840"/>
                <a:ext cx="98755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输入行为</a:t>
                </a:r>
                <a:endPara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59" name="TextBox 59"/>
            <p:cNvSpPr txBox="1"/>
            <p:nvPr/>
          </p:nvSpPr>
          <p:spPr>
            <a:xfrm>
              <a:off x="6607492" y="5234940"/>
              <a:ext cx="38347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根节点负责移动，子节点各司其职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552450" y="6353175"/>
            <a:ext cx="11055858" cy="432626"/>
            <a:chOff x="552450" y="6353175"/>
            <a:chExt cx="11055858" cy="432626"/>
          </a:xfrm>
        </p:grpSpPr>
        <p:sp>
          <p:nvSpPr>
            <p:cNvPr id="61" name="Line 61"/>
            <p:cNvSpPr/>
            <p:nvPr/>
          </p:nvSpPr>
          <p:spPr>
            <a:xfrm>
              <a:off x="552450" y="635317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1394681" y="652176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fld id="{DAD15D95-BE8E-4D87-BF41-FEB6568C5127}" type="slidenum"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fld>
              <a:endParaRPr lang="en-US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2450" y="270510"/>
            <a:ext cx="11416162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最后一步：把场景交付为 Windows 程序</a:t>
            </a:r>
            <a:endParaRPr lang="zh-CN" sz="4200" b="1" dirty="0">
              <a:solidFill>
                <a:schemeClr val="dk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81406" y="986790"/>
            <a:ext cx="682736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打包不是“另一个世界”，只是把已验证的场景与资产装进运行时</a:t>
            </a:r>
            <a:endParaRPr lang="zh-CN" sz="1800" dirty="0">
              <a:solidFill>
                <a:schemeClr val="dk2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27" name="Group 27"/>
          <p:cNvGrpSpPr/>
          <p:nvPr/>
        </p:nvGrpSpPr>
        <p:grpSpPr>
          <a:xfrm>
            <a:off x="1167333" y="2741930"/>
            <a:ext cx="9827374" cy="1967484"/>
            <a:chOff x="699973" y="1828800"/>
            <a:chExt cx="9827374" cy="1967484"/>
          </a:xfrm>
        </p:grpSpPr>
        <p:grpSp>
          <p:nvGrpSpPr>
            <p:cNvPr id="8" name="Group 8"/>
            <p:cNvGrpSpPr/>
            <p:nvPr/>
          </p:nvGrpSpPr>
          <p:grpSpPr>
            <a:xfrm>
              <a:off x="699973" y="1828800"/>
              <a:ext cx="1381354" cy="1967484"/>
              <a:chOff x="699973" y="1828800"/>
              <a:chExt cx="1381354" cy="1967484"/>
            </a:xfrm>
          </p:grpSpPr>
          <p:sp>
            <p:nvSpPr>
              <p:cNvPr id="4" name="Ellipse 4"/>
              <p:cNvSpPr/>
              <p:nvPr/>
            </p:nvSpPr>
            <p:spPr>
              <a:xfrm>
                <a:off x="838200" y="1828800"/>
                <a:ext cx="1104900" cy="1104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1167028" y="2213610"/>
                <a:ext cx="447244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7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01</a:t>
                </a:r>
                <a:endParaRPr lang="en-US" sz="27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699973" y="3017520"/>
                <a:ext cx="1381354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保存场景</a:t>
                </a:r>
                <a:endPara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775716" y="3444240"/>
                <a:ext cx="12298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确认无报错</a:t>
                </a:r>
                <a:endPara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9" name="Freeform 9"/>
            <p:cNvSpPr/>
            <p:nvPr/>
          </p:nvSpPr>
          <p:spPr>
            <a:xfrm>
              <a:off x="2133600" y="2171700"/>
              <a:ext cx="1181100" cy="419100"/>
            </a:xfrm>
            <a:custGeom>
              <a:avLst/>
              <a:gdLst/>
              <a:ahLst/>
              <a:cxnLst/>
              <a:rect l="l" t="t" r="r" b="b"/>
              <a:pathLst>
                <a:path w="1181100" h="419100">
                  <a:moveTo>
                    <a:pt x="0" y="209550"/>
                  </a:moveTo>
                  <a:lnTo>
                    <a:pt x="800100" y="209550"/>
                  </a:lnTo>
                  <a:lnTo>
                    <a:pt x="800100" y="0"/>
                  </a:lnTo>
                  <a:lnTo>
                    <a:pt x="1181100" y="209550"/>
                  </a:lnTo>
                  <a:lnTo>
                    <a:pt x="800100" y="419100"/>
                  </a:lnTo>
                  <a:lnTo>
                    <a:pt x="800100" y="209550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2605498" y="1828800"/>
              <a:ext cx="3018604" cy="1967484"/>
              <a:chOff x="2605498" y="1828800"/>
              <a:chExt cx="3018604" cy="1967484"/>
            </a:xfrm>
          </p:grpSpPr>
          <p:sp>
            <p:nvSpPr>
              <p:cNvPr id="10" name="Ellipse 10"/>
              <p:cNvSpPr/>
              <p:nvPr/>
            </p:nvSpPr>
            <p:spPr>
              <a:xfrm>
                <a:off x="3562350" y="1828800"/>
                <a:ext cx="1104900" cy="1104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3891178" y="2213610"/>
                <a:ext cx="447244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7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02</a:t>
                </a:r>
                <a:endParaRPr lang="en-US" sz="27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2605498" y="3017520"/>
                <a:ext cx="3018604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打开 Build Profiles</a:t>
                </a:r>
                <a:endPara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3336188" y="3444240"/>
                <a:ext cx="155722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选择 Windows</a:t>
                </a:r>
                <a:endPara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15" name="Freeform 15"/>
            <p:cNvSpPr/>
            <p:nvPr/>
          </p:nvSpPr>
          <p:spPr>
            <a:xfrm>
              <a:off x="4857750" y="2171700"/>
              <a:ext cx="1181100" cy="419100"/>
            </a:xfrm>
            <a:custGeom>
              <a:avLst/>
              <a:gdLst/>
              <a:ahLst/>
              <a:cxnLst/>
              <a:rect l="l" t="t" r="r" b="b"/>
              <a:pathLst>
                <a:path w="1181100" h="419100">
                  <a:moveTo>
                    <a:pt x="0" y="209550"/>
                  </a:moveTo>
                  <a:lnTo>
                    <a:pt x="800100" y="209550"/>
                  </a:lnTo>
                  <a:lnTo>
                    <a:pt x="800100" y="0"/>
                  </a:lnTo>
                  <a:lnTo>
                    <a:pt x="1181100" y="209550"/>
                  </a:lnTo>
                  <a:lnTo>
                    <a:pt x="800100" y="419100"/>
                  </a:lnTo>
                  <a:lnTo>
                    <a:pt x="800100" y="209550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5970622" y="1828800"/>
              <a:ext cx="1736657" cy="1967484"/>
              <a:chOff x="5970622" y="1828800"/>
              <a:chExt cx="1736657" cy="1967484"/>
            </a:xfrm>
          </p:grpSpPr>
          <p:sp>
            <p:nvSpPr>
              <p:cNvPr id="16" name="Ellipse 16"/>
              <p:cNvSpPr/>
              <p:nvPr/>
            </p:nvSpPr>
            <p:spPr>
              <a:xfrm>
                <a:off x="6286500" y="1828800"/>
                <a:ext cx="1104900" cy="1104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6615328" y="2213610"/>
                <a:ext cx="447244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7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03</a:t>
                </a:r>
                <a:endParaRPr lang="en-US" sz="27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148273" y="3017520"/>
                <a:ext cx="1381354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加入场景</a:t>
                </a:r>
                <a:endPara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5970622" y="3444240"/>
                <a:ext cx="173665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Scenes In Build</a:t>
                </a:r>
                <a:endParaRPr lang="en-US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21" name="Freeform 21"/>
            <p:cNvSpPr/>
            <p:nvPr/>
          </p:nvSpPr>
          <p:spPr>
            <a:xfrm>
              <a:off x="7581900" y="2171700"/>
              <a:ext cx="1181100" cy="419100"/>
            </a:xfrm>
            <a:custGeom>
              <a:avLst/>
              <a:gdLst/>
              <a:ahLst/>
              <a:cxnLst/>
              <a:rect l="l" t="t" r="r" b="b"/>
              <a:pathLst>
                <a:path w="1181100" h="419100">
                  <a:moveTo>
                    <a:pt x="0" y="209550"/>
                  </a:moveTo>
                  <a:lnTo>
                    <a:pt x="800100" y="209550"/>
                  </a:lnTo>
                  <a:lnTo>
                    <a:pt x="800100" y="0"/>
                  </a:lnTo>
                  <a:lnTo>
                    <a:pt x="1181100" y="209550"/>
                  </a:lnTo>
                  <a:lnTo>
                    <a:pt x="800100" y="419100"/>
                  </a:lnTo>
                  <a:lnTo>
                    <a:pt x="800100" y="209550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8598853" y="1828800"/>
              <a:ext cx="1928494" cy="1967484"/>
              <a:chOff x="8598853" y="1828800"/>
              <a:chExt cx="1928494" cy="1967484"/>
            </a:xfrm>
          </p:grpSpPr>
          <p:sp>
            <p:nvSpPr>
              <p:cNvPr id="22" name="Ellipse 22"/>
              <p:cNvSpPr/>
              <p:nvPr/>
            </p:nvSpPr>
            <p:spPr>
              <a:xfrm>
                <a:off x="9010650" y="1828800"/>
                <a:ext cx="1104900" cy="1104900"/>
              </a:xfrm>
              <a:prstGeom prst="ellipse">
                <a:avLst/>
              </a:prstGeom>
              <a:solidFill>
                <a:srgbClr val="D85C45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9339478" y="2213610"/>
                <a:ext cx="447244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7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04</a:t>
                </a:r>
                <a:endParaRPr lang="en-US" sz="27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598853" y="3017520"/>
                <a:ext cx="1928494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4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Build 并运行</a:t>
                </a:r>
                <a:endPara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827008" y="3444240"/>
                <a:ext cx="147218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检查完整目录</a:t>
                </a:r>
                <a:endPara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3" name="Group 43"/>
          <p:cNvGrpSpPr/>
          <p:nvPr/>
        </p:nvGrpSpPr>
        <p:grpSpPr>
          <a:xfrm>
            <a:off x="552450" y="6353175"/>
            <a:ext cx="11055858" cy="432626"/>
            <a:chOff x="552450" y="6353175"/>
            <a:chExt cx="11055858" cy="432626"/>
          </a:xfrm>
        </p:grpSpPr>
        <p:sp>
          <p:nvSpPr>
            <p:cNvPr id="40" name="Line 40"/>
            <p:cNvSpPr/>
            <p:nvPr/>
          </p:nvSpPr>
          <p:spPr>
            <a:xfrm>
              <a:off x="552450" y="635317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1394681" y="652176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fld id="{DAD15D95-BE8E-4D87-BF41-FEB6568C5127}" type="slidenum"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fld>
              <a:endParaRPr lang="en-US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352.5,&quot;left&quot;:577.5,&quot;top&quot;:61.5,&quot;width&quot;:318.75}"/>
</p:tagLst>
</file>

<file path=ppt/tags/tag2.xml><?xml version="1.0" encoding="utf-8"?>
<p:tagLst xmlns:p="http://schemas.openxmlformats.org/presentationml/2006/main">
  <p:tag name="KSO_WM_DIAGRAM_VIRTUALLY_FRAME" val="{&quot;height&quot;:352.5,&quot;left&quot;:577.5,&quot;top&quot;:61.5,&quot;width&quot;:318.75}"/>
</p:tagLst>
</file>

<file path=ppt/tags/tag3.xml><?xml version="1.0" encoding="utf-8"?>
<p:tagLst xmlns:p="http://schemas.openxmlformats.org/presentationml/2006/main">
  <p:tag name="KSO_WM_DIAGRAM_VIRTUALLY_FRAME" val="{&quot;height&quot;:352.5,&quot;left&quot;:577.5,&quot;top&quot;:61.5,&quot;width&quot;:318.75}"/>
</p:tagLst>
</file>

<file path=ppt/tags/tag4.xml><?xml version="1.0" encoding="utf-8"?>
<p:tagLst xmlns:p="http://schemas.openxmlformats.org/presentationml/2006/main">
  <p:tag name="KSO_WM_DIAGRAM_VIRTUALLY_FRAME" val="{&quot;height&quot;:352.5,&quot;left&quot;:577.5,&quot;top&quot;:61.5,&quot;width&quot;:318.75}"/>
</p:tagLst>
</file>

<file path=ppt/tags/tag5.xml><?xml version="1.0" encoding="utf-8"?>
<p:tagLst xmlns:p="http://schemas.openxmlformats.org/presentationml/2006/main">
  <p:tag name="KSO_WM_DIAGRAM_VIRTUALLY_FRAME" val="{&quot;height&quot;:352.5,&quot;left&quot;:577.5,&quot;top&quot;:61.5,&quot;width&quot;:318.75}"/>
</p:tagLst>
</file>

<file path=ppt/tags/tag6.xml><?xml version="1.0" encoding="utf-8"?>
<p:tagLst xmlns:p="http://schemas.openxmlformats.org/presentationml/2006/main">
  <p:tag name="KSO_WM_DIAGRAM_VIRTUALLY_FRAME" val="{&quot;height&quot;:352.5,&quot;left&quot;:577.5,&quot;top&quot;:61.5,&quot;width&quot;:318.75}"/>
</p:tagLst>
</file>

<file path=ppt/tags/tag7.xml><?xml version="1.0" encoding="utf-8"?>
<p:tagLst xmlns:p="http://schemas.openxmlformats.org/presentationml/2006/main">
  <p:tag name="KSO_WM_DIAGRAM_VIRTUALLY_FRAME" val="{&quot;height&quot;:352.5,&quot;left&quot;:577.5,&quot;top&quot;:61.5,&quot;width&quot;:318.75}"/>
</p:tagLst>
</file>

<file path=ppt/tags/tag8.xml><?xml version="1.0" encoding="utf-8"?>
<p:tagLst xmlns:p="http://schemas.openxmlformats.org/presentationml/2006/main">
  <p:tag name="KSO_WM_DIAGRAM_VIRTUALLY_FRAME" val="{&quot;height&quot;:352.5,&quot;left&quot;:577.5,&quot;top&quot;:61.5,&quot;width&quot;:318.75}"/>
</p:tagLst>
</file>

<file path=ppt/tags/tag9.xml><?xml version="1.0" encoding="utf-8"?>
<p:tagLst xmlns:p="http://schemas.openxmlformats.org/presentationml/2006/main">
  <p:tag name="KSO_WM_DIAGRAM_VIRTUALLY_FRAME" val="{&quot;height&quot;:352.5,&quot;left&quot;:577.5,&quot;top&quot;:61.5,&quot;width&quot;:318.75}"/>
</p:tagLst>
</file>

<file path=ppt/tags/tag10.xml><?xml version="1.0" encoding="utf-8"?>
<p:tagLst xmlns:p="http://schemas.openxmlformats.org/presentationml/2006/main">
  <p:tag name="KSO_WM_DIAGRAM_VIRTUALLY_FRAME" val="{&quot;height&quot;:352.5,&quot;left&quot;:577.5,&quot;top&quot;:61.5,&quot;width&quot;:318.75}"/>
</p:tagLst>
</file>

<file path=ppt/tags/tag11.xml><?xml version="1.0" encoding="utf-8"?>
<p:tagLst xmlns:p="http://schemas.openxmlformats.org/presentationml/2006/main">
  <p:tag name="KSO_WM_DIAGRAM_VIRTUALLY_FRAME" val="{&quot;height&quot;:352.5,&quot;left&quot;:577.5,&quot;top&quot;:61.5,&quot;width&quot;:318.75}"/>
</p:tagLst>
</file>

<file path=ppt/tags/tag12.xml><?xml version="1.0" encoding="utf-8"?>
<p:tagLst xmlns:p="http://schemas.openxmlformats.org/presentationml/2006/main">
  <p:tag name="KSO_WM_DIAGRAM_VIRTUALLY_FRAME" val="{&quot;height&quot;:352.5,&quot;left&quot;:577.5,&quot;top&quot;:61.5,&quot;width&quot;:318.75}"/>
</p:tagLst>
</file>

<file path=ppt/tags/tag13.xml><?xml version="1.0" encoding="utf-8"?>
<p:tagLst xmlns:p="http://schemas.openxmlformats.org/presentationml/2006/main">
  <p:tag name="KSO_WM_DIAGRAM_VIRTUALLY_FRAME" val="{&quot;height&quot;:352.5,&quot;left&quot;:577.5,&quot;top&quot;:61.5,&quot;width&quot;:318.75}"/>
</p:tagLst>
</file>

<file path=ppt/tags/tag14.xml><?xml version="1.0" encoding="utf-8"?>
<p:tagLst xmlns:p="http://schemas.openxmlformats.org/presentationml/2006/main">
  <p:tag name="KSO_WM_DIAGRAM_VIRTUALLY_FRAME" val="{&quot;height&quot;:352.5,&quot;left&quot;:577.5,&quot;top&quot;:61.5,&quot;width&quot;:318.75}"/>
</p:tagLst>
</file>

<file path=ppt/tags/tag15.xml><?xml version="1.0" encoding="utf-8"?>
<p:tagLst xmlns:p="http://schemas.openxmlformats.org/presentationml/2006/main">
  <p:tag name="KSO_WM_DIAGRAM_VIRTUALLY_FRAME" val="{&quot;height&quot;:352.5,&quot;left&quot;:577.5,&quot;top&quot;:61.5,&quot;width&quot;:318.75}"/>
</p:tagLst>
</file>

<file path=ppt/tags/tag16.xml><?xml version="1.0" encoding="utf-8"?>
<p:tagLst xmlns:p="http://schemas.openxmlformats.org/presentationml/2006/main">
  <p:tag name="KSO_WM_DIAGRAM_VIRTUALLY_FRAME" val="{&quot;height&quot;:352.5,&quot;left&quot;:577.5,&quot;top&quot;:61.5,&quot;width&quot;:318.75}"/>
</p:tagLst>
</file>

<file path=ppt/tags/tag17.xml><?xml version="1.0" encoding="utf-8"?>
<p:tagLst xmlns:p="http://schemas.openxmlformats.org/presentationml/2006/main">
  <p:tag name="KSO_WM_DIAGRAM_VIRTUALLY_FRAME" val="{&quot;height&quot;:352.5,&quot;left&quot;:577.5,&quot;top&quot;:61.5,&quot;width&quot;:318.75}"/>
</p:tagLst>
</file>

<file path=ppt/tags/tag18.xml><?xml version="1.0" encoding="utf-8"?>
<p:tagLst xmlns:p="http://schemas.openxmlformats.org/presentationml/2006/main">
  <p:tag name="KSO_WM_DIAGRAM_VIRTUALLY_FRAME" val="{&quot;height&quot;:352.5,&quot;left&quot;:577.5,&quot;top&quot;:61.5,&quot;width&quot;:318.75}"/>
</p:tagLst>
</file>

<file path=ppt/tags/tag19.xml><?xml version="1.0" encoding="utf-8"?>
<p:tagLst xmlns:p="http://schemas.openxmlformats.org/presentationml/2006/main">
  <p:tag name="KSO_WM_DIAGRAM_VIRTUALLY_FRAME" val="{&quot;height&quot;:352.5,&quot;left&quot;:577.5,&quot;top&quot;:61.5,&quot;width&quot;:318.75}"/>
</p:tagLst>
</file>

<file path=ppt/tags/tag20.xml><?xml version="1.0" encoding="utf-8"?>
<p:tagLst xmlns:p="http://schemas.openxmlformats.org/presentationml/2006/main">
  <p:tag name="KSO_WM_DIAGRAM_VIRTUALLY_FRAME" val="{&quot;height&quot;:352.5,&quot;left&quot;:577.5,&quot;top&quot;:61.5,&quot;width&quot;:318.75}"/>
</p:tagLst>
</file>

<file path=ppt/tags/tag21.xml><?xml version="1.0" encoding="utf-8"?>
<p:tagLst xmlns:p="http://schemas.openxmlformats.org/presentationml/2006/main">
  <p:tag name="KSO_WM_DIAGRAM_VIRTUALLY_FRAME" val="{&quot;height&quot;:352.5,&quot;left&quot;:577.5,&quot;top&quot;:61.5,&quot;width&quot;:318.75}"/>
</p:tagLst>
</file>

<file path=ppt/tags/tag22.xml><?xml version="1.0" encoding="utf-8"?>
<p:tagLst xmlns:p="http://schemas.openxmlformats.org/presentationml/2006/main">
  <p:tag name="KSO_WM_DIAGRAM_VIRTUALLY_FRAME" val="{&quot;height&quot;:352.5,&quot;left&quot;:577.5,&quot;top&quot;:61.5,&quot;width&quot;:318.75}"/>
</p:tagLst>
</file>

<file path=ppt/tags/tag23.xml><?xml version="1.0" encoding="utf-8"?>
<p:tagLst xmlns:p="http://schemas.openxmlformats.org/presentationml/2006/main">
  <p:tag name="KSO_WM_DIAGRAM_VIRTUALLY_FRAME" val="{&quot;height&quot;:352.5,&quot;left&quot;:577.5,&quot;top&quot;:61.5,&quot;width&quot;:318.75}"/>
</p:tagLst>
</file>

<file path=ppt/tags/tag24.xml><?xml version="1.0" encoding="utf-8"?>
<p:tagLst xmlns:p="http://schemas.openxmlformats.org/presentationml/2006/main">
  <p:tag name="KSO_WM_DIAGRAM_VIRTUALLY_FRAME" val="{&quot;height&quot;:352.5,&quot;left&quot;:577.5,&quot;top&quot;:61.5,&quot;width&quot;:318.75}"/>
</p:tagLst>
</file>

<file path=ppt/tags/tag25.xml><?xml version="1.0" encoding="utf-8"?>
<p:tagLst xmlns:p="http://schemas.openxmlformats.org/presentationml/2006/main">
  <p:tag name="KSO_WM_DIAGRAM_VIRTUALLY_FRAME" val="{&quot;height&quot;:352.5,&quot;left&quot;:577.5,&quot;top&quot;:61.5,&quot;width&quot;:318.75}"/>
</p:tagLst>
</file>

<file path=ppt/tags/tag26.xml><?xml version="1.0" encoding="utf-8"?>
<p:tagLst xmlns:p="http://schemas.openxmlformats.org/presentationml/2006/main">
  <p:tag name="KSO_WM_DIAGRAM_VIRTUALLY_FRAME" val="{&quot;height&quot;:352.5,&quot;left&quot;:577.5,&quot;top&quot;:61.5,&quot;width&quot;:318.75}"/>
</p:tagLst>
</file>

<file path=ppt/theme/theme1.xml><?xml version="1.0" encoding="utf-8"?>
<a:theme xmlns:a="http://schemas.openxmlformats.org/drawingml/2006/main" name="Office Theme">
  <a:themeElements>
    <a:clrScheme name="PPT Master">
      <a:dk1>
        <a:srgbClr val="1F2937"/>
      </a:dk1>
      <a:lt1>
        <a:srgbClr val="FFFDF6"/>
      </a:lt1>
      <a:dk2>
        <a:srgbClr val="596273"/>
      </a:dk2>
      <a:lt2>
        <a:srgbClr val="F4F0E8"/>
      </a:lt2>
      <a:accent1>
        <a:srgbClr val="2457A6"/>
      </a:accent1>
      <a:accent2>
        <a:srgbClr val="F2A93B"/>
      </a:accent2>
      <a:accent3>
        <a:srgbClr val="55A68B"/>
      </a:accent3>
      <a:accent4>
        <a:srgbClr val="D8D2C5"/>
      </a:accent4>
      <a:accent5>
        <a:srgbClr val="8A8F98"/>
      </a:accent5>
      <a:accent6>
        <a:srgbClr val="1A1A1A"/>
      </a:accent6>
      <a:hlink>
        <a:srgbClr val="F2A93B"/>
      </a:hlink>
      <a:folHlink>
        <a:srgbClr val="55A68B"/>
      </a:folHlink>
    </a:clrScheme>
    <a:fontScheme name="PPT Master">
      <a:majorFont>
        <a:latin typeface="Trebuchet MS"/>
        <a:ea typeface="KaiTi"/>
        <a:cs typeface="Trebuchet MS"/>
        <a:font script="Jpan" typeface="KaiTi"/>
        <a:font script="Hang" typeface="KaiTi"/>
        <a:font script="Hans" typeface="KaiTi"/>
        <a:font script="Hant" typeface="KaiT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PPT Master">
      <a:dk1>
        <a:srgbClr val="1F2937"/>
      </a:dk1>
      <a:lt1>
        <a:srgbClr val="FFFDF6"/>
      </a:lt1>
      <a:dk2>
        <a:srgbClr val="596273"/>
      </a:dk2>
      <a:lt2>
        <a:srgbClr val="F4F0E8"/>
      </a:lt2>
      <a:accent1>
        <a:srgbClr val="2457A6"/>
      </a:accent1>
      <a:accent2>
        <a:srgbClr val="F2A93B"/>
      </a:accent2>
      <a:accent3>
        <a:srgbClr val="55A68B"/>
      </a:accent3>
      <a:accent4>
        <a:srgbClr val="D8D2C5"/>
      </a:accent4>
      <a:accent5>
        <a:srgbClr val="8A8F98"/>
      </a:accent5>
      <a:accent6>
        <a:srgbClr val="1A1A1A"/>
      </a:accent6>
      <a:hlink>
        <a:srgbClr val="F2A93B"/>
      </a:hlink>
      <a:folHlink>
        <a:srgbClr val="55A68B"/>
      </a:folHlink>
    </a:clrScheme>
    <a:fontScheme name="PPT Master">
      <a:majorFont>
        <a:latin typeface="Trebuchet MS"/>
        <a:ea typeface="KaiTi"/>
        <a:cs typeface="Trebuchet MS"/>
        <a:font script="Jpan" typeface="KaiTi"/>
        <a:font script="Hang" typeface="KaiTi"/>
        <a:font script="Hans" typeface="KaiTi"/>
        <a:font script="Hant" typeface="KaiT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2458</Words>
  <Application>WPS 演示</Application>
  <PresentationFormat>On-screen Show (16:9)</PresentationFormat>
  <Paragraphs>445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宋体</vt:lpstr>
      <vt:lpstr>Wingdings</vt:lpstr>
      <vt:lpstr>Arial</vt:lpstr>
      <vt:lpstr>Consolas</vt:lpstr>
      <vt:lpstr>Trebuchet MS</vt:lpstr>
      <vt:lpstr>楷体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陷入旋流的蚕</cp:lastModifiedBy>
  <cp:revision>6</cp:revision>
  <dcterms:created xsi:type="dcterms:W3CDTF">2026-07-18T11:38:00Z</dcterms:created>
  <dcterms:modified xsi:type="dcterms:W3CDTF">2026-07-25T08:50:16Z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8E4098BC500B416396641651E4F8BDAD_12</vt:lpwstr>
  </property>
</Properties>
</file>