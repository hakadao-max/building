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这一单元关注 Unity 脚本真正进入场景后的工作方式。我们会把 MonoBehaviour、生命周期、Transform、GameObject 与 CharacterController 串成一条可运行的角色控制链。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学习路线从脚本身份开始，经过生命周期和常用对象，最后落到角色移动与摄像机跟随。每个知识点都围绕两个问题：当前代码操作哪个对象，它应该在什么时机执行。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GameObject 本身是组件容器，Transform 是每个对象都具备的基础能力。自定义 MonoBehaviour 只有挂载到对象上才会运行，因此文件名、类名和对象上的组件关系必须保持清晰。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生命周期函数由 Unity 在固定时机调用，从 Awake、OnEnable、Start 进入运行循环，再到 OnDisable 与 OnDestroy。对象重新启用时 OnEnable 会再次执行，而同一实例的 Start 通常只执行一次。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选择 生命周期函数时，先判断任务依赖谁、发生几次、持续多久。自身组件引用放在 Awake，事件订阅与取消成对放在 OnEnable 和 OnDisable，跨对象启动则使用明确流程而不是猜测 Awake 顺序。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Update 处理输入和普通逻辑，FixedUpdate 面向 Rigidbody 的物理时间步，LateUpdate 适合摄像机等收尾行为。连续变化需要使用 Time.deltaTime，一次性触发的创建或切换则不需要。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Transform 同时保存世界与局部空间数据，也保存父子层级。移动和旋转时要分清 Space.Self 与 Space.World，坐标点和方向向量也必须使用各自对应的转换函数。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gameObject 用于访问对象身份和激活状态，GetComponent 系列用于获取对象能力。稳定引用应优先通过 Inspector、创建时传入或初始化缓存建立，避免在每帧中反复按名称查找。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对象的完整寿命包含引用、创建、交互和销毁四段。Instantiate 与 AddComponent 都可以动态增加内容，但固定配置更适合提前放进 Prefab；销毁前后还要注意引用失效和清理逻辑。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CharacterController 提供受碰撞约束的脚本控制移动，但 Move 不会自动施加重力。理解胶囊尺寸、坡度、台阶、贴地状态以及 Move 与 SimpleMove 的参数差异，是稳定移动的前提。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一个完整移动帧要依次读取输入、限制斜向速度、平滑转向、处理贴地和跳跃、积分重力，再合成速度调用 Move。Move 返回的 CollisionFlags 还能帮助修正撞到顶部后的竖直速度。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CharacterController 更强调玩家控制的确定性，Rigidbody 更强调动力学响应。先决定玩法需要可控性还是物理交互，不要让两套系统在同一个角色根节点上争夺移动权。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最小场景闭环是角色在 Update 中完成移动，摄像机在 LateUpdate 中读取角色的新位置并跟随。通过 Inspector 连接 target，再逐项验证移动、跳跃、碰撞和镜头稳定性，就完成了从脚本到场景运行的全过程。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28650"/>
                </a:moveTo>
                <a:cubicBezTo>
                  <a:pt x="2190750" y="57150"/>
                  <a:pt x="3714750" y="1485900"/>
                  <a:pt x="6048375" y="838200"/>
                </a:cubicBezTo>
                <a:cubicBezTo>
                  <a:pt x="8191500" y="247650"/>
                  <a:pt x="9906000" y="857250"/>
                  <a:pt x="12192000" y="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819150"/>
            <a:ext cx="4095750" cy="266700"/>
          </a:xfrm>
          <a:custGeom>
            <a:avLst/>
            <a:gdLst/>
            <a:ahLst/>
            <a:cxnLst/>
            <a:rect l="l" t="t" r="r" b="b"/>
            <a:pathLst>
              <a:path w="4095750" h="266700">
                <a:moveTo>
                  <a:pt x="0" y="266700"/>
                </a:moveTo>
                <a:cubicBezTo>
                  <a:pt x="1409700" y="0"/>
                  <a:pt x="2647950" y="171450"/>
                  <a:pt x="4095750" y="57150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28650" y="1503045"/>
            <a:ext cx="7346021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语法基础</a:t>
            </a:r>
            <a:endParaRPr lang="zh-CN" sz="69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9798" y="2574608"/>
            <a:ext cx="834206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MonoBehaviour、生命周期与常用对象</a:t>
            </a:r>
            <a:endParaRPr lang="zh-CN" sz="315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2658" y="330327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让脚本在正确的对象上，于正确的时机做正确的事</a:t>
            </a:r>
            <a:endParaRPr lang="zh-CN" sz="24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7825105" y="771525"/>
            <a:ext cx="4038600" cy="4533900"/>
            <a:chOff x="7334250" y="723900"/>
            <a:chExt cx="4038600" cy="4533900"/>
          </a:xfrm>
        </p:grpSpPr>
        <p:sp>
          <p:nvSpPr>
            <p:cNvPr id="7" name="Rectangle 7"/>
            <p:cNvSpPr/>
            <p:nvPr/>
          </p:nvSpPr>
          <p:spPr>
            <a:xfrm>
              <a:off x="7334250" y="723900"/>
              <a:ext cx="4038600" cy="4533900"/>
            </a:xfrm>
            <a:prstGeom prst="roundRect">
              <a:avLst>
                <a:gd name="adj" fmla="val 6604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10856" y="986790"/>
              <a:ext cx="2514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SCRIPT → COMPONENT</a:t>
              </a:r>
              <a:endParaRPr lang="en-US" sz="180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7829550" y="1543050"/>
              <a:ext cx="3048000" cy="2857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127206" y="1803504"/>
              <a:ext cx="2242852" cy="483258"/>
              <a:chOff x="8127206" y="1803504"/>
              <a:chExt cx="2242852" cy="48325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127206" y="1803504"/>
                <a:ext cx="300038" cy="336325"/>
                <a:chOff x="8127206" y="1803504"/>
                <a:chExt cx="300038" cy="33632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127206" y="1803504"/>
                  <a:ext cx="300038" cy="33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36325">
                      <a:moveTo>
                        <a:pt x="300038" y="234979"/>
                      </a:moveTo>
                      <a:lnTo>
                        <a:pt x="300038" y="101329"/>
                      </a:lnTo>
                      <a:cubicBezTo>
                        <a:pt x="300017" y="89490"/>
                        <a:pt x="293656" y="78569"/>
                        <a:pt x="283369" y="72709"/>
                      </a:cubicBezTo>
                      <a:lnTo>
                        <a:pt x="166688" y="5901"/>
                      </a:lnTo>
                      <a:cubicBezTo>
                        <a:pt x="156358" y="0"/>
                        <a:pt x="143679" y="0"/>
                        <a:pt x="133350" y="5901"/>
                      </a:cubicBezTo>
                      <a:lnTo>
                        <a:pt x="16669" y="72709"/>
                      </a:lnTo>
                      <a:cubicBezTo>
                        <a:pt x="6351" y="78626"/>
                        <a:pt x="0" y="89544"/>
                        <a:pt x="0" y="101346"/>
                      </a:cubicBezTo>
                      <a:lnTo>
                        <a:pt x="0" y="234996"/>
                      </a:lnTo>
                      <a:cubicBezTo>
                        <a:pt x="0" y="246814"/>
                        <a:pt x="6351" y="257716"/>
                        <a:pt x="16669" y="263616"/>
                      </a:cubicBezTo>
                      <a:lnTo>
                        <a:pt x="133350" y="330425"/>
                      </a:lnTo>
                      <a:cubicBezTo>
                        <a:pt x="143679" y="336325"/>
                        <a:pt x="156358" y="336325"/>
                        <a:pt x="166688" y="330425"/>
                      </a:cubicBezTo>
                      <a:lnTo>
                        <a:pt x="283369" y="263616"/>
                      </a:lnTo>
                      <a:cubicBezTo>
                        <a:pt x="293687" y="257699"/>
                        <a:pt x="300038" y="246781"/>
                        <a:pt x="300038" y="23497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277225" y="1971675"/>
                  <a:ext cx="9525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6688">
                      <a:moveTo>
                        <a:pt x="0" y="1666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277225" y="1887664"/>
                  <a:ext cx="145518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18" h="84010">
                      <a:moveTo>
                        <a:pt x="0" y="84010"/>
                      </a:moveTo>
                      <a:lnTo>
                        <a:pt x="145518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131707" y="1887664"/>
                  <a:ext cx="145518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18" h="84010">
                      <a:moveTo>
                        <a:pt x="0" y="0"/>
                      </a:moveTo>
                      <a:lnTo>
                        <a:pt x="145518" y="8401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8617458" y="1817370"/>
                <a:ext cx="106883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17904" y="1902142"/>
                <a:ext cx="10521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GameObject</a:t>
                </a:r>
                <a:endParaRPr lang="en-US" sz="135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8058150" y="23241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 cap="rnd">
              <a:solidFill>
                <a:schemeClr val="accent4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058150" y="2514600"/>
              <a:ext cx="3146374" cy="1771650"/>
              <a:chOff x="8058150" y="2514600"/>
              <a:chExt cx="3146374" cy="1771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58150" y="251460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8246269" y="2664619"/>
                <a:ext cx="214313" cy="214313"/>
                <a:chOff x="8246269" y="2664619"/>
                <a:chExt cx="214313" cy="214313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246269" y="26646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365331" y="26646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95250"/>
                      </a:moveTo>
                      <a:lnTo>
                        <a:pt x="95250" y="59531"/>
                      </a:lnTo>
                      <a:cubicBezTo>
                        <a:pt x="95250" y="46380"/>
                        <a:pt x="84589" y="35719"/>
                        <a:pt x="71438" y="35719"/>
                      </a:cubicBezTo>
                      <a:lnTo>
                        <a:pt x="0" y="35719"/>
                      </a:lnTo>
                      <a:lnTo>
                        <a:pt x="35719" y="71438"/>
                      </a:lnTo>
                      <a:moveTo>
                        <a:pt x="35719" y="0"/>
                      </a:move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8246269" y="2783681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0" y="35719"/>
                      </a:lnTo>
                      <a:cubicBezTo>
                        <a:pt x="0" y="48870"/>
                        <a:pt x="10661" y="59531"/>
                        <a:pt x="23812" y="59531"/>
                      </a:cubicBezTo>
                      <a:lnTo>
                        <a:pt x="95250" y="59531"/>
                      </a:lnTo>
                      <a:lnTo>
                        <a:pt x="59531" y="23812"/>
                      </a:lnTo>
                      <a:moveTo>
                        <a:pt x="59531" y="95250"/>
                      </a:moveTo>
                      <a:lnTo>
                        <a:pt x="95250" y="59531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389144" y="28074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8639556" y="2663190"/>
                <a:ext cx="13368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Transform</a:t>
                </a:r>
                <a:endPara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058150" y="314325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246269" y="3293269"/>
                <a:ext cx="214313" cy="214313"/>
                <a:chOff x="8246269" y="3293269"/>
                <a:chExt cx="214313" cy="21431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8246269" y="33647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389144" y="33647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317706" y="329326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317706" y="343614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8639556" y="3291840"/>
                <a:ext cx="25649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CharacterController</a:t>
                </a:r>
                <a:endParaRPr lang="en-US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8058150" y="377190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8246269" y="3933825"/>
                <a:ext cx="214312" cy="190500"/>
                <a:chOff x="8246269" y="3933825"/>
                <a:chExt cx="214312" cy="1905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46269" y="3981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47625" y="0"/>
                      </a:moveTo>
                      <a:lnTo>
                        <a:pt x="0" y="47625"/>
                      </a:lnTo>
                      <a:lnTo>
                        <a:pt x="47625" y="952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12956" y="3981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329612" y="3933825"/>
                  <a:ext cx="476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90500">
                      <a:moveTo>
                        <a:pt x="47625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639556" y="3920490"/>
                <a:ext cx="19688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SimpleMover.cs</a:t>
                </a:r>
                <a:endParaRPr lang="en-US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0572750" y="4019550"/>
              <a:ext cx="561975" cy="752475"/>
            </a:xfrm>
            <a:custGeom>
              <a:avLst/>
              <a:gdLst/>
              <a:ahLst/>
              <a:cxnLst/>
              <a:rect l="l" t="t" r="r" b="b"/>
              <a:pathLst>
                <a:path w="561975" h="752475">
                  <a:moveTo>
                    <a:pt x="76200" y="0"/>
                  </a:moveTo>
                  <a:cubicBezTo>
                    <a:pt x="552450" y="0"/>
                    <a:pt x="561975" y="752475"/>
                    <a:pt x="0" y="75247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96550" y="4610100"/>
              <a:ext cx="190500" cy="295275"/>
            </a:xfrm>
            <a:custGeom>
              <a:avLst/>
              <a:gdLst/>
              <a:ahLst/>
              <a:cxnLst/>
              <a:rect l="l" t="t" r="r" b="b"/>
              <a:pathLst>
                <a:path w="190500" h="295275">
                  <a:moveTo>
                    <a:pt x="171450" y="0"/>
                  </a:moveTo>
                  <a:lnTo>
                    <a:pt x="0" y="161925"/>
                  </a:lnTo>
                  <a:lnTo>
                    <a:pt x="190500" y="295275"/>
                  </a:lnTo>
                </a:path>
              </a:pathLst>
            </a:custGeom>
            <a:noFill/>
            <a:ln w="47625" cap="rnd">
              <a:solidFill>
                <a:schemeClr val="accent2"/>
              </a:solidFill>
              <a:round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086975" y="4588669"/>
              <a:ext cx="342900" cy="385762"/>
              <a:chOff x="10086975" y="4588669"/>
              <a:chExt cx="342900" cy="38576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086975" y="4588669"/>
                <a:ext cx="34290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2881">
                    <a:moveTo>
                      <a:pt x="0" y="192881"/>
                    </a:moveTo>
                    <a:lnTo>
                      <a:pt x="0" y="128588"/>
                    </a:lnTo>
                    <a:cubicBezTo>
                      <a:pt x="0" y="93079"/>
                      <a:pt x="28785" y="64294"/>
                      <a:pt x="64294" y="64294"/>
                    </a:cubicBezTo>
                    <a:lnTo>
                      <a:pt x="342900" y="64294"/>
                    </a:lnTo>
                    <a:moveTo>
                      <a:pt x="278606" y="0"/>
                    </a:moveTo>
                    <a:lnTo>
                      <a:pt x="342900" y="64294"/>
                    </a:lnTo>
                    <a:lnTo>
                      <a:pt x="278606" y="128588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086975" y="4781550"/>
                <a:ext cx="34290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2881">
                    <a:moveTo>
                      <a:pt x="342900" y="0"/>
                    </a:moveTo>
                    <a:lnTo>
                      <a:pt x="342900" y="64294"/>
                    </a:lnTo>
                    <a:cubicBezTo>
                      <a:pt x="342900" y="99802"/>
                      <a:pt x="314115" y="128588"/>
                      <a:pt x="278606" y="128588"/>
                    </a:cubicBezTo>
                    <a:lnTo>
                      <a:pt x="0" y="128588"/>
                    </a:lnTo>
                    <a:moveTo>
                      <a:pt x="64294" y="192881"/>
                    </a:moveTo>
                    <a:lnTo>
                      <a:pt x="0" y="128588"/>
                    </a:lnTo>
                    <a:lnTo>
                      <a:pt x="64294" y="6429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685800" y="4686300"/>
            <a:ext cx="5829300" cy="838200"/>
            <a:chOff x="685800" y="4686300"/>
            <a:chExt cx="5829300" cy="838200"/>
          </a:xfrm>
        </p:grpSpPr>
        <p:sp>
          <p:nvSpPr>
            <p:cNvPr id="46" name="Rectangle 46"/>
            <p:cNvSpPr/>
            <p:nvPr/>
          </p:nvSpPr>
          <p:spPr>
            <a:xfrm>
              <a:off x="685800" y="4686300"/>
              <a:ext cx="5829300" cy="8382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62025" y="4962525"/>
              <a:ext cx="285751" cy="285751"/>
              <a:chOff x="962025" y="4962525"/>
              <a:chExt cx="285751" cy="28575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62025" y="49625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4900" y="5026025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0"/>
                    </a:moveTo>
                    <a:lnTo>
                      <a:pt x="0" y="79375"/>
                    </a:lnTo>
                    <a:lnTo>
                      <a:pt x="47625" y="127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476756" y="5015865"/>
              <a:ext cx="4328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Object + Callback + Time.deltaTime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65760"/>
            <a:ext cx="9572732" cy="819150"/>
            <a:chOff x="552450" y="365760"/>
            <a:chExt cx="9572732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65760"/>
              <a:ext cx="95727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从“脚本挂上去”走到“角色跑起来”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52500"/>
              <a:ext cx="4953000" cy="95250"/>
            </a:xfrm>
            <a:custGeom>
              <a:avLst/>
              <a:gdLst/>
              <a:ahLst/>
              <a:cxnLst/>
              <a:rect l="l" t="t" r="r" b="b"/>
              <a:pathLst>
                <a:path w="4953000" h="95250">
                  <a:moveTo>
                    <a:pt x="0" y="57150"/>
                  </a:moveTo>
                  <a:cubicBezTo>
                    <a:pt x="1809750" y="0"/>
                    <a:pt x="3238500" y="95250"/>
                    <a:pt x="4953000" y="190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38200" y="1369695"/>
            <a:ext cx="5985686" cy="4598289"/>
            <a:chOff x="838200" y="1369695"/>
            <a:chExt cx="5985686" cy="4598289"/>
          </a:xfrm>
        </p:grpSpPr>
        <p:sp>
          <p:nvSpPr>
            <p:cNvPr id="5" name="Freeform 5"/>
            <p:cNvSpPr/>
            <p:nvPr/>
          </p:nvSpPr>
          <p:spPr>
            <a:xfrm>
              <a:off x="1066800" y="1581150"/>
              <a:ext cx="133350" cy="4000500"/>
            </a:xfrm>
            <a:custGeom>
              <a:avLst/>
              <a:gdLst/>
              <a:ahLst/>
              <a:cxnLst/>
              <a:rect l="l" t="t" r="r" b="b"/>
              <a:pathLst>
                <a:path w="133350" h="4000500">
                  <a:moveTo>
                    <a:pt x="57150" y="0"/>
                  </a:moveTo>
                  <a:cubicBezTo>
                    <a:pt x="0" y="1085850"/>
                    <a:pt x="133350" y="2362200"/>
                    <a:pt x="57150" y="40005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57250" y="1369695"/>
              <a:ext cx="5966636" cy="712089"/>
              <a:chOff x="857250" y="1369695"/>
              <a:chExt cx="5966636" cy="71208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857250" y="140970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74869" y="15678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45158" y="1369695"/>
                <a:ext cx="273832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脚本如何成为组件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48206" y="1729740"/>
                <a:ext cx="5175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MonoBehaviour、文件名与类名、三个常用入口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57250" y="2341245"/>
              <a:ext cx="5957474" cy="712089"/>
              <a:chOff x="857250" y="2341245"/>
              <a:chExt cx="5957474" cy="71208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57250" y="238125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4869" y="25393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45158" y="2341245"/>
                <a:ext cx="375605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生命周期与三个更新循环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48206" y="2701290"/>
                <a:ext cx="51665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Awake 到 OnDestroy；Update / Fixed / Late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57250" y="3312795"/>
              <a:ext cx="5170932" cy="712089"/>
              <a:chOff x="857250" y="3312795"/>
              <a:chExt cx="5170932" cy="712089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857250" y="3352800"/>
                <a:ext cx="533400" cy="533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74869" y="35109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45158" y="3312795"/>
                <a:ext cx="42685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Transform 与 GameObject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48206" y="367284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空间、层级、组件引用、对象创建与销毁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57250" y="4284345"/>
              <a:ext cx="4839462" cy="712089"/>
              <a:chOff x="857250" y="4284345"/>
              <a:chExt cx="4839462" cy="712089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57250" y="432435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74869" y="44824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04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45158" y="4284345"/>
                <a:ext cx="34199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CharacterController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48206" y="4644390"/>
                <a:ext cx="40485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Move、重力、跳跃、碰撞与选择边界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38200" y="5255895"/>
              <a:ext cx="4613895" cy="712089"/>
              <a:chOff x="838200" y="5255895"/>
              <a:chExt cx="4613895" cy="712089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38200" y="5276850"/>
                <a:ext cx="571500" cy="5715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74869" y="54540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05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645158" y="5255895"/>
                <a:ext cx="380693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 + 摄像机的场景闭环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48206" y="5615940"/>
                <a:ext cx="34794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Player 先移动，Camera 后跟随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45" name="Line 4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368694" cy="973074"/>
            <a:chOff x="552450" y="346710"/>
            <a:chExt cx="9368694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3686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MonoBehaviour 让代码进入场景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112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GameObject 是容器；脚本挂载后，才会成为真正参与运行的组件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0550" y="1466850"/>
            <a:ext cx="6572250" cy="4267200"/>
            <a:chOff x="590550" y="1466850"/>
            <a:chExt cx="6572250" cy="4267200"/>
          </a:xfrm>
        </p:grpSpPr>
        <p:sp>
          <p:nvSpPr>
            <p:cNvPr id="5" name="Rectangle 5"/>
            <p:cNvSpPr/>
            <p:nvPr/>
          </p:nvSpPr>
          <p:spPr>
            <a:xfrm>
              <a:off x="590550" y="1466850"/>
              <a:ext cx="6572250" cy="4267200"/>
            </a:xfrm>
            <a:prstGeom prst="roundRect">
              <a:avLst>
                <a:gd name="adj" fmla="val 5804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  <a:custDash>
                <a:ds d="333333" sp="233333"/>
              </a:custDash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2019" y="1711288"/>
              <a:ext cx="5561978" cy="535088"/>
              <a:chOff x="912019" y="1711288"/>
              <a:chExt cx="5561978" cy="535088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912019" y="1711288"/>
                <a:ext cx="328613" cy="368357"/>
                <a:chOff x="912019" y="1711288"/>
                <a:chExt cx="328613" cy="368357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912019" y="1711288"/>
                  <a:ext cx="328613" cy="368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3" h="368357">
                      <a:moveTo>
                        <a:pt x="328613" y="257359"/>
                      </a:moveTo>
                      <a:lnTo>
                        <a:pt x="328613" y="110980"/>
                      </a:lnTo>
                      <a:cubicBezTo>
                        <a:pt x="328590" y="98013"/>
                        <a:pt x="321624" y="86052"/>
                        <a:pt x="310357" y="79634"/>
                      </a:cubicBezTo>
                      <a:lnTo>
                        <a:pt x="182563" y="6463"/>
                      </a:lnTo>
                      <a:cubicBezTo>
                        <a:pt x="171250" y="0"/>
                        <a:pt x="157363" y="0"/>
                        <a:pt x="146050" y="6463"/>
                      </a:cubicBezTo>
                      <a:lnTo>
                        <a:pt x="18256" y="79634"/>
                      </a:lnTo>
                      <a:cubicBezTo>
                        <a:pt x="6956" y="86115"/>
                        <a:pt x="0" y="98073"/>
                        <a:pt x="0" y="110998"/>
                      </a:cubicBezTo>
                      <a:lnTo>
                        <a:pt x="0" y="257377"/>
                      </a:lnTo>
                      <a:cubicBezTo>
                        <a:pt x="0" y="270321"/>
                        <a:pt x="6956" y="282260"/>
                        <a:pt x="18256" y="288723"/>
                      </a:cubicBezTo>
                      <a:lnTo>
                        <a:pt x="146050" y="361894"/>
                      </a:lnTo>
                      <a:cubicBezTo>
                        <a:pt x="157363" y="368357"/>
                        <a:pt x="171250" y="368357"/>
                        <a:pt x="182563" y="361894"/>
                      </a:cubicBezTo>
                      <a:lnTo>
                        <a:pt x="310357" y="288723"/>
                      </a:lnTo>
                      <a:cubicBezTo>
                        <a:pt x="321657" y="282242"/>
                        <a:pt x="328613" y="270284"/>
                        <a:pt x="328613" y="25735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76325" y="1895475"/>
                  <a:ext cx="9525" cy="182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2563">
                      <a:moveTo>
                        <a:pt x="0" y="1825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076325" y="1803464"/>
                  <a:ext cx="159377" cy="92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77" h="92012">
                      <a:moveTo>
                        <a:pt x="0" y="92012"/>
                      </a:moveTo>
                      <a:lnTo>
                        <a:pt x="159377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16948" y="1803464"/>
                  <a:ext cx="159377" cy="92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77" h="92012">
                      <a:moveTo>
                        <a:pt x="0" y="0"/>
                      </a:moveTo>
                      <a:lnTo>
                        <a:pt x="159377" y="920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34084" y="1718310"/>
                <a:ext cx="503991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GameObject：RotatingCube</a:t>
                </a:r>
                <a:endPara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2343150"/>
              <a:ext cx="6038850" cy="781050"/>
              <a:chOff x="857250" y="2343150"/>
              <a:chExt cx="6038850" cy="7810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2343150"/>
                <a:ext cx="6038850" cy="781050"/>
              </a:xfrm>
              <a:prstGeom prst="roundRect">
                <a:avLst>
                  <a:gd name="adj" fmla="val 2195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35856" y="2583656"/>
                <a:ext cx="300038" cy="300038"/>
                <a:chOff x="1135856" y="2583656"/>
                <a:chExt cx="300038" cy="300038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135856" y="2583656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302544" y="2583656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33350" y="133350"/>
                      </a:moveTo>
                      <a:lnTo>
                        <a:pt x="133350" y="83344"/>
                      </a:lnTo>
                      <a:cubicBezTo>
                        <a:pt x="133350" y="64932"/>
                        <a:pt x="118424" y="50006"/>
                        <a:pt x="100012" y="50006"/>
                      </a:cubicBezTo>
                      <a:lnTo>
                        <a:pt x="0" y="50006"/>
                      </a:lnTo>
                      <a:lnTo>
                        <a:pt x="50006" y="100012"/>
                      </a:lnTo>
                      <a:moveTo>
                        <a:pt x="50006" y="0"/>
                      </a:move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35856" y="2750344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0"/>
                      </a:moveTo>
                      <a:lnTo>
                        <a:pt x="0" y="50006"/>
                      </a:lnTo>
                      <a:cubicBezTo>
                        <a:pt x="0" y="68418"/>
                        <a:pt x="14926" y="83344"/>
                        <a:pt x="33338" y="83344"/>
                      </a:cubicBezTo>
                      <a:lnTo>
                        <a:pt x="133350" y="83344"/>
                      </a:lnTo>
                      <a:lnTo>
                        <a:pt x="83344" y="33338"/>
                      </a:lnTo>
                      <a:moveTo>
                        <a:pt x="83344" y="133350"/>
                      </a:moveTo>
                      <a:lnTo>
                        <a:pt x="133350" y="83344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335881" y="2783681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64970" y="2452688"/>
                <a:ext cx="167106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Transform</a:t>
                </a:r>
                <a:endPara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68018" y="2793682"/>
                <a:ext cx="44592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每个对象必备：位置、旋转、缩放、父子层级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" y="3257550"/>
              <a:ext cx="6038850" cy="781050"/>
              <a:chOff x="857250" y="3257550"/>
              <a:chExt cx="6038850" cy="7810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57250" y="3257550"/>
                <a:ext cx="6038850" cy="781050"/>
              </a:xfrm>
              <a:prstGeom prst="roundRect">
                <a:avLst>
                  <a:gd name="adj" fmla="val 2195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135856" y="3498056"/>
                <a:ext cx="300037" cy="300037"/>
                <a:chOff x="1135856" y="3498056"/>
                <a:chExt cx="300037" cy="30003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135856" y="35980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335881" y="35980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35869" y="3498056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35869" y="3698081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664970" y="3367088"/>
                <a:ext cx="374344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MeshRenderer / Collider</a:t>
                </a:r>
                <a:endPara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68018" y="370808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显示与碰撞能力来自不同组件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57250" y="4171950"/>
              <a:ext cx="6038850" cy="1200150"/>
              <a:chOff x="857250" y="4171950"/>
              <a:chExt cx="6038850" cy="12001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7250" y="4171950"/>
                <a:ext cx="6038850" cy="1200150"/>
              </a:xfrm>
              <a:prstGeom prst="roundRect">
                <a:avLst>
                  <a:gd name="adj" fmla="val 14286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140619" y="4473575"/>
                <a:ext cx="328613" cy="292101"/>
                <a:chOff x="1140619" y="4473575"/>
                <a:chExt cx="328613" cy="292101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140619" y="4546600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73025" y="0"/>
                      </a:moveTo>
                      <a:lnTo>
                        <a:pt x="0" y="73025"/>
                      </a:lnTo>
                      <a:lnTo>
                        <a:pt x="73025" y="1460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396207" y="4546600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0" y="0"/>
                      </a:moveTo>
                      <a:lnTo>
                        <a:pt x="73025" y="73025"/>
                      </a:lnTo>
                      <a:lnTo>
                        <a:pt x="0" y="1460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268413" y="4473575"/>
                  <a:ext cx="73025" cy="29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292101">
                      <a:moveTo>
                        <a:pt x="73025" y="0"/>
                      </a:moveTo>
                      <a:lnTo>
                        <a:pt x="0" y="292101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703070" y="4338638"/>
                <a:ext cx="178308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Rotator.cs</a:t>
                </a:r>
                <a:endParaRPr lang="en-US" sz="225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06118" y="4708208"/>
                <a:ext cx="42378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public class Rotator : MonoBehaviour</a:t>
                </a:r>
                <a:endParaRPr lang="en-US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06118" y="50034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文件名必须与可挂载类名完全一致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524750" y="1466850"/>
            <a:ext cx="4095750" cy="2781300"/>
            <a:chOff x="7524750" y="1466850"/>
            <a:chExt cx="4095750" cy="2781300"/>
          </a:xfrm>
        </p:grpSpPr>
        <p:sp>
          <p:nvSpPr>
            <p:cNvPr id="41" name="Rectangle 41"/>
            <p:cNvSpPr/>
            <p:nvPr/>
          </p:nvSpPr>
          <p:spPr>
            <a:xfrm>
              <a:off x="7524750" y="1466850"/>
              <a:ext cx="4095750" cy="2781300"/>
            </a:xfrm>
            <a:prstGeom prst="roundRect">
              <a:avLst>
                <a:gd name="adj" fmla="val 8219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64018" y="16887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THREE ENTRY POINTS</a:t>
              </a:r>
              <a:endParaRPr lang="en-US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782" y="217360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transform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59468" y="2222182"/>
              <a:ext cx="1681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当前 Transform</a:t>
              </a:r>
              <a:endParaRPr lang="zh-CN" sz="1650" dirty="0">
                <a:solidFill>
                  <a:srgbClr val="D8D2C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80782" y="2745105"/>
              <a:ext cx="17079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gameObject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9468" y="2793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当前对象实例</a:t>
              </a:r>
              <a:endParaRPr lang="zh-CN" sz="1650" dirty="0">
                <a:solidFill>
                  <a:srgbClr val="D8D2C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81925" y="3340894"/>
              <a:ext cx="25831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GetComponent&lt;T&gt;()</a:t>
              </a:r>
              <a:endParaRPr lang="en-US" sz="18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83068" y="3746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获取当前对象上的某种组件</a:t>
              </a:r>
              <a:endParaRPr lang="zh-CN" sz="1650" dirty="0">
                <a:solidFill>
                  <a:srgbClr val="D8D2C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24750" y="4476750"/>
            <a:ext cx="4095750" cy="1257300"/>
            <a:chOff x="7524750" y="4476750"/>
            <a:chExt cx="4095750" cy="1257300"/>
          </a:xfrm>
        </p:grpSpPr>
        <p:sp>
          <p:nvSpPr>
            <p:cNvPr id="50" name="Rectangle 50"/>
            <p:cNvSpPr/>
            <p:nvPr/>
          </p:nvSpPr>
          <p:spPr>
            <a:xfrm>
              <a:off x="7524750" y="4476750"/>
              <a:ext cx="4095750" cy="1257300"/>
            </a:xfrm>
            <a:prstGeom prst="roundRect">
              <a:avLst>
                <a:gd name="adj" fmla="val 16667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41920" y="461486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大小写不是装饰</a:t>
              </a:r>
              <a:endParaRPr lang="zh-CN" sz="2250" b="1" dirty="0">
                <a:solidFill>
                  <a:srgbClr val="2F8F6A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44587" y="5033486"/>
              <a:ext cx="2817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GameObject / Transform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4587" y="5338286"/>
              <a:ext cx="28008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gameObject / transform</a:t>
              </a:r>
              <a:endParaRPr lang="en-US" sz="1720" dirty="0">
                <a:solidFill>
                  <a:schemeClr val="dk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55" name="Line 5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915943" cy="973074"/>
            <a:chOff x="552450" y="346710"/>
            <a:chExt cx="9915943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91594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生命周期函数由 Unity 按时机调用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它们不是任意调用的方法，而是引擎约定好的事件入口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600200"/>
            <a:ext cx="11182350" cy="1219200"/>
            <a:chOff x="533400" y="1600200"/>
            <a:chExt cx="11182350" cy="12192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600200"/>
              <a:ext cx="1828800" cy="1219200"/>
              <a:chOff x="533400" y="1600200"/>
              <a:chExt cx="1828800" cy="1219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5334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345406" y="1838325"/>
                <a:ext cx="216694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66700">
                    <a:moveTo>
                      <a:pt x="0" y="0"/>
                    </a:moveTo>
                    <a:lnTo>
                      <a:pt x="0" y="266700"/>
                    </a:lnTo>
                    <a:lnTo>
                      <a:pt x="216694" y="1333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6731" y="2227898"/>
                <a:ext cx="8421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Awake</a:t>
                </a:r>
                <a:endParaRPr lang="en-US" sz="19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7468" y="25403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实例加载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324100" y="1600200"/>
              <a:ext cx="1828800" cy="1219200"/>
              <a:chOff x="2324100" y="1600200"/>
              <a:chExt cx="1828800" cy="1219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3241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644371" y="1988344"/>
                <a:ext cx="118825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2F8F6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OnEnable</a:t>
                </a:r>
                <a:endParaRPr lang="en-US" sz="188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8168" y="2330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每次启用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114800" y="1600200"/>
              <a:ext cx="1828800" cy="1219200"/>
              <a:chOff x="4114800" y="1600200"/>
              <a:chExt cx="1828800" cy="1219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1148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20883" y="1972151"/>
                <a:ext cx="816633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rgbClr val="8C5A0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Start</a:t>
                </a:r>
                <a:endParaRPr lang="en-US" sz="202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68000" y="23307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首次启用前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905500" y="1600200"/>
              <a:ext cx="2228850" cy="1219200"/>
              <a:chOff x="5905500" y="1600200"/>
              <a:chExt cx="2228850" cy="1219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05500" y="1600200"/>
                <a:ext cx="222885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228850" h="1219200">
                    <a:moveTo>
                      <a:pt x="0" y="0"/>
                    </a:moveTo>
                    <a:lnTo>
                      <a:pt x="1962150" y="0"/>
                    </a:lnTo>
                    <a:lnTo>
                      <a:pt x="2228850" y="609600"/>
                    </a:lnTo>
                    <a:lnTo>
                      <a:pt x="196215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6215380" y="1635601"/>
                <a:ext cx="276860" cy="263208"/>
                <a:chOff x="6215380" y="1635601"/>
                <a:chExt cx="276860" cy="263208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6215380" y="1635601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150019"/>
                      </a:moveTo>
                      <a:lnTo>
                        <a:pt x="0" y="100012"/>
                      </a:lnTo>
                      <a:cubicBezTo>
                        <a:pt x="0" y="72395"/>
                        <a:pt x="22389" y="50006"/>
                        <a:pt x="50006" y="50006"/>
                      </a:cubicBezTo>
                      <a:lnTo>
                        <a:pt x="266700" y="50006"/>
                      </a:lnTo>
                      <a:moveTo>
                        <a:pt x="216694" y="0"/>
                      </a:moveTo>
                      <a:lnTo>
                        <a:pt x="266700" y="50006"/>
                      </a:lnTo>
                      <a:lnTo>
                        <a:pt x="216694" y="1000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6225540" y="1748790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266700" y="0"/>
                      </a:moveTo>
                      <a:lnTo>
                        <a:pt x="266700" y="50006"/>
                      </a:lnTo>
                      <a:cubicBezTo>
                        <a:pt x="266700" y="77624"/>
                        <a:pt x="244311" y="100012"/>
                        <a:pt x="216694" y="100012"/>
                      </a:cubicBezTo>
                      <a:lnTo>
                        <a:pt x="0" y="100012"/>
                      </a:lnTo>
                      <a:moveTo>
                        <a:pt x="50006" y="150019"/>
                      </a:moveTo>
                      <a:lnTo>
                        <a:pt x="0" y="100012"/>
                      </a:lnTo>
                      <a:lnTo>
                        <a:pt x="50006" y="5000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6480810" y="1699895"/>
                <a:ext cx="1447800" cy="528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  <a:sym typeface="+mn-ea"/>
                  </a:rPr>
                  <a:t>FixedUpdate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+mn-ea"/>
                </a:endParaRPr>
              </a:p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  <a:sym typeface="+mn-ea"/>
                  </a:rPr>
                  <a:t>/</a:t>
                </a:r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Update 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42536" y="2223611"/>
                <a:ext cx="15833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/ LateUpdate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73024" y="25212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运行中反复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1600200"/>
              <a:ext cx="1828800" cy="1219200"/>
              <a:chOff x="8096250" y="1600200"/>
              <a:chExt cx="1828800" cy="1219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09625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402511" y="1996440"/>
                <a:ext cx="12162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OnDisable</a:t>
                </a:r>
                <a:endPara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31186" y="23307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禁用时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886950" y="1600200"/>
              <a:ext cx="1828800" cy="1219200"/>
              <a:chOff x="9886950" y="1600200"/>
              <a:chExt cx="1828800" cy="1219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88695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28803" y="1996440"/>
                <a:ext cx="1345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D85C4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OnDestroy</a:t>
                </a:r>
                <a:endParaRPr lang="en-US" sz="180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31018" y="2330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实例销毁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2362200" y="3314700"/>
            <a:ext cx="7467600" cy="1733550"/>
            <a:chOff x="2362200" y="3314700"/>
            <a:chExt cx="7467600" cy="1733550"/>
          </a:xfrm>
        </p:grpSpPr>
        <p:sp>
          <p:nvSpPr>
            <p:cNvPr id="35" name="Rectangle 35"/>
            <p:cNvSpPr/>
            <p:nvPr/>
          </p:nvSpPr>
          <p:spPr>
            <a:xfrm>
              <a:off x="2362200" y="3314700"/>
              <a:ext cx="7467600" cy="17335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771775" y="3819525"/>
              <a:ext cx="514350" cy="514350"/>
              <a:chOff x="2771775" y="3819525"/>
              <a:chExt cx="514350" cy="5143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771775" y="38195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cubicBezTo>
                      <a:pt x="0" y="399209"/>
                      <a:pt x="115141" y="514350"/>
                      <a:pt x="257175" y="514350"/>
                    </a:cubicBezTo>
                    <a:cubicBezTo>
                      <a:pt x="399209" y="514350"/>
                      <a:pt x="514350" y="399209"/>
                      <a:pt x="514350" y="257175"/>
                    </a:cubicBezTo>
                    <a:cubicBezTo>
                      <a:pt x="514350" y="115141"/>
                      <a:pt x="399209" y="0"/>
                      <a:pt x="257175" y="0"/>
                    </a:cubicBezTo>
                    <a:cubicBezTo>
                      <a:pt x="115141" y="0"/>
                      <a:pt x="0" y="115141"/>
                      <a:pt x="0" y="2571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28950" y="3933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0"/>
                    </a:moveTo>
                    <a:lnTo>
                      <a:pt x="0" y="142875"/>
                    </a:lnTo>
                    <a:lnTo>
                      <a:pt x="85725" y="228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606546" y="3496628"/>
              <a:ext cx="6119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运行期不是一个函数，而是三种节奏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10356" y="3996690"/>
              <a:ext cx="2611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Update 输入与普通逻辑</a:t>
              </a:r>
              <a:endParaRPr lang="zh-CN" sz="180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10356" y="4339590"/>
              <a:ext cx="3225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FixedUpdate 固定物理时间步</a:t>
              </a:r>
              <a:endParaRPr lang="zh-CN" sz="180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0356" y="4682490"/>
              <a:ext cx="3400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LateUpdate 其他更新之后收尾</a:t>
              </a:r>
              <a:endParaRPr lang="zh-CN" sz="180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9450" y="3105150"/>
            <a:ext cx="10340197" cy="2811589"/>
            <a:chOff x="1169450" y="3105150"/>
            <a:chExt cx="10340197" cy="2811589"/>
          </a:xfrm>
        </p:grpSpPr>
        <p:sp>
          <p:nvSpPr>
            <p:cNvPr id="44" name="Freeform 44"/>
            <p:cNvSpPr/>
            <p:nvPr/>
          </p:nvSpPr>
          <p:spPr>
            <a:xfrm>
              <a:off x="9620250" y="3238500"/>
              <a:ext cx="1409700" cy="2400300"/>
            </a:xfrm>
            <a:custGeom>
              <a:avLst/>
              <a:gdLst/>
              <a:ahLst/>
              <a:cxnLst/>
              <a:rect l="l" t="t" r="r" b="b"/>
              <a:pathLst>
                <a:path w="1409700" h="2400300">
                  <a:moveTo>
                    <a:pt x="0" y="2057400"/>
                  </a:moveTo>
                  <a:cubicBezTo>
                    <a:pt x="1219200" y="2400300"/>
                    <a:pt x="1409700" y="419100"/>
                    <a:pt x="323850" y="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782175" y="3105150"/>
              <a:ext cx="228600" cy="247650"/>
            </a:xfrm>
            <a:custGeom>
              <a:avLst/>
              <a:gdLst/>
              <a:ahLst/>
              <a:cxnLst/>
              <a:rect l="l" t="t" r="r" b="b"/>
              <a:pathLst>
                <a:path w="228600" h="247650">
                  <a:moveTo>
                    <a:pt x="190500" y="0"/>
                  </a:moveTo>
                  <a:lnTo>
                    <a:pt x="0" y="133350"/>
                  </a:lnTo>
                  <a:lnTo>
                    <a:pt x="228600" y="247650"/>
                  </a:lnTo>
                </a:path>
              </a:pathLst>
            </a:custGeom>
            <a:noFill/>
            <a:ln w="47625" cap="rnd">
              <a:solidFill>
                <a:schemeClr val="accent3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4254" y="5594032"/>
              <a:ext cx="3245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重新启用：OnEnable 再来一次</a:t>
              </a:r>
              <a:endParaRPr lang="zh-CN" sz="165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69450" y="5355908"/>
              <a:ext cx="35666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同一实例：Start 通常只执行一次</a:t>
              </a:r>
              <a:endParaRPr lang="zh-CN" sz="1650" b="1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9" name="Line 49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701833" cy="973074"/>
            <a:chOff x="552450" y="346710"/>
            <a:chExt cx="10701833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70183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先问：这件事何时发生、会发生几次？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选择生命周期函数，本质上是在选择责任与次数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7225" y="1509712"/>
            <a:ext cx="6690839" cy="4426077"/>
            <a:chOff x="657225" y="1509712"/>
            <a:chExt cx="6690839" cy="4426077"/>
          </a:xfrm>
        </p:grpSpPr>
        <p:sp>
          <p:nvSpPr>
            <p:cNvPr id="5" name="Freeform 5"/>
            <p:cNvSpPr/>
            <p:nvPr/>
          </p:nvSpPr>
          <p:spPr>
            <a:xfrm>
              <a:off x="857250" y="1809750"/>
              <a:ext cx="114300" cy="3771900"/>
            </a:xfrm>
            <a:custGeom>
              <a:avLst/>
              <a:gdLst/>
              <a:ahLst/>
              <a:cxnLst/>
              <a:rect l="l" t="t" r="r" b="b"/>
              <a:pathLst>
                <a:path w="114300" h="3771900">
                  <a:moveTo>
                    <a:pt x="57150" y="0"/>
                  </a:moveTo>
                  <a:cubicBezTo>
                    <a:pt x="0" y="1104900"/>
                    <a:pt x="114300" y="2667000"/>
                    <a:pt x="57150" y="3771900"/>
                  </a:cubicBezTo>
                </a:path>
              </a:pathLst>
            </a:custGeom>
            <a:noFill/>
            <a:ln w="38100" cap="rnd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57225" y="1509712"/>
              <a:ext cx="4636701" cy="692277"/>
              <a:chOff x="657225" y="1509712"/>
              <a:chExt cx="4636701" cy="692277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57225" y="1552575"/>
                <a:ext cx="514350" cy="514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5287" y="1701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1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79220" y="1509712"/>
                <a:ext cx="39147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获取自身必要组件 → Awake</a:t>
                </a:r>
                <a:endPara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82268" y="1879282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只依赖当前对象，加载时即可建立引用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57225" y="2443162"/>
              <a:ext cx="6690839" cy="692277"/>
              <a:chOff x="657225" y="2443162"/>
              <a:chExt cx="6690839" cy="692277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57225" y="2486025"/>
                <a:ext cx="514350" cy="514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5287" y="26346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79220" y="2443162"/>
                <a:ext cx="596884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订阅 / 取消订阅 → OnEnable / OnDisable</a:t>
                </a:r>
                <a:endPara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82268" y="2812732"/>
                <a:ext cx="46813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组件每次开始工作时订阅，停止工作时成对解除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7225" y="3376612"/>
              <a:ext cx="6180574" cy="692277"/>
              <a:chOff x="657225" y="3376612"/>
              <a:chExt cx="6180574" cy="69227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57225" y="3419475"/>
                <a:ext cx="514350" cy="514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5287" y="35680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3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79220" y="3376612"/>
                <a:ext cx="545857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依赖其他对象初始化后的启动 → Start</a:t>
                </a:r>
                <a:endPara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82268" y="37461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第一次帧更新前建立初始游戏状态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7225" y="4310062"/>
              <a:ext cx="4609038" cy="692277"/>
              <a:chOff x="657225" y="4310062"/>
              <a:chExt cx="4609038" cy="692277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57225" y="4352925"/>
                <a:ext cx="514350" cy="514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5287" y="4501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79220" y="4310062"/>
                <a:ext cx="388704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持续逻辑 → 对应的更新循环</a:t>
                </a:r>
                <a:endPara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82268" y="4679632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输入、物理和跟随不要挤进同一个函数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57225" y="5243512"/>
              <a:ext cx="4705950" cy="692277"/>
              <a:chOff x="657225" y="5243512"/>
              <a:chExt cx="4705950" cy="692277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57225" y="5286375"/>
                <a:ext cx="514350" cy="51435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35287" y="543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5</a:t>
                </a:r>
                <a:endPara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79220" y="5243512"/>
                <a:ext cx="398395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实例寿命结束 → OnDestroy</a:t>
                </a:r>
                <a:endPara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382268" y="5613082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释放与该实例同寿命的资源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980207" y="1619250"/>
            <a:ext cx="3622985" cy="3935539"/>
            <a:chOff x="7980207" y="1619250"/>
            <a:chExt cx="3622985" cy="3935539"/>
          </a:xfrm>
        </p:grpSpPr>
        <p:sp>
          <p:nvSpPr>
            <p:cNvPr id="32" name="Rectangle 32"/>
            <p:cNvSpPr/>
            <p:nvPr/>
          </p:nvSpPr>
          <p:spPr>
            <a:xfrm>
              <a:off x="8001000" y="1619250"/>
              <a:ext cx="3581400" cy="3886200"/>
            </a:xfrm>
            <a:prstGeom prst="roundRect">
              <a:avLst>
                <a:gd name="adj" fmla="val 6915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391447" y="2048978"/>
              <a:ext cx="800476" cy="687714"/>
              <a:chOff x="9391447" y="2048978"/>
              <a:chExt cx="800476" cy="68771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791700" y="2300288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91447" y="2048978"/>
                <a:ext cx="800476" cy="687714"/>
              </a:xfrm>
              <a:custGeom>
                <a:avLst/>
                <a:gdLst/>
                <a:ahLst/>
                <a:cxnLst/>
                <a:rect l="l" t="t" r="r" b="b"/>
                <a:pathLst>
                  <a:path w="800476" h="687714">
                    <a:moveTo>
                      <a:pt x="335285" y="36640"/>
                    </a:moveTo>
                    <a:lnTo>
                      <a:pt x="13578" y="573771"/>
                    </a:lnTo>
                    <a:cubicBezTo>
                      <a:pt x="82" y="597142"/>
                      <a:pt x="0" y="625918"/>
                      <a:pt x="13361" y="649366"/>
                    </a:cubicBezTo>
                    <a:cubicBezTo>
                      <a:pt x="26722" y="672813"/>
                      <a:pt x="51521" y="687411"/>
                      <a:pt x="78506" y="687714"/>
                    </a:cubicBezTo>
                    <a:lnTo>
                      <a:pt x="722000" y="687714"/>
                    </a:lnTo>
                    <a:cubicBezTo>
                      <a:pt x="748973" y="687403"/>
                      <a:pt x="773758" y="672811"/>
                      <a:pt x="787117" y="649376"/>
                    </a:cubicBezTo>
                    <a:cubicBezTo>
                      <a:pt x="800476" y="625941"/>
                      <a:pt x="800404" y="597179"/>
                      <a:pt x="786929" y="573811"/>
                    </a:cubicBezTo>
                    <a:lnTo>
                      <a:pt x="465222" y="36601"/>
                    </a:lnTo>
                    <a:cubicBezTo>
                      <a:pt x="451456" y="13879"/>
                      <a:pt x="426820" y="0"/>
                      <a:pt x="400253" y="0"/>
                    </a:cubicBezTo>
                    <a:cubicBezTo>
                      <a:pt x="373687" y="0"/>
                      <a:pt x="349051" y="13879"/>
                      <a:pt x="335285" y="36601"/>
                    </a:cubicBez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91700" y="2578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97" y="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980207" y="2947035"/>
              <a:ext cx="36229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不要赌 Awake 顺序</a:t>
              </a:r>
              <a:endParaRPr lang="zh-CN" sz="2700" b="1" dirty="0">
                <a:solidFill>
                  <a:srgbClr val="D85C45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50936" y="3520440"/>
              <a:ext cx="3081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 GameObject 的 Awake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07502" y="38442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谁先执行，不应成为逻辑前提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553450" y="4219575"/>
              <a:ext cx="2476500" cy="257175"/>
            </a:xfrm>
            <a:custGeom>
              <a:avLst/>
              <a:gdLst/>
              <a:ahLst/>
              <a:cxnLst/>
              <a:rect l="l" t="t" r="r" b="b"/>
              <a:pathLst>
                <a:path w="2476500" h="257175">
                  <a:moveTo>
                    <a:pt x="0" y="123825"/>
                  </a:moveTo>
                  <a:cubicBezTo>
                    <a:pt x="742950" y="0"/>
                    <a:pt x="1733550" y="257175"/>
                    <a:pt x="2476500" y="104775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37613" y="45681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跨对象依赖怎么办？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0580" y="49463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使用明确的启动流程、事件</a:t>
              </a:r>
              <a:endParaRPr lang="zh-CN" sz="16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94826" y="5232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或由上层统一编排</a:t>
              </a:r>
              <a:endParaRPr lang="zh-CN" sz="16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5" name="Line 4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205845" cy="973074"/>
            <a:chOff x="552450" y="346710"/>
            <a:chExt cx="11205845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205845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Update、FixedUpdate、LateUpdate 各管节奏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输入与普通逻辑、物理时间步、跟随收尾应分开放置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524000"/>
            <a:ext cx="3619109" cy="3752850"/>
            <a:chOff x="571500" y="1524000"/>
            <a:chExt cx="3619109" cy="375285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90700" y="17335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057400" y="2000250"/>
              <a:ext cx="457201" cy="457201"/>
              <a:chOff x="2057400" y="2000250"/>
              <a:chExt cx="457201" cy="4572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057400" y="20002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86000" y="2101850"/>
                <a:ext cx="76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200">
                    <a:moveTo>
                      <a:pt x="0" y="0"/>
                    </a:moveTo>
                    <a:lnTo>
                      <a:pt x="0" y="127000"/>
                    </a:lnTo>
                    <a:lnTo>
                      <a:pt x="76200" y="203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672701" y="2744152"/>
              <a:ext cx="12265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Update</a:t>
              </a:r>
              <a:endParaRPr lang="en-US" sz="25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3653790"/>
              <a:ext cx="16664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读取玩家输入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056" y="3977640"/>
              <a:ext cx="16664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普通游戏逻辑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056" y="4301490"/>
              <a:ext cx="33615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CharacterController.Move</a:t>
              </a:r>
              <a:endParaRPr lang="en-US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7841" y="4821079"/>
              <a:ext cx="25363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speed × Time.deltaTime</a:t>
              </a:r>
              <a:endParaRPr lang="en-US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524000"/>
            <a:ext cx="3429000" cy="3752850"/>
            <a:chOff x="4381500" y="1524000"/>
            <a:chExt cx="3429000" cy="3752850"/>
          </a:xfrm>
        </p:grpSpPr>
        <p:sp>
          <p:nvSpPr>
            <p:cNvPr id="18" name="Rectangle 18"/>
            <p:cNvSpPr/>
            <p:nvPr/>
          </p:nvSpPr>
          <p:spPr>
            <a:xfrm>
              <a:off x="438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600700" y="17335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892800" y="2000250"/>
              <a:ext cx="406401" cy="457200"/>
              <a:chOff x="5892800" y="2000250"/>
              <a:chExt cx="406401" cy="457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892800" y="2000250"/>
                <a:ext cx="406401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228600">
                    <a:moveTo>
                      <a:pt x="0" y="228600"/>
                    </a:moveTo>
                    <a:lnTo>
                      <a:pt x="0" y="152400"/>
                    </a:lnTo>
                    <a:cubicBezTo>
                      <a:pt x="0" y="110316"/>
                      <a:pt x="34116" y="76200"/>
                      <a:pt x="76200" y="76200"/>
                    </a:cubicBezTo>
                    <a:lnTo>
                      <a:pt x="406401" y="76200"/>
                    </a:lnTo>
                    <a:moveTo>
                      <a:pt x="330200" y="0"/>
                    </a:moveTo>
                    <a:lnTo>
                      <a:pt x="406401" y="76200"/>
                    </a:lnTo>
                    <a:lnTo>
                      <a:pt x="330200" y="152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892800" y="2228850"/>
                <a:ext cx="406401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228600">
                    <a:moveTo>
                      <a:pt x="406401" y="0"/>
                    </a:moveTo>
                    <a:lnTo>
                      <a:pt x="406401" y="76200"/>
                    </a:lnTo>
                    <a:cubicBezTo>
                      <a:pt x="406401" y="118284"/>
                      <a:pt x="372285" y="152400"/>
                      <a:pt x="330200" y="152400"/>
                    </a:cubicBezTo>
                    <a:lnTo>
                      <a:pt x="0" y="152400"/>
                    </a:lnTo>
                    <a:moveTo>
                      <a:pt x="76200" y="228600"/>
                    </a:moveTo>
                    <a:lnTo>
                      <a:pt x="0" y="152400"/>
                    </a:ln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089880" y="2760345"/>
              <a:ext cx="2012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FixedUpdate</a:t>
              </a:r>
              <a:endParaRPr lang="en-US" sz="2400" b="1" dirty="0">
                <a:solidFill>
                  <a:srgbClr val="8C5A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056" y="3653790"/>
              <a:ext cx="1858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Rigidbody 施力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9056" y="3977640"/>
              <a:ext cx="1908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物理速度与移动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9056" y="4301490"/>
              <a:ext cx="1908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固定物理时间步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75595" y="4821079"/>
              <a:ext cx="22408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body.AddForce(...)</a:t>
              </a:r>
              <a:endParaRPr lang="en-US" sz="1580" b="1" dirty="0">
                <a:solidFill>
                  <a:srgbClr val="8C5A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91500" y="1524000"/>
            <a:ext cx="3429000" cy="3752850"/>
            <a:chOff x="8191500" y="1524000"/>
            <a:chExt cx="3429000" cy="3752850"/>
          </a:xfrm>
        </p:grpSpPr>
        <p:sp>
          <p:nvSpPr>
            <p:cNvPr id="31" name="Rectangle 31"/>
            <p:cNvSpPr/>
            <p:nvPr/>
          </p:nvSpPr>
          <p:spPr>
            <a:xfrm>
              <a:off x="819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410700" y="17335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677400" y="2025650"/>
              <a:ext cx="457201" cy="406401"/>
              <a:chOff x="9677400" y="2025650"/>
              <a:chExt cx="457201" cy="406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77400" y="2025650"/>
                <a:ext cx="457201" cy="4064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06401">
                    <a:moveTo>
                      <a:pt x="50800" y="76200"/>
                    </a:moveTo>
                    <a:lnTo>
                      <a:pt x="76200" y="76200"/>
                    </a:lnTo>
                    <a:cubicBezTo>
                      <a:pt x="104256" y="76200"/>
                      <a:pt x="127000" y="53456"/>
                      <a:pt x="127000" y="25400"/>
                    </a:cubicBezTo>
                    <a:cubicBezTo>
                      <a:pt x="127000" y="11372"/>
                      <a:pt x="138372" y="0"/>
                      <a:pt x="152400" y="0"/>
                    </a:cubicBezTo>
                    <a:lnTo>
                      <a:pt x="304800" y="0"/>
                    </a:lnTo>
                    <a:cubicBezTo>
                      <a:pt x="318828" y="0"/>
                      <a:pt x="330200" y="11372"/>
                      <a:pt x="330200" y="25400"/>
                    </a:cubicBezTo>
                    <a:cubicBezTo>
                      <a:pt x="330200" y="53456"/>
                      <a:pt x="352944" y="76200"/>
                      <a:pt x="381000" y="76200"/>
                    </a:cubicBezTo>
                    <a:lnTo>
                      <a:pt x="406401" y="76200"/>
                    </a:lnTo>
                    <a:cubicBezTo>
                      <a:pt x="434457" y="76200"/>
                      <a:pt x="457201" y="98944"/>
                      <a:pt x="457201" y="127000"/>
                    </a:cubicBezTo>
                    <a:lnTo>
                      <a:pt x="457201" y="355600"/>
                    </a:lnTo>
                    <a:cubicBezTo>
                      <a:pt x="457201" y="383657"/>
                      <a:pt x="434457" y="406401"/>
                      <a:pt x="406401" y="406401"/>
                    </a:cubicBezTo>
                    <a:lnTo>
                      <a:pt x="50800" y="406401"/>
                    </a:lnTo>
                    <a:cubicBezTo>
                      <a:pt x="22744" y="406401"/>
                      <a:pt x="0" y="383657"/>
                      <a:pt x="0" y="355600"/>
                    </a:cubicBezTo>
                    <a:lnTo>
                      <a:pt x="0" y="127000"/>
                    </a:lnTo>
                    <a:cubicBezTo>
                      <a:pt x="0" y="98944"/>
                      <a:pt x="22744" y="76200"/>
                      <a:pt x="5080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29800" y="21780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950330" y="2760345"/>
              <a:ext cx="19113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LateUpdate</a:t>
              </a:r>
              <a:endParaRPr lang="en-US" sz="240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9056" y="3653790"/>
              <a:ext cx="1424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摄像机跟随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9056" y="3977640"/>
              <a:ext cx="1424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对齐与收尾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9056" y="4301490"/>
              <a:ext cx="2389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等其他 Update 完成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25827" y="4821079"/>
              <a:ext cx="21603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Camera follows last</a:t>
              </a:r>
              <a:endParaRPr lang="en-US" sz="158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885950" y="5505450"/>
            <a:ext cx="8420100" cy="495300"/>
            <a:chOff x="1885950" y="5505450"/>
            <a:chExt cx="84201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885950" y="5505450"/>
              <a:ext cx="8420100" cy="495300"/>
            </a:xfrm>
            <a:prstGeom prst="roundRect">
              <a:avLst>
                <a:gd name="adj" fmla="val 34615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31162" y="5634990"/>
              <a:ext cx="79296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连续变化要乘 deltaTime；按键触发一次创建对象，不要乘 deltaTime</a:t>
              </a:r>
              <a:endParaRPr lang="zh-CN" sz="1800" b="1" dirty="0">
                <a:solidFill>
                  <a:srgbClr val="D85C4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Line 47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886941" cy="973074"/>
            <a:chOff x="552450" y="346710"/>
            <a:chExt cx="11886941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8869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Transform 同时保存空间状态与父子层级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081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世界 / 局部、方向向量、父子关系和坐标转换属于同一套空间语义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" y="1497330"/>
            <a:ext cx="4095750" cy="4000500"/>
            <a:chOff x="628650" y="1524000"/>
            <a:chExt cx="4095750" cy="4000500"/>
          </a:xfrm>
        </p:grpSpPr>
        <p:sp>
          <p:nvSpPr>
            <p:cNvPr id="5" name="Rectangle 5"/>
            <p:cNvSpPr/>
            <p:nvPr/>
          </p:nvSpPr>
          <p:spPr>
            <a:xfrm>
              <a:off x="628650" y="1524000"/>
              <a:ext cx="4095750" cy="4000500"/>
            </a:xfrm>
            <a:prstGeom prst="roundRect">
              <a:avLst>
                <a:gd name="adj" fmla="val 6667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02506" y="1859756"/>
              <a:ext cx="414339" cy="414339"/>
              <a:chOff x="1002506" y="1859756"/>
              <a:chExt cx="414339" cy="41433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02506" y="1859756"/>
                <a:ext cx="13811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38113">
                    <a:moveTo>
                      <a:pt x="0" y="69056"/>
                    </a:moveTo>
                    <a:cubicBezTo>
                      <a:pt x="0" y="107195"/>
                      <a:pt x="30918" y="138113"/>
                      <a:pt x="69056" y="138113"/>
                    </a:cubicBezTo>
                    <a:cubicBezTo>
                      <a:pt x="107195" y="138113"/>
                      <a:pt x="138113" y="107195"/>
                      <a:pt x="138113" y="69056"/>
                    </a:cubicBezTo>
                    <a:cubicBezTo>
                      <a:pt x="138113" y="30918"/>
                      <a:pt x="107195" y="0"/>
                      <a:pt x="69056" y="0"/>
                    </a:cubicBezTo>
                    <a:cubicBezTo>
                      <a:pt x="30918" y="0"/>
                      <a:pt x="0" y="30918"/>
                      <a:pt x="0" y="69056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232694" y="1859756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184150" y="184150"/>
                    </a:moveTo>
                    <a:lnTo>
                      <a:pt x="184150" y="115094"/>
                    </a:lnTo>
                    <a:cubicBezTo>
                      <a:pt x="184150" y="89668"/>
                      <a:pt x="163539" y="69056"/>
                      <a:pt x="138113" y="69056"/>
                    </a:cubicBezTo>
                    <a:lnTo>
                      <a:pt x="0" y="69056"/>
                    </a:lnTo>
                    <a:lnTo>
                      <a:pt x="69056" y="138113"/>
                    </a:lnTo>
                    <a:moveTo>
                      <a:pt x="69056" y="0"/>
                    </a:moveTo>
                    <a:lnTo>
                      <a:pt x="0" y="6905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2506" y="2089944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0" y="0"/>
                    </a:moveTo>
                    <a:lnTo>
                      <a:pt x="0" y="69056"/>
                    </a:lnTo>
                    <a:cubicBezTo>
                      <a:pt x="0" y="94482"/>
                      <a:pt x="20612" y="115094"/>
                      <a:pt x="46038" y="115094"/>
                    </a:cubicBezTo>
                    <a:lnTo>
                      <a:pt x="184150" y="115094"/>
                    </a:lnTo>
                    <a:lnTo>
                      <a:pt x="115094" y="46038"/>
                    </a:lnTo>
                    <a:moveTo>
                      <a:pt x="115094" y="184150"/>
                    </a:moveTo>
                    <a:lnTo>
                      <a:pt x="184150" y="1150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78732" y="2135982"/>
                <a:ext cx="13811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38113">
                    <a:moveTo>
                      <a:pt x="0" y="69056"/>
                    </a:moveTo>
                    <a:cubicBezTo>
                      <a:pt x="0" y="107195"/>
                      <a:pt x="30918" y="138113"/>
                      <a:pt x="69056" y="138113"/>
                    </a:cubicBezTo>
                    <a:cubicBezTo>
                      <a:pt x="107195" y="138113"/>
                      <a:pt x="138113" y="107195"/>
                      <a:pt x="138113" y="69056"/>
                    </a:cubicBezTo>
                    <a:cubicBezTo>
                      <a:pt x="138113" y="30918"/>
                      <a:pt x="107195" y="0"/>
                      <a:pt x="69056" y="0"/>
                    </a:cubicBezTo>
                    <a:cubicBezTo>
                      <a:pt x="30918" y="0"/>
                      <a:pt x="0" y="30918"/>
                      <a:pt x="0" y="69056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43634" y="18802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空间三要素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947896" y="2857500"/>
              <a:ext cx="1456228" cy="1524000"/>
              <a:chOff x="1947896" y="2857500"/>
              <a:chExt cx="1456228" cy="152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947896" y="4267200"/>
                <a:ext cx="130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4925" h="9525">
                    <a:moveTo>
                      <a:pt x="0" y="0"/>
                    </a:moveTo>
                    <a:lnTo>
                      <a:pt x="1304925" y="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72723" y="2865120"/>
                <a:ext cx="9525" cy="139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0650">
                    <a:moveTo>
                      <a:pt x="0" y="139065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 rot="720000">
                <a:off x="1954297" y="3789680"/>
                <a:ext cx="665480" cy="487045"/>
              </a:xfrm>
              <a:custGeom>
                <a:avLst/>
                <a:gdLst/>
                <a:ahLst/>
                <a:cxnLst/>
                <a:rect l="l" t="t" r="r" b="b"/>
                <a:pathLst>
                  <a:path w="904875" h="647700">
                    <a:moveTo>
                      <a:pt x="904875" y="0"/>
                    </a:moveTo>
                    <a:lnTo>
                      <a:pt x="0" y="6477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51724" y="4152900"/>
                <a:ext cx="1524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28600">
                    <a:moveTo>
                      <a:pt x="0" y="0"/>
                    </a:moveTo>
                    <a:lnTo>
                      <a:pt x="1524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963000" y="2857500"/>
                <a:ext cx="228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71450">
                    <a:moveTo>
                      <a:pt x="0" y="171450"/>
                    </a:moveTo>
                    <a:lnTo>
                      <a:pt x="114300" y="0"/>
                    </a:lnTo>
                    <a:lnTo>
                      <a:pt x="228600" y="17145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 rot="11280000">
                <a:off x="2557669" y="378587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42875" y="0"/>
                    </a:moveTo>
                    <a:lnTo>
                      <a:pt x="0" y="190500"/>
                    </a:lnTo>
                    <a:lnTo>
                      <a:pt x="238125" y="161925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9" name="Ellipse 19"/>
            <p:cNvSpPr/>
            <p:nvPr/>
          </p:nvSpPr>
          <p:spPr>
            <a:xfrm>
              <a:off x="1685925" y="386715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46977" y="4174808"/>
              <a:ext cx="477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Self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5868" y="4165282"/>
              <a:ext cx="599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right</a:t>
              </a:r>
              <a:endParaRPr lang="en-US" sz="1650" b="1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01418" y="26984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up</a:t>
              </a:r>
              <a:endParaRPr lang="en-US" sz="165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58313" y="3421062"/>
              <a:ext cx="961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forward</a:t>
              </a:r>
              <a:endParaRPr lang="en-US" sz="16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6789" y="5174932"/>
              <a:ext cx="2839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Space.Self 随物体朝向变化</a:t>
              </a:r>
              <a:endParaRPr lang="zh-CN" sz="16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67300" y="1524000"/>
            <a:ext cx="6553200" cy="1162050"/>
            <a:chOff x="5067300" y="1524000"/>
            <a:chExt cx="6553200" cy="1162050"/>
          </a:xfrm>
        </p:grpSpPr>
        <p:sp>
          <p:nvSpPr>
            <p:cNvPr id="26" name="Rectangle 26"/>
            <p:cNvSpPr/>
            <p:nvPr/>
          </p:nvSpPr>
          <p:spPr>
            <a:xfrm>
              <a:off x="5067300" y="1524000"/>
              <a:ext cx="6553200" cy="1162050"/>
            </a:xfrm>
            <a:prstGeom prst="roundRect">
              <a:avLst>
                <a:gd name="adj" fmla="val 18033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2946" y="1648778"/>
              <a:ext cx="4253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 世界坐标 vs 局部坐标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7137" y="2099786"/>
              <a:ext cx="21539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position / rotation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29372" y="2101056"/>
              <a:ext cx="3480435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localPosition / localRotation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8280" y="23907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存在旋转或缩放的父物体时，两套数值会明显不同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67300" y="2876550"/>
            <a:ext cx="6665643" cy="1162050"/>
            <a:chOff x="5067300" y="2876550"/>
            <a:chExt cx="6665643" cy="1162050"/>
          </a:xfrm>
        </p:grpSpPr>
        <p:sp>
          <p:nvSpPr>
            <p:cNvPr id="32" name="Rectangle 32"/>
            <p:cNvSpPr/>
            <p:nvPr/>
          </p:nvSpPr>
          <p:spPr>
            <a:xfrm>
              <a:off x="5067300" y="2876550"/>
              <a:ext cx="6553200" cy="1162050"/>
            </a:xfrm>
            <a:prstGeom prst="roundRect">
              <a:avLst>
                <a:gd name="adj" fmla="val 18033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2946" y="3001328"/>
              <a:ext cx="24633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2. 移动与朝向</a:t>
              </a:r>
              <a:endParaRPr lang="zh-CN" sz="25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7137" y="3452336"/>
              <a:ext cx="59949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Translate(..., Space.Self) · Rotate · LookRotation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8280" y="3743325"/>
              <a:ext cx="6444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水平朝向目标时，先把 direction.y 设为 0；复杂旋转优先 Quaternion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067300" y="4221480"/>
            <a:ext cx="6553200" cy="1809481"/>
            <a:chOff x="5067300" y="4223645"/>
            <a:chExt cx="6553200" cy="1295400"/>
          </a:xfrm>
        </p:grpSpPr>
        <p:sp>
          <p:nvSpPr>
            <p:cNvPr id="37" name="Rectangle 37"/>
            <p:cNvSpPr/>
            <p:nvPr/>
          </p:nvSpPr>
          <p:spPr>
            <a:xfrm>
              <a:off x="5067300" y="4223645"/>
              <a:ext cx="6553200" cy="1295400"/>
            </a:xfrm>
            <a:prstGeom prst="roundRect">
              <a:avLst>
                <a:gd name="adj" fmla="val 16176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2946" y="4353878"/>
              <a:ext cx="3986723" cy="2804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3. 父子关系与坐标转换</a:t>
              </a:r>
              <a:endParaRPr lang="zh-CN" sz="2550" b="1" dirty="0">
                <a:solidFill>
                  <a:srgbClr val="2F8F6A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7518" y="4683448"/>
              <a:ext cx="4616625" cy="18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SetParent(newParent, true) 保持世界变换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7645" y="4920083"/>
              <a:ext cx="6121400" cy="5450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TransformPoint ↔ InverseTransformPoint</a:t>
              </a:r>
              <a:endParaRPr lang="en-US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  <a:p>
              <a:pPr algn="l"/>
              <a:r>
                <a:rPr lang="en-US" alt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TransformDirection</a:t>
              </a:r>
              <a:r>
                <a:rPr lang="en-US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+mn-ea"/>
                </a:rPr>
                <a:t> ↔ </a:t>
              </a:r>
              <a:r>
                <a:rPr lang="en-US" alt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+mn-ea"/>
                </a:rPr>
                <a:t>InverseTransformDirection</a:t>
              </a:r>
              <a:endParaRPr lang="en-US" alt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endParaRPr>
            </a:p>
            <a:p>
              <a:pPr algn="l"/>
              <a:endParaRPr lang="en-US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89042" y="5340668"/>
              <a:ext cx="4011930" cy="1486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点含位置信息；方向不含位置，转换函数不要混用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4" name="Line 44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447276" cy="973074"/>
            <a:chOff x="552450" y="346710"/>
            <a:chExt cx="944727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4472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引用先连好，运行时只做必要查找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8917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GameObject 管对象状态；Component 提供能力；引用应在初始化阶段建立并缓存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2450" y="1466850"/>
            <a:ext cx="11196413" cy="4000500"/>
            <a:chOff x="552450" y="1466850"/>
            <a:chExt cx="11196413" cy="40005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11087100" cy="4000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  <a:custDash>
                <a:ds d="333333" sp="233333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3919" y="1711288"/>
              <a:ext cx="328613" cy="368357"/>
              <a:chOff x="873919" y="1711288"/>
              <a:chExt cx="328613" cy="36835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73919" y="1711288"/>
                <a:ext cx="328613" cy="368357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68357">
                    <a:moveTo>
                      <a:pt x="328613" y="257359"/>
                    </a:moveTo>
                    <a:lnTo>
                      <a:pt x="328613" y="110980"/>
                    </a:lnTo>
                    <a:cubicBezTo>
                      <a:pt x="328590" y="98013"/>
                      <a:pt x="321624" y="86052"/>
                      <a:pt x="310357" y="79634"/>
                    </a:cubicBezTo>
                    <a:lnTo>
                      <a:pt x="182563" y="6463"/>
                    </a:lnTo>
                    <a:cubicBezTo>
                      <a:pt x="171250" y="0"/>
                      <a:pt x="157363" y="0"/>
                      <a:pt x="146050" y="6463"/>
                    </a:cubicBezTo>
                    <a:lnTo>
                      <a:pt x="18256" y="79634"/>
                    </a:lnTo>
                    <a:cubicBezTo>
                      <a:pt x="6956" y="86115"/>
                      <a:pt x="0" y="98073"/>
                      <a:pt x="0" y="110998"/>
                    </a:cubicBezTo>
                    <a:lnTo>
                      <a:pt x="0" y="257377"/>
                    </a:lnTo>
                    <a:cubicBezTo>
                      <a:pt x="0" y="270321"/>
                      <a:pt x="6956" y="282260"/>
                      <a:pt x="18256" y="288723"/>
                    </a:cubicBezTo>
                    <a:lnTo>
                      <a:pt x="146050" y="361894"/>
                    </a:lnTo>
                    <a:cubicBezTo>
                      <a:pt x="157363" y="368357"/>
                      <a:pt x="171250" y="368357"/>
                      <a:pt x="182563" y="361894"/>
                    </a:cubicBezTo>
                    <a:lnTo>
                      <a:pt x="310357" y="288723"/>
                    </a:lnTo>
                    <a:cubicBezTo>
                      <a:pt x="321657" y="282242"/>
                      <a:pt x="328613" y="270284"/>
                      <a:pt x="328613" y="25735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38225" y="1895475"/>
                <a:ext cx="95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563">
                    <a:moveTo>
                      <a:pt x="0" y="1825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8225" y="1803464"/>
                <a:ext cx="159377" cy="92012"/>
              </a:xfrm>
              <a:custGeom>
                <a:avLst/>
                <a:gdLst/>
                <a:ahLst/>
                <a:cxnLst/>
                <a:rect l="l" t="t" r="r" b="b"/>
                <a:pathLst>
                  <a:path w="159377" h="92012">
                    <a:moveTo>
                      <a:pt x="0" y="92012"/>
                    </a:moveTo>
                    <a:lnTo>
                      <a:pt x="15937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8848" y="1803464"/>
                <a:ext cx="159377" cy="92012"/>
              </a:xfrm>
              <a:custGeom>
                <a:avLst/>
                <a:gdLst/>
                <a:ahLst/>
                <a:cxnLst/>
                <a:rect l="l" t="t" r="r" b="b"/>
                <a:pathLst>
                  <a:path w="159377" h="92012">
                    <a:moveTo>
                      <a:pt x="0" y="0"/>
                    </a:moveTo>
                    <a:lnTo>
                      <a:pt x="159377" y="9201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96746" y="1724978"/>
              <a:ext cx="7662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GameObject：对象身份 + 激活状态 + 组件容器</a:t>
              </a:r>
              <a:endParaRPr lang="zh-CN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19150" y="2343150"/>
              <a:ext cx="3389183" cy="2800350"/>
              <a:chOff x="819150" y="2343150"/>
              <a:chExt cx="3389183" cy="28003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19150" y="2343150"/>
                <a:ext cx="3238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75544" y="2625725"/>
                <a:ext cx="237332" cy="292101"/>
              </a:xfrm>
              <a:custGeom>
                <a:avLst/>
                <a:gdLst/>
                <a:ahLst/>
                <a:cxnLst/>
                <a:rect l="l" t="t" r="r" b="b"/>
                <a:pathLst>
                  <a:path w="237332" h="292101">
                    <a:moveTo>
                      <a:pt x="0" y="0"/>
                    </a:moveTo>
                    <a:lnTo>
                      <a:pt x="0" y="292101"/>
                    </a:lnTo>
                    <a:lnTo>
                      <a:pt x="237332" y="1460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443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对象状态</a:t>
                </a:r>
                <a:endPara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8987" y="3204686"/>
                <a:ext cx="207266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name · tag · layer</a:t>
                </a:r>
                <a:endPara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8987" y="3642836"/>
                <a:ext cx="19605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SetActive(false)</a:t>
                </a:r>
                <a:endPara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028700" y="4114800"/>
                <a:ext cx="281940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89279" y="4249579"/>
                <a:ext cx="113544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activeSelf</a:t>
                </a:r>
                <a:endParaRPr lang="en-US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73480" y="45434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自身开关</a:t>
                </a:r>
                <a:endPara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264982" y="4249579"/>
                <a:ext cx="194335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activeInHierarchy</a:t>
                </a:r>
                <a:endParaRPr lang="en-US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30780" y="4543425"/>
                <a:ext cx="696337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真实状态</a:t>
                </a:r>
                <a:endPara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286250" y="2343150"/>
              <a:ext cx="3305889" cy="2800350"/>
              <a:chOff x="4286250" y="2343150"/>
              <a:chExt cx="3305889" cy="28003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286250" y="2343150"/>
                <a:ext cx="3238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569619" y="2607469"/>
                <a:ext cx="328613" cy="328613"/>
                <a:chOff x="4569619" y="2607469"/>
                <a:chExt cx="328613" cy="32861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569619" y="2717007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88694" y="2717007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679157" y="2607469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679157" y="2826544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1114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获取组件</a:t>
                </a:r>
                <a:endPara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06849" y="3239929"/>
                <a:ext cx="20673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GetComponent&lt;T&gt;()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06849" y="3611404"/>
                <a:ext cx="26013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TryGetComponent(out T)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06849" y="3982879"/>
                <a:ext cx="30852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GetComponentInChildren&lt;T&gt;()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06849" y="4354354"/>
                <a:ext cx="295991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GetComponentInParent&lt;T&gt;()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495800" y="4724400"/>
                <a:ext cx="2819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702140" y="4778692"/>
                <a:ext cx="24067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需要反复使用 → Awake 缓存</a:t>
                </a:r>
                <a:endParaRPr lang="zh-CN" sz="135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7753350" y="2343150"/>
              <a:ext cx="3995513" cy="2800350"/>
              <a:chOff x="7753350" y="2343150"/>
              <a:chExt cx="3995513" cy="2800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53350" y="2343150"/>
                <a:ext cx="3619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036719" y="2607469"/>
                <a:ext cx="328613" cy="328613"/>
                <a:chOff x="8036719" y="2607469"/>
                <a:chExt cx="328613" cy="328613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36719" y="2607469"/>
                  <a:ext cx="255588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88" h="255588">
                      <a:moveTo>
                        <a:pt x="0" y="127794"/>
                      </a:moveTo>
                      <a:cubicBezTo>
                        <a:pt x="0" y="198373"/>
                        <a:pt x="57215" y="255588"/>
                        <a:pt x="127794" y="255588"/>
                      </a:cubicBezTo>
                      <a:cubicBezTo>
                        <a:pt x="198373" y="255588"/>
                        <a:pt x="255588" y="198373"/>
                        <a:pt x="255588" y="127794"/>
                      </a:cubicBezTo>
                      <a:cubicBezTo>
                        <a:pt x="255588" y="57215"/>
                        <a:pt x="198373" y="0"/>
                        <a:pt x="127794" y="0"/>
                      </a:cubicBezTo>
                      <a:cubicBezTo>
                        <a:pt x="57215" y="0"/>
                        <a:pt x="0" y="57215"/>
                        <a:pt x="0" y="12779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255794" y="2826544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109538" y="1095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5785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引用策略</a:t>
                </a:r>
                <a:endPara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973187" y="3204686"/>
                <a:ext cx="37756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优先 1：Inspector SerializeField</a:t>
                </a:r>
                <a:endPara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973187" y="3595211"/>
                <a:ext cx="315074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优先 2：创建对象时传入引用</a:t>
                </a:r>
                <a:endPara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73187" y="3985736"/>
                <a:ext cx="343115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必要时：初始化查找一次并缓存</a:t>
                </a:r>
                <a:endPara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962900" y="4476750"/>
                <a:ext cx="3200400" cy="514350"/>
              </a:xfrm>
              <a:prstGeom prst="roundRect">
                <a:avLst>
                  <a:gd name="adj" fmla="val 27778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441613" y="4533900"/>
                <a:ext cx="22429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8C5A0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GameObject.Find(...)</a:t>
                </a:r>
                <a:endParaRPr lang="en-US" sz="1500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97535" y="47691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不要每帧按名称查找</a:t>
                </a:r>
                <a:endParaRPr lang="zh-CN" sz="135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2076450" y="5638800"/>
            <a:ext cx="8039100" cy="443484"/>
            <a:chOff x="2076450" y="5638800"/>
            <a:chExt cx="8039100" cy="443484"/>
          </a:xfrm>
        </p:grpSpPr>
        <p:sp>
          <p:nvSpPr>
            <p:cNvPr id="50" name="Rectangle 50"/>
            <p:cNvSpPr/>
            <p:nvPr/>
          </p:nvSpPr>
          <p:spPr>
            <a:xfrm>
              <a:off x="2076450" y="5638800"/>
              <a:ext cx="8039100" cy="419100"/>
            </a:xfrm>
            <a:prstGeom prst="roundRect">
              <a:avLst>
                <a:gd name="adj" fmla="val 4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66521" y="5730240"/>
              <a:ext cx="6658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稳定的引用关系，比运行时“到处找对象”更可靠、更易维护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3" name="Line 53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8819998" cy="973074"/>
            <a:chOff x="552450" y="346710"/>
            <a:chExt cx="881999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88199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创建对象容易，维护引用更重要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先获得稳定引用，再创建、使用并在合适时机销毁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" y="1695450"/>
            <a:ext cx="11531145" cy="3467100"/>
            <a:chOff x="552450" y="1695450"/>
            <a:chExt cx="11531145" cy="3467100"/>
          </a:xfrm>
        </p:grpSpPr>
        <p:grpSp>
          <p:nvGrpSpPr>
            <p:cNvPr id="16" name="Group 16"/>
            <p:cNvGrpSpPr/>
            <p:nvPr/>
          </p:nvGrpSpPr>
          <p:grpSpPr>
            <a:xfrm>
              <a:off x="552450" y="1695450"/>
              <a:ext cx="2526697" cy="3467100"/>
              <a:chOff x="552450" y="1695450"/>
              <a:chExt cx="2526697" cy="34671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390650" y="16954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585913" y="1890713"/>
                <a:ext cx="371475" cy="371475"/>
                <a:chOff x="1585913" y="1890713"/>
                <a:chExt cx="371475" cy="371475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585913" y="1890713"/>
                  <a:ext cx="2889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288925">
                      <a:moveTo>
                        <a:pt x="0" y="144463"/>
                      </a:moveTo>
                      <a:cubicBezTo>
                        <a:pt x="0" y="224247"/>
                        <a:pt x="64678" y="288925"/>
                        <a:pt x="144463" y="288925"/>
                      </a:cubicBezTo>
                      <a:cubicBezTo>
                        <a:pt x="224247" y="288925"/>
                        <a:pt x="288925" y="224247"/>
                        <a:pt x="288925" y="144463"/>
                      </a:cubicBezTo>
                      <a:cubicBezTo>
                        <a:pt x="288925" y="64678"/>
                        <a:pt x="224247" y="0"/>
                        <a:pt x="144463" y="0"/>
                      </a:cubicBezTo>
                      <a:cubicBezTo>
                        <a:pt x="64678" y="0"/>
                        <a:pt x="0" y="64678"/>
                        <a:pt x="0" y="144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833563" y="213836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123825" y="1238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Rectangle 9"/>
              <p:cNvSpPr/>
              <p:nvPr/>
            </p:nvSpPr>
            <p:spPr>
              <a:xfrm>
                <a:off x="55245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3040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1. 建立引用</a:t>
                </a:r>
                <a:endPara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72287" y="3261836"/>
                <a:ext cx="230686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Inspector 直接连接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72287" y="3604736"/>
                <a:ext cx="190639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Awake 查找组件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2287" y="3947636"/>
                <a:ext cx="21556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必要时按 Tag 查找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57617" y="4638675"/>
                <a:ext cx="182806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cached reference</a:t>
                </a:r>
                <a:endParaRPr lang="en-US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308610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35280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429000" y="1695450"/>
              <a:ext cx="2562535" cy="3467100"/>
              <a:chOff x="3429000" y="1695450"/>
              <a:chExt cx="2562535" cy="34671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267200" y="16954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4503738" y="1931988"/>
                <a:ext cx="288925" cy="288925"/>
                <a:chOff x="4503738" y="1931988"/>
                <a:chExt cx="288925" cy="2889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648200" y="1931988"/>
                  <a:ext cx="95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8925">
                      <a:moveTo>
                        <a:pt x="0" y="0"/>
                      </a:moveTo>
                      <a:lnTo>
                        <a:pt x="0" y="2889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503738" y="2076450"/>
                  <a:ext cx="288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9525">
                      <a:moveTo>
                        <a:pt x="0" y="0"/>
                      </a:moveTo>
                      <a:lnTo>
                        <a:pt x="2889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3" name="Rectangle 23"/>
              <p:cNvSpPr/>
              <p:nvPr/>
            </p:nvSpPr>
            <p:spPr>
              <a:xfrm>
                <a:off x="342900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60695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2. 创建能力</a:t>
                </a:r>
                <a:endPara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48837" y="3261836"/>
                <a:ext cx="23426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Instantiate Prefab</a:t>
                </a:r>
                <a:endParaRPr lang="en-US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48837" y="3604736"/>
                <a:ext cx="18292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指定位置与旋转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48837" y="3947636"/>
                <a:ext cx="1763395" cy="264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AddComponent 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63855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5971" y="4638675"/>
                <a:ext cx="17644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8C5A0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runtime instance</a:t>
                </a:r>
                <a:endParaRPr lang="en-US" sz="150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596265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22935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05550" y="1695450"/>
              <a:ext cx="2772061" cy="3467100"/>
              <a:chOff x="6305550" y="1695450"/>
              <a:chExt cx="2772061" cy="34671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143750" y="16954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339013" y="1890713"/>
                <a:ext cx="371475" cy="371475"/>
                <a:chOff x="7339013" y="1890713"/>
                <a:chExt cx="371475" cy="3714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339013" y="20145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586663" y="20145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462838" y="189071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2838" y="213836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Rectangle 39"/>
              <p:cNvSpPr/>
              <p:nvPr/>
            </p:nvSpPr>
            <p:spPr>
              <a:xfrm>
                <a:off x="630555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48350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3. 运行交互</a:t>
                </a:r>
                <a:endPara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25387" y="3261836"/>
                <a:ext cx="159705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调用组件方法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25387" y="3604736"/>
                <a:ext cx="255222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CompareTag 判断身份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25387" y="3947636"/>
                <a:ext cx="18292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更新状态与表现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51510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515305" y="4638675"/>
                <a:ext cx="2018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F8F6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controlled behavior</a:t>
                </a:r>
                <a:endParaRPr lang="en-US" sz="15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883920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10590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182100" y="1695450"/>
              <a:ext cx="2901495" cy="3467100"/>
              <a:chOff x="9182100" y="1695450"/>
              <a:chExt cx="2901495" cy="34671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0020300" y="1695450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236200" y="1890713"/>
                <a:ext cx="330201" cy="371475"/>
                <a:chOff x="10236200" y="1890713"/>
                <a:chExt cx="330201" cy="371475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0236200" y="1973263"/>
                  <a:ext cx="3302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1" h="9525">
                      <a:moveTo>
                        <a:pt x="0" y="0"/>
                      </a:moveTo>
                      <a:lnTo>
                        <a:pt x="3302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360025" y="2055813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0442575" y="2055813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256838" y="1973263"/>
                  <a:ext cx="2889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288925">
                      <a:moveTo>
                        <a:pt x="0" y="0"/>
                      </a:moveTo>
                      <a:lnTo>
                        <a:pt x="20638" y="247650"/>
                      </a:lnTo>
                      <a:cubicBezTo>
                        <a:pt x="20638" y="270446"/>
                        <a:pt x="39117" y="288925"/>
                        <a:pt x="61913" y="288925"/>
                      </a:cubicBezTo>
                      <a:lnTo>
                        <a:pt x="227013" y="288925"/>
                      </a:lnTo>
                      <a:cubicBezTo>
                        <a:pt x="249808" y="288925"/>
                        <a:pt x="268288" y="270446"/>
                        <a:pt x="268288" y="247650"/>
                      </a:cubicBezTo>
                      <a:lnTo>
                        <a:pt x="2889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339388" y="1890713"/>
                  <a:ext cx="1238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82550">
                      <a:moveTo>
                        <a:pt x="0" y="82550"/>
                      </a:moveTo>
                      <a:lnTo>
                        <a:pt x="0" y="20638"/>
                      </a:lnTo>
                      <a:cubicBezTo>
                        <a:pt x="0" y="9240"/>
                        <a:pt x="9240" y="0"/>
                        <a:pt x="20638" y="0"/>
                      </a:cubicBezTo>
                      <a:lnTo>
                        <a:pt x="103188" y="0"/>
                      </a:lnTo>
                      <a:cubicBezTo>
                        <a:pt x="114585" y="0"/>
                        <a:pt x="123825" y="9240"/>
                        <a:pt x="123825" y="20638"/>
                      </a:cubicBezTo>
                      <a:lnTo>
                        <a:pt x="123825" y="825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6" name="Rectangle 56"/>
              <p:cNvSpPr/>
              <p:nvPr/>
            </p:nvSpPr>
            <p:spPr>
              <a:xfrm>
                <a:off x="918210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36005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D85C45"/>
                    </a:solidFill>
                    <a:latin typeface="+mj-lt"/>
                    <a:ea typeface="+mj-ea"/>
                    <a:cs typeface="+mj-cs"/>
                  </a:rPr>
                  <a:t>4. 结束寿命</a:t>
                </a:r>
                <a:endParaRPr lang="zh-CN" sz="255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401937" y="3261836"/>
                <a:ext cx="26816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Destroy(gameObject)</a:t>
                </a:r>
                <a:endParaRPr lang="en-US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401937" y="3604736"/>
                <a:ext cx="159705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可延迟若干秒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01937" y="3947636"/>
                <a:ext cx="242581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6055" indent="-18605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OnDestroy 清理资源</a:t>
                </a:r>
                <a:endPara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39165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508469" y="4638675"/>
                <a:ext cx="17856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D85C4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reference invalid</a:t>
                </a:r>
                <a:endParaRPr lang="en-US" sz="150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2000250" y="5486400"/>
            <a:ext cx="8191500" cy="533400"/>
            <a:chOff x="2000250" y="5486400"/>
            <a:chExt cx="8191500" cy="533400"/>
          </a:xfrm>
        </p:grpSpPr>
        <p:sp>
          <p:nvSpPr>
            <p:cNvPr id="65" name="Rectangle 65"/>
            <p:cNvSpPr/>
            <p:nvPr/>
          </p:nvSpPr>
          <p:spPr>
            <a:xfrm>
              <a:off x="2000250" y="5486400"/>
              <a:ext cx="8191500" cy="533400"/>
            </a:xfrm>
            <a:prstGeom prst="roundRect">
              <a:avLst>
                <a:gd name="adj" fmla="val 3214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61350" y="5634990"/>
              <a:ext cx="7469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固定配置尽量放 Inspector / Prefab；名称查找不要放进 Update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8" name="Line 68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074839" cy="973074"/>
            <a:chOff x="552450" y="346710"/>
            <a:chExt cx="11074839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0748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Move 处理碰撞，但不会替你处理重力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8795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CharacterController 是脚本直接控制的胶囊角色，不是普通动力学刚体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5" name="Rectangle 44"/>
          <p:cNvSpPr/>
          <p:nvPr/>
        </p:nvSpPr>
        <p:spPr>
          <a:xfrm>
            <a:off x="4027170" y="5481320"/>
            <a:ext cx="7543800" cy="781050"/>
          </a:xfrm>
          <a:prstGeom prst="roundRect">
            <a:avLst>
              <a:gd name="adj" fmla="val 18033"/>
            </a:avLst>
          </a:prstGeom>
          <a:solidFill>
            <a:schemeClr val="dk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58889" y="1485900"/>
            <a:ext cx="3768472" cy="3903345"/>
            <a:chOff x="258889" y="1485900"/>
            <a:chExt cx="3768472" cy="3903345"/>
          </a:xfrm>
        </p:grpSpPr>
        <p:sp>
          <p:nvSpPr>
            <p:cNvPr id="5" name="Rectangle 5"/>
            <p:cNvSpPr/>
            <p:nvPr/>
          </p:nvSpPr>
          <p:spPr>
            <a:xfrm>
              <a:off x="571500" y="1485900"/>
              <a:ext cx="3143250" cy="3867150"/>
            </a:xfrm>
            <a:prstGeom prst="roundRect">
              <a:avLst>
                <a:gd name="adj" fmla="val 8485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204" y="1686878"/>
              <a:ext cx="26918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脚本驱动的胶囊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00200" y="2362200"/>
              <a:ext cx="1085850" cy="2057400"/>
            </a:xfrm>
            <a:prstGeom prst="roundRect">
              <a:avLst>
                <a:gd name="adj" fmla="val 50000"/>
              </a:avLst>
            </a:prstGeom>
            <a:solidFill>
              <a:srgbClr val="EAF0FA"/>
            </a:solidFill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57375" y="2619375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990725" y="3314700"/>
              <a:ext cx="304800" cy="457201"/>
              <a:chOff x="1990725" y="3314700"/>
              <a:chExt cx="304800" cy="4572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143125" y="3314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16125" y="3670301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016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117725" y="3441700"/>
                <a:ext cx="127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30200">
                    <a:moveTo>
                      <a:pt x="127000" y="330200"/>
                    </a:moveTo>
                    <a:lnTo>
                      <a:pt x="76200" y="228600"/>
                    </a:lnTo>
                    <a:lnTo>
                      <a:pt x="0" y="152400"/>
                    </a:ln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990725" y="3441700"/>
                <a:ext cx="304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600">
                    <a:moveTo>
                      <a:pt x="0" y="101600"/>
                    </a:moveTo>
                    <a:lnTo>
                      <a:pt x="50800" y="25400"/>
                    </a:lnTo>
                    <a:lnTo>
                      <a:pt x="152400" y="0"/>
                    </a:lnTo>
                    <a:lnTo>
                      <a:pt x="228600" y="76200"/>
                    </a:lnTo>
                    <a:lnTo>
                      <a:pt x="304800" y="101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1333500" y="462915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8889" y="4795361"/>
              <a:ext cx="37684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controller.Move(displacement)</a:t>
              </a:r>
              <a:endParaRPr lang="en-US" sz="172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5398" y="5095875"/>
              <a:ext cx="3055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Collider 会阻挡；重力要自己维护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000500" y="1485900"/>
            <a:ext cx="7823835" cy="4767168"/>
            <a:chOff x="4000500" y="1485900"/>
            <a:chExt cx="7823835" cy="4767168"/>
          </a:xfrm>
        </p:grpSpPr>
        <p:grpSp>
          <p:nvGrpSpPr>
            <p:cNvPr id="22" name="Group 22"/>
            <p:cNvGrpSpPr/>
            <p:nvPr/>
          </p:nvGrpSpPr>
          <p:grpSpPr>
            <a:xfrm>
              <a:off x="4000500" y="1485900"/>
              <a:ext cx="2362200" cy="1123950"/>
              <a:chOff x="4000500" y="1485900"/>
              <a:chExt cx="2362200" cy="11239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0005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182237" y="1661636"/>
                <a:ext cx="178529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height / radius</a:t>
                </a:r>
                <a:endParaRPr lang="en-US" sz="172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82237" y="1985486"/>
                <a:ext cx="78385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center</a:t>
                </a:r>
                <a:endParaRPr lang="en-US" sz="17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183380" y="22955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胶囊形状</a:t>
                </a:r>
                <a:endPara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591300" y="1485900"/>
              <a:ext cx="2362200" cy="1123950"/>
              <a:chOff x="6591300" y="1485900"/>
              <a:chExt cx="2362200" cy="1123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5913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772656" y="1710690"/>
                <a:ext cx="1284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8C5A0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slopeLimit</a:t>
                </a:r>
                <a:endParaRPr lang="en-US" sz="180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73418" y="20697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可攀爬最大坡度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182100" y="1485900"/>
              <a:ext cx="2362200" cy="1123950"/>
              <a:chOff x="9182100" y="1485900"/>
              <a:chExt cx="2362200" cy="11239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821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363456" y="1710690"/>
                <a:ext cx="1476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F6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stepOffset</a:t>
                </a:r>
                <a:endParaRPr lang="en-US" sz="18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64218" y="20697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可迈过台阶高度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000500" y="2838450"/>
              <a:ext cx="2362200" cy="1127951"/>
              <a:chOff x="4000500" y="2838450"/>
              <a:chExt cx="2362200" cy="112795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0005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181856" y="3063240"/>
                <a:ext cx="12088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skinWidth</a:t>
                </a:r>
                <a:endParaRPr lang="en-US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82618" y="34223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碰撞外壳余量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84142" y="37023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过小容易抖动</a:t>
                </a:r>
                <a:endParaRPr lang="zh-CN" sz="1350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591300" y="2838450"/>
              <a:ext cx="2362200" cy="1123950"/>
              <a:chOff x="6591300" y="2838450"/>
              <a:chExt cx="2362200" cy="1123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913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72656" y="3063240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isGrounded</a:t>
                </a:r>
                <a:endParaRPr lang="en-US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73418" y="34223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上次移动后是否着地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182100" y="2838450"/>
              <a:ext cx="2642235" cy="1123950"/>
              <a:chOff x="9182100" y="2838450"/>
              <a:chExt cx="2642235" cy="11239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1821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363456" y="3063240"/>
                <a:ext cx="101057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velocity</a:t>
                </a:r>
                <a:endParaRPr lang="en-US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364218" y="34223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最近一次移动形成的速度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000500" y="4191000"/>
              <a:ext cx="7543800" cy="2062068"/>
              <a:chOff x="4000500" y="4191000"/>
              <a:chExt cx="7543800" cy="2062068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000500" y="4191000"/>
                <a:ext cx="7543800" cy="1162050"/>
              </a:xfrm>
              <a:prstGeom prst="roundRect">
                <a:avLst>
                  <a:gd name="adj" fmla="val 18033"/>
                </a:avLst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257294" y="4380548"/>
                <a:ext cx="349963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Move(motion × deltaTime)</a:t>
                </a:r>
                <a:endParaRPr lang="en-US" sz="19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60239" y="4763929"/>
                <a:ext cx="573357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参数是本次位移；可自定义重力与跳跃；返回 CollisionFlags</a:t>
                </a:r>
                <a:endPara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861179" y="5945029"/>
                <a:ext cx="597941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参数是速度；自动重力；不再乘 deltaTime；不适合自定义跳跃</a:t>
                </a:r>
                <a:endPara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182364" y="5563553"/>
                <a:ext cx="29044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3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SimpleMove(velocity)</a:t>
                </a:r>
                <a:endParaRPr lang="en-US" sz="19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sp>
        <p:nvSpPr>
          <p:cNvPr id="52" name="Line 5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8819998" cy="973074"/>
            <a:chOff x="552450" y="346710"/>
            <a:chExt cx="881999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88199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一帧移动，其实是七个连续决策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输入、转向、贴地、跳跃、重力、移动与碰撞修正共同形成稳定角色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257300" y="1809750"/>
            <a:ext cx="9315450" cy="2400300"/>
          </a:xfrm>
          <a:custGeom>
            <a:avLst/>
            <a:gdLst/>
            <a:ahLst/>
            <a:cxnLst/>
            <a:rect l="l" t="t" r="r" b="b"/>
            <a:pathLst>
              <a:path w="9315450" h="2400300">
                <a:moveTo>
                  <a:pt x="0" y="0"/>
                </a:moveTo>
                <a:lnTo>
                  <a:pt x="8382000" y="0"/>
                </a:lnTo>
                <a:cubicBezTo>
                  <a:pt x="9220200" y="0"/>
                  <a:pt x="9315450" y="514350"/>
                  <a:pt x="9315450" y="1143000"/>
                </a:cubicBezTo>
                <a:cubicBezTo>
                  <a:pt x="9315450" y="1905000"/>
                  <a:pt x="8667750" y="2400300"/>
                  <a:pt x="7867650" y="2400300"/>
                </a:cubicBezTo>
                <a:lnTo>
                  <a:pt x="2419350" y="2400300"/>
                </a:lnTo>
              </a:path>
            </a:pathLst>
          </a:custGeom>
          <a:noFill/>
          <a:ln w="76200" cap="rnd">
            <a:solidFill>
              <a:schemeClr val="accent4"/>
            </a:solidFill>
            <a:round/>
          </a:ln>
        </p:spPr>
      </p:sp>
      <p:grpSp>
        <p:nvGrpSpPr>
          <p:cNvPr id="12" name="Group 12"/>
          <p:cNvGrpSpPr/>
          <p:nvPr/>
        </p:nvGrpSpPr>
        <p:grpSpPr>
          <a:xfrm>
            <a:off x="514350" y="1485900"/>
            <a:ext cx="2853385" cy="2019300"/>
            <a:chOff x="514350" y="1485900"/>
            <a:chExt cx="2853385" cy="2019300"/>
          </a:xfrm>
        </p:grpSpPr>
        <p:sp>
          <p:nvSpPr>
            <p:cNvPr id="6" name="Ellipse 6"/>
            <p:cNvSpPr/>
            <p:nvPr/>
          </p:nvSpPr>
          <p:spPr>
            <a:xfrm>
              <a:off x="933450" y="14859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818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435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342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读取输入</a:t>
              </a:r>
              <a:endParaRPr lang="zh-CN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230" y="2762250"/>
              <a:ext cx="1738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 A S D → Vector3</a:t>
              </a:r>
              <a:endParaRPr lang="en-US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7230" y="3076575"/>
              <a:ext cx="2670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Keyboard.current 可能为空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24200" y="1485900"/>
            <a:ext cx="2629243" cy="2019300"/>
            <a:chOff x="3124200" y="1485900"/>
            <a:chExt cx="2629243" cy="2019300"/>
          </a:xfrm>
        </p:grpSpPr>
        <p:sp>
          <p:nvSpPr>
            <p:cNvPr id="13" name="Ellipse 13"/>
            <p:cNvSpPr/>
            <p:nvPr/>
          </p:nvSpPr>
          <p:spPr>
            <a:xfrm>
              <a:off x="3543300" y="14859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8803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2420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03270" y="2347912"/>
              <a:ext cx="20391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限制输入长度</a:t>
              </a:r>
              <a:endParaRPr lang="zh-CN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7461" y="2770346"/>
              <a:ext cx="2445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ClampMagnitude(input, 1)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7080" y="3076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避免斜向速度更快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34050" y="1485900"/>
            <a:ext cx="2362200" cy="2019300"/>
            <a:chOff x="5734050" y="1485900"/>
            <a:chExt cx="2362200" cy="2019300"/>
          </a:xfrm>
        </p:grpSpPr>
        <p:sp>
          <p:nvSpPr>
            <p:cNvPr id="20" name="Ellipse 20"/>
            <p:cNvSpPr/>
            <p:nvPr/>
          </p:nvSpPr>
          <p:spPr>
            <a:xfrm>
              <a:off x="6153150" y="1485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788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3405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312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平滑转向</a:t>
              </a:r>
              <a:endParaRPr lang="zh-CN" sz="22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7311" y="2770346"/>
              <a:ext cx="19519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LookRotation + Slerp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6930" y="30765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仅在输入不接近 0 时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43900" y="1485900"/>
            <a:ext cx="2362200" cy="2019300"/>
            <a:chOff x="8343900" y="1485900"/>
            <a:chExt cx="2362200" cy="2019300"/>
          </a:xfrm>
        </p:grpSpPr>
        <p:sp>
          <p:nvSpPr>
            <p:cNvPr id="27" name="Ellipse 27"/>
            <p:cNvSpPr/>
            <p:nvPr/>
          </p:nvSpPr>
          <p:spPr>
            <a:xfrm>
              <a:off x="8763000" y="14859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0773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4390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2297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稳定贴地</a:t>
              </a:r>
              <a:endParaRPr lang="zh-CN" sz="2250" b="1" dirty="0">
                <a:solidFill>
                  <a:srgbClr val="2F8F6A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27161" y="2770346"/>
              <a:ext cx="15666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isGrounded ? -2f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6780" y="3076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保留很小向下速度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43900" y="3886200"/>
            <a:ext cx="2362200" cy="1943100"/>
            <a:chOff x="8343900" y="3886200"/>
            <a:chExt cx="2362200" cy="1943100"/>
          </a:xfrm>
        </p:grpSpPr>
        <p:sp>
          <p:nvSpPr>
            <p:cNvPr id="34" name="Ellipse 34"/>
            <p:cNvSpPr/>
            <p:nvPr/>
          </p:nvSpPr>
          <p:spPr>
            <a:xfrm>
              <a:off x="8763000" y="38862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0773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0233025" y="4788694"/>
              <a:ext cx="241299" cy="271462"/>
              <a:chOff x="10233025" y="4788694"/>
              <a:chExt cx="241299" cy="27146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263187" y="4818856"/>
                <a:ext cx="180975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11137">
                    <a:moveTo>
                      <a:pt x="0" y="135731"/>
                    </a:move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1" y="0"/>
                      <a:pt x="90487" y="20256"/>
                      <a:pt x="90487" y="45244"/>
                    </a:cubicBezTo>
                    <a:lnTo>
                      <a:pt x="90487" y="165893"/>
                    </a:lnTo>
                    <a:cubicBezTo>
                      <a:pt x="90487" y="190881"/>
                      <a:pt x="110744" y="211137"/>
                      <a:pt x="135731" y="211137"/>
                    </a:cubicBezTo>
                    <a:cubicBezTo>
                      <a:pt x="160718" y="211137"/>
                      <a:pt x="180975" y="190881"/>
                      <a:pt x="180975" y="165893"/>
                    </a:cubicBezTo>
                    <a:lnTo>
                      <a:pt x="180975" y="75406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413999" y="4788694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cubicBezTo>
                      <a:pt x="46821" y="0"/>
                      <a:pt x="60325" y="13504"/>
                      <a:pt x="60325" y="30162"/>
                    </a:cubicBezTo>
                    <a:lnTo>
                      <a:pt x="60325" y="75406"/>
                    </a:lnTo>
                    <a:cubicBezTo>
                      <a:pt x="60325" y="92064"/>
                      <a:pt x="46821" y="105569"/>
                      <a:pt x="30162" y="105569"/>
                    </a:cubicBezTo>
                    <a:cubicBezTo>
                      <a:pt x="13504" y="105569"/>
                      <a:pt x="0" y="92064"/>
                      <a:pt x="0" y="75406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33025" y="4954587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cubicBezTo>
                      <a:pt x="46821" y="0"/>
                      <a:pt x="60325" y="13504"/>
                      <a:pt x="60325" y="30162"/>
                    </a:cubicBezTo>
                    <a:lnTo>
                      <a:pt x="60325" y="75406"/>
                    </a:lnTo>
                    <a:cubicBezTo>
                      <a:pt x="60325" y="92064"/>
                      <a:pt x="46821" y="105569"/>
                      <a:pt x="30162" y="105569"/>
                    </a:cubicBezTo>
                    <a:cubicBezTo>
                      <a:pt x="13504" y="105569"/>
                      <a:pt x="0" y="92064"/>
                      <a:pt x="0" y="75406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22970" y="47482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计算跳跃</a:t>
              </a:r>
              <a:endParaRPr lang="zh-CN" sz="22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27542" y="5178742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sqrt(h × -2 × g)</a:t>
              </a:r>
              <a:endParaRPr lang="en-US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6780" y="54673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着地且空格刚按下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34050" y="3886200"/>
            <a:ext cx="2362200" cy="1943100"/>
            <a:chOff x="5734050" y="3886200"/>
            <a:chExt cx="2362200" cy="1943100"/>
          </a:xfrm>
        </p:grpSpPr>
        <p:sp>
          <p:nvSpPr>
            <p:cNvPr id="45" name="Ellipse 45"/>
            <p:cNvSpPr/>
            <p:nvPr/>
          </p:nvSpPr>
          <p:spPr>
            <a:xfrm>
              <a:off x="6153150" y="3886200"/>
              <a:ext cx="647700" cy="6477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788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6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3405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FFFFFF"/>
            </a:solidFill>
            <a:ln w="28575">
              <a:solidFill>
                <a:srgbClr val="D85C4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628236" y="4793469"/>
              <a:ext cx="231178" cy="266687"/>
            </a:xfrm>
            <a:custGeom>
              <a:avLst/>
              <a:gdLst/>
              <a:ahLst/>
              <a:cxnLst/>
              <a:rect l="l" t="t" r="r" b="b"/>
              <a:pathLst>
                <a:path w="231178" h="266687">
                  <a:moveTo>
                    <a:pt x="70345" y="251606"/>
                  </a:moveTo>
                  <a:lnTo>
                    <a:pt x="70345" y="130956"/>
                  </a:lnTo>
                  <a:lnTo>
                    <a:pt x="16264" y="130956"/>
                  </a:lnTo>
                  <a:cubicBezTo>
                    <a:pt x="10165" y="130955"/>
                    <a:pt x="4667" y="127280"/>
                    <a:pt x="2334" y="121646"/>
                  </a:cubicBezTo>
                  <a:cubicBezTo>
                    <a:pt x="0" y="116011"/>
                    <a:pt x="1290" y="109525"/>
                    <a:pt x="5601" y="105212"/>
                  </a:cubicBezTo>
                  <a:lnTo>
                    <a:pt x="104926" y="5887"/>
                  </a:lnTo>
                  <a:cubicBezTo>
                    <a:pt x="110816" y="0"/>
                    <a:pt x="120362" y="0"/>
                    <a:pt x="126251" y="5887"/>
                  </a:cubicBezTo>
                  <a:lnTo>
                    <a:pt x="225576" y="105212"/>
                  </a:lnTo>
                  <a:cubicBezTo>
                    <a:pt x="229888" y="109525"/>
                    <a:pt x="231178" y="116011"/>
                    <a:pt x="228844" y="121646"/>
                  </a:cubicBezTo>
                  <a:cubicBezTo>
                    <a:pt x="226510" y="127280"/>
                    <a:pt x="221013" y="130955"/>
                    <a:pt x="214914" y="130956"/>
                  </a:cubicBezTo>
                  <a:lnTo>
                    <a:pt x="160832" y="130956"/>
                  </a:lnTo>
                  <a:lnTo>
                    <a:pt x="160832" y="251606"/>
                  </a:lnTo>
                  <a:cubicBezTo>
                    <a:pt x="160832" y="259935"/>
                    <a:pt x="154080" y="266687"/>
                    <a:pt x="145751" y="266687"/>
                  </a:cubicBezTo>
                  <a:lnTo>
                    <a:pt x="85426" y="266687"/>
                  </a:lnTo>
                  <a:cubicBezTo>
                    <a:pt x="77097" y="266687"/>
                    <a:pt x="70345" y="259935"/>
                    <a:pt x="70345" y="251606"/>
                  </a:cubicBezTo>
                </a:path>
              </a:pathLst>
            </a:custGeom>
            <a:noFill/>
            <a:ln w="19050">
              <a:solidFill>
                <a:srgbClr val="D85C4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3120" y="47482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积分重力</a:t>
              </a:r>
              <a:endParaRPr lang="zh-CN" sz="2250" b="1" dirty="0">
                <a:solidFill>
                  <a:srgbClr val="D85C45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18073" y="5186839"/>
              <a:ext cx="1505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vY += gravity × dt</a:t>
              </a:r>
              <a:endParaRPr lang="en-US" sz="12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16930" y="54673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每帧更新竖直速度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124200" y="3886200"/>
            <a:ext cx="2362200" cy="1943100"/>
            <a:chOff x="3124200" y="3886200"/>
            <a:chExt cx="2362200" cy="1943100"/>
          </a:xfrm>
        </p:grpSpPr>
        <p:sp>
          <p:nvSpPr>
            <p:cNvPr id="53" name="Ellipse 53"/>
            <p:cNvSpPr/>
            <p:nvPr/>
          </p:nvSpPr>
          <p:spPr>
            <a:xfrm>
              <a:off x="3543300" y="38862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78803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2420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4998244" y="4788694"/>
              <a:ext cx="271462" cy="271462"/>
              <a:chOff x="4998244" y="4788694"/>
              <a:chExt cx="271462" cy="27146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224462" y="4879181"/>
                <a:ext cx="45244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0487">
                    <a:moveTo>
                      <a:pt x="0" y="0"/>
                    </a:moveTo>
                    <a:lnTo>
                      <a:pt x="45244" y="45244"/>
                    </a:ln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79218" y="4924425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998244" y="4879181"/>
                <a:ext cx="45244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0487">
                    <a:moveTo>
                      <a:pt x="45244" y="0"/>
                    </a:moveTo>
                    <a:lnTo>
                      <a:pt x="0" y="45244"/>
                    </a:lnTo>
                    <a:lnTo>
                      <a:pt x="45244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998244" y="4924425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088731" y="5014912"/>
                <a:ext cx="90487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45244">
                    <a:moveTo>
                      <a:pt x="0" y="0"/>
                    </a:moveTo>
                    <a:lnTo>
                      <a:pt x="45244" y="45244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133975" y="4969668"/>
                <a:ext cx="9525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">
                    <a:moveTo>
                      <a:pt x="0" y="0"/>
                    </a:move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088731" y="4788694"/>
                <a:ext cx="90487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45244">
                    <a:moveTo>
                      <a:pt x="90487" y="45244"/>
                    </a:moveTo>
                    <a:lnTo>
                      <a:pt x="45244" y="0"/>
                    </a:lnTo>
                    <a:lnTo>
                      <a:pt x="0" y="4524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133975" y="4788694"/>
                <a:ext cx="9525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">
                    <a:moveTo>
                      <a:pt x="0" y="0"/>
                    </a:move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3303270" y="4748212"/>
              <a:ext cx="19878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Move + 修正</a:t>
              </a:r>
              <a:endParaRPr lang="zh-CN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308223" y="5186839"/>
              <a:ext cx="1675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Move(velocity × dt)</a:t>
              </a:r>
              <a:endParaRPr lang="en-US" sz="12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307080" y="5467350"/>
              <a:ext cx="179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撞到顶部 → vY 归零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2028" y="4857750"/>
            <a:ext cx="2746843" cy="971550"/>
            <a:chOff x="322028" y="4857750"/>
            <a:chExt cx="2746843" cy="971550"/>
          </a:xfrm>
        </p:grpSpPr>
        <p:sp>
          <p:nvSpPr>
            <p:cNvPr id="69" name="Rectangle 69"/>
            <p:cNvSpPr/>
            <p:nvPr/>
          </p:nvSpPr>
          <p:spPr>
            <a:xfrm>
              <a:off x="322028" y="4857750"/>
              <a:ext cx="2731770" cy="971550"/>
            </a:xfrm>
            <a:prstGeom prst="roundRect">
              <a:avLst>
                <a:gd name="adj" fmla="val 19608"/>
              </a:avLst>
            </a:prstGeom>
            <a:solidFill>
              <a:schemeClr val="dk1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8744" y="5049679"/>
              <a:ext cx="22534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horizontal + vertical</a:t>
              </a:r>
              <a:endParaRPr lang="en-US" sz="158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22028" y="5373529"/>
              <a:ext cx="2746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合成速度后只调用一次 Move</a:t>
              </a:r>
              <a:endParaRPr lang="zh-CN" sz="15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3" name="Line 73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572732" cy="973074"/>
            <a:chOff x="552450" y="346710"/>
            <a:chExt cx="9572732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5727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先决定“直接控制”还是“物理响应”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选择移动系统，就是选择角色对世界的响应方式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543050"/>
            <a:ext cx="3352800" cy="3905250"/>
            <a:chOff x="571500" y="1543050"/>
            <a:chExt cx="3352800" cy="3905250"/>
          </a:xfrm>
        </p:grpSpPr>
        <p:sp>
          <p:nvSpPr>
            <p:cNvPr id="5" name="Rectangle 5"/>
            <p:cNvSpPr/>
            <p:nvPr/>
          </p:nvSpPr>
          <p:spPr>
            <a:xfrm>
              <a:off x="571500" y="1543050"/>
              <a:ext cx="3352800" cy="3905250"/>
            </a:xfrm>
            <a:prstGeom prst="roundRect">
              <a:avLst>
                <a:gd name="adj" fmla="val 7386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52600" y="17335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095500" y="2000250"/>
              <a:ext cx="304800" cy="457201"/>
              <a:chOff x="2095500" y="2000250"/>
              <a:chExt cx="304800" cy="4572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247900" y="2000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20900" y="2355851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016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22500" y="2127250"/>
                <a:ext cx="127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30200">
                    <a:moveTo>
                      <a:pt x="127000" y="330200"/>
                    </a:moveTo>
                    <a:lnTo>
                      <a:pt x="76200" y="228600"/>
                    </a:lnTo>
                    <a:lnTo>
                      <a:pt x="0" y="152400"/>
                    </a:ln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95500" y="2127250"/>
                <a:ext cx="304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600">
                    <a:moveTo>
                      <a:pt x="0" y="101600"/>
                    </a:moveTo>
                    <a:lnTo>
                      <a:pt x="50800" y="25400"/>
                    </a:lnTo>
                    <a:lnTo>
                      <a:pt x="152400" y="0"/>
                    </a:lnTo>
                    <a:lnTo>
                      <a:pt x="228600" y="76200"/>
                    </a:lnTo>
                    <a:lnTo>
                      <a:pt x="30480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98232" y="2794159"/>
              <a:ext cx="309933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CharacterController</a:t>
              </a:r>
              <a:endParaRPr lang="en-US" sz="21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675" y="3293269"/>
              <a:ext cx="16092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脚本直接控制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437" y="3680936"/>
              <a:ext cx="20877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 Move 给位移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437" y="40238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重力与跳跃自己维护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437" y="43667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坡度、台阶参数友好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9437" y="4709636"/>
              <a:ext cx="252593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默认不被刚体随意撞飞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5086350"/>
              <a:ext cx="2819400" cy="228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6571" y="5120164"/>
              <a:ext cx="2202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常见：第一 / 第三人称玩家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543050"/>
            <a:ext cx="3695700" cy="3905250"/>
            <a:chOff x="4248150" y="1543050"/>
            <a:chExt cx="36957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4248150" y="1543050"/>
              <a:ext cx="3695700" cy="3905250"/>
            </a:xfrm>
            <a:prstGeom prst="roundRect">
              <a:avLst>
                <a:gd name="adj" fmla="val 6701"/>
              </a:avLst>
            </a:pr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600700" y="17335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918200" y="2101850"/>
              <a:ext cx="381000" cy="254000"/>
            </a:xfrm>
            <a:custGeom>
              <a:avLst/>
              <a:gdLst/>
              <a:ahLst/>
              <a:cxnLst/>
              <a:rect l="l" t="t" r="r" b="b"/>
              <a:pathLst>
                <a:path w="381000" h="254000">
                  <a:moveTo>
                    <a:pt x="0" y="127000"/>
                  </a:moveTo>
                  <a:lnTo>
                    <a:pt x="127000" y="2540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5783" y="27374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选择规则</a:t>
              </a:r>
              <a:endParaRPr lang="zh-CN" sz="270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95800" y="3333750"/>
              <a:ext cx="3200400" cy="723900"/>
            </a:xfrm>
            <a:prstGeom prst="roundRect">
              <a:avLst>
                <a:gd name="adj" fmla="val 23684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0776" y="3444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可控性优先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3880" y="3754279"/>
              <a:ext cx="19242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玩家角色、精确移动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66143" y="4119562"/>
              <a:ext cx="4597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OR</a:t>
              </a:r>
              <a:endParaRPr lang="en-US" sz="2250" b="1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95800" y="4572000"/>
              <a:ext cx="3200400" cy="723900"/>
            </a:xfrm>
            <a:prstGeom prst="roundRect">
              <a:avLst>
                <a:gd name="adj" fmla="val 23684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23561" y="4682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物理响应优先</a:t>
              </a:r>
              <a:endParaRPr lang="zh-CN" sz="180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15840" y="4992529"/>
              <a:ext cx="25603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箱子、球、载具、物理角色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67700" y="1543050"/>
            <a:ext cx="3352800" cy="3905250"/>
            <a:chOff x="8267700" y="1543050"/>
            <a:chExt cx="3352800" cy="39052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543050"/>
              <a:ext cx="3352800" cy="3905250"/>
            </a:xfrm>
            <a:prstGeom prst="roundRect">
              <a:avLst>
                <a:gd name="adj" fmla="val 7386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448800" y="17335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740900" y="2000250"/>
              <a:ext cx="406401" cy="457201"/>
              <a:chOff x="9740900" y="2000250"/>
              <a:chExt cx="406401" cy="45720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740900" y="2000250"/>
                <a:ext cx="4064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457201">
                    <a:moveTo>
                      <a:pt x="203200" y="0"/>
                    </a:moveTo>
                    <a:lnTo>
                      <a:pt x="406401" y="114300"/>
                    </a:lnTo>
                    <a:lnTo>
                      <a:pt x="406401" y="342900"/>
                    </a:lnTo>
                    <a:lnTo>
                      <a:pt x="203200" y="457201"/>
                    </a:lnTo>
                    <a:lnTo>
                      <a:pt x="0" y="342900"/>
                    </a:lnTo>
                    <a:lnTo>
                      <a:pt x="0" y="1143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944100" y="2114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114300"/>
                    </a:move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944100" y="22288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740900" y="2114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2032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172346" y="2769870"/>
              <a:ext cx="1543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Rigidbody</a:t>
              </a:r>
              <a:endParaRPr lang="en-US" sz="240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24875" y="3293269"/>
              <a:ext cx="13442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动力学响应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25637" y="36809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力、速度或物理移动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5637" y="4023836"/>
              <a:ext cx="18292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可使用物理重力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5637" y="4366736"/>
              <a:ext cx="20614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会被其他刚体推动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25637" y="47096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6055" indent="-18605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坡度台阶需额外处理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34400" y="5086350"/>
              <a:ext cx="2819400" cy="228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36510" y="5120164"/>
              <a:ext cx="1815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常见：箱子、球、载具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657350" y="5638800"/>
            <a:ext cx="9088972" cy="446437"/>
            <a:chOff x="1657350" y="5638800"/>
            <a:chExt cx="9088972" cy="446437"/>
          </a:xfrm>
        </p:grpSpPr>
        <p:sp>
          <p:nvSpPr>
            <p:cNvPr id="49" name="Rectangle 49"/>
            <p:cNvSpPr/>
            <p:nvPr/>
          </p:nvSpPr>
          <p:spPr>
            <a:xfrm>
              <a:off x="1657350" y="5638800"/>
              <a:ext cx="8877300" cy="438150"/>
            </a:xfrm>
            <a:prstGeom prst="roundRect">
              <a:avLst>
                <a:gd name="adj" fmla="val 39130"/>
              </a:avLst>
            </a:prstGeom>
            <a:solidFill>
              <a:srgbClr val="D85C45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850079" y="5754171"/>
              <a:ext cx="224134" cy="192560"/>
              <a:chOff x="1850079" y="575417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62150" y="58245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850079" y="57541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962150" y="59023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750478" y="5747861"/>
              <a:ext cx="89958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不要让 CharacterController 与非运动学 Rigidbody 在同一根节点争夺移动控制权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6" name="Line 56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329111" cy="819150"/>
            <a:chOff x="552450" y="346710"/>
            <a:chExt cx="11329111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3291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把脚本放回场景：角色先走，摄像机后跟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33450"/>
              <a:ext cx="5372100" cy="114300"/>
            </a:xfrm>
            <a:custGeom>
              <a:avLst/>
              <a:gdLst/>
              <a:ahLst/>
              <a:cxnLst/>
              <a:rect l="l" t="t" r="r" b="b"/>
              <a:pathLst>
                <a:path w="5372100" h="114300">
                  <a:moveTo>
                    <a:pt x="0" y="76200"/>
                  </a:moveTo>
                  <a:cubicBezTo>
                    <a:pt x="1809750" y="0"/>
                    <a:pt x="3429000" y="114300"/>
                    <a:pt x="5372100" y="190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0100" y="1390650"/>
            <a:ext cx="11193859" cy="2190750"/>
            <a:chOff x="800100" y="1390650"/>
            <a:chExt cx="11193859" cy="2190750"/>
          </a:xfrm>
        </p:grpSpPr>
        <p:sp>
          <p:nvSpPr>
            <p:cNvPr id="5" name="Rectangle 5"/>
            <p:cNvSpPr/>
            <p:nvPr/>
          </p:nvSpPr>
          <p:spPr>
            <a:xfrm>
              <a:off x="800100" y="1390650"/>
              <a:ext cx="10591800" cy="21907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600200" y="1828800"/>
              <a:ext cx="4383429" cy="1370362"/>
              <a:chOff x="1600200" y="1828800"/>
              <a:chExt cx="4383429" cy="1370362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600200" y="1828800"/>
                <a:ext cx="1333500" cy="1333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2076450" y="2209800"/>
                <a:ext cx="381000" cy="571500"/>
                <a:chOff x="2076450" y="2209800"/>
                <a:chExt cx="381000" cy="5715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266950" y="22098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108200" y="2654299"/>
                  <a:ext cx="95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7000">
                      <a:moveTo>
                        <a:pt x="0" y="12700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235200" y="2368550"/>
                  <a:ext cx="158750" cy="41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412750">
                      <a:moveTo>
                        <a:pt x="158750" y="412750"/>
                      </a:moveTo>
                      <a:lnTo>
                        <a:pt x="95250" y="285750"/>
                      </a:lnTo>
                      <a:lnTo>
                        <a:pt x="0" y="190500"/>
                      </a:lnTo>
                      <a:lnTo>
                        <a:pt x="317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076450" y="2368550"/>
                  <a:ext cx="381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27000">
                      <a:moveTo>
                        <a:pt x="0" y="127000"/>
                      </a:moveTo>
                      <a:lnTo>
                        <a:pt x="63500" y="31750"/>
                      </a:lnTo>
                      <a:lnTo>
                        <a:pt x="190500" y="0"/>
                      </a:lnTo>
                      <a:lnTo>
                        <a:pt x="285750" y="95250"/>
                      </a:lnTo>
                      <a:lnTo>
                        <a:pt x="38100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3206496" y="2029778"/>
                <a:ext cx="1135637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  <a:endPara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208782" y="2478405"/>
                <a:ext cx="13397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Update()</a:t>
                </a:r>
                <a:endParaRPr lang="en-US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210687" y="2861786"/>
                <a:ext cx="277294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读取输入 → Move → 新位置</a:t>
                </a:r>
                <a:endPara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5238750" y="2228850"/>
              <a:ext cx="2000250" cy="266700"/>
            </a:xfrm>
            <a:custGeom>
              <a:avLst/>
              <a:gdLst/>
              <a:ahLst/>
              <a:cxnLst/>
              <a:rect l="l" t="t" r="r" b="b"/>
              <a:pathLst>
                <a:path w="2000250" h="266700">
                  <a:moveTo>
                    <a:pt x="0" y="266700"/>
                  </a:moveTo>
                  <a:cubicBezTo>
                    <a:pt x="781050" y="0"/>
                    <a:pt x="1219200" y="0"/>
                    <a:pt x="2000250" y="26670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991350" y="2324100"/>
              <a:ext cx="285750" cy="342900"/>
            </a:xfrm>
            <a:custGeom>
              <a:avLst/>
              <a:gdLst/>
              <a:ahLst/>
              <a:cxnLst/>
              <a:rect l="l" t="t" r="r" b="b"/>
              <a:pathLst>
                <a:path w="285750" h="342900">
                  <a:moveTo>
                    <a:pt x="0" y="0"/>
                  </a:moveTo>
                  <a:lnTo>
                    <a:pt x="285750" y="171450"/>
                  </a:lnTo>
                  <a:lnTo>
                    <a:pt x="0" y="342900"/>
                  </a:lnTo>
                </a:path>
              </a:pathLst>
            </a:custGeom>
            <a:noFill/>
            <a:ln w="66675" cap="rnd">
              <a:solidFill>
                <a:schemeClr val="accent2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60823" y="183356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同一帧，后执行</a:t>
              </a:r>
              <a:endParaRPr lang="zh-CN" sz="22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543800" y="1828800"/>
              <a:ext cx="4450159" cy="1370362"/>
              <a:chOff x="7543800" y="1828800"/>
              <a:chExt cx="4450159" cy="137036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543800" y="1828800"/>
                <a:ext cx="1333500" cy="1333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7924800" y="2241550"/>
                <a:ext cx="571499" cy="507999"/>
                <a:chOff x="7924800" y="2241550"/>
                <a:chExt cx="571499" cy="50799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7924800" y="2241550"/>
                  <a:ext cx="571499" cy="50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499" h="507999">
                      <a:moveTo>
                        <a:pt x="63500" y="95250"/>
                      </a:moveTo>
                      <a:lnTo>
                        <a:pt x="95250" y="95250"/>
                      </a:lnTo>
                      <a:cubicBezTo>
                        <a:pt x="130320" y="95250"/>
                        <a:pt x="158750" y="66820"/>
                        <a:pt x="158750" y="31750"/>
                      </a:cubicBezTo>
                      <a:cubicBezTo>
                        <a:pt x="158750" y="14215"/>
                        <a:pt x="172965" y="0"/>
                        <a:pt x="190500" y="0"/>
                      </a:cubicBezTo>
                      <a:lnTo>
                        <a:pt x="381000" y="0"/>
                      </a:lnTo>
                      <a:cubicBezTo>
                        <a:pt x="398535" y="0"/>
                        <a:pt x="412750" y="14215"/>
                        <a:pt x="412750" y="31750"/>
                      </a:cubicBezTo>
                      <a:cubicBezTo>
                        <a:pt x="412750" y="66820"/>
                        <a:pt x="441179" y="95250"/>
                        <a:pt x="476250" y="95250"/>
                      </a:cubicBezTo>
                      <a:lnTo>
                        <a:pt x="507999" y="95250"/>
                      </a:lnTo>
                      <a:cubicBezTo>
                        <a:pt x="543070" y="95250"/>
                        <a:pt x="571499" y="123680"/>
                        <a:pt x="571499" y="158750"/>
                      </a:cubicBezTo>
                      <a:lnTo>
                        <a:pt x="571499" y="444500"/>
                      </a:lnTo>
                      <a:cubicBezTo>
                        <a:pt x="571499" y="479570"/>
                        <a:pt x="543070" y="507999"/>
                        <a:pt x="507999" y="507999"/>
                      </a:cubicBezTo>
                      <a:lnTo>
                        <a:pt x="63500" y="507999"/>
                      </a:lnTo>
                      <a:cubicBezTo>
                        <a:pt x="28430" y="507999"/>
                        <a:pt x="0" y="479570"/>
                        <a:pt x="0" y="444500"/>
                      </a:cubicBezTo>
                      <a:lnTo>
                        <a:pt x="0" y="158750"/>
                      </a:lnTo>
                      <a:cubicBezTo>
                        <a:pt x="0" y="123680"/>
                        <a:pt x="28430" y="95250"/>
                        <a:pt x="6350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115300" y="24320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9150096" y="2029778"/>
                <a:ext cx="219483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Main Camera</a:t>
                </a:r>
                <a:endPara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152382" y="2478405"/>
                <a:ext cx="20026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F8F6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LateUpdate()</a:t>
                </a:r>
                <a:endParaRPr lang="en-US" sz="21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54287" y="2861786"/>
                <a:ext cx="283967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Lerp 到目标位置 → LookAt</a:t>
                </a:r>
                <a:endPara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47700" y="4019550"/>
            <a:ext cx="10858500" cy="1866900"/>
            <a:chOff x="647700" y="4019550"/>
            <a:chExt cx="10858500" cy="1866900"/>
          </a:xfrm>
        </p:grpSpPr>
        <p:sp>
          <p:nvSpPr>
            <p:cNvPr id="28" name="Freeform 28"/>
            <p:cNvSpPr/>
            <p:nvPr/>
          </p:nvSpPr>
          <p:spPr>
            <a:xfrm>
              <a:off x="1619250" y="43243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47625" cap="rnd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7700" y="4019550"/>
              <a:ext cx="1943100" cy="1866900"/>
              <a:chOff x="647700" y="4019550"/>
              <a:chExt cx="1943100" cy="18669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314450" y="4019550"/>
                <a:ext cx="609600" cy="609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5434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1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009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角色根节点</a:t>
                </a:r>
                <a:endPara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2824" y="5314950"/>
                <a:ext cx="15928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Capsule / 空物体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707" y="559784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模型可放子节点调朝向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876550" y="4019550"/>
              <a:ext cx="1943100" cy="1866900"/>
              <a:chOff x="2876550" y="4019550"/>
              <a:chExt cx="1943100" cy="18669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3543300" y="4019550"/>
                <a:ext cx="609600" cy="609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77228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287655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22976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添加控制器</a:t>
                </a:r>
                <a:endPara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31713" y="5331142"/>
                <a:ext cx="18327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CharacterController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023425" y="55978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调整胶囊与台阶参数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071216" y="4019550"/>
              <a:ext cx="2011469" cy="1866900"/>
              <a:chOff x="5071216" y="4019550"/>
              <a:chExt cx="2011469" cy="1866900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5772150" y="4019550"/>
                <a:ext cx="609600" cy="60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0011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3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1054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4586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挂移动脚本</a:t>
                </a:r>
                <a:endParaRPr lang="zh-CN" sz="172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71216" y="5331142"/>
                <a:ext cx="20114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SimpleCharacterMover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537225" y="5597842"/>
                <a:ext cx="10794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WASD + 空格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332101" y="4019550"/>
              <a:ext cx="1947398" cy="1866900"/>
              <a:chOff x="7332101" y="4019550"/>
              <a:chExt cx="1947398" cy="18669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001000" y="4019550"/>
                <a:ext cx="609600" cy="609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22998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33425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8746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连接摄像机</a:t>
                </a:r>
                <a:endParaRPr lang="zh-CN" sz="172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427547" y="5331142"/>
                <a:ext cx="17565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SimpleCameraFollow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32101" y="5597842"/>
                <a:ext cx="19473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Inspector 连接 target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9563100" y="4019550"/>
              <a:ext cx="1943100" cy="1866900"/>
              <a:chOff x="9563100" y="4019550"/>
              <a:chExt cx="1943100" cy="18669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10229850" y="4019550"/>
                <a:ext cx="609600" cy="6096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4588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5</a:t>
                </a:r>
                <a:endParaRPr lang="en-US" sz="17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5631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9163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播放并验证</a:t>
                </a:r>
                <a:endParaRPr lang="zh-CN" sz="172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731302" y="5323046"/>
                <a:ext cx="160669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移动 / 跳跃 / 碰撞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709976" y="55978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跟随稳定即闭环完成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" name="Line 6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3899</Words>
  <Application>WPS 演示</Application>
  <PresentationFormat>On-screen Show (16:9)</PresentationFormat>
  <Paragraphs>591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Consolas</vt:lpstr>
      <vt:lpstr>微软雅黑</vt:lpstr>
      <vt:lpstr>Trebuchet MS</vt:lpstr>
      <vt:lpstr>楷体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陷入旋流的蚕</cp:lastModifiedBy>
  <cp:revision>3</cp:revision>
  <dcterms:created xsi:type="dcterms:W3CDTF">2026-07-18T15:14:00Z</dcterms:created>
  <dcterms:modified xsi:type="dcterms:W3CDTF">2026-07-19T03:00:00Z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BF72DF2B137D40F88DF6C758155F2BAC_12</vt:lpwstr>
  </property>
</Properties>
</file>