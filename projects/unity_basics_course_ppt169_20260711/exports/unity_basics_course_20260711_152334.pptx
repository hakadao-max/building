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今天我们用一个 Pong 原型串起 Unity 的两条基础能力：脚本让对象产生行为，UGUI 让玩家看到并控制这些行为。先看最终目标，再逐步拆解。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课程分两段。前半段建立对象、组件、生命周期、输入、碰撞和事件；后半段把这些状态连接到菜单、按钮、Slider 与 Toggle。最终检查点是一个可运行、可调参数、可返回菜单的 Pong。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先进入脚本部分。记住本单元的一句话：GameObject 本身只是容器，行为来自挂载的组件。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 Ball 为例。Transform 决定位置，SpriteRenderer 负责显示，Rigidbody2D 参与物理，Collider2D 检测碰撞，BallController 编排规则。Prefab 则保存这组配置以便复用。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Awake 适合缓存组件，Start 适合初始化状态。Update 每帧读取输入，FixedUpdate 按固定时间步处理物理。请学生思考：把键盘输入放在 FixedUpdate 会有什么体验？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先讲意图，再讲语法。using 导入 Unity API；类名与文件名一致；继承 MonoBehaviour 才能挂到对象上；生命周期方法由 Unity 调用。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变量保存状态，Input API 读取玩家意图。演示在 Inspector 中调整 speed，再用 W/S 控制 Paddle。强调 GetKey、GetKeyDown 和 GetAxisRaw 的差异。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移动公式只有三部分：方向、速度、时间。Time.deltaTime 抵消帧率差异，Mathf.Clamp 防止 Paddle 离开场地。逐行运行并观察 pos.y 的变化。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函数把重复计算封装成一个名字。数组适合固定数量，List 适合动态增减，Dictionary 适合用名字查值。集合通常配合 for 或 foreach。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物理层先产生碰撞或触发，事件层再通知计分系统和 UI。这样 Ball 不需要知道分数文本放在哪里，脚本之间更容易替换和测试。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调试第一原则：先处理 Console 的第一条错误，因为后续错误可能只是连锁反应。再用 Pause、Step、断点和 Gizmos 验证假设。最后把四个 Pong 挑战留作练习。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 UGUI 部分。我们的目标不是把控件摆出来，而是让界面准确反映并改变游戏状态。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Canvas 是根，Panel 负责语义分组，具体控件负责交互。Canvas Scaler 解决分辨率适配，EventSystem 负责事件分发。先把层级整理好，再写交互。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UIManager 集中持有面板和按钮引用。Awake 中绑定监听，方法中切换 SetActive。提醒：Application.Quit 在编辑器播放模式下不会真正关闭编辑器。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Slider 的 value 是 float，可以直接传给 BallController；Toggle 的值是 bool，可以直接设置全屏。界面值改变后，要让玩家立即看到结果或数值反馈。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手工对齐在一个分辨率上看起来正确，换屏幕后往往失效。Layout Group、Anchor 和 Canvas Scaler 共同负责适配；Button States、TMP 与 Prefab 负责一致性。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如果学生来自 Godot，不要从零记忆。先做概念映射：Node 对应对象加组件，Signal 对应事件，Container 对应 Layout Group。映射建立后，再学习 Unity 的具体 API。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最后用六项清单验收原型。每完成一项就实际运行验证，不只看代码。课程结束后的下一步，是在 Unity 中亲手把这些模块连接起来。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715250" y="-952500"/>
            <a:ext cx="4191000" cy="4191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858250" y="4000500"/>
            <a:ext cx="3429000" cy="3429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66750" y="1383030"/>
            <a:ext cx="9277350" cy="2531555"/>
            <a:chOff x="666750" y="1383030"/>
            <a:chExt cx="9277350" cy="2531555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1383030"/>
              <a:ext cx="79161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Unity 鍩虹鑴氭湰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2335530"/>
              <a:ext cx="348813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涓?UGUI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6948" y="3298508"/>
              <a:ext cx="92171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浠?C# 缁勪欢閫昏緫鍒板彲浜や簰娓告垙鐣岄潰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34250" y="1428750"/>
            <a:ext cx="4000500" cy="4205859"/>
            <a:chOff x="7334250" y="1428750"/>
            <a:chExt cx="4000500" cy="4205859"/>
          </a:xfrm>
        </p:grpSpPr>
        <p:sp>
          <p:nvSpPr>
            <p:cNvPr id="8" name="Rectangle 8"/>
            <p:cNvSpPr/>
            <p:nvPr/>
          </p:nvSpPr>
          <p:spPr>
            <a:xfrm>
              <a:off x="7334250" y="1428750"/>
              <a:ext cx="4000500" cy="381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734300" y="1885950"/>
              <a:ext cx="3200400" cy="1924050"/>
            </a:xfrm>
            <a:prstGeom prst="roundRect">
              <a:avLst>
                <a:gd name="adj" fmla="val 792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24800" y="2524125"/>
              <a:ext cx="171450" cy="704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572750" y="2524125"/>
              <a:ext cx="17145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144000" y="2667000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334500" y="2333625"/>
              <a:ext cx="1028700" cy="523875"/>
            </a:xfrm>
            <a:custGeom>
              <a:avLst/>
              <a:gdLst/>
              <a:ahLst/>
              <a:cxnLst/>
              <a:rect l="l" t="t" r="r" b="b"/>
              <a:pathLst>
                <a:path w="1028700" h="523875">
                  <a:moveTo>
                    <a:pt x="0" y="523875"/>
                  </a:moveTo>
                  <a:lnTo>
                    <a:pt x="10287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F7F9FC"/>
              </a:solidFill>
              <a:custDash>
                <a:ds d="300000" sp="250000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34300" y="4095750"/>
              <a:ext cx="1466850" cy="6858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429750" y="4095750"/>
              <a:ext cx="1504950" cy="685800"/>
            </a:xfrm>
            <a:prstGeom prst="roundRect">
              <a:avLst>
                <a:gd name="adj" fmla="val 222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867650" y="4324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696450" y="4305300"/>
              <a:ext cx="990600" cy="952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153650" y="421957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34706" y="5282565"/>
              <a:ext cx="32794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GameObject 鈫?Script 鈫?UI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6092" y="6140768"/>
            <a:ext cx="2807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BEGINNER COURSE 路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65760"/>
            <a:ext cx="894881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Pong 主线，串起脚本与界面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98220"/>
            <a:ext cx="58399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先让对象动起来，再让玩家看见并控制它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1809750"/>
            <a:ext cx="10972800" cy="3905250"/>
            <a:chOff x="609600" y="1809750"/>
            <a:chExt cx="1097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809750"/>
              <a:ext cx="3333750" cy="3905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00100" y="20383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78408" y="21412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50848" y="20602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脚本基础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2208" y="28365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对象与组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208" y="33794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生命周期与输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208" y="39223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碰撞、事件、调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29125" y="1809750"/>
              <a:ext cx="3333750" cy="3905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619625" y="20383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97933" y="21412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0373" y="2060258"/>
              <a:ext cx="9493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UGUI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1733" y="2836545"/>
              <a:ext cx="18507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Canvas 与控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21733" y="33794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按钮与数据绑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1733" y="39223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布局、锚点、主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48650" y="1809750"/>
              <a:ext cx="3333750" cy="390525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439150" y="20383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17458" y="21412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9898" y="20602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79358" y="2998470"/>
              <a:ext cx="21541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可运行的 Pong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79358" y="35413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可调参数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79358" y="40843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可返回菜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</a:t>
            </a:fld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620000" y="762000"/>
            <a:ext cx="4762500" cy="4762500"/>
          </a:xfrm>
          <a:prstGeom prst="ellipse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0748" y="1612582"/>
            <a:ext cx="139857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PART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700" y="2192655"/>
            <a:ext cx="6595272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让 GameObject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" y="3145155"/>
            <a:ext cx="3769766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拥有行为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0184" y="4185285"/>
            <a:ext cx="73056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Unity 的行为来自挂载在对象上的组件与脚本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24875" y="1638300"/>
            <a:ext cx="2314575" cy="3028950"/>
            <a:chOff x="8524875" y="1638300"/>
            <a:chExt cx="2314575" cy="3028950"/>
          </a:xfrm>
        </p:grpSpPr>
        <p:sp>
          <p:nvSpPr>
            <p:cNvPr id="7" name="Rectangle 7"/>
            <p:cNvSpPr/>
            <p:nvPr/>
          </p:nvSpPr>
          <p:spPr>
            <a:xfrm>
              <a:off x="8524875" y="2190750"/>
              <a:ext cx="2286000" cy="24765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077325" y="2552700"/>
              <a:ext cx="1181100" cy="1181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239250" y="40005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171450" cap="rnd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24900" y="1676400"/>
              <a:ext cx="457200" cy="457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496550" y="1638300"/>
              <a:ext cx="342900" cy="342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165831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GameObject 是容器，Component 才是能力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58399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多个小组件组合成一个可工作的游戏对象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57250" y="2095500"/>
            <a:ext cx="10477500" cy="4010025"/>
            <a:chOff x="857250" y="2095500"/>
            <a:chExt cx="10477500" cy="4010025"/>
          </a:xfrm>
        </p:grpSpPr>
        <p:sp>
          <p:nvSpPr>
            <p:cNvPr id="4" name="Ellipse 4"/>
            <p:cNvSpPr/>
            <p:nvPr/>
          </p:nvSpPr>
          <p:spPr>
            <a:xfrm>
              <a:off x="5067300" y="2686050"/>
              <a:ext cx="2057400" cy="2057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98008" y="3379470"/>
              <a:ext cx="8129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0556" y="3853815"/>
              <a:ext cx="1402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0FF"/>
                  </a:solidFill>
                  <a:latin typeface="+mn-lt"/>
                  <a:ea typeface="+mn-ea"/>
                  <a:cs typeface="+mn-cs"/>
                </a:rPr>
                <a:t>GameObject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57250" y="2095500"/>
              <a:ext cx="10477500" cy="4010025"/>
              <a:chOff x="857250" y="2095500"/>
              <a:chExt cx="10477500" cy="401002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2095500"/>
                <a:ext cx="2476500" cy="9144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57250" y="4095750"/>
                <a:ext cx="2476500" cy="9144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429125" y="5191125"/>
                <a:ext cx="3333750" cy="9144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858250" y="2095500"/>
                <a:ext cx="2476500" cy="9144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858250" y="4095750"/>
                <a:ext cx="2476500" cy="9144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chemeClr val="accent4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3333750" y="2552700"/>
              <a:ext cx="5524500" cy="2638425"/>
              <a:chOff x="3333750" y="2552700"/>
              <a:chExt cx="5524500" cy="26384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333750" y="255270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0" y="0"/>
                    </a:moveTo>
                    <a:lnTo>
                      <a:pt x="1809750" y="781050"/>
                    </a:lnTo>
                  </a:path>
                </a:pathLst>
              </a:custGeom>
              <a:solidFill>
                <a:srgbClr val="000000"/>
              </a:solidFill>
              <a:ln w="47625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33750" y="4095750"/>
                <a:ext cx="1809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457200">
                    <a:moveTo>
                      <a:pt x="0" y="457200"/>
                    </a:moveTo>
                    <a:lnTo>
                      <a:pt x="1809750" y="0"/>
                    </a:lnTo>
                  </a:path>
                </a:pathLst>
              </a:custGeom>
              <a:solidFill>
                <a:srgbClr val="000000"/>
              </a:solidFill>
              <a:ln w="47625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96000" y="4743450"/>
                <a:ext cx="9525" cy="447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7675">
                    <a:moveTo>
                      <a:pt x="0" y="0"/>
                    </a:moveTo>
                    <a:lnTo>
                      <a:pt x="0" y="447675"/>
                    </a:lnTo>
                  </a:path>
                </a:pathLst>
              </a:custGeom>
              <a:solidFill>
                <a:srgbClr val="000000"/>
              </a:solidFill>
              <a:ln w="47625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48500" y="255270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809750" y="0"/>
                    </a:moveTo>
                    <a:lnTo>
                      <a:pt x="0" y="781050"/>
                    </a:lnTo>
                  </a:path>
                </a:pathLst>
              </a:custGeom>
              <a:solidFill>
                <a:srgbClr val="000000"/>
              </a:solidFill>
              <a:ln w="47625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48500" y="4095750"/>
                <a:ext cx="1809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457200">
                    <a:moveTo>
                      <a:pt x="1809750" y="45720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47625">
                <a:solidFill>
                  <a:schemeClr val="accent3"/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1111758" y="2407920"/>
              <a:ext cx="10091419" cy="3555492"/>
              <a:chOff x="1111758" y="2407920"/>
              <a:chExt cx="10091419" cy="355549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226058" y="2407920"/>
                <a:ext cx="178247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Transform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11758" y="4408170"/>
                <a:ext cx="2572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SpriteRenderer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40808" y="5494020"/>
                <a:ext cx="231568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BallController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274683" y="2407920"/>
                <a:ext cx="19284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Rigidbody2D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274683" y="4408170"/>
                <a:ext cx="165605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Collider2D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</a:t>
            </a:fld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953688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把初始化、输入与物理放在正确的时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生命周期决定代码何时执行，也决定移动是否稳定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3658" y="2286000"/>
            <a:ext cx="9022842" cy="3634359"/>
            <a:chOff x="1073658" y="2286000"/>
            <a:chExt cx="9022842" cy="3634359"/>
          </a:xfrm>
        </p:grpSpPr>
        <p:sp>
          <p:nvSpPr>
            <p:cNvPr id="4" name="Freeform 4"/>
            <p:cNvSpPr/>
            <p:nvPr/>
          </p:nvSpPr>
          <p:spPr>
            <a:xfrm>
              <a:off x="1714500" y="3333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solidFill>
              <a:srgbClr val="000000"/>
            </a:solidFill>
            <a:ln w="95250" cap="rnd">
              <a:solidFill>
                <a:schemeClr val="accent4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73658" y="2286000"/>
              <a:ext cx="8641842" cy="3634359"/>
              <a:chOff x="1073658" y="2286000"/>
              <a:chExt cx="8641842" cy="3634359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200150" y="2724150"/>
                <a:ext cx="1219200" cy="1219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291511" y="3169920"/>
                <a:ext cx="103647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Awake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73658" y="41109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缓存组件引用</a:t>
                </a:r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3962400" y="2724150"/>
                <a:ext cx="1219200" cy="1219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4088069" y="3169920"/>
                <a:ext cx="9678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Start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78224" y="4110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初始化状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6858000" y="2286000"/>
                <a:ext cx="2190750" cy="1143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76152" y="2712720"/>
                <a:ext cx="115444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Update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17283" y="366331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每帧读取输入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858000" y="4191000"/>
                <a:ext cx="2857500" cy="1143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280630" y="4617720"/>
                <a:ext cx="201224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FixedUpdate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08342" y="5568315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固定间隔处理物理</a:t>
                </a:r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5181600" y="2857500"/>
              <a:ext cx="1676400" cy="476250"/>
            </a:xfrm>
            <a:custGeom>
              <a:avLst/>
              <a:gdLst/>
              <a:ahLst/>
              <a:cxnLst/>
              <a:rect l="l" t="t" r="r" b="b"/>
              <a:pathLst>
                <a:path w="1676400" h="476250">
                  <a:moveTo>
                    <a:pt x="0" y="476250"/>
                  </a:moveTo>
                  <a:lnTo>
                    <a:pt x="1295400" y="476250"/>
                  </a:lnTo>
                  <a:lnTo>
                    <a:pt x="16764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477000" y="3333750"/>
              <a:ext cx="381000" cy="1428750"/>
            </a:xfrm>
            <a:custGeom>
              <a:avLst/>
              <a:gdLst/>
              <a:ahLst/>
              <a:cxnLst/>
              <a:rect l="l" t="t" r="r" b="b"/>
              <a:pathLst>
                <a:path w="381000" h="1428750">
                  <a:moveTo>
                    <a:pt x="0" y="0"/>
                  </a:moveTo>
                  <a:lnTo>
                    <a:pt x="381000" y="14287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5</a:t>
            </a:fld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165567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一个 MonoBehaviour，就是一个可挂载组件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文件名、类名、继承关系和方法结构组成最小骨架</a:t>
            </a:r>
          </a:p>
        </p:txBody>
      </p:sp>
      <p:sp>
        <p:nvSpPr>
          <p:cNvPr id="4" name="Rectangle 4"/>
          <p:cNvSpPr/>
          <p:nvPr/>
        </p:nvSpPr>
        <p:spPr>
          <a:xfrm>
            <a:off x="590550" y="1714500"/>
            <a:ext cx="6572250" cy="4286250"/>
          </a:xfrm>
          <a:prstGeom prst="roundRect">
            <a:avLst>
              <a:gd name="adj" fmla="val 4000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86206" y="1996440"/>
            <a:ext cx="219015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206" y="2663190"/>
            <a:ext cx="30852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public class BallController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6206" y="3025140"/>
            <a:ext cx="19614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: MonoBehaviour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206" y="35204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3856" y="3996690"/>
            <a:ext cx="1712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void Start() {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9606" y="4472940"/>
            <a:ext cx="30652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Debug.Log("Ball ready");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3856" y="494919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6206" y="54254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7F9F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524750" y="1905000"/>
            <a:ext cx="4000500" cy="3962400"/>
            <a:chOff x="7524750" y="1905000"/>
            <a:chExt cx="4000500" cy="3962400"/>
          </a:xfrm>
        </p:grpSpPr>
        <p:sp>
          <p:nvSpPr>
            <p:cNvPr id="13" name="Rectangle 13"/>
            <p:cNvSpPr/>
            <p:nvPr/>
          </p:nvSpPr>
          <p:spPr>
            <a:xfrm>
              <a:off x="7524750" y="1905000"/>
              <a:ext cx="4000500" cy="819150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8308" y="2160270"/>
              <a:ext cx="35909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using：导入 Unity API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952750"/>
              <a:ext cx="4000500" cy="819150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98308" y="3208020"/>
              <a:ext cx="27221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class：脚本类型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524750" y="4000500"/>
              <a:ext cx="4000500" cy="819150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98308" y="4255770"/>
              <a:ext cx="22375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继承：可挂载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24750" y="5048250"/>
              <a:ext cx="4000500" cy="819150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98308" y="5303520"/>
              <a:ext cx="32068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方法：响应生命周期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fld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072423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变量保存状态，输入把玩家意图送进脚本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650290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强类型变量 + Input API = 最基础的交互循环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809750"/>
            <a:ext cx="11049000" cy="3619500"/>
            <a:chOff x="571500" y="1809750"/>
            <a:chExt cx="11049000" cy="3619500"/>
          </a:xfrm>
        </p:grpSpPr>
        <p:sp>
          <p:nvSpPr>
            <p:cNvPr id="4" name="Rectangle 4"/>
            <p:cNvSpPr/>
            <p:nvPr/>
          </p:nvSpPr>
          <p:spPr>
            <a:xfrm>
              <a:off x="571500" y="1809750"/>
              <a:ext cx="3429000" cy="3619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41248" y="20412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8106" y="285369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score = 0;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8106" y="3329940"/>
              <a:ext cx="2041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float speed = 6f;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3806190"/>
              <a:ext cx="1721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bool isPlaying;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4568190"/>
              <a:ext cx="29129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[SerializeField] 暴露参数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81500" y="1809750"/>
              <a:ext cx="3429000" cy="3619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51248" y="20412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58106" y="2853690"/>
              <a:ext cx="1296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GetKey(W)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58106" y="3329940"/>
              <a:ext cx="2367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GetKeyDown(Space)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8106" y="3806190"/>
              <a:ext cx="2852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GetAxisRaw("Vertical")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91500" y="1809750"/>
              <a:ext cx="3429000" cy="36195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61248" y="20412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5058" y="2931795"/>
              <a:ext cx="26969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 / S 移动 Paddle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5058" y="3550920"/>
              <a:ext cx="16744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Space 发球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5058" y="4170045"/>
              <a:ext cx="26253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Inspector 调速度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7</a:t>
            </a:fld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965636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输入 × 速度 × deltaTime = 稳定移动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读取轴输入、更新时间独立位移，再限制活动范围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695450"/>
            <a:ext cx="6953250" cy="4476750"/>
          </a:xfrm>
          <a:prstGeom prst="roundRect">
            <a:avLst>
              <a:gd name="adj" fmla="val 3830"/>
            </a:avLst>
          </a:prstGeom>
          <a:solidFill>
            <a:schemeClr val="dk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48106" y="1996440"/>
            <a:ext cx="5450510" cy="2638044"/>
            <a:chOff x="848106" y="1996440"/>
            <a:chExt cx="5450510" cy="2638044"/>
          </a:xfrm>
        </p:grpSpPr>
        <p:sp>
          <p:nvSpPr>
            <p:cNvPr id="5" name="TextBox 5"/>
            <p:cNvSpPr txBox="1"/>
            <p:nvPr/>
          </p:nvSpPr>
          <p:spPr>
            <a:xfrm>
              <a:off x="848106" y="1996440"/>
              <a:ext cx="5297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7F9FC"/>
                  </a:solidFill>
                  <a:latin typeface="Consolas"/>
                  <a:ea typeface="Consolas"/>
                  <a:cs typeface="Consolas"/>
                </a:rPr>
                <a:t>float input = Input.GetAxisRaw("Vertical");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8106" y="2567940"/>
              <a:ext cx="4170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7F9FC"/>
                  </a:solidFill>
                  <a:latin typeface="Consolas"/>
                  <a:ea typeface="Consolas"/>
                  <a:cs typeface="Consolas"/>
                </a:rPr>
                <a:t>Vector3 pos = transform.position;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8106" y="3139440"/>
              <a:ext cx="4860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pos.y += input * speed * Time.deltaTime;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3710940"/>
              <a:ext cx="54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pos.y = Mathf.Clamp(pos.y, -limitY, limitY);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4282440"/>
              <a:ext cx="3156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7F9FC"/>
                  </a:solidFill>
                  <a:latin typeface="Consolas"/>
                  <a:ea typeface="Consolas"/>
                  <a:cs typeface="Consolas"/>
                </a:rPr>
                <a:t>transform.position = pos;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962150"/>
            <a:ext cx="3115361" cy="3314700"/>
            <a:chOff x="7962900" y="1962150"/>
            <a:chExt cx="3115361" cy="3314700"/>
          </a:xfrm>
        </p:grpSpPr>
        <p:sp>
          <p:nvSpPr>
            <p:cNvPr id="11" name="Ellipse 11"/>
            <p:cNvSpPr/>
            <p:nvPr/>
          </p:nvSpPr>
          <p:spPr>
            <a:xfrm>
              <a:off x="7962900" y="19621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5508" y="2236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36558" y="2217420"/>
              <a:ext cx="20417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 Vertical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962900" y="320040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55508" y="3474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36558" y="3455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计算位移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962900" y="4438650"/>
              <a:ext cx="838200" cy="8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55508" y="4712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36558" y="4693920"/>
              <a:ext cx="16581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Clamp 限位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fld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013056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用函数封装动作，用集合管理多个对象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函数降低重复，集合把同类数据组织成可遍历结构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714500"/>
            <a:ext cx="11049000" cy="142875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8106" y="2044065"/>
            <a:ext cx="56529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EAF0FF"/>
                </a:solidFill>
                <a:latin typeface="Consolas"/>
                <a:ea typeface="Consolas"/>
                <a:cs typeface="Consolas"/>
              </a:rPr>
              <a:t>float GetMoveAmount(float input, float speed)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106" y="2567940"/>
            <a:ext cx="46524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return input * speed * Time.deltaTime;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3524250"/>
            <a:ext cx="11049000" cy="2190750"/>
            <a:chOff x="571500" y="3524250"/>
            <a:chExt cx="11049000" cy="2190750"/>
          </a:xfrm>
        </p:grpSpPr>
        <p:sp>
          <p:nvSpPr>
            <p:cNvPr id="7" name="Rectangle 7"/>
            <p:cNvSpPr/>
            <p:nvPr/>
          </p:nvSpPr>
          <p:spPr>
            <a:xfrm>
              <a:off x="571500" y="3524250"/>
              <a:ext cx="333375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1248" y="3755708"/>
              <a:ext cx="12703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Array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5058" y="4503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固定长度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29125" y="3524250"/>
              <a:ext cx="333375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98873" y="3755708"/>
              <a:ext cx="9125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02683" y="4503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长度可变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286750" y="3524250"/>
              <a:ext cx="333375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6498" y="3755708"/>
              <a:ext cx="2270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Dictionary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0308" y="4503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键 → 值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27892" y="63312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9</a:t>
            </a:fld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14366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碰撞负责“发生了什么”，事件负责“通知谁”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52986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物理结果与 UI 更新通过事件链解耦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2286000"/>
            <a:ext cx="11049000" cy="1714500"/>
            <a:chOff x="571500" y="2286000"/>
            <a:chExt cx="11049000" cy="1714500"/>
          </a:xfrm>
        </p:grpSpPr>
        <p:sp>
          <p:nvSpPr>
            <p:cNvPr id="4" name="Rectangle 4"/>
            <p:cNvSpPr/>
            <p:nvPr/>
          </p:nvSpPr>
          <p:spPr>
            <a:xfrm>
              <a:off x="571500" y="2286000"/>
              <a:ext cx="209550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19425" y="2612708"/>
              <a:ext cx="7996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0067" y="3282315"/>
              <a:ext cx="13783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Rigidbody2D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2667000" y="3143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333750" y="2286000"/>
              <a:ext cx="238125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00432" y="2612708"/>
              <a:ext cx="1647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Trigger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2492" y="3282315"/>
              <a:ext cx="11837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Collider2D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715000" y="3143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381750" y="2286000"/>
              <a:ext cx="238125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14770" y="2612708"/>
              <a:ext cx="15152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Scored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46269" y="3282315"/>
              <a:ext cx="2252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event / UnityEvent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763000" y="3143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429750" y="2286000"/>
              <a:ext cx="2190750" cy="17145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09178" y="2612708"/>
              <a:ext cx="4318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31349" y="3282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AF0FF"/>
                  </a:solidFill>
                  <a:latin typeface="+mn-lt"/>
                  <a:ea typeface="+mn-ea"/>
                  <a:cs typeface="+mn-cs"/>
                </a:rPr>
                <a:t>更新分数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2381250" y="4762500"/>
            <a:ext cx="7429500" cy="857250"/>
          </a:xfrm>
          <a:prstGeom prst="roundRect">
            <a:avLst>
              <a:gd name="adj" fmla="val 2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753106" y="5111115"/>
            <a:ext cx="66990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OnTriggerEnter2D → Scored?.Invoke() → scoreText.text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894321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先读第一条错误，再逐帧验证假设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428914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调试让问题从“猜”变成“证据”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809750"/>
            <a:ext cx="11049000" cy="4000500"/>
            <a:chOff x="571500" y="1809750"/>
            <a:chExt cx="1104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571500" y="1809750"/>
              <a:ext cx="4953000" cy="40005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88873" y="20412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调试清单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2683" y="2788920"/>
              <a:ext cx="31999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Console 第一条错误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2683" y="3360420"/>
              <a:ext cx="2560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双击定位脚本行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2683" y="3931920"/>
              <a:ext cx="30505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Pause / Step 逐帧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2683" y="4503420"/>
              <a:ext cx="2763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Gizmos 显示范围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905500" y="1809750"/>
              <a:ext cx="5715000" cy="40005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498" y="2041208"/>
              <a:ext cx="20640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Pong 挑战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4308" y="283654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随机方向发球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4308" y="340804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逐渐增速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4308" y="39795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击球位置改变角度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4308" y="45510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重启与计分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715250" y="762000"/>
            <a:ext cx="4762500" cy="47625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0748" y="1612582"/>
            <a:ext cx="139857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PART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700" y="2192655"/>
            <a:ext cx="5635600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把游戏状态变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" y="3145155"/>
            <a:ext cx="6568516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可见、可点、可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0184" y="4185285"/>
            <a:ext cx="703630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UGUI 把脚本状态转化为玩家能操作的界面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572500" y="1952625"/>
            <a:ext cx="2667000" cy="2857500"/>
            <a:chOff x="8572500" y="1952625"/>
            <a:chExt cx="2667000" cy="2857500"/>
          </a:xfrm>
        </p:grpSpPr>
        <p:sp>
          <p:nvSpPr>
            <p:cNvPr id="7" name="Rectangle 7"/>
            <p:cNvSpPr/>
            <p:nvPr/>
          </p:nvSpPr>
          <p:spPr>
            <a:xfrm>
              <a:off x="8572500" y="1952625"/>
              <a:ext cx="2667000" cy="2857500"/>
            </a:xfrm>
            <a:prstGeom prst="roundRect">
              <a:avLst>
                <a:gd name="adj" fmla="val 9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953500" y="2476500"/>
              <a:ext cx="1905000" cy="495300"/>
            </a:xfrm>
            <a:prstGeom prst="roundRect">
              <a:avLst>
                <a:gd name="adj" fmla="val 3076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953500" y="3238500"/>
              <a:ext cx="1905000" cy="1714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829800" y="315277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953500" y="3810000"/>
              <a:ext cx="7239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96400" y="38481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100483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Canvas 是根，Panel 分组，Control 交互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69547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清晰层级与 Canvas Scaler 是可维护界面的起点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6750" y="1809750"/>
            <a:ext cx="11140242" cy="3905250"/>
            <a:chOff x="666750" y="1809750"/>
            <a:chExt cx="11140242" cy="3905250"/>
          </a:xfrm>
        </p:grpSpPr>
        <p:sp>
          <p:nvSpPr>
            <p:cNvPr id="4" name="Rectangle 4"/>
            <p:cNvSpPr/>
            <p:nvPr/>
          </p:nvSpPr>
          <p:spPr>
            <a:xfrm>
              <a:off x="666750" y="1809750"/>
              <a:ext cx="7524750" cy="1143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84123" y="2136458"/>
              <a:ext cx="59996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Canvas + Graphic Raycaster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86125"/>
              <a:ext cx="6572250" cy="104775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60373" y="3584258"/>
              <a:ext cx="57449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MenuPanel / SettingsPanel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619250" y="4667250"/>
              <a:ext cx="5619750" cy="10477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40433" y="5046345"/>
              <a:ext cx="4869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Title · Button · Slider · Toggle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667750" y="1809750"/>
              <a:ext cx="2952750" cy="39052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85123" y="20412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适配设置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88933" y="2884170"/>
              <a:ext cx="18175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1920 × 1080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88933" y="3503295"/>
              <a:ext cx="2818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 With Screen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88933" y="4122420"/>
              <a:ext cx="19031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 = 0.5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88933" y="4741545"/>
              <a:ext cx="20644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EventSystem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fld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923220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UIManager 集中管理按钮和面板状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6694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Inspector 引用 + onClick，让行为清晰可追踪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714500"/>
            <a:ext cx="11049000" cy="4191000"/>
            <a:chOff x="571500" y="1714500"/>
            <a:chExt cx="11049000" cy="4191000"/>
          </a:xfrm>
        </p:grpSpPr>
        <p:sp>
          <p:nvSpPr>
            <p:cNvPr id="4" name="Rectangle 4"/>
            <p:cNvSpPr/>
            <p:nvPr/>
          </p:nvSpPr>
          <p:spPr>
            <a:xfrm>
              <a:off x="571500" y="1714500"/>
              <a:ext cx="3333750" cy="4191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0298" y="1945958"/>
              <a:ext cx="2137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Hierarchy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4108" y="2693670"/>
              <a:ext cx="11006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Canvas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8433" y="3217545"/>
              <a:ext cx="1627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MenuPanel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1808" y="3741420"/>
              <a:ext cx="17397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PlayButton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1808" y="4265295"/>
              <a:ext cx="24508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SettingsButton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1808" y="4789170"/>
              <a:ext cx="18051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QuitButton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1714500"/>
              <a:ext cx="7239000" cy="4191000"/>
            </a:xfrm>
            <a:prstGeom prst="roundRect">
              <a:avLst>
                <a:gd name="adj" fmla="val 4545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5731" y="2044065"/>
              <a:ext cx="17617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void Awake()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91481" y="2520315"/>
              <a:ext cx="501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playButton.onClick.AddListener(OnPlay);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91481" y="2996565"/>
              <a:ext cx="6342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settingsButton.onClick.AddListener(OpenSettings);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5731" y="3472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5731" y="4139565"/>
              <a:ext cx="3508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menuPanel.SetActive(false);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731" y="4711065"/>
              <a:ext cx="3859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settingsPanel.SetActive(true);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5731" y="5282565"/>
              <a:ext cx="2374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Application.Quit();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fld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013056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控件的值，应该直接驱动可观察的参数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743407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onValueChanged 将界面输入绑定到速度与全屏状态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809750"/>
            <a:ext cx="11049000" cy="3905250"/>
            <a:chOff x="571500" y="1809750"/>
            <a:chExt cx="11049000" cy="3905250"/>
          </a:xfrm>
        </p:grpSpPr>
        <p:sp>
          <p:nvSpPr>
            <p:cNvPr id="4" name="Rectangle 4"/>
            <p:cNvSpPr/>
            <p:nvPr/>
          </p:nvSpPr>
          <p:spPr>
            <a:xfrm>
              <a:off x="571500" y="1809750"/>
              <a:ext cx="4762500" cy="390525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88873" y="2041208"/>
              <a:ext cx="39495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Slider → Ball Speed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3238500"/>
              <a:ext cx="36195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3238500"/>
              <a:ext cx="21907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971800" y="3076575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85950" y="3880485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731" y="4901565"/>
              <a:ext cx="2392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SetBallSpeed(value)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05500" y="1809750"/>
              <a:ext cx="5715000" cy="3905250"/>
            </a:xfrm>
            <a:prstGeom prst="roundRect">
              <a:avLst>
                <a:gd name="adj" fmla="val 48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498" y="2041208"/>
              <a:ext cx="4157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Toggle → Fullscreen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72250" y="3143250"/>
              <a:ext cx="1809750" cy="800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610475" y="3219450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42248" y="3327082"/>
              <a:ext cx="6436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356" y="4663440"/>
              <a:ext cx="3121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Screen.fullScreen = isOn;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fld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11317910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用布局替代手工对齐，用状态系统统一风格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86669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Layout、Anchor、九宫格与 Prefab 同时解决适配和一致性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809750"/>
            <a:ext cx="11049000" cy="4000500"/>
            <a:chOff x="571500" y="1809750"/>
            <a:chExt cx="1104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571500" y="1809750"/>
              <a:ext cx="4953000" cy="40005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88873" y="20412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45858"/>
                  </a:solidFill>
                  <a:latin typeface="+mn-lt"/>
                  <a:ea typeface="+mn-ea"/>
                  <a:cs typeface="+mn-cs"/>
                </a:rPr>
                <a:t>手工摆放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7750" y="2905125"/>
              <a:ext cx="1619250" cy="666750"/>
            </a:xfrm>
            <a:prstGeom prst="roundRect">
              <a:avLst>
                <a:gd name="adj" fmla="val 17143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952750" y="3905250"/>
              <a:ext cx="1905000" cy="666750"/>
            </a:xfrm>
            <a:prstGeom prst="roundRect">
              <a:avLst>
                <a:gd name="adj" fmla="val 17143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428750" y="4857750"/>
              <a:ext cx="2190750" cy="666750"/>
            </a:xfrm>
            <a:prstGeom prst="roundRect">
              <a:avLst>
                <a:gd name="adj" fmla="val 17143"/>
              </a:avLst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00750" y="1809750"/>
              <a:ext cx="5619750" cy="40005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18123" y="2041208"/>
              <a:ext cx="19844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系统化 UI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0" y="3000375"/>
              <a:ext cx="4286250" cy="6667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7500" y="3905250"/>
              <a:ext cx="4286250" cy="6667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0" y="4810125"/>
              <a:ext cx="4286250" cy="6667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26808" y="3169920"/>
              <a:ext cx="20971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Layout Group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26808" y="4074795"/>
              <a:ext cx="3644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Anchor + Canvas 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26808" y="4979670"/>
              <a:ext cx="37260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Button States + Prefab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fld>
          </a:p>
        </p:txBody>
      </p: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327660"/>
            <a:ext cx="775586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名称不同，核心问题高度相似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960120"/>
            <a:ext cx="659197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先建立概念映射，再学习 Unity 的组件化表达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714500"/>
            <a:ext cx="11049000" cy="4082034"/>
            <a:chOff x="571500" y="1714500"/>
            <a:chExt cx="11049000" cy="4082034"/>
          </a:xfrm>
        </p:grpSpPr>
        <p:sp>
          <p:nvSpPr>
            <p:cNvPr id="4" name="Rectangle 4"/>
            <p:cNvSpPr/>
            <p:nvPr/>
          </p:nvSpPr>
          <p:spPr>
            <a:xfrm>
              <a:off x="571500" y="1714500"/>
              <a:ext cx="1104900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0308" y="1874520"/>
              <a:ext cx="9678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Godot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4558" y="1874520"/>
              <a:ext cx="8820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084058" y="18745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43356" y="2586990"/>
              <a:ext cx="8373618" cy="3209544"/>
              <a:chOff x="943356" y="2586990"/>
              <a:chExt cx="8373618" cy="320954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43356" y="2586990"/>
                <a:ext cx="5589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Node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7606" y="2586990"/>
                <a:ext cx="29398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GameObject + Component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087106" y="25869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对象与能力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3356" y="3158490"/>
                <a:ext cx="10844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_ready()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67606" y="3158490"/>
                <a:ext cx="9617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Start()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87106" y="315849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初始化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3356" y="37299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_process(delta)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67606" y="3729990"/>
                <a:ext cx="10945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Update()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87106" y="3729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逐帧逻辑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3356" y="4301490"/>
                <a:ext cx="703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Signal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67606" y="4301490"/>
                <a:ext cx="22522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 / UnityEvent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87106" y="4301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事件通知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3356" y="4872990"/>
                <a:ext cx="23243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 / Container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67606" y="4872990"/>
                <a:ext cx="36506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RectTransform / Layout Group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87106" y="4872990"/>
                <a:ext cx="8247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UI 布局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3356" y="5444490"/>
                <a:ext cx="21022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pressed / toggled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67606" y="5444490"/>
                <a:ext cx="29373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onClick / onValueChanged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087106" y="5444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交互回调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571500" y="2952750"/>
            <a:ext cx="11049000" cy="2295525"/>
            <a:chOff x="571500" y="2952750"/>
            <a:chExt cx="11049000" cy="2295525"/>
          </a:xfrm>
        </p:grpSpPr>
        <p:sp>
          <p:nvSpPr>
            <p:cNvPr id="28" name="Line 28"/>
            <p:cNvSpPr/>
            <p:nvPr/>
          </p:nvSpPr>
          <p:spPr>
            <a:xfrm>
              <a:off x="571500" y="2952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71500" y="3524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71500" y="4095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71500" y="466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71500" y="523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</a:t>
            </a:fld>
          </a:p>
        </p:txBody>
      </p:sp>
    </p:spTree>
  </p:cSld>
  <p:clrMapOvr>
    <a:masterClrMapping/>
  </p:clrMapOvr>
  <p:transition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403860"/>
            <a:ext cx="1041955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把脚本与 UGUI 连接成一个可玩的原型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8358" y="1074420"/>
            <a:ext cx="100401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完整练习必须同时具备运动、碰撞、事件、菜单、参数绑定和一致视觉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66750" y="1905000"/>
            <a:ext cx="10858500" cy="3333750"/>
            <a:chOff x="666750" y="1905000"/>
            <a:chExt cx="10858500" cy="3333750"/>
          </a:xfrm>
        </p:grpSpPr>
        <p:grpSp>
          <p:nvGrpSpPr>
            <p:cNvPr id="10" name="Group 10"/>
            <p:cNvGrpSpPr/>
            <p:nvPr/>
          </p:nvGrpSpPr>
          <p:grpSpPr>
            <a:xfrm>
              <a:off x="666750" y="1905000"/>
              <a:ext cx="10858500" cy="3333750"/>
              <a:chOff x="666750" y="1905000"/>
              <a:chExt cx="10858500" cy="3333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905000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666750" y="3095625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666750" y="4286250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6286500" y="1905000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286500" y="3095625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286500" y="4286250"/>
                <a:ext cx="52387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416558" y="2236470"/>
              <a:ext cx="8677199" cy="2850642"/>
              <a:chOff x="1416558" y="2236470"/>
              <a:chExt cx="8677199" cy="285064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416558" y="2236470"/>
                <a:ext cx="303044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Ball / Paddle 可运动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16558" y="342709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边界与计分有效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6558" y="4617720"/>
                <a:ext cx="178247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事件更新 UI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36308" y="2236470"/>
                <a:ext cx="270601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开始 / 设置 / 返回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36308" y="3427095"/>
                <a:ext cx="305744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Slider / Toggle 生效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036308" y="4617720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布局与状态统一</a:t>
                </a:r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50748" y="5755958"/>
            <a:ext cx="63811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下一步：在 Unity 中动手完成它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27892" y="63312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C8CED76-5EF0-42FA-8992-A86D383ABD69}" type="slidenum">
              <a:rPr lang="en-US" sz="1350" dirty="0">
                <a:solidFill>
                  <a:srgbClr val="EAF0FF"/>
                </a:solidFill>
                <a:latin typeface="+mn-lt"/>
                <a:ea typeface="+mn-ea"/>
                <a:cs typeface="+mn-cs"/>
              </a:rPr>
              <a:t>18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033"/>
      </a:dk1>
      <a:lt1>
        <a:srgbClr val="F7F9FC"/>
      </a:lt1>
      <a:dk2>
        <a:srgbClr val="56627A"/>
      </a:dk2>
      <a:lt2>
        <a:srgbClr val="EAF0FF"/>
      </a:lt2>
      <a:accent1>
        <a:srgbClr val="3157D5"/>
      </a:accent1>
      <a:accent2>
        <a:srgbClr val="7C4DFF"/>
      </a:accent2>
      <a:accent3>
        <a:srgbClr val="22A6B3"/>
      </a:accent3>
      <a:accent4>
        <a:srgbClr val="C9D4F2"/>
      </a:accent4>
      <a:accent5>
        <a:srgbClr val="8490A8"/>
      </a:accent5>
      <a:accent6>
        <a:srgbClr val="DCE4F7"/>
      </a:accent6>
      <a:hlink>
        <a:srgbClr val="7C4DFF"/>
      </a:hlink>
      <a:folHlink>
        <a:srgbClr val="22A6B3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72033"/>
      </a:dk1>
      <a:lt1>
        <a:srgbClr val="F7F9FC"/>
      </a:lt1>
      <a:dk2>
        <a:srgbClr val="56627A"/>
      </a:dk2>
      <a:lt2>
        <a:srgbClr val="EAF0FF"/>
      </a:lt2>
      <a:accent1>
        <a:srgbClr val="3157D5"/>
      </a:accent1>
      <a:accent2>
        <a:srgbClr val="7C4DFF"/>
      </a:accent2>
      <a:accent3>
        <a:srgbClr val="22A6B3"/>
      </a:accent3>
      <a:accent4>
        <a:srgbClr val="C9D4F2"/>
      </a:accent4>
      <a:accent5>
        <a:srgbClr val="8490A8"/>
      </a:accent5>
      <a:accent6>
        <a:srgbClr val="DCE4F7"/>
      </a:accent6>
      <a:hlink>
        <a:srgbClr val="7C4DFF"/>
      </a:hlink>
      <a:folHlink>
        <a:srgbClr val="22A6B3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2026-07-11T07:23:34Z</dcterms:created>
  <dcterms:modified xsi:type="dcterms:W3CDTF">2026-07-11T07:23:34Z</dcterms:modified>
  <cp:category/>
  <cp:contentStatus/>
</cp:coreProperties>
</file>