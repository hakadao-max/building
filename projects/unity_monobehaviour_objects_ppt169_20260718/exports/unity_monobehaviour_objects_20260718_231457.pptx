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这一单元关注 Unity 脚本真正进入场景后的工作方式。我们会把 MonoBehaviour、生命周期、Transform、GameObject 与 CharacterController 串成一条可运行的角色控制链。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学习路线从脚本身份开始，经过生命周期和常用对象，最后落到角色移动与摄像机跟随。每个知识点都围绕两个问题：当前代码操作哪个对象，它应该在什么时机执行。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GameObject 本身是组件容器，Transform 是每个对象都具备的基础能力。自定义 MonoBehaviour 只有挂载到对象上才会运行，因此文件名、类名和对象上的组件关系必须保持清晰。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生命周期函数由 Unity 在固定时机调用，从 Awake、OnEnable、Start 进入运行循环，再到 OnDisable 与 OnDestroy。对象重新启用时 OnEnable 会再次执行，而同一实例的 Start 通常只执行一次。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选择 生命周期函数时，先判断任务依赖谁、发生几次、持续多久。自身组件引用放在 Awake，事件订阅与取消成对放在 OnEnable 和 OnDisable，跨对象启动则使用明确流程而不是猜测 Awake 顺序。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Update 处理输入和普通逻辑，FixedUpdate 面向 Rigidbody 的物理时间步，LateUpdate 适合摄像机等收尾行为。连续变化需要使用 Time.deltaTime，一次性触发的创建或切换则不需要。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Transform 同时保存世界与局部空间数据，也保存父子层级。移动和旋转时要分清 Space.Self 与 Space.World，坐标点和方向向量也必须使用各自对应的转换函数。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gameObject 用于访问对象身份和激活状态，GetComponent 系列用于获取对象能力。稳定引用应优先通过 Inspector、创建时传入或初始化缓存建立，避免在每帧中反复按名称查找。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对象的完整寿命包含引用、创建、交互和销毁四段。Instantiate 与 AddComponent 都可以动态增加内容，但固定配置更适合提前放进 Prefab；销毁前后还要注意引用失效和清理逻辑。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CharacterController 提供受碰撞约束的脚本控制移动，但 Move 不会自动施加重力。理解胶囊尺寸、坡度、台阶、贴地状态以及 Move 与 SimpleMove 的参数差异，是稳定移动的前提。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一个完整移动帧要依次读取输入、限制斜向速度、平滑转向、处理贴地和跳跃、积分重力，再合成速度调用 Move。Move 返回的 CollisionFlags 还能帮助修正撞到顶部后的竖直速度。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CharacterController 更强调玩家控制的确定性，Rigidbody 更强调动力学响应。先决定玩法需要可控性还是物理交互，不要让两套系统在同一个角色根节点上争夺移动权。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最小场景闭环是角色在 Update 中完成移动，摄像机在 LateUpdate 中读取角色的新位置并跟随。通过 Inspector 连接 target，再逐项验证移动、跳跃、碰撞和镜头稳定性，就完成了从脚本到场景运行的全过程。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953000"/>
            <a:ext cx="12192000" cy="1905000"/>
          </a:xfrm>
          <a:custGeom>
            <a:avLst/>
            <a:gdLst/>
            <a:ahLst/>
            <a:cxnLst/>
            <a:rect l="l" t="t" r="r" b="b"/>
            <a:pathLst>
              <a:path w="12192000" h="1905000">
                <a:moveTo>
                  <a:pt x="0" y="628650"/>
                </a:moveTo>
                <a:cubicBezTo>
                  <a:pt x="2190750" y="57150"/>
                  <a:pt x="3714750" y="1485900"/>
                  <a:pt x="6048375" y="838200"/>
                </a:cubicBezTo>
                <a:cubicBezTo>
                  <a:pt x="8191500" y="247650"/>
                  <a:pt x="9906000" y="857250"/>
                  <a:pt x="12192000" y="0"/>
                </a:cubicBezTo>
                <a:lnTo>
                  <a:pt x="12192000" y="1905000"/>
                </a:lnTo>
                <a:lnTo>
                  <a:pt x="0" y="1905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85800" y="819150"/>
            <a:ext cx="4095750" cy="266700"/>
          </a:xfrm>
          <a:custGeom>
            <a:avLst/>
            <a:gdLst/>
            <a:ahLst/>
            <a:cxnLst/>
            <a:rect l="l" t="t" r="r" b="b"/>
            <a:pathLst>
              <a:path w="4095750" h="266700">
                <a:moveTo>
                  <a:pt x="0" y="266700"/>
                </a:moveTo>
                <a:cubicBezTo>
                  <a:pt x="1409700" y="0"/>
                  <a:pt x="2647950" y="171450"/>
                  <a:pt x="4095750" y="57150"/>
                </a:cubicBezTo>
              </a:path>
            </a:pathLst>
          </a:custGeom>
          <a:noFill/>
          <a:ln w="95250" cap="rnd">
            <a:solidFill>
              <a:schemeClr val="accent2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28650" y="1503045"/>
            <a:ext cx="7346021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Unity 语法基础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798" y="2574608"/>
            <a:ext cx="834206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MonoBehaviour、生命周期与常用对象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2658" y="3303270"/>
            <a:ext cx="713232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让脚本在正确的对象上，于正确的时机做正确的事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7334250" y="723900"/>
            <a:ext cx="4038600" cy="4533900"/>
            <a:chOff x="7334250" y="723900"/>
            <a:chExt cx="4038600" cy="4533900"/>
          </a:xfrm>
        </p:grpSpPr>
        <p:sp>
          <p:nvSpPr>
            <p:cNvPr id="7" name="Rectangle 7"/>
            <p:cNvSpPr/>
            <p:nvPr/>
          </p:nvSpPr>
          <p:spPr>
            <a:xfrm>
              <a:off x="7334250" y="723900"/>
              <a:ext cx="4038600" cy="4533900"/>
            </a:xfrm>
            <a:prstGeom prst="roundRect">
              <a:avLst>
                <a:gd name="adj" fmla="val 6604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10856" y="986790"/>
              <a:ext cx="25146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SCRIPT → COMPONENT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829550" y="1543050"/>
              <a:ext cx="3048000" cy="2857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38100">
              <a:solidFill>
                <a:schemeClr val="accent1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127206" y="1803504"/>
              <a:ext cx="2242852" cy="483258"/>
              <a:chOff x="8127206" y="1803504"/>
              <a:chExt cx="2242852" cy="483258"/>
            </a:xfrm>
          </p:grpSpPr>
          <p:grpSp>
            <p:nvGrpSpPr>
              <p:cNvPr id="14" name="Group 14"/>
              <p:cNvGrpSpPr/>
              <p:nvPr/>
            </p:nvGrpSpPr>
            <p:grpSpPr>
              <a:xfrm>
                <a:off x="8127206" y="1803504"/>
                <a:ext cx="300038" cy="336325"/>
                <a:chOff x="8127206" y="1803504"/>
                <a:chExt cx="300038" cy="336325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127206" y="1803504"/>
                  <a:ext cx="300038" cy="33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8" h="336325">
                      <a:moveTo>
                        <a:pt x="300038" y="234979"/>
                      </a:moveTo>
                      <a:lnTo>
                        <a:pt x="300038" y="101329"/>
                      </a:lnTo>
                      <a:cubicBezTo>
                        <a:pt x="300017" y="89490"/>
                        <a:pt x="293656" y="78569"/>
                        <a:pt x="283369" y="72709"/>
                      </a:cubicBezTo>
                      <a:lnTo>
                        <a:pt x="166688" y="5901"/>
                      </a:lnTo>
                      <a:cubicBezTo>
                        <a:pt x="156358" y="0"/>
                        <a:pt x="143679" y="0"/>
                        <a:pt x="133350" y="5901"/>
                      </a:cubicBezTo>
                      <a:lnTo>
                        <a:pt x="16669" y="72709"/>
                      </a:lnTo>
                      <a:cubicBezTo>
                        <a:pt x="6351" y="78626"/>
                        <a:pt x="0" y="89544"/>
                        <a:pt x="0" y="101346"/>
                      </a:cubicBezTo>
                      <a:lnTo>
                        <a:pt x="0" y="234996"/>
                      </a:lnTo>
                      <a:cubicBezTo>
                        <a:pt x="0" y="246814"/>
                        <a:pt x="6351" y="257716"/>
                        <a:pt x="16669" y="263616"/>
                      </a:cubicBezTo>
                      <a:lnTo>
                        <a:pt x="133350" y="330425"/>
                      </a:lnTo>
                      <a:cubicBezTo>
                        <a:pt x="143679" y="336325"/>
                        <a:pt x="156358" y="336325"/>
                        <a:pt x="166688" y="330425"/>
                      </a:cubicBezTo>
                      <a:lnTo>
                        <a:pt x="283369" y="263616"/>
                      </a:lnTo>
                      <a:cubicBezTo>
                        <a:pt x="293687" y="257699"/>
                        <a:pt x="300038" y="246781"/>
                        <a:pt x="300038" y="234979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277225" y="1971675"/>
                  <a:ext cx="9525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66688">
                      <a:moveTo>
                        <a:pt x="0" y="16668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277225" y="1887664"/>
                  <a:ext cx="145518" cy="84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518" h="84010">
                      <a:moveTo>
                        <a:pt x="0" y="84010"/>
                      </a:moveTo>
                      <a:lnTo>
                        <a:pt x="145518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8131707" y="1887664"/>
                  <a:ext cx="145518" cy="84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518" h="84010">
                      <a:moveTo>
                        <a:pt x="0" y="0"/>
                      </a:moveTo>
                      <a:lnTo>
                        <a:pt x="145518" y="8401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8617458" y="1817370"/>
                <a:ext cx="106883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Player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17904" y="1902142"/>
                <a:ext cx="10521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GameObject</a:t>
                </a:r>
              </a:p>
            </p:txBody>
          </p:sp>
        </p:grpSp>
        <p:sp>
          <p:nvSpPr>
            <p:cNvPr id="18" name="Line 18"/>
            <p:cNvSpPr/>
            <p:nvPr/>
          </p:nvSpPr>
          <p:spPr>
            <a:xfrm>
              <a:off x="8058150" y="232410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28575" cap="rnd">
              <a:solidFill>
                <a:schemeClr val="accent4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058150" y="2514600"/>
              <a:ext cx="3146374" cy="1771650"/>
              <a:chOff x="8058150" y="2514600"/>
              <a:chExt cx="3146374" cy="17716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058150" y="2514600"/>
                <a:ext cx="25908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EAF0FA"/>
              </a:solidFill>
              <a:ln w="19050">
                <a:solidFill>
                  <a:schemeClr val="accent1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8246269" y="2664619"/>
                <a:ext cx="214313" cy="214313"/>
                <a:chOff x="8246269" y="2664619"/>
                <a:chExt cx="214313" cy="214313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8246269" y="2664619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8365331" y="2664619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95250"/>
                      </a:moveTo>
                      <a:lnTo>
                        <a:pt x="95250" y="59531"/>
                      </a:lnTo>
                      <a:cubicBezTo>
                        <a:pt x="95250" y="46380"/>
                        <a:pt x="84589" y="35719"/>
                        <a:pt x="71438" y="35719"/>
                      </a:cubicBezTo>
                      <a:lnTo>
                        <a:pt x="0" y="35719"/>
                      </a:lnTo>
                      <a:lnTo>
                        <a:pt x="35719" y="71438"/>
                      </a:lnTo>
                      <a:moveTo>
                        <a:pt x="35719" y="0"/>
                      </a:moveTo>
                      <a:lnTo>
                        <a:pt x="0" y="35719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8246269" y="2783681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0" y="35719"/>
                      </a:lnTo>
                      <a:cubicBezTo>
                        <a:pt x="0" y="48870"/>
                        <a:pt x="10661" y="59531"/>
                        <a:pt x="23812" y="59531"/>
                      </a:cubicBezTo>
                      <a:lnTo>
                        <a:pt x="95250" y="59531"/>
                      </a:lnTo>
                      <a:lnTo>
                        <a:pt x="59531" y="23812"/>
                      </a:lnTo>
                      <a:moveTo>
                        <a:pt x="59531" y="95250"/>
                      </a:moveTo>
                      <a:lnTo>
                        <a:pt x="95250" y="59531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8389144" y="2807494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cubicBezTo>
                        <a:pt x="0" y="55446"/>
                        <a:pt x="15992" y="71438"/>
                        <a:pt x="35719" y="71438"/>
                      </a:cubicBez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8639556" y="2663190"/>
                <a:ext cx="133685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Transform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8058150" y="3143250"/>
                <a:ext cx="25908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E8F5F0"/>
              </a:solidFill>
              <a:ln w="19050">
                <a:solidFill>
                  <a:schemeClr val="accent3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8246269" y="3293269"/>
                <a:ext cx="214313" cy="214313"/>
                <a:chOff x="8246269" y="3293269"/>
                <a:chExt cx="214313" cy="214313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8246269" y="336470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lnTo>
                        <a:pt x="35719" y="71438"/>
                      </a:lnTo>
                      <a:lnTo>
                        <a:pt x="71438" y="35719"/>
                      </a:lnTo>
                      <a:lnTo>
                        <a:pt x="35719" y="0"/>
                      </a:lnTo>
                      <a:lnTo>
                        <a:pt x="0" y="35719"/>
                      </a:lnTo>
                    </a:path>
                  </a:pathLst>
                </a:custGeom>
                <a:noFill/>
                <a:ln w="19050">
                  <a:solidFill>
                    <a:srgbClr val="2F8F6A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389144" y="336470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lnTo>
                        <a:pt x="35719" y="71438"/>
                      </a:lnTo>
                      <a:lnTo>
                        <a:pt x="71438" y="35719"/>
                      </a:lnTo>
                      <a:lnTo>
                        <a:pt x="35719" y="0"/>
                      </a:lnTo>
                      <a:lnTo>
                        <a:pt x="0" y="35719"/>
                      </a:lnTo>
                    </a:path>
                  </a:pathLst>
                </a:custGeom>
                <a:noFill/>
                <a:ln w="19050">
                  <a:solidFill>
                    <a:srgbClr val="2F8F6A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317706" y="3293269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lnTo>
                        <a:pt x="35719" y="71438"/>
                      </a:lnTo>
                      <a:lnTo>
                        <a:pt x="71438" y="35719"/>
                      </a:lnTo>
                      <a:lnTo>
                        <a:pt x="35719" y="0"/>
                      </a:lnTo>
                      <a:lnTo>
                        <a:pt x="0" y="35719"/>
                      </a:lnTo>
                    </a:path>
                  </a:pathLst>
                </a:custGeom>
                <a:noFill/>
                <a:ln w="19050">
                  <a:solidFill>
                    <a:srgbClr val="2F8F6A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317706" y="3436144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35719"/>
                      </a:moveTo>
                      <a:lnTo>
                        <a:pt x="35719" y="71438"/>
                      </a:lnTo>
                      <a:lnTo>
                        <a:pt x="71438" y="35719"/>
                      </a:lnTo>
                      <a:lnTo>
                        <a:pt x="35719" y="0"/>
                      </a:lnTo>
                      <a:lnTo>
                        <a:pt x="0" y="35719"/>
                      </a:lnTo>
                    </a:path>
                  </a:pathLst>
                </a:custGeom>
                <a:noFill/>
                <a:ln w="19050">
                  <a:solidFill>
                    <a:srgbClr val="2F8F6A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8639556" y="3291840"/>
                <a:ext cx="25649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CharacterController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8058150" y="3771900"/>
                <a:ext cx="25908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8246269" y="3933825"/>
                <a:ext cx="214312" cy="190500"/>
                <a:chOff x="8246269" y="3933825"/>
                <a:chExt cx="214312" cy="19050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8246269" y="3981450"/>
                  <a:ext cx="476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0">
                      <a:moveTo>
                        <a:pt x="47625" y="0"/>
                      </a:moveTo>
                      <a:lnTo>
                        <a:pt x="0" y="47625"/>
                      </a:lnTo>
                      <a:lnTo>
                        <a:pt x="47625" y="95250"/>
                      </a:lnTo>
                    </a:path>
                  </a:pathLst>
                </a:custGeom>
                <a:noFill/>
                <a:ln w="19050">
                  <a:solidFill>
                    <a:srgbClr val="8C5A00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412956" y="3981450"/>
                  <a:ext cx="476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0">
                      <a:moveTo>
                        <a:pt x="0" y="0"/>
                      </a:moveTo>
                      <a:lnTo>
                        <a:pt x="47625" y="47625"/>
                      </a:ln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rgbClr val="8C5A00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8329612" y="3933825"/>
                  <a:ext cx="4762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190500">
                      <a:moveTo>
                        <a:pt x="47625" y="0"/>
                      </a:moveTo>
                      <a:lnTo>
                        <a:pt x="0" y="190500"/>
                      </a:lnTo>
                    </a:path>
                  </a:pathLst>
                </a:custGeom>
                <a:noFill/>
                <a:ln w="19050">
                  <a:solidFill>
                    <a:srgbClr val="8C5A00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8639556" y="3920490"/>
                <a:ext cx="19688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SimpleMover.cs</a:t>
                </a:r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10572750" y="4019550"/>
              <a:ext cx="561975" cy="752475"/>
            </a:xfrm>
            <a:custGeom>
              <a:avLst/>
              <a:gdLst/>
              <a:ahLst/>
              <a:cxnLst/>
              <a:rect l="l" t="t" r="r" b="b"/>
              <a:pathLst>
                <a:path w="561975" h="752475">
                  <a:moveTo>
                    <a:pt x="76200" y="0"/>
                  </a:moveTo>
                  <a:cubicBezTo>
                    <a:pt x="552450" y="0"/>
                    <a:pt x="561975" y="752475"/>
                    <a:pt x="0" y="752475"/>
                  </a:cubicBezTo>
                </a:path>
              </a:pathLst>
            </a:custGeom>
            <a:noFill/>
            <a:ln w="47625" cap="rnd">
              <a:solidFill>
                <a:schemeClr val="accent2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496550" y="4610100"/>
              <a:ext cx="190500" cy="295275"/>
            </a:xfrm>
            <a:custGeom>
              <a:avLst/>
              <a:gdLst/>
              <a:ahLst/>
              <a:cxnLst/>
              <a:rect l="l" t="t" r="r" b="b"/>
              <a:pathLst>
                <a:path w="190500" h="295275">
                  <a:moveTo>
                    <a:pt x="171450" y="0"/>
                  </a:moveTo>
                  <a:lnTo>
                    <a:pt x="0" y="161925"/>
                  </a:lnTo>
                  <a:lnTo>
                    <a:pt x="190500" y="295275"/>
                  </a:lnTo>
                </a:path>
              </a:pathLst>
            </a:custGeom>
            <a:noFill/>
            <a:ln w="47625" cap="rnd">
              <a:solidFill>
                <a:schemeClr val="accent2"/>
              </a:solidFill>
              <a:round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086975" y="4588669"/>
              <a:ext cx="342900" cy="385762"/>
              <a:chOff x="10086975" y="4588669"/>
              <a:chExt cx="342900" cy="38576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0086975" y="4588669"/>
                <a:ext cx="342900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92881">
                    <a:moveTo>
                      <a:pt x="0" y="192881"/>
                    </a:moveTo>
                    <a:lnTo>
                      <a:pt x="0" y="128588"/>
                    </a:lnTo>
                    <a:cubicBezTo>
                      <a:pt x="0" y="93079"/>
                      <a:pt x="28785" y="64294"/>
                      <a:pt x="64294" y="64294"/>
                    </a:cubicBezTo>
                    <a:lnTo>
                      <a:pt x="342900" y="64294"/>
                    </a:lnTo>
                    <a:moveTo>
                      <a:pt x="278606" y="0"/>
                    </a:moveTo>
                    <a:lnTo>
                      <a:pt x="342900" y="64294"/>
                    </a:lnTo>
                    <a:lnTo>
                      <a:pt x="278606" y="128588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086975" y="4781550"/>
                <a:ext cx="342900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92881">
                    <a:moveTo>
                      <a:pt x="342900" y="0"/>
                    </a:moveTo>
                    <a:lnTo>
                      <a:pt x="342900" y="64294"/>
                    </a:lnTo>
                    <a:cubicBezTo>
                      <a:pt x="342900" y="99802"/>
                      <a:pt x="314115" y="128588"/>
                      <a:pt x="278606" y="128588"/>
                    </a:cubicBezTo>
                    <a:lnTo>
                      <a:pt x="0" y="128588"/>
                    </a:lnTo>
                    <a:moveTo>
                      <a:pt x="64294" y="192881"/>
                    </a:moveTo>
                    <a:lnTo>
                      <a:pt x="0" y="128588"/>
                    </a:lnTo>
                    <a:lnTo>
                      <a:pt x="64294" y="64294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</p:grpSp>
      <p:grpSp>
        <p:nvGrpSpPr>
          <p:cNvPr id="51" name="Group 51"/>
          <p:cNvGrpSpPr/>
          <p:nvPr/>
        </p:nvGrpSpPr>
        <p:grpSpPr>
          <a:xfrm>
            <a:off x="685800" y="4686300"/>
            <a:ext cx="5829300" cy="838200"/>
            <a:chOff x="685800" y="4686300"/>
            <a:chExt cx="5829300" cy="838200"/>
          </a:xfrm>
        </p:grpSpPr>
        <p:sp>
          <p:nvSpPr>
            <p:cNvPr id="46" name="Rectangle 46"/>
            <p:cNvSpPr/>
            <p:nvPr/>
          </p:nvSpPr>
          <p:spPr>
            <a:xfrm>
              <a:off x="685800" y="4686300"/>
              <a:ext cx="5829300" cy="8382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62025" y="4962525"/>
              <a:ext cx="285751" cy="285751"/>
              <a:chOff x="962025" y="4962525"/>
              <a:chExt cx="285751" cy="28575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62025" y="49625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104900" y="5026025"/>
                <a:ext cx="476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27000">
                    <a:moveTo>
                      <a:pt x="0" y="0"/>
                    </a:moveTo>
                    <a:lnTo>
                      <a:pt x="0" y="79375"/>
                    </a:lnTo>
                    <a:lnTo>
                      <a:pt x="47625" y="1270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476756" y="5015865"/>
              <a:ext cx="43285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Object + Callback + Time.deltaTime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697992" y="6274118"/>
            <a:ext cx="23387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基础课程 · 第 02 单元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65760"/>
            <a:ext cx="9572732" cy="819150"/>
            <a:chOff x="552450" y="365760"/>
            <a:chExt cx="9572732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65760"/>
              <a:ext cx="95727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从“脚本挂上去”走到“角色跑起来”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71500" y="952500"/>
              <a:ext cx="4953000" cy="95250"/>
            </a:xfrm>
            <a:custGeom>
              <a:avLst/>
              <a:gdLst/>
              <a:ahLst/>
              <a:cxnLst/>
              <a:rect l="l" t="t" r="r" b="b"/>
              <a:pathLst>
                <a:path w="4953000" h="95250">
                  <a:moveTo>
                    <a:pt x="0" y="57150"/>
                  </a:moveTo>
                  <a:cubicBezTo>
                    <a:pt x="1809750" y="0"/>
                    <a:pt x="3238500" y="95250"/>
                    <a:pt x="4953000" y="19050"/>
                  </a:cubicBezTo>
                </a:path>
              </a:pathLst>
            </a:custGeom>
            <a:noFill/>
            <a:ln w="66675" cap="rnd">
              <a:solidFill>
                <a:schemeClr val="accent2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838200" y="1369695"/>
            <a:ext cx="5985686" cy="4598289"/>
            <a:chOff x="838200" y="1369695"/>
            <a:chExt cx="5985686" cy="4598289"/>
          </a:xfrm>
        </p:grpSpPr>
        <p:sp>
          <p:nvSpPr>
            <p:cNvPr id="5" name="Freeform 5"/>
            <p:cNvSpPr/>
            <p:nvPr/>
          </p:nvSpPr>
          <p:spPr>
            <a:xfrm>
              <a:off x="1066800" y="1581150"/>
              <a:ext cx="133350" cy="4000500"/>
            </a:xfrm>
            <a:custGeom>
              <a:avLst/>
              <a:gdLst/>
              <a:ahLst/>
              <a:cxnLst/>
              <a:rect l="l" t="t" r="r" b="b"/>
              <a:pathLst>
                <a:path w="133350" h="4000500">
                  <a:moveTo>
                    <a:pt x="57150" y="0"/>
                  </a:moveTo>
                  <a:cubicBezTo>
                    <a:pt x="0" y="1085850"/>
                    <a:pt x="133350" y="2362200"/>
                    <a:pt x="57150" y="40005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57250" y="1369695"/>
              <a:ext cx="5966636" cy="712089"/>
              <a:chOff x="857250" y="1369695"/>
              <a:chExt cx="5966636" cy="712089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857250" y="1409700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974869" y="156781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645158" y="1369695"/>
                <a:ext cx="273832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脚本如何成为组件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48206" y="1729740"/>
                <a:ext cx="51756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MonoBehaviour、文件名与类名、三个常用入口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857250" y="2341245"/>
              <a:ext cx="5957474" cy="712089"/>
              <a:chOff x="857250" y="2341245"/>
              <a:chExt cx="5957474" cy="712089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857250" y="2381250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74869" y="253936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45158" y="2341245"/>
                <a:ext cx="375605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生命周期与三个更新循环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648206" y="2701290"/>
                <a:ext cx="51665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Awake 到 OnDestroy；Update / Fixed / Late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57250" y="3312795"/>
              <a:ext cx="5170932" cy="712089"/>
              <a:chOff x="857250" y="3312795"/>
              <a:chExt cx="5170932" cy="712089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857250" y="3352800"/>
                <a:ext cx="533400" cy="533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74869" y="351091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645158" y="3312795"/>
                <a:ext cx="426858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Transform 与 GameObject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648206" y="3672840"/>
                <a:ext cx="43799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空间、层级、组件引用、对象创建与销毁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57250" y="4284345"/>
              <a:ext cx="4839462" cy="712089"/>
              <a:chOff x="857250" y="4284345"/>
              <a:chExt cx="4839462" cy="712089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857250" y="4324350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74869" y="448246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645158" y="4284345"/>
                <a:ext cx="341995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CharacterController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648206" y="4644390"/>
                <a:ext cx="40485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Move、重力、跳跃、碰撞与选择边界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38200" y="5255895"/>
              <a:ext cx="4613895" cy="712089"/>
              <a:chOff x="838200" y="5255895"/>
              <a:chExt cx="4613895" cy="712089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838200" y="5276850"/>
                <a:ext cx="571500" cy="5715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74869" y="545401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645158" y="5255895"/>
                <a:ext cx="380693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角色 + 摄像机的场景闭环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648206" y="5615940"/>
                <a:ext cx="34794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Player 先移动，Camera 后跟随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8239125" y="1752600"/>
            <a:ext cx="3286125" cy="3429000"/>
            <a:chOff x="8239125" y="1752600"/>
            <a:chExt cx="3286125" cy="3429000"/>
          </a:xfrm>
        </p:grpSpPr>
        <p:sp>
          <p:nvSpPr>
            <p:cNvPr id="32" name="Rectangle 32"/>
            <p:cNvSpPr/>
            <p:nvPr/>
          </p:nvSpPr>
          <p:spPr>
            <a:xfrm>
              <a:off x="8239125" y="1752600"/>
              <a:ext cx="3286125" cy="3429000"/>
            </a:xfrm>
            <a:prstGeom prst="roundRect">
              <a:avLst>
                <a:gd name="adj" fmla="val 7536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9658350" y="2243137"/>
              <a:ext cx="438150" cy="657225"/>
              <a:chOff x="9658350" y="2243137"/>
              <a:chExt cx="438150" cy="6572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877425" y="2243137"/>
                <a:ext cx="7302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73025">
                    <a:moveTo>
                      <a:pt x="0" y="36512"/>
                    </a:moveTo>
                    <a:cubicBezTo>
                      <a:pt x="0" y="56678"/>
                      <a:pt x="16347" y="73025"/>
                      <a:pt x="36512" y="73025"/>
                    </a:cubicBezTo>
                    <a:cubicBezTo>
                      <a:pt x="56678" y="73025"/>
                      <a:pt x="73025" y="56678"/>
                      <a:pt x="73025" y="36512"/>
                    </a:cubicBezTo>
                    <a:cubicBezTo>
                      <a:pt x="73025" y="16347"/>
                      <a:pt x="56678" y="0"/>
                      <a:pt x="36512" y="0"/>
                    </a:cubicBezTo>
                    <a:cubicBezTo>
                      <a:pt x="16347" y="0"/>
                      <a:pt x="0" y="16347"/>
                      <a:pt x="0" y="36512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694862" y="2754312"/>
                <a:ext cx="109537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09537" h="146050">
                    <a:moveTo>
                      <a:pt x="0" y="146050"/>
                    </a:moveTo>
                    <a:lnTo>
                      <a:pt x="109537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840912" y="2425700"/>
                <a:ext cx="182562" cy="474662"/>
              </a:xfrm>
              <a:custGeom>
                <a:avLst/>
                <a:gdLst/>
                <a:ahLst/>
                <a:cxnLst/>
                <a:rect l="l" t="t" r="r" b="b"/>
                <a:pathLst>
                  <a:path w="182562" h="474662">
                    <a:moveTo>
                      <a:pt x="182562" y="474662"/>
                    </a:moveTo>
                    <a:lnTo>
                      <a:pt x="109537" y="328612"/>
                    </a:lnTo>
                    <a:lnTo>
                      <a:pt x="0" y="219075"/>
                    </a:lnTo>
                    <a:lnTo>
                      <a:pt x="36512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658350" y="2425700"/>
                <a:ext cx="438150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146050">
                    <a:moveTo>
                      <a:pt x="0" y="146050"/>
                    </a:moveTo>
                    <a:lnTo>
                      <a:pt x="73025" y="36512"/>
                    </a:lnTo>
                    <a:lnTo>
                      <a:pt x="219075" y="0"/>
                    </a:lnTo>
                    <a:lnTo>
                      <a:pt x="328612" y="109537"/>
                    </a:lnTo>
                    <a:lnTo>
                      <a:pt x="438150" y="1460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8" name="Freeform 38"/>
            <p:cNvSpPr/>
            <p:nvPr/>
          </p:nvSpPr>
          <p:spPr>
            <a:xfrm>
              <a:off x="8829675" y="3133725"/>
              <a:ext cx="2133600" cy="228600"/>
            </a:xfrm>
            <a:custGeom>
              <a:avLst/>
              <a:gdLst/>
              <a:ahLst/>
              <a:cxnLst/>
              <a:rect l="l" t="t" r="r" b="b"/>
              <a:pathLst>
                <a:path w="2133600" h="228600">
                  <a:moveTo>
                    <a:pt x="0" y="123825"/>
                  </a:moveTo>
                  <a:cubicBezTo>
                    <a:pt x="647700" y="0"/>
                    <a:pt x="1514475" y="228600"/>
                    <a:pt x="2133600" y="85725"/>
                  </a:cubicBezTo>
                </a:path>
              </a:pathLst>
            </a:custGeom>
            <a:noFill/>
            <a:ln w="57150" cap="rnd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57208" y="342328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最终目标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14385" y="395859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写出一个可移动、可跳跃、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93227" y="42824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能碰撞、被摄像机跟随的角色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772525" y="4762500"/>
              <a:ext cx="2219325" cy="266700"/>
            </a:xfrm>
            <a:prstGeom prst="roundRect">
              <a:avLst>
                <a:gd name="adj" fmla="val 50000"/>
              </a:avLst>
            </a:prstGeom>
            <a:solidFill>
              <a:srgbClr val="E8F5F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912847" y="4816792"/>
              <a:ext cx="19291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8F6A"/>
                  </a:solidFill>
                  <a:latin typeface="Consolas"/>
                  <a:ea typeface="Consolas"/>
                  <a:cs typeface="Consolas"/>
                </a:rPr>
                <a:t>A RUNNABLE MINIMUM</a:t>
              </a:r>
            </a:p>
          </p:txBody>
        </p:sp>
      </p:grpSp>
      <p:sp>
        <p:nvSpPr>
          <p:cNvPr id="45" name="Line 45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564642" y="6521768"/>
            <a:ext cx="2210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语法基础 · 学习路线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2</a:t>
            </a:fld>
          </a:p>
        </p:txBody>
      </p: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9368694" cy="973074"/>
            <a:chOff x="552450" y="346710"/>
            <a:chExt cx="9368694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936869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MonoBehaviour 让代码进入场景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7112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GameObject 是容器；脚本挂载后，才会成为真正参与运行的组件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90550" y="1466850"/>
            <a:ext cx="6572250" cy="4267200"/>
            <a:chOff x="590550" y="1466850"/>
            <a:chExt cx="6572250" cy="4267200"/>
          </a:xfrm>
        </p:grpSpPr>
        <p:sp>
          <p:nvSpPr>
            <p:cNvPr id="5" name="Rectangle 5"/>
            <p:cNvSpPr/>
            <p:nvPr/>
          </p:nvSpPr>
          <p:spPr>
            <a:xfrm>
              <a:off x="590550" y="1466850"/>
              <a:ext cx="6572250" cy="4267200"/>
            </a:xfrm>
            <a:prstGeom prst="roundRect">
              <a:avLst>
                <a:gd name="adj" fmla="val 5804"/>
              </a:avLst>
            </a:prstGeom>
            <a:solidFill>
              <a:schemeClr val="lt2"/>
            </a:solidFill>
            <a:ln w="28575">
              <a:solidFill>
                <a:schemeClr val="accent1"/>
              </a:solidFill>
              <a:custDash>
                <a:ds d="333333" sp="233333"/>
              </a:custDash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12019" y="1711288"/>
              <a:ext cx="5561978" cy="535088"/>
              <a:chOff x="912019" y="1711288"/>
              <a:chExt cx="5561978" cy="535088"/>
            </a:xfrm>
          </p:grpSpPr>
          <p:grpSp>
            <p:nvGrpSpPr>
              <p:cNvPr id="10" name="Group 10"/>
              <p:cNvGrpSpPr/>
              <p:nvPr/>
            </p:nvGrpSpPr>
            <p:grpSpPr>
              <a:xfrm>
                <a:off x="912019" y="1711288"/>
                <a:ext cx="328613" cy="368357"/>
                <a:chOff x="912019" y="1711288"/>
                <a:chExt cx="328613" cy="368357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912019" y="1711288"/>
                  <a:ext cx="328613" cy="368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3" h="368357">
                      <a:moveTo>
                        <a:pt x="328613" y="257359"/>
                      </a:moveTo>
                      <a:lnTo>
                        <a:pt x="328613" y="110980"/>
                      </a:lnTo>
                      <a:cubicBezTo>
                        <a:pt x="328590" y="98013"/>
                        <a:pt x="321624" y="86052"/>
                        <a:pt x="310357" y="79634"/>
                      </a:cubicBezTo>
                      <a:lnTo>
                        <a:pt x="182563" y="6463"/>
                      </a:lnTo>
                      <a:cubicBezTo>
                        <a:pt x="171250" y="0"/>
                        <a:pt x="157363" y="0"/>
                        <a:pt x="146050" y="6463"/>
                      </a:cubicBezTo>
                      <a:lnTo>
                        <a:pt x="18256" y="79634"/>
                      </a:lnTo>
                      <a:cubicBezTo>
                        <a:pt x="6956" y="86115"/>
                        <a:pt x="0" y="98073"/>
                        <a:pt x="0" y="110998"/>
                      </a:cubicBezTo>
                      <a:lnTo>
                        <a:pt x="0" y="257377"/>
                      </a:lnTo>
                      <a:cubicBezTo>
                        <a:pt x="0" y="270321"/>
                        <a:pt x="6956" y="282260"/>
                        <a:pt x="18256" y="288723"/>
                      </a:cubicBezTo>
                      <a:lnTo>
                        <a:pt x="146050" y="361894"/>
                      </a:lnTo>
                      <a:cubicBezTo>
                        <a:pt x="157363" y="368357"/>
                        <a:pt x="171250" y="368357"/>
                        <a:pt x="182563" y="361894"/>
                      </a:cubicBezTo>
                      <a:lnTo>
                        <a:pt x="310357" y="288723"/>
                      </a:lnTo>
                      <a:cubicBezTo>
                        <a:pt x="321657" y="282242"/>
                        <a:pt x="328613" y="270284"/>
                        <a:pt x="328613" y="257359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076325" y="1895475"/>
                  <a:ext cx="9525" cy="182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82563">
                      <a:moveTo>
                        <a:pt x="0" y="18256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076325" y="1803464"/>
                  <a:ext cx="159377" cy="92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77" h="92012">
                      <a:moveTo>
                        <a:pt x="0" y="92012"/>
                      </a:moveTo>
                      <a:lnTo>
                        <a:pt x="159377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916948" y="1803464"/>
                  <a:ext cx="159377" cy="92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77" h="92012">
                      <a:moveTo>
                        <a:pt x="0" y="0"/>
                      </a:moveTo>
                      <a:lnTo>
                        <a:pt x="159377" y="92012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1" name="TextBox 11"/>
              <p:cNvSpPr txBox="1"/>
              <p:nvPr/>
            </p:nvSpPr>
            <p:spPr>
              <a:xfrm>
                <a:off x="1434084" y="1718310"/>
                <a:ext cx="503991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GameObject：RotatingCube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57250" y="2343150"/>
              <a:ext cx="6038850" cy="781050"/>
              <a:chOff x="857250" y="2343150"/>
              <a:chExt cx="6038850" cy="7810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857250" y="2343150"/>
                <a:ext cx="6038850" cy="781050"/>
              </a:xfrm>
              <a:prstGeom prst="roundRect">
                <a:avLst>
                  <a:gd name="adj" fmla="val 21951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1135856" y="2583656"/>
                <a:ext cx="300038" cy="300038"/>
                <a:chOff x="1135856" y="2583656"/>
                <a:chExt cx="300038" cy="300038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1135856" y="2583656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50006"/>
                      </a:moveTo>
                      <a:cubicBezTo>
                        <a:pt x="0" y="77624"/>
                        <a:pt x="22389" y="100012"/>
                        <a:pt x="50006" y="100012"/>
                      </a:cubicBezTo>
                      <a:cubicBezTo>
                        <a:pt x="77624" y="100012"/>
                        <a:pt x="100012" y="77624"/>
                        <a:pt x="100012" y="50006"/>
                      </a:cubicBezTo>
                      <a:cubicBezTo>
                        <a:pt x="100012" y="22389"/>
                        <a:pt x="77624" y="0"/>
                        <a:pt x="50006" y="0"/>
                      </a:cubicBezTo>
                      <a:cubicBezTo>
                        <a:pt x="22389" y="0"/>
                        <a:pt x="0" y="22389"/>
                        <a:pt x="0" y="50006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302544" y="2583656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133350" y="133350"/>
                      </a:moveTo>
                      <a:lnTo>
                        <a:pt x="133350" y="83344"/>
                      </a:lnTo>
                      <a:cubicBezTo>
                        <a:pt x="133350" y="64932"/>
                        <a:pt x="118424" y="50006"/>
                        <a:pt x="100012" y="50006"/>
                      </a:cubicBezTo>
                      <a:lnTo>
                        <a:pt x="0" y="50006"/>
                      </a:lnTo>
                      <a:lnTo>
                        <a:pt x="50006" y="100012"/>
                      </a:lnTo>
                      <a:moveTo>
                        <a:pt x="50006" y="0"/>
                      </a:moveTo>
                      <a:lnTo>
                        <a:pt x="0" y="50006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135856" y="2750344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0"/>
                      </a:moveTo>
                      <a:lnTo>
                        <a:pt x="0" y="50006"/>
                      </a:lnTo>
                      <a:cubicBezTo>
                        <a:pt x="0" y="68418"/>
                        <a:pt x="14926" y="83344"/>
                        <a:pt x="33338" y="83344"/>
                      </a:cubicBezTo>
                      <a:lnTo>
                        <a:pt x="133350" y="83344"/>
                      </a:lnTo>
                      <a:lnTo>
                        <a:pt x="83344" y="33338"/>
                      </a:lnTo>
                      <a:moveTo>
                        <a:pt x="83344" y="133350"/>
                      </a:moveTo>
                      <a:lnTo>
                        <a:pt x="133350" y="83344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335881" y="2783681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50006"/>
                      </a:moveTo>
                      <a:cubicBezTo>
                        <a:pt x="0" y="77624"/>
                        <a:pt x="22389" y="100012"/>
                        <a:pt x="50006" y="100012"/>
                      </a:cubicBezTo>
                      <a:cubicBezTo>
                        <a:pt x="77624" y="100012"/>
                        <a:pt x="100012" y="77624"/>
                        <a:pt x="100012" y="50006"/>
                      </a:cubicBezTo>
                      <a:cubicBezTo>
                        <a:pt x="100012" y="22389"/>
                        <a:pt x="77624" y="0"/>
                        <a:pt x="50006" y="0"/>
                      </a:cubicBezTo>
                      <a:cubicBezTo>
                        <a:pt x="22389" y="0"/>
                        <a:pt x="0" y="22389"/>
                        <a:pt x="0" y="50006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664970" y="2452688"/>
                <a:ext cx="167106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Transform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668018" y="2793682"/>
                <a:ext cx="445922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每个对象必备：位置、旋转、缩放、父子层级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57250" y="3257550"/>
              <a:ext cx="6038850" cy="781050"/>
              <a:chOff x="857250" y="3257550"/>
              <a:chExt cx="6038850" cy="7810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57250" y="3257550"/>
                <a:ext cx="6038850" cy="781050"/>
              </a:xfrm>
              <a:prstGeom prst="roundRect">
                <a:avLst>
                  <a:gd name="adj" fmla="val 21951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1135856" y="3498056"/>
                <a:ext cx="300037" cy="300037"/>
                <a:chOff x="1135856" y="3498056"/>
                <a:chExt cx="300037" cy="300037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1135856" y="3598069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50006"/>
                      </a:moveTo>
                      <a:lnTo>
                        <a:pt x="50006" y="100012"/>
                      </a:lnTo>
                      <a:lnTo>
                        <a:pt x="100012" y="50006"/>
                      </a:lnTo>
                      <a:lnTo>
                        <a:pt x="50006" y="0"/>
                      </a:lnTo>
                      <a:lnTo>
                        <a:pt x="0" y="50006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335881" y="3598069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50006"/>
                      </a:moveTo>
                      <a:lnTo>
                        <a:pt x="50006" y="100012"/>
                      </a:lnTo>
                      <a:lnTo>
                        <a:pt x="100012" y="50006"/>
                      </a:lnTo>
                      <a:lnTo>
                        <a:pt x="50006" y="0"/>
                      </a:lnTo>
                      <a:lnTo>
                        <a:pt x="0" y="50006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235869" y="3498056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50006"/>
                      </a:moveTo>
                      <a:lnTo>
                        <a:pt x="50006" y="100012"/>
                      </a:lnTo>
                      <a:lnTo>
                        <a:pt x="100012" y="50006"/>
                      </a:lnTo>
                      <a:lnTo>
                        <a:pt x="50006" y="0"/>
                      </a:lnTo>
                      <a:lnTo>
                        <a:pt x="0" y="50006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235869" y="3698081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50006"/>
                      </a:moveTo>
                      <a:lnTo>
                        <a:pt x="50006" y="100012"/>
                      </a:lnTo>
                      <a:lnTo>
                        <a:pt x="100012" y="50006"/>
                      </a:lnTo>
                      <a:lnTo>
                        <a:pt x="50006" y="0"/>
                      </a:lnTo>
                      <a:lnTo>
                        <a:pt x="0" y="50006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664970" y="3367088"/>
                <a:ext cx="374344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MeshRenderer / Collider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668018" y="3708082"/>
                <a:ext cx="29043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显示与碰撞能力来自不同组件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857250" y="4171950"/>
              <a:ext cx="6038850" cy="1200150"/>
              <a:chOff x="857250" y="4171950"/>
              <a:chExt cx="6038850" cy="12001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57250" y="4171950"/>
                <a:ext cx="6038850" cy="1200150"/>
              </a:xfrm>
              <a:prstGeom prst="roundRect">
                <a:avLst>
                  <a:gd name="adj" fmla="val 14286"/>
                </a:avLst>
              </a:prstGeom>
              <a:solidFill>
                <a:srgbClr val="FFF0D1"/>
              </a:solidFill>
              <a:ln w="38100">
                <a:solidFill>
                  <a:schemeClr val="accent2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1140619" y="4473575"/>
                <a:ext cx="328613" cy="292101"/>
                <a:chOff x="1140619" y="4473575"/>
                <a:chExt cx="328613" cy="292101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1140619" y="4546600"/>
                  <a:ext cx="73025" cy="14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25" h="146050">
                      <a:moveTo>
                        <a:pt x="73025" y="0"/>
                      </a:moveTo>
                      <a:lnTo>
                        <a:pt x="0" y="73025"/>
                      </a:lnTo>
                      <a:lnTo>
                        <a:pt x="73025" y="146050"/>
                      </a:lnTo>
                    </a:path>
                  </a:pathLst>
                </a:custGeom>
                <a:noFill/>
                <a:ln w="19050">
                  <a:solidFill>
                    <a:srgbClr val="8C5A00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396207" y="4546600"/>
                  <a:ext cx="73025" cy="14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25" h="146050">
                      <a:moveTo>
                        <a:pt x="0" y="0"/>
                      </a:moveTo>
                      <a:lnTo>
                        <a:pt x="73025" y="73025"/>
                      </a:lnTo>
                      <a:lnTo>
                        <a:pt x="0" y="146050"/>
                      </a:lnTo>
                    </a:path>
                  </a:pathLst>
                </a:custGeom>
                <a:noFill/>
                <a:ln w="19050">
                  <a:solidFill>
                    <a:srgbClr val="8C5A00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268413" y="4473575"/>
                  <a:ext cx="73025" cy="292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25" h="292101">
                      <a:moveTo>
                        <a:pt x="73025" y="0"/>
                      </a:moveTo>
                      <a:lnTo>
                        <a:pt x="0" y="292101"/>
                      </a:lnTo>
                    </a:path>
                  </a:pathLst>
                </a:custGeom>
                <a:noFill/>
                <a:ln w="19050">
                  <a:solidFill>
                    <a:srgbClr val="8C5A00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703070" y="4338638"/>
                <a:ext cx="178308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Rotator.cs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706118" y="4708208"/>
                <a:ext cx="42378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public class Rotator : MonoBehaviour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706118" y="5003482"/>
                <a:ext cx="334860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文件名必须与可挂载类名完全一致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7524750" y="1466850"/>
            <a:ext cx="4095750" cy="2781300"/>
            <a:chOff x="7524750" y="1466850"/>
            <a:chExt cx="4095750" cy="2781300"/>
          </a:xfrm>
        </p:grpSpPr>
        <p:sp>
          <p:nvSpPr>
            <p:cNvPr id="41" name="Rectangle 41"/>
            <p:cNvSpPr/>
            <p:nvPr/>
          </p:nvSpPr>
          <p:spPr>
            <a:xfrm>
              <a:off x="7524750" y="1466850"/>
              <a:ext cx="4095750" cy="2781300"/>
            </a:xfrm>
            <a:prstGeom prst="roundRect">
              <a:avLst>
                <a:gd name="adj" fmla="val 8219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764018" y="1688782"/>
              <a:ext cx="22111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THREE ENTRY POINTS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80782" y="217360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transform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59468" y="2222182"/>
              <a:ext cx="16819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8D2C5"/>
                  </a:solidFill>
                  <a:latin typeface="+mn-lt"/>
                  <a:ea typeface="+mn-ea"/>
                  <a:cs typeface="+mn-cs"/>
                </a:rPr>
                <a:t>当前 Transform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80782" y="2745105"/>
              <a:ext cx="17079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gameObject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59468" y="2793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8D2C5"/>
                  </a:solidFill>
                  <a:latin typeface="+mn-lt"/>
                  <a:ea typeface="+mn-ea"/>
                  <a:cs typeface="+mn-cs"/>
                </a:rPr>
                <a:t>当前对象实例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81925" y="3340894"/>
              <a:ext cx="258317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GetComponent&lt;T&gt;()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83068" y="37461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8D2C5"/>
                  </a:solidFill>
                  <a:latin typeface="+mn-lt"/>
                  <a:ea typeface="+mn-ea"/>
                  <a:cs typeface="+mn-cs"/>
                </a:rPr>
                <a:t>获取当前对象上的某种组件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524750" y="4476750"/>
            <a:ext cx="4095750" cy="1257300"/>
            <a:chOff x="7524750" y="4476750"/>
            <a:chExt cx="4095750" cy="1257300"/>
          </a:xfrm>
        </p:grpSpPr>
        <p:sp>
          <p:nvSpPr>
            <p:cNvPr id="50" name="Rectangle 50"/>
            <p:cNvSpPr/>
            <p:nvPr/>
          </p:nvSpPr>
          <p:spPr>
            <a:xfrm>
              <a:off x="7524750" y="4476750"/>
              <a:ext cx="4095750" cy="1257300"/>
            </a:xfrm>
            <a:prstGeom prst="roundRect">
              <a:avLst>
                <a:gd name="adj" fmla="val 16667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41920" y="4614862"/>
              <a:ext cx="23751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8F6A"/>
                  </a:solidFill>
                  <a:latin typeface="+mj-lt"/>
                  <a:ea typeface="+mj-ea"/>
                  <a:cs typeface="+mj-cs"/>
                </a:rPr>
                <a:t>大小写不是装饰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44587" y="5033486"/>
              <a:ext cx="2817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GameObject / Transform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44587" y="5338286"/>
              <a:ext cx="280081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gameObject / transform</a:t>
              </a:r>
            </a:p>
          </p:txBody>
        </p:sp>
      </p:grpSp>
      <p:sp>
        <p:nvSpPr>
          <p:cNvPr id="55" name="Line 55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564642" y="6521768"/>
            <a:ext cx="27746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语法基础 · MonoBehaviour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3</a:t>
            </a:fld>
          </a:p>
        </p:txBody>
      </p: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9915943" cy="973074"/>
            <a:chOff x="552450" y="346710"/>
            <a:chExt cx="9915943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991594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生命周期函数由 Unity 按时机调用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它们不是任意调用的方法，而是引擎约定好的事件入口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3400" y="1600200"/>
            <a:ext cx="11182350" cy="1219200"/>
            <a:chOff x="533400" y="1600200"/>
            <a:chExt cx="11182350" cy="1219200"/>
          </a:xfrm>
        </p:grpSpPr>
        <p:grpSp>
          <p:nvGrpSpPr>
            <p:cNvPr id="9" name="Group 9"/>
            <p:cNvGrpSpPr/>
            <p:nvPr/>
          </p:nvGrpSpPr>
          <p:grpSpPr>
            <a:xfrm>
              <a:off x="533400" y="1600200"/>
              <a:ext cx="1828800" cy="1219200"/>
              <a:chOff x="533400" y="1600200"/>
              <a:chExt cx="1828800" cy="12192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533400" y="1600200"/>
                <a:ext cx="18288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1219200">
                    <a:moveTo>
                      <a:pt x="0" y="0"/>
                    </a:moveTo>
                    <a:lnTo>
                      <a:pt x="1562100" y="0"/>
                    </a:lnTo>
                    <a:lnTo>
                      <a:pt x="1828800" y="609600"/>
                    </a:lnTo>
                    <a:lnTo>
                      <a:pt x="1562100" y="1219200"/>
                    </a:lnTo>
                    <a:lnTo>
                      <a:pt x="0" y="1219200"/>
                    </a:lnTo>
                    <a:lnTo>
                      <a:pt x="266700" y="609600"/>
                    </a:lnTo>
                    <a:close/>
                  </a:path>
                </a:pathLst>
              </a:cu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345406" y="1838325"/>
                <a:ext cx="216694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66700">
                    <a:moveTo>
                      <a:pt x="0" y="0"/>
                    </a:moveTo>
                    <a:lnTo>
                      <a:pt x="0" y="266700"/>
                    </a:lnTo>
                    <a:lnTo>
                      <a:pt x="216694" y="1333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26731" y="2227898"/>
                <a:ext cx="84213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9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Awake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77468" y="25403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实例加载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324100" y="1600200"/>
              <a:ext cx="1828800" cy="1219200"/>
              <a:chOff x="2324100" y="1600200"/>
              <a:chExt cx="1828800" cy="12192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2324100" y="1600200"/>
                <a:ext cx="18288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1219200">
                    <a:moveTo>
                      <a:pt x="0" y="0"/>
                    </a:moveTo>
                    <a:lnTo>
                      <a:pt x="1562100" y="0"/>
                    </a:lnTo>
                    <a:lnTo>
                      <a:pt x="1828800" y="609600"/>
                    </a:lnTo>
                    <a:lnTo>
                      <a:pt x="1562100" y="1219200"/>
                    </a:lnTo>
                    <a:lnTo>
                      <a:pt x="0" y="1219200"/>
                    </a:lnTo>
                    <a:lnTo>
                      <a:pt x="266700" y="609600"/>
                    </a:lnTo>
                    <a:close/>
                  </a:path>
                </a:pathLst>
              </a:cu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644371" y="1988344"/>
                <a:ext cx="1188259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80" b="1" dirty="0">
                    <a:solidFill>
                      <a:srgbClr val="2F8F6A"/>
                    </a:solidFill>
                    <a:latin typeface="Consolas"/>
                    <a:ea typeface="Consolas"/>
                    <a:cs typeface="Consolas"/>
                  </a:rPr>
                  <a:t>OnEnable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868168" y="23307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每次启用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114800" y="1600200"/>
              <a:ext cx="1828800" cy="1219200"/>
              <a:chOff x="4114800" y="1600200"/>
              <a:chExt cx="1828800" cy="1219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114800" y="1600200"/>
                <a:ext cx="18288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1219200">
                    <a:moveTo>
                      <a:pt x="0" y="0"/>
                    </a:moveTo>
                    <a:lnTo>
                      <a:pt x="1562100" y="0"/>
                    </a:lnTo>
                    <a:lnTo>
                      <a:pt x="1828800" y="609600"/>
                    </a:lnTo>
                    <a:lnTo>
                      <a:pt x="1562100" y="1219200"/>
                    </a:lnTo>
                    <a:lnTo>
                      <a:pt x="0" y="1219200"/>
                    </a:lnTo>
                    <a:lnTo>
                      <a:pt x="266700" y="609600"/>
                    </a:lnTo>
                    <a:close/>
                  </a:path>
                </a:pathLst>
              </a:cu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620883" y="1972151"/>
                <a:ext cx="816633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020" b="1" dirty="0">
                    <a:solidFill>
                      <a:srgbClr val="8C5A00"/>
                    </a:solidFill>
                    <a:latin typeface="Consolas"/>
                    <a:ea typeface="Consolas"/>
                    <a:cs typeface="Consolas"/>
                  </a:rPr>
                  <a:t>Start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568000" y="23307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首次启用前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5905500" y="1600200"/>
              <a:ext cx="2228850" cy="1219200"/>
              <a:chOff x="5905500" y="1600200"/>
              <a:chExt cx="2228850" cy="1219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905500" y="1600200"/>
                <a:ext cx="222885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2228850" h="1219200">
                    <a:moveTo>
                      <a:pt x="0" y="0"/>
                    </a:moveTo>
                    <a:lnTo>
                      <a:pt x="1962150" y="0"/>
                    </a:lnTo>
                    <a:lnTo>
                      <a:pt x="2228850" y="609600"/>
                    </a:lnTo>
                    <a:lnTo>
                      <a:pt x="1962150" y="1219200"/>
                    </a:lnTo>
                    <a:lnTo>
                      <a:pt x="0" y="1219200"/>
                    </a:lnTo>
                    <a:lnTo>
                      <a:pt x="266700" y="60960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6200775" y="2040731"/>
                <a:ext cx="266700" cy="300038"/>
                <a:chOff x="6200775" y="2040731"/>
                <a:chExt cx="266700" cy="300038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6200775" y="2040731"/>
                  <a:ext cx="266700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150019">
                      <a:moveTo>
                        <a:pt x="0" y="150019"/>
                      </a:moveTo>
                      <a:lnTo>
                        <a:pt x="0" y="100012"/>
                      </a:lnTo>
                      <a:cubicBezTo>
                        <a:pt x="0" y="72395"/>
                        <a:pt x="22389" y="50006"/>
                        <a:pt x="50006" y="50006"/>
                      </a:cubicBezTo>
                      <a:lnTo>
                        <a:pt x="266700" y="50006"/>
                      </a:lnTo>
                      <a:moveTo>
                        <a:pt x="216694" y="0"/>
                      </a:moveTo>
                      <a:lnTo>
                        <a:pt x="266700" y="50006"/>
                      </a:lnTo>
                      <a:lnTo>
                        <a:pt x="216694" y="10001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6200775" y="2190750"/>
                  <a:ext cx="266700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150019">
                      <a:moveTo>
                        <a:pt x="266700" y="0"/>
                      </a:moveTo>
                      <a:lnTo>
                        <a:pt x="266700" y="50006"/>
                      </a:lnTo>
                      <a:cubicBezTo>
                        <a:pt x="266700" y="77624"/>
                        <a:pt x="244311" y="100012"/>
                        <a:pt x="216694" y="100012"/>
                      </a:cubicBezTo>
                      <a:lnTo>
                        <a:pt x="0" y="100012"/>
                      </a:lnTo>
                      <a:moveTo>
                        <a:pt x="50006" y="150019"/>
                      </a:moveTo>
                      <a:lnTo>
                        <a:pt x="0" y="100012"/>
                      </a:lnTo>
                      <a:lnTo>
                        <a:pt x="50006" y="50006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6269431" y="1947386"/>
                <a:ext cx="172958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Update / Fixed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342536" y="2223611"/>
                <a:ext cx="158337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/ LateUpdate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673024" y="25212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运行中反复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0" y="1600200"/>
              <a:ext cx="1828800" cy="1219200"/>
              <a:chOff x="8096250" y="1600200"/>
              <a:chExt cx="1828800" cy="12192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096250" y="1600200"/>
                <a:ext cx="18288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1219200">
                    <a:moveTo>
                      <a:pt x="0" y="0"/>
                    </a:moveTo>
                    <a:lnTo>
                      <a:pt x="1562100" y="0"/>
                    </a:lnTo>
                    <a:lnTo>
                      <a:pt x="1828800" y="609600"/>
                    </a:lnTo>
                    <a:lnTo>
                      <a:pt x="1562100" y="1219200"/>
                    </a:lnTo>
                    <a:lnTo>
                      <a:pt x="0" y="1219200"/>
                    </a:lnTo>
                    <a:lnTo>
                      <a:pt x="266700" y="609600"/>
                    </a:lnTo>
                    <a:close/>
                  </a:path>
                </a:pathLst>
              </a:custGeom>
              <a:solidFill>
                <a:schemeClr val="lt2"/>
              </a:solidFill>
              <a:ln w="28575">
                <a:solidFill>
                  <a:schemeClr val="dk2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402511" y="1996440"/>
                <a:ext cx="121627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OnDisable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31186" y="23307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禁用时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886950" y="1600200"/>
              <a:ext cx="1828800" cy="1219200"/>
              <a:chOff x="9886950" y="1600200"/>
              <a:chExt cx="1828800" cy="12192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9886950" y="1600200"/>
                <a:ext cx="18288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1219200">
                    <a:moveTo>
                      <a:pt x="0" y="0"/>
                    </a:moveTo>
                    <a:lnTo>
                      <a:pt x="1562100" y="0"/>
                    </a:lnTo>
                    <a:lnTo>
                      <a:pt x="1828800" y="609600"/>
                    </a:lnTo>
                    <a:lnTo>
                      <a:pt x="1562100" y="1219200"/>
                    </a:lnTo>
                    <a:lnTo>
                      <a:pt x="0" y="1219200"/>
                    </a:lnTo>
                    <a:lnTo>
                      <a:pt x="266700" y="6096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D85C45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28803" y="1996440"/>
                <a:ext cx="134509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D85C45"/>
                    </a:solidFill>
                    <a:latin typeface="Consolas"/>
                    <a:ea typeface="Consolas"/>
                    <a:cs typeface="Consolas"/>
                  </a:rPr>
                  <a:t>OnDestroy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431018" y="23307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实例销毁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2362200" y="3314700"/>
            <a:ext cx="7467600" cy="1733550"/>
            <a:chOff x="2362200" y="3314700"/>
            <a:chExt cx="7467600" cy="1733550"/>
          </a:xfrm>
        </p:grpSpPr>
        <p:sp>
          <p:nvSpPr>
            <p:cNvPr id="35" name="Rectangle 35"/>
            <p:cNvSpPr/>
            <p:nvPr/>
          </p:nvSpPr>
          <p:spPr>
            <a:xfrm>
              <a:off x="2362200" y="3314700"/>
              <a:ext cx="7467600" cy="17335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2771775" y="3819525"/>
              <a:ext cx="514350" cy="514350"/>
              <a:chOff x="2771775" y="3819525"/>
              <a:chExt cx="514350" cy="5143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2771775" y="3819525"/>
                <a:ext cx="514350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14350">
                    <a:moveTo>
                      <a:pt x="0" y="257175"/>
                    </a:moveTo>
                    <a:cubicBezTo>
                      <a:pt x="0" y="399209"/>
                      <a:pt x="115141" y="514350"/>
                      <a:pt x="257175" y="514350"/>
                    </a:cubicBezTo>
                    <a:cubicBezTo>
                      <a:pt x="399209" y="514350"/>
                      <a:pt x="514350" y="399209"/>
                      <a:pt x="514350" y="257175"/>
                    </a:cubicBezTo>
                    <a:cubicBezTo>
                      <a:pt x="514350" y="115141"/>
                      <a:pt x="399209" y="0"/>
                      <a:pt x="257175" y="0"/>
                    </a:cubicBezTo>
                    <a:cubicBezTo>
                      <a:pt x="115141" y="0"/>
                      <a:pt x="0" y="115141"/>
                      <a:pt x="0" y="2571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3028950" y="3933825"/>
                <a:ext cx="857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228600">
                    <a:moveTo>
                      <a:pt x="0" y="0"/>
                    </a:moveTo>
                    <a:lnTo>
                      <a:pt x="0" y="142875"/>
                    </a:lnTo>
                    <a:lnTo>
                      <a:pt x="85725" y="2286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3606546" y="3496628"/>
              <a:ext cx="61194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运行期不是一个函数，而是三种节奏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610356" y="3996690"/>
              <a:ext cx="26110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Update 输入与普通逻辑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10356" y="4339590"/>
              <a:ext cx="32252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FixedUpdate 固定物理时间步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10356" y="4682490"/>
              <a:ext cx="34001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LateUpdate 其他更新之后收尾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69450" y="3105150"/>
            <a:ext cx="10340197" cy="2811589"/>
            <a:chOff x="1169450" y="3105150"/>
            <a:chExt cx="10340197" cy="2811589"/>
          </a:xfrm>
        </p:grpSpPr>
        <p:sp>
          <p:nvSpPr>
            <p:cNvPr id="44" name="Freeform 44"/>
            <p:cNvSpPr/>
            <p:nvPr/>
          </p:nvSpPr>
          <p:spPr>
            <a:xfrm>
              <a:off x="9620250" y="3238500"/>
              <a:ext cx="1409700" cy="2400300"/>
            </a:xfrm>
            <a:custGeom>
              <a:avLst/>
              <a:gdLst/>
              <a:ahLst/>
              <a:cxnLst/>
              <a:rect l="l" t="t" r="r" b="b"/>
              <a:pathLst>
                <a:path w="1409700" h="2400300">
                  <a:moveTo>
                    <a:pt x="0" y="2057400"/>
                  </a:moveTo>
                  <a:cubicBezTo>
                    <a:pt x="1219200" y="2400300"/>
                    <a:pt x="1409700" y="419100"/>
                    <a:pt x="323850" y="0"/>
                  </a:cubicBezTo>
                </a:path>
              </a:pathLst>
            </a:custGeom>
            <a:noFill/>
            <a:ln w="47625" cap="rnd">
              <a:solidFill>
                <a:schemeClr val="accent3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782175" y="3105150"/>
              <a:ext cx="228600" cy="247650"/>
            </a:xfrm>
            <a:custGeom>
              <a:avLst/>
              <a:gdLst/>
              <a:ahLst/>
              <a:cxnLst/>
              <a:rect l="l" t="t" r="r" b="b"/>
              <a:pathLst>
                <a:path w="228600" h="247650">
                  <a:moveTo>
                    <a:pt x="190500" y="0"/>
                  </a:moveTo>
                  <a:lnTo>
                    <a:pt x="0" y="133350"/>
                  </a:lnTo>
                  <a:lnTo>
                    <a:pt x="228600" y="247650"/>
                  </a:lnTo>
                </a:path>
              </a:pathLst>
            </a:custGeom>
            <a:noFill/>
            <a:ln w="47625" cap="rnd">
              <a:solidFill>
                <a:schemeClr val="accent3"/>
              </a:solidFill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64254" y="5594032"/>
              <a:ext cx="3245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重新启用：OnEnable 再来一次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69450" y="5355908"/>
              <a:ext cx="35666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同一实例：Start 通常只执行一次</a:t>
              </a:r>
            </a:p>
          </p:txBody>
        </p:sp>
      </p:grpSp>
      <p:sp>
        <p:nvSpPr>
          <p:cNvPr id="49" name="Line 49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564642" y="6521768"/>
            <a:ext cx="2210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语法基础 · 生命周期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4</a:t>
            </a:fld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0701833" cy="973074"/>
            <a:chOff x="552450" y="346710"/>
            <a:chExt cx="10701833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070183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先问：这件事何时发生、会发生几次？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选择生命周期函数，本质上是在选择责任与次数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57225" y="1509712"/>
            <a:ext cx="6690839" cy="4426077"/>
            <a:chOff x="657225" y="1509712"/>
            <a:chExt cx="6690839" cy="4426077"/>
          </a:xfrm>
        </p:grpSpPr>
        <p:sp>
          <p:nvSpPr>
            <p:cNvPr id="5" name="Freeform 5"/>
            <p:cNvSpPr/>
            <p:nvPr/>
          </p:nvSpPr>
          <p:spPr>
            <a:xfrm>
              <a:off x="857250" y="1809750"/>
              <a:ext cx="114300" cy="3771900"/>
            </a:xfrm>
            <a:custGeom>
              <a:avLst/>
              <a:gdLst/>
              <a:ahLst/>
              <a:cxnLst/>
              <a:rect l="l" t="t" r="r" b="b"/>
              <a:pathLst>
                <a:path w="114300" h="3771900">
                  <a:moveTo>
                    <a:pt x="57150" y="0"/>
                  </a:moveTo>
                  <a:cubicBezTo>
                    <a:pt x="0" y="1104900"/>
                    <a:pt x="114300" y="2667000"/>
                    <a:pt x="57150" y="3771900"/>
                  </a:cubicBezTo>
                </a:path>
              </a:pathLst>
            </a:custGeom>
            <a:noFill/>
            <a:ln w="38100" cap="rnd">
              <a:solidFill>
                <a:schemeClr val="accent4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657225" y="1509712"/>
              <a:ext cx="4636701" cy="692277"/>
              <a:chOff x="657225" y="1509712"/>
              <a:chExt cx="4636701" cy="692277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657225" y="1552575"/>
                <a:ext cx="514350" cy="514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835287" y="17011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379220" y="1509712"/>
                <a:ext cx="39147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获取自身必要组件 → Awake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382268" y="1879282"/>
                <a:ext cx="379285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只依赖当前对象，加载时即可建立引用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57225" y="2443162"/>
              <a:ext cx="6690839" cy="692277"/>
              <a:chOff x="657225" y="2443162"/>
              <a:chExt cx="6690839" cy="692277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657225" y="2486025"/>
                <a:ext cx="514350" cy="5143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35287" y="26346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79220" y="2443162"/>
                <a:ext cx="5968844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订阅 / 取消订阅 → OnEnable / OnDisable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382268" y="2812732"/>
                <a:ext cx="468134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组件每次开始工作时订阅，停止工作时成对解除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57225" y="3376612"/>
              <a:ext cx="6180574" cy="692277"/>
              <a:chOff x="657225" y="3376612"/>
              <a:chExt cx="6180574" cy="692277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57225" y="3419475"/>
                <a:ext cx="514350" cy="514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35287" y="35680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379220" y="3376612"/>
                <a:ext cx="545857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依赖其他对象初始化后的启动 → Start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382268" y="3746182"/>
                <a:ext cx="334860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第一次帧更新前建立初始游戏状态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57225" y="4310062"/>
              <a:ext cx="4609038" cy="692277"/>
              <a:chOff x="657225" y="4310062"/>
              <a:chExt cx="4609038" cy="692277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657225" y="4352925"/>
                <a:ext cx="514350" cy="514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35287" y="450151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379220" y="4310062"/>
                <a:ext cx="3887043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持续逻辑 → 对应的更新循环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382268" y="4679632"/>
                <a:ext cx="379285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输入、物理和跟随不要挤进同一个函数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57225" y="5243512"/>
              <a:ext cx="4705950" cy="692277"/>
              <a:chOff x="657225" y="5243512"/>
              <a:chExt cx="4705950" cy="692277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657225" y="5286375"/>
                <a:ext cx="514350" cy="51435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35287" y="54349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379220" y="5243512"/>
                <a:ext cx="398395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实例寿命结束 → OnDestroy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382268" y="5613082"/>
                <a:ext cx="26822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释放与该实例同寿命的资源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7980207" y="1619250"/>
            <a:ext cx="3622985" cy="3935539"/>
            <a:chOff x="7980207" y="1619250"/>
            <a:chExt cx="3622985" cy="3935539"/>
          </a:xfrm>
        </p:grpSpPr>
        <p:sp>
          <p:nvSpPr>
            <p:cNvPr id="32" name="Rectangle 32"/>
            <p:cNvSpPr/>
            <p:nvPr/>
          </p:nvSpPr>
          <p:spPr>
            <a:xfrm>
              <a:off x="8001000" y="1619250"/>
              <a:ext cx="3581400" cy="3886200"/>
            </a:xfrm>
            <a:prstGeom prst="roundRect">
              <a:avLst>
                <a:gd name="adj" fmla="val 6915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391447" y="2048978"/>
              <a:ext cx="800476" cy="687714"/>
              <a:chOff x="9391447" y="2048978"/>
              <a:chExt cx="800476" cy="68771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791700" y="2300288"/>
                <a:ext cx="95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8750">
                    <a:moveTo>
                      <a:pt x="0" y="0"/>
                    </a:moveTo>
                    <a:lnTo>
                      <a:pt x="0" y="158750"/>
                    </a:lnTo>
                  </a:path>
                </a:pathLst>
              </a:custGeom>
              <a:noFill/>
              <a:ln w="19050">
                <a:solidFill>
                  <a:srgbClr val="D85C45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391447" y="2048978"/>
                <a:ext cx="800476" cy="687714"/>
              </a:xfrm>
              <a:custGeom>
                <a:avLst/>
                <a:gdLst/>
                <a:ahLst/>
                <a:cxnLst/>
                <a:rect l="l" t="t" r="r" b="b"/>
                <a:pathLst>
                  <a:path w="800476" h="687714">
                    <a:moveTo>
                      <a:pt x="335285" y="36640"/>
                    </a:moveTo>
                    <a:lnTo>
                      <a:pt x="13578" y="573771"/>
                    </a:lnTo>
                    <a:cubicBezTo>
                      <a:pt x="82" y="597142"/>
                      <a:pt x="0" y="625918"/>
                      <a:pt x="13361" y="649366"/>
                    </a:cubicBezTo>
                    <a:cubicBezTo>
                      <a:pt x="26722" y="672813"/>
                      <a:pt x="51521" y="687411"/>
                      <a:pt x="78506" y="687714"/>
                    </a:cubicBezTo>
                    <a:lnTo>
                      <a:pt x="722000" y="687714"/>
                    </a:lnTo>
                    <a:cubicBezTo>
                      <a:pt x="748973" y="687403"/>
                      <a:pt x="773758" y="672811"/>
                      <a:pt x="787117" y="649376"/>
                    </a:cubicBezTo>
                    <a:cubicBezTo>
                      <a:pt x="800476" y="625941"/>
                      <a:pt x="800404" y="597179"/>
                      <a:pt x="786929" y="573811"/>
                    </a:cubicBezTo>
                    <a:lnTo>
                      <a:pt x="465222" y="36601"/>
                    </a:lnTo>
                    <a:cubicBezTo>
                      <a:pt x="451456" y="13879"/>
                      <a:pt x="426820" y="0"/>
                      <a:pt x="400253" y="0"/>
                    </a:cubicBezTo>
                    <a:cubicBezTo>
                      <a:pt x="373687" y="0"/>
                      <a:pt x="349051" y="13879"/>
                      <a:pt x="335285" y="36601"/>
                    </a:cubicBezTo>
                  </a:path>
                </a:pathLst>
              </a:custGeom>
              <a:noFill/>
              <a:ln w="19050">
                <a:solidFill>
                  <a:srgbClr val="D85C45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791700" y="25781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397" y="0"/>
                    </a:lnTo>
                  </a:path>
                </a:pathLst>
              </a:custGeom>
              <a:noFill/>
              <a:ln w="19050">
                <a:solidFill>
                  <a:srgbClr val="D85C45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980207" y="2947035"/>
              <a:ext cx="362298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D85C45"/>
                  </a:solidFill>
                  <a:latin typeface="+mj-lt"/>
                  <a:ea typeface="+mj-ea"/>
                  <a:cs typeface="+mj-cs"/>
                </a:rPr>
                <a:t>不要赌 Awake 顺序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50936" y="3520440"/>
              <a:ext cx="30815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不同 GameObject 的 Awake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07502" y="38442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谁先执行，不应成为逻辑前提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8553450" y="4219575"/>
              <a:ext cx="2476500" cy="257175"/>
            </a:xfrm>
            <a:custGeom>
              <a:avLst/>
              <a:gdLst/>
              <a:ahLst/>
              <a:cxnLst/>
              <a:rect l="l" t="t" r="r" b="b"/>
              <a:pathLst>
                <a:path w="2476500" h="257175">
                  <a:moveTo>
                    <a:pt x="0" y="123825"/>
                  </a:moveTo>
                  <a:cubicBezTo>
                    <a:pt x="742950" y="0"/>
                    <a:pt x="1733550" y="257175"/>
                    <a:pt x="2476500" y="104775"/>
                  </a:cubicBezTo>
                </a:path>
              </a:pathLst>
            </a:custGeom>
            <a:noFill/>
            <a:ln w="57150" cap="rnd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37613" y="45681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跨对象依赖怎么办？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50580" y="49463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使用明确的启动流程、事件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94826" y="5232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或由上层统一编排</a:t>
              </a:r>
            </a:p>
          </p:txBody>
        </p:sp>
      </p:grpSp>
      <p:sp>
        <p:nvSpPr>
          <p:cNvPr id="45" name="Line 45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564642" y="6521768"/>
            <a:ext cx="29452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语法基础 · 生命周期函数选择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5</a:t>
            </a:fld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4972802" cy="973074"/>
            <a:chOff x="552450" y="346710"/>
            <a:chExt cx="14972802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497280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Update、FixedUpdate、LateUpdate 各管一段节奏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输入与普通逻辑、物理时间步、跟随收尾应分开放置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524000"/>
            <a:ext cx="3619109" cy="3752850"/>
            <a:chOff x="571500" y="1524000"/>
            <a:chExt cx="3619109" cy="3752850"/>
          </a:xfrm>
        </p:grpSpPr>
        <p:sp>
          <p:nvSpPr>
            <p:cNvPr id="5" name="Rectangle 5"/>
            <p:cNvSpPr/>
            <p:nvPr/>
          </p:nvSpPr>
          <p:spPr>
            <a:xfrm>
              <a:off x="571500" y="1524000"/>
              <a:ext cx="3429000" cy="3752850"/>
            </a:xfrm>
            <a:prstGeom prst="roundRect">
              <a:avLst>
                <a:gd name="adj" fmla="val 7222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790700" y="1733550"/>
              <a:ext cx="990600" cy="990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2057400" y="2000250"/>
              <a:ext cx="457201" cy="457201"/>
              <a:chOff x="2057400" y="2000250"/>
              <a:chExt cx="457201" cy="45720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057400" y="2000250"/>
                <a:ext cx="457201" cy="457201"/>
              </a:xfrm>
              <a:custGeom>
                <a:avLst/>
                <a:gdLst/>
                <a:ahLst/>
                <a:cxnLst/>
                <a:rect l="l" t="t" r="r" b="b"/>
                <a:pathLst>
                  <a:path w="457201" h="457201">
                    <a:moveTo>
                      <a:pt x="0" y="228600"/>
                    </a:moveTo>
                    <a:cubicBezTo>
                      <a:pt x="0" y="354853"/>
                      <a:pt x="102348" y="457201"/>
                      <a:pt x="228600" y="457201"/>
                    </a:cubicBezTo>
                    <a:cubicBezTo>
                      <a:pt x="354853" y="457201"/>
                      <a:pt x="457201" y="354853"/>
                      <a:pt x="457201" y="228600"/>
                    </a:cubicBezTo>
                    <a:cubicBezTo>
                      <a:pt x="457201" y="102348"/>
                      <a:pt x="354853" y="0"/>
                      <a:pt x="228600" y="0"/>
                    </a:cubicBezTo>
                    <a:cubicBezTo>
                      <a:pt x="102348" y="0"/>
                      <a:pt x="0" y="102348"/>
                      <a:pt x="0" y="2286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286000" y="2101850"/>
                <a:ext cx="762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200">
                    <a:moveTo>
                      <a:pt x="0" y="0"/>
                    </a:moveTo>
                    <a:lnTo>
                      <a:pt x="0" y="127000"/>
                    </a:lnTo>
                    <a:lnTo>
                      <a:pt x="76200" y="203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672701" y="2744152"/>
              <a:ext cx="12265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Update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8294" y="329469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056" y="3653790"/>
              <a:ext cx="16664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读取玩家输入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056" y="3977640"/>
              <a:ext cx="16664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普通游戏逻辑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056" y="4301490"/>
              <a:ext cx="33615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CharacterController.Move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0100" y="4743450"/>
              <a:ext cx="2971800" cy="361950"/>
            </a:xfrm>
            <a:prstGeom prst="roundRect">
              <a:avLst>
                <a:gd name="adj" fmla="val 368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17841" y="4821079"/>
              <a:ext cx="25363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speed × Time.deltaTime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81500" y="1524000"/>
            <a:ext cx="3429000" cy="3752850"/>
            <a:chOff x="4381500" y="1524000"/>
            <a:chExt cx="3429000" cy="3752850"/>
          </a:xfrm>
        </p:grpSpPr>
        <p:sp>
          <p:nvSpPr>
            <p:cNvPr id="18" name="Rectangle 18"/>
            <p:cNvSpPr/>
            <p:nvPr/>
          </p:nvSpPr>
          <p:spPr>
            <a:xfrm>
              <a:off x="4381500" y="1524000"/>
              <a:ext cx="3429000" cy="3752850"/>
            </a:xfrm>
            <a:prstGeom prst="roundRect">
              <a:avLst>
                <a:gd name="adj" fmla="val 7222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600700" y="1733550"/>
              <a:ext cx="990600" cy="99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892800" y="2000250"/>
              <a:ext cx="406401" cy="457200"/>
              <a:chOff x="5892800" y="2000250"/>
              <a:chExt cx="406401" cy="4572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892800" y="2000250"/>
                <a:ext cx="406401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406401" h="228600">
                    <a:moveTo>
                      <a:pt x="0" y="228600"/>
                    </a:moveTo>
                    <a:lnTo>
                      <a:pt x="0" y="152400"/>
                    </a:lnTo>
                    <a:cubicBezTo>
                      <a:pt x="0" y="110316"/>
                      <a:pt x="34116" y="76200"/>
                      <a:pt x="76200" y="76200"/>
                    </a:cubicBezTo>
                    <a:lnTo>
                      <a:pt x="406401" y="76200"/>
                    </a:lnTo>
                    <a:moveTo>
                      <a:pt x="330200" y="0"/>
                    </a:moveTo>
                    <a:lnTo>
                      <a:pt x="406401" y="76200"/>
                    </a:lnTo>
                    <a:lnTo>
                      <a:pt x="330200" y="1524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892800" y="2228850"/>
                <a:ext cx="406401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406401" h="228600">
                    <a:moveTo>
                      <a:pt x="406401" y="0"/>
                    </a:moveTo>
                    <a:lnTo>
                      <a:pt x="406401" y="76200"/>
                    </a:lnTo>
                    <a:cubicBezTo>
                      <a:pt x="406401" y="118284"/>
                      <a:pt x="372285" y="152400"/>
                      <a:pt x="330200" y="152400"/>
                    </a:cubicBezTo>
                    <a:lnTo>
                      <a:pt x="0" y="152400"/>
                    </a:lnTo>
                    <a:moveTo>
                      <a:pt x="76200" y="228600"/>
                    </a:moveTo>
                    <a:lnTo>
                      <a:pt x="0" y="152400"/>
                    </a:ln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089880" y="2760345"/>
              <a:ext cx="20122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8C5A00"/>
                  </a:solidFill>
                  <a:latin typeface="Consolas"/>
                  <a:ea typeface="Consolas"/>
                  <a:cs typeface="Consolas"/>
                </a:rPr>
                <a:t>FixedUpdate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38294" y="329469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39056" y="3653790"/>
              <a:ext cx="18585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Rigidbody 施力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39056" y="3977640"/>
              <a:ext cx="19088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物理速度与移动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39056" y="4301490"/>
              <a:ext cx="19088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固定物理时间步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610100" y="4743450"/>
              <a:ext cx="2971800" cy="361950"/>
            </a:xfrm>
            <a:prstGeom prst="roundRect">
              <a:avLst>
                <a:gd name="adj" fmla="val 368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975595" y="4821079"/>
              <a:ext cx="224081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8C5A00"/>
                  </a:solidFill>
                  <a:latin typeface="Consolas"/>
                  <a:ea typeface="Consolas"/>
                  <a:cs typeface="Consolas"/>
                </a:rPr>
                <a:t>body.AddForce(...)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91500" y="1524000"/>
            <a:ext cx="3429000" cy="3752850"/>
            <a:chOff x="8191500" y="1524000"/>
            <a:chExt cx="3429000" cy="3752850"/>
          </a:xfrm>
        </p:grpSpPr>
        <p:sp>
          <p:nvSpPr>
            <p:cNvPr id="31" name="Rectangle 31"/>
            <p:cNvSpPr/>
            <p:nvPr/>
          </p:nvSpPr>
          <p:spPr>
            <a:xfrm>
              <a:off x="8191500" y="1524000"/>
              <a:ext cx="3429000" cy="3752850"/>
            </a:xfrm>
            <a:prstGeom prst="roundRect">
              <a:avLst>
                <a:gd name="adj" fmla="val 7222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9410700" y="1733550"/>
              <a:ext cx="990600" cy="990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9677400" y="2025650"/>
              <a:ext cx="457201" cy="406401"/>
              <a:chOff x="9677400" y="2025650"/>
              <a:chExt cx="457201" cy="40640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677400" y="2025650"/>
                <a:ext cx="457201" cy="406401"/>
              </a:xfrm>
              <a:custGeom>
                <a:avLst/>
                <a:gdLst/>
                <a:ahLst/>
                <a:cxnLst/>
                <a:rect l="l" t="t" r="r" b="b"/>
                <a:pathLst>
                  <a:path w="457201" h="406401">
                    <a:moveTo>
                      <a:pt x="50800" y="76200"/>
                    </a:moveTo>
                    <a:lnTo>
                      <a:pt x="76200" y="76200"/>
                    </a:lnTo>
                    <a:cubicBezTo>
                      <a:pt x="104256" y="76200"/>
                      <a:pt x="127000" y="53456"/>
                      <a:pt x="127000" y="25400"/>
                    </a:cubicBezTo>
                    <a:cubicBezTo>
                      <a:pt x="127000" y="11372"/>
                      <a:pt x="138372" y="0"/>
                      <a:pt x="152400" y="0"/>
                    </a:cubicBezTo>
                    <a:lnTo>
                      <a:pt x="304800" y="0"/>
                    </a:lnTo>
                    <a:cubicBezTo>
                      <a:pt x="318828" y="0"/>
                      <a:pt x="330200" y="11372"/>
                      <a:pt x="330200" y="25400"/>
                    </a:cubicBezTo>
                    <a:cubicBezTo>
                      <a:pt x="330200" y="53456"/>
                      <a:pt x="352944" y="76200"/>
                      <a:pt x="381000" y="76200"/>
                    </a:cubicBezTo>
                    <a:lnTo>
                      <a:pt x="406401" y="76200"/>
                    </a:lnTo>
                    <a:cubicBezTo>
                      <a:pt x="434457" y="76200"/>
                      <a:pt x="457201" y="98944"/>
                      <a:pt x="457201" y="127000"/>
                    </a:cubicBezTo>
                    <a:lnTo>
                      <a:pt x="457201" y="355600"/>
                    </a:lnTo>
                    <a:cubicBezTo>
                      <a:pt x="457201" y="383657"/>
                      <a:pt x="434457" y="406401"/>
                      <a:pt x="406401" y="406401"/>
                    </a:cubicBezTo>
                    <a:lnTo>
                      <a:pt x="50800" y="406401"/>
                    </a:lnTo>
                    <a:cubicBezTo>
                      <a:pt x="22744" y="406401"/>
                      <a:pt x="0" y="383657"/>
                      <a:pt x="0" y="355600"/>
                    </a:cubicBezTo>
                    <a:lnTo>
                      <a:pt x="0" y="127000"/>
                    </a:lnTo>
                    <a:cubicBezTo>
                      <a:pt x="0" y="98944"/>
                      <a:pt x="22744" y="76200"/>
                      <a:pt x="50800" y="762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829800" y="21780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950330" y="2760345"/>
              <a:ext cx="19113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F8F6A"/>
                  </a:solidFill>
                  <a:latin typeface="Consolas"/>
                  <a:ea typeface="Consolas"/>
                  <a:cs typeface="Consolas"/>
                </a:rPr>
                <a:t>LateUpdate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48294" y="329469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49056" y="3653790"/>
              <a:ext cx="1424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摄像机跟随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49056" y="3977640"/>
              <a:ext cx="1424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对齐与收尾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49056" y="4301490"/>
              <a:ext cx="2389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等其他 Update 完成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420100" y="4743450"/>
              <a:ext cx="2971800" cy="361950"/>
            </a:xfrm>
            <a:prstGeom prst="roundRect">
              <a:avLst>
                <a:gd name="adj" fmla="val 3684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825827" y="4821079"/>
              <a:ext cx="216034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2F8F6A"/>
                  </a:solidFill>
                  <a:latin typeface="Consolas"/>
                  <a:ea typeface="Consolas"/>
                  <a:cs typeface="Consolas"/>
                </a:rPr>
                <a:t>Camera follows last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885950" y="5505450"/>
            <a:ext cx="8420100" cy="495300"/>
            <a:chOff x="1885950" y="5505450"/>
            <a:chExt cx="8420100" cy="495300"/>
          </a:xfrm>
        </p:grpSpPr>
        <p:sp>
          <p:nvSpPr>
            <p:cNvPr id="44" name="Rectangle 44"/>
            <p:cNvSpPr/>
            <p:nvPr/>
          </p:nvSpPr>
          <p:spPr>
            <a:xfrm>
              <a:off x="1885950" y="5505450"/>
              <a:ext cx="8420100" cy="495300"/>
            </a:xfrm>
            <a:prstGeom prst="roundRect">
              <a:avLst>
                <a:gd name="adj" fmla="val 34615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131162" y="5634990"/>
              <a:ext cx="79296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rPr>
                <a:t>连续变化要乘 deltaTime；按键触发一次创建对象，不要乘 deltaTime</a:t>
              </a:r>
            </a:p>
          </p:txBody>
        </p:sp>
      </p:grpSp>
      <p:sp>
        <p:nvSpPr>
          <p:cNvPr id="47" name="Line 47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564642" y="6521768"/>
            <a:ext cx="22100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语法基础 · 更新循环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6</a:t>
            </a:fld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1886941" cy="973074"/>
            <a:chOff x="552450" y="346710"/>
            <a:chExt cx="11886941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188694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Transform 同时保存空间状态与父子层级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7081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世界 / 局部、方向向量、父子关系和坐标转换属于同一套空间语义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" y="1524000"/>
            <a:ext cx="4095750" cy="4000500"/>
            <a:chOff x="628650" y="1524000"/>
            <a:chExt cx="4095750" cy="4000500"/>
          </a:xfrm>
        </p:grpSpPr>
        <p:sp>
          <p:nvSpPr>
            <p:cNvPr id="5" name="Rectangle 5"/>
            <p:cNvSpPr/>
            <p:nvPr/>
          </p:nvSpPr>
          <p:spPr>
            <a:xfrm>
              <a:off x="628650" y="1524000"/>
              <a:ext cx="4095750" cy="4000500"/>
            </a:xfrm>
            <a:prstGeom prst="roundRect">
              <a:avLst>
                <a:gd name="adj" fmla="val 6667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02506" y="1859756"/>
              <a:ext cx="414339" cy="414339"/>
              <a:chOff x="1002506" y="1859756"/>
              <a:chExt cx="414339" cy="41433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002506" y="1859756"/>
                <a:ext cx="138113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138113" h="138113">
                    <a:moveTo>
                      <a:pt x="0" y="69056"/>
                    </a:moveTo>
                    <a:cubicBezTo>
                      <a:pt x="0" y="107195"/>
                      <a:pt x="30918" y="138113"/>
                      <a:pt x="69056" y="138113"/>
                    </a:cubicBezTo>
                    <a:cubicBezTo>
                      <a:pt x="107195" y="138113"/>
                      <a:pt x="138113" y="107195"/>
                      <a:pt x="138113" y="69056"/>
                    </a:cubicBezTo>
                    <a:cubicBezTo>
                      <a:pt x="138113" y="30918"/>
                      <a:pt x="107195" y="0"/>
                      <a:pt x="69056" y="0"/>
                    </a:cubicBezTo>
                    <a:cubicBezTo>
                      <a:pt x="30918" y="0"/>
                      <a:pt x="0" y="30918"/>
                      <a:pt x="0" y="69056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232694" y="1859756"/>
                <a:ext cx="184150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184150" h="184150">
                    <a:moveTo>
                      <a:pt x="184150" y="184150"/>
                    </a:moveTo>
                    <a:lnTo>
                      <a:pt x="184150" y="115094"/>
                    </a:lnTo>
                    <a:cubicBezTo>
                      <a:pt x="184150" y="89668"/>
                      <a:pt x="163539" y="69056"/>
                      <a:pt x="138113" y="69056"/>
                    </a:cubicBezTo>
                    <a:lnTo>
                      <a:pt x="0" y="69056"/>
                    </a:lnTo>
                    <a:lnTo>
                      <a:pt x="69056" y="138113"/>
                    </a:lnTo>
                    <a:moveTo>
                      <a:pt x="69056" y="0"/>
                    </a:moveTo>
                    <a:lnTo>
                      <a:pt x="0" y="69056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02506" y="2089944"/>
                <a:ext cx="184150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184150" h="184150">
                    <a:moveTo>
                      <a:pt x="0" y="0"/>
                    </a:moveTo>
                    <a:lnTo>
                      <a:pt x="0" y="69056"/>
                    </a:lnTo>
                    <a:cubicBezTo>
                      <a:pt x="0" y="94482"/>
                      <a:pt x="20612" y="115094"/>
                      <a:pt x="46038" y="115094"/>
                    </a:cubicBezTo>
                    <a:lnTo>
                      <a:pt x="184150" y="115094"/>
                    </a:lnTo>
                    <a:lnTo>
                      <a:pt x="115094" y="46038"/>
                    </a:lnTo>
                    <a:moveTo>
                      <a:pt x="115094" y="184150"/>
                    </a:moveTo>
                    <a:lnTo>
                      <a:pt x="184150" y="115094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78732" y="2135982"/>
                <a:ext cx="138113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138113" h="138113">
                    <a:moveTo>
                      <a:pt x="0" y="69056"/>
                    </a:moveTo>
                    <a:cubicBezTo>
                      <a:pt x="0" y="107195"/>
                      <a:pt x="30918" y="138113"/>
                      <a:pt x="69056" y="138113"/>
                    </a:cubicBezTo>
                    <a:cubicBezTo>
                      <a:pt x="107195" y="138113"/>
                      <a:pt x="138113" y="107195"/>
                      <a:pt x="138113" y="69056"/>
                    </a:cubicBezTo>
                    <a:cubicBezTo>
                      <a:pt x="138113" y="30918"/>
                      <a:pt x="107195" y="0"/>
                      <a:pt x="69056" y="0"/>
                    </a:cubicBezTo>
                    <a:cubicBezTo>
                      <a:pt x="30918" y="0"/>
                      <a:pt x="0" y="30918"/>
                      <a:pt x="0" y="69056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643634" y="1880235"/>
              <a:ext cx="20436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空间三要素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752600" y="2857500"/>
              <a:ext cx="2247900" cy="2076450"/>
              <a:chOff x="1752600" y="2857500"/>
              <a:chExt cx="2247900" cy="207645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2676525" y="4267200"/>
                <a:ext cx="130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04925" h="9525">
                    <a:moveTo>
                      <a:pt x="0" y="0"/>
                    </a:moveTo>
                    <a:lnTo>
                      <a:pt x="1304925" y="0"/>
                    </a:lnTo>
                  </a:path>
                </a:pathLst>
              </a:custGeom>
              <a:noFill/>
              <a:ln w="57150" cap="rnd">
                <a:solidFill>
                  <a:srgbClr val="D85C4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676525" y="2876550"/>
                <a:ext cx="9525" cy="1390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90650">
                    <a:moveTo>
                      <a:pt x="0" y="1390650"/>
                    </a:moveTo>
                    <a:lnTo>
                      <a:pt x="0" y="0"/>
                    </a:lnTo>
                  </a:path>
                </a:pathLst>
              </a:custGeom>
              <a:noFill/>
              <a:ln w="57150" cap="rnd">
                <a:solidFill>
                  <a:schemeClr val="accent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771650" y="4267200"/>
                <a:ext cx="904875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904875" h="647700">
                    <a:moveTo>
                      <a:pt x="904875" y="0"/>
                    </a:moveTo>
                    <a:lnTo>
                      <a:pt x="0" y="647700"/>
                    </a:lnTo>
                  </a:path>
                </a:pathLst>
              </a:custGeom>
              <a:noFill/>
              <a:ln w="57150" cap="rnd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848100" y="4152900"/>
                <a:ext cx="1524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28600">
                    <a:moveTo>
                      <a:pt x="0" y="0"/>
                    </a:moveTo>
                    <a:lnTo>
                      <a:pt x="152400" y="114300"/>
                    </a:lnTo>
                    <a:lnTo>
                      <a:pt x="0" y="228600"/>
                    </a:lnTo>
                  </a:path>
                </a:pathLst>
              </a:custGeom>
              <a:noFill/>
              <a:ln w="57150" cap="rnd">
                <a:solidFill>
                  <a:srgbClr val="D85C4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562225" y="2857500"/>
                <a:ext cx="2286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71450">
                    <a:moveTo>
                      <a:pt x="0" y="171450"/>
                    </a:moveTo>
                    <a:lnTo>
                      <a:pt x="114300" y="0"/>
                    </a:lnTo>
                    <a:lnTo>
                      <a:pt x="228600" y="171450"/>
                    </a:lnTo>
                  </a:path>
                </a:pathLst>
              </a:custGeom>
              <a:noFill/>
              <a:ln w="57150" cap="rnd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752600" y="4743450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142875" y="0"/>
                    </a:moveTo>
                    <a:lnTo>
                      <a:pt x="0" y="190500"/>
                    </a:lnTo>
                    <a:lnTo>
                      <a:pt x="238125" y="161925"/>
                    </a:lnTo>
                  </a:path>
                </a:pathLst>
              </a:custGeom>
              <a:noFill/>
              <a:ln w="57150" cap="rnd">
                <a:solidFill>
                  <a:schemeClr val="accent1"/>
                </a:solidFill>
              </a:ln>
            </p:spPr>
          </p:sp>
        </p:grpSp>
        <p:sp>
          <p:nvSpPr>
            <p:cNvPr id="19" name="Ellipse 19"/>
            <p:cNvSpPr/>
            <p:nvPr/>
          </p:nvSpPr>
          <p:spPr>
            <a:xfrm>
              <a:off x="2276475" y="3867150"/>
              <a:ext cx="800100" cy="8001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1A1A1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437527" y="4174808"/>
              <a:ext cx="4779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Self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06418" y="4165282"/>
              <a:ext cx="5998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D85C45"/>
                  </a:solidFill>
                  <a:latin typeface="Consolas"/>
                  <a:ea typeface="Consolas"/>
                  <a:cs typeface="Consolas"/>
                </a:rPr>
                <a:t>right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91968" y="26984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F8F6A"/>
                  </a:solidFill>
                  <a:latin typeface="Consolas"/>
                  <a:ea typeface="Consolas"/>
                  <a:cs typeface="Consolas"/>
                </a:rPr>
                <a:t>up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4618" y="5003482"/>
              <a:ext cx="9613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forward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56789" y="5174932"/>
              <a:ext cx="28394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Space.Self 随物体朝向变化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067300" y="1524000"/>
            <a:ext cx="7963110" cy="1162050"/>
            <a:chOff x="5067300" y="1524000"/>
            <a:chExt cx="7963110" cy="1162050"/>
          </a:xfrm>
        </p:grpSpPr>
        <p:sp>
          <p:nvSpPr>
            <p:cNvPr id="26" name="Rectangle 26"/>
            <p:cNvSpPr/>
            <p:nvPr/>
          </p:nvSpPr>
          <p:spPr>
            <a:xfrm>
              <a:off x="5067300" y="1524000"/>
              <a:ext cx="6553200" cy="1162050"/>
            </a:xfrm>
            <a:prstGeom prst="roundRect">
              <a:avLst>
                <a:gd name="adj" fmla="val 18033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82946" y="1648778"/>
              <a:ext cx="42533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1. 世界坐标 vs 局部坐标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7137" y="2099786"/>
              <a:ext cx="215394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position / rotation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39912" y="2099786"/>
              <a:ext cx="459049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localPosition / localRotation / localScale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88280" y="239077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存在旋转或缩放的父物体时，两套数值会明显不同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067300" y="2876550"/>
            <a:ext cx="6665643" cy="1162050"/>
            <a:chOff x="5067300" y="2876550"/>
            <a:chExt cx="6665643" cy="1162050"/>
          </a:xfrm>
        </p:grpSpPr>
        <p:sp>
          <p:nvSpPr>
            <p:cNvPr id="32" name="Rectangle 32"/>
            <p:cNvSpPr/>
            <p:nvPr/>
          </p:nvSpPr>
          <p:spPr>
            <a:xfrm>
              <a:off x="5067300" y="2876550"/>
              <a:ext cx="6553200" cy="1162050"/>
            </a:xfrm>
            <a:prstGeom prst="roundRect">
              <a:avLst>
                <a:gd name="adj" fmla="val 18033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82946" y="3001328"/>
              <a:ext cx="24633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2. 移动与朝向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87137" y="3452336"/>
              <a:ext cx="599498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Translate(..., Space.Self) · Rotate · LookRotation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88280" y="3743325"/>
              <a:ext cx="64446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水平朝向目标时，先把 direction.y 设为 0；复杂旋转优先 Quaternion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067300" y="4229100"/>
            <a:ext cx="6553200" cy="1375601"/>
            <a:chOff x="5067300" y="4229100"/>
            <a:chExt cx="6553200" cy="1375601"/>
          </a:xfrm>
        </p:grpSpPr>
        <p:sp>
          <p:nvSpPr>
            <p:cNvPr id="37" name="Rectangle 37"/>
            <p:cNvSpPr/>
            <p:nvPr/>
          </p:nvSpPr>
          <p:spPr>
            <a:xfrm>
              <a:off x="5067300" y="4229100"/>
              <a:ext cx="6553200" cy="1295400"/>
            </a:xfrm>
            <a:prstGeom prst="roundRect">
              <a:avLst>
                <a:gd name="adj" fmla="val 16176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2946" y="4353878"/>
              <a:ext cx="39867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F8F6A"/>
                  </a:solidFill>
                  <a:latin typeface="+mj-lt"/>
                  <a:ea typeface="+mj-ea"/>
                  <a:cs typeface="+mj-cs"/>
                </a:rPr>
                <a:t>3. 父子关系与坐标转换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87518" y="4803458"/>
              <a:ext cx="4616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SetParent(newParent, true) 保持世界变换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87518" y="5089208"/>
              <a:ext cx="45063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TransformPoint ↔ InverseTransformPoint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83218" y="5089208"/>
              <a:ext cx="22631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Direction ↔ Direction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89042" y="53406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点含位置信息；方向不含位置，转换函数不要混用</a:t>
              </a:r>
            </a:p>
          </p:txBody>
        </p:sp>
      </p:grpSp>
      <p:sp>
        <p:nvSpPr>
          <p:cNvPr id="44" name="Line 44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564642" y="6521768"/>
            <a:ext cx="24137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语法基础 · Transform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7</a:t>
            </a:fld>
          </a:p>
        </p:txBody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9447276" cy="973074"/>
            <a:chOff x="552450" y="346710"/>
            <a:chExt cx="9447276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944727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引用先连好，运行时只做必要查找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8917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GameObject 管对象状态；Component 提供能力；引用应在初始化阶段建立并缓存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2450" y="1466850"/>
            <a:ext cx="11196413" cy="4000500"/>
            <a:chOff x="552450" y="1466850"/>
            <a:chExt cx="11196413" cy="4000500"/>
          </a:xfrm>
        </p:grpSpPr>
        <p:sp>
          <p:nvSpPr>
            <p:cNvPr id="5" name="Rectangle 5"/>
            <p:cNvSpPr/>
            <p:nvPr/>
          </p:nvSpPr>
          <p:spPr>
            <a:xfrm>
              <a:off x="552450" y="1466850"/>
              <a:ext cx="11087100" cy="4000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28575">
              <a:solidFill>
                <a:schemeClr val="accent1"/>
              </a:solidFill>
              <a:custDash>
                <a:ds d="333333" sp="233333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73919" y="1711288"/>
              <a:ext cx="328613" cy="368357"/>
              <a:chOff x="873919" y="1711288"/>
              <a:chExt cx="328613" cy="36835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73919" y="1711288"/>
                <a:ext cx="328613" cy="368357"/>
              </a:xfrm>
              <a:custGeom>
                <a:avLst/>
                <a:gdLst/>
                <a:ahLst/>
                <a:cxnLst/>
                <a:rect l="l" t="t" r="r" b="b"/>
                <a:pathLst>
                  <a:path w="328613" h="368357">
                    <a:moveTo>
                      <a:pt x="328613" y="257359"/>
                    </a:moveTo>
                    <a:lnTo>
                      <a:pt x="328613" y="110980"/>
                    </a:lnTo>
                    <a:cubicBezTo>
                      <a:pt x="328590" y="98013"/>
                      <a:pt x="321624" y="86052"/>
                      <a:pt x="310357" y="79634"/>
                    </a:cubicBezTo>
                    <a:lnTo>
                      <a:pt x="182563" y="6463"/>
                    </a:lnTo>
                    <a:cubicBezTo>
                      <a:pt x="171250" y="0"/>
                      <a:pt x="157363" y="0"/>
                      <a:pt x="146050" y="6463"/>
                    </a:cubicBezTo>
                    <a:lnTo>
                      <a:pt x="18256" y="79634"/>
                    </a:lnTo>
                    <a:cubicBezTo>
                      <a:pt x="6956" y="86115"/>
                      <a:pt x="0" y="98073"/>
                      <a:pt x="0" y="110998"/>
                    </a:cubicBezTo>
                    <a:lnTo>
                      <a:pt x="0" y="257377"/>
                    </a:lnTo>
                    <a:cubicBezTo>
                      <a:pt x="0" y="270321"/>
                      <a:pt x="6956" y="282260"/>
                      <a:pt x="18256" y="288723"/>
                    </a:cubicBezTo>
                    <a:lnTo>
                      <a:pt x="146050" y="361894"/>
                    </a:lnTo>
                    <a:cubicBezTo>
                      <a:pt x="157363" y="368357"/>
                      <a:pt x="171250" y="368357"/>
                      <a:pt x="182563" y="361894"/>
                    </a:cubicBezTo>
                    <a:lnTo>
                      <a:pt x="310357" y="288723"/>
                    </a:lnTo>
                    <a:cubicBezTo>
                      <a:pt x="321657" y="282242"/>
                      <a:pt x="328613" y="270284"/>
                      <a:pt x="328613" y="257359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38225" y="1895475"/>
                <a:ext cx="95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2563">
                    <a:moveTo>
                      <a:pt x="0" y="182563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38225" y="1803464"/>
                <a:ext cx="159377" cy="92012"/>
              </a:xfrm>
              <a:custGeom>
                <a:avLst/>
                <a:gdLst/>
                <a:ahLst/>
                <a:cxnLst/>
                <a:rect l="l" t="t" r="r" b="b"/>
                <a:pathLst>
                  <a:path w="159377" h="92012">
                    <a:moveTo>
                      <a:pt x="0" y="92012"/>
                    </a:moveTo>
                    <a:lnTo>
                      <a:pt x="159377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78848" y="1803464"/>
                <a:ext cx="159377" cy="92012"/>
              </a:xfrm>
              <a:custGeom>
                <a:avLst/>
                <a:gdLst/>
                <a:ahLst/>
                <a:cxnLst/>
                <a:rect l="l" t="t" r="r" b="b"/>
                <a:pathLst>
                  <a:path w="159377" h="92012">
                    <a:moveTo>
                      <a:pt x="0" y="0"/>
                    </a:moveTo>
                    <a:lnTo>
                      <a:pt x="159377" y="92012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396746" y="1724978"/>
              <a:ext cx="7662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GameObject：对象身份 + 激活状态 + 组件容器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19150" y="2343150"/>
              <a:ext cx="3848100" cy="2800350"/>
              <a:chOff x="819150" y="2343150"/>
              <a:chExt cx="3848100" cy="28003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819150" y="2343150"/>
                <a:ext cx="3238500" cy="2800350"/>
              </a:xfrm>
              <a:prstGeom prst="roundRect">
                <a:avLst>
                  <a:gd name="adj" fmla="val 7483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75544" y="2625725"/>
                <a:ext cx="237332" cy="292101"/>
              </a:xfrm>
              <a:custGeom>
                <a:avLst/>
                <a:gdLst/>
                <a:ahLst/>
                <a:cxnLst/>
                <a:rect l="l" t="t" r="r" b="b"/>
                <a:pathLst>
                  <a:path w="237332" h="292101">
                    <a:moveTo>
                      <a:pt x="0" y="0"/>
                    </a:moveTo>
                    <a:lnTo>
                      <a:pt x="0" y="292101"/>
                    </a:lnTo>
                    <a:lnTo>
                      <a:pt x="237332" y="1460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644396" y="2601278"/>
                <a:ext cx="1549298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对象状态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38987" y="3204686"/>
                <a:ext cx="2072669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name · tag · layer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38987" y="3642836"/>
                <a:ext cx="19605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SetActive(false)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028700" y="4114800"/>
                <a:ext cx="281940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173099" y="4249579"/>
                <a:ext cx="1135442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activeSelf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73480" y="454342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自身开关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430399" y="4249579"/>
                <a:ext cx="194335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activeInHierarchy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430780" y="4543425"/>
                <a:ext cx="2236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考虑父对象后的真实状态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286250" y="2343150"/>
              <a:ext cx="3305889" cy="2800350"/>
              <a:chOff x="4286250" y="2343150"/>
              <a:chExt cx="3305889" cy="28003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286250" y="2343150"/>
                <a:ext cx="3238500" cy="2800350"/>
              </a:xfrm>
              <a:prstGeom prst="roundRect">
                <a:avLst>
                  <a:gd name="adj" fmla="val 7483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4569619" y="2607469"/>
                <a:ext cx="328613" cy="328613"/>
                <a:chOff x="4569619" y="2607469"/>
                <a:chExt cx="328613" cy="328613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4569619" y="2717007"/>
                  <a:ext cx="109538" cy="10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38" h="109538">
                      <a:moveTo>
                        <a:pt x="0" y="54769"/>
                      </a:moveTo>
                      <a:lnTo>
                        <a:pt x="54769" y="109538"/>
                      </a:lnTo>
                      <a:lnTo>
                        <a:pt x="109538" y="54769"/>
                      </a:lnTo>
                      <a:lnTo>
                        <a:pt x="54769" y="0"/>
                      </a:lnTo>
                      <a:lnTo>
                        <a:pt x="0" y="54769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788694" y="2717007"/>
                  <a:ext cx="109538" cy="10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38" h="109538">
                      <a:moveTo>
                        <a:pt x="0" y="54769"/>
                      </a:moveTo>
                      <a:lnTo>
                        <a:pt x="54769" y="109538"/>
                      </a:lnTo>
                      <a:lnTo>
                        <a:pt x="109538" y="54769"/>
                      </a:lnTo>
                      <a:lnTo>
                        <a:pt x="54769" y="0"/>
                      </a:lnTo>
                      <a:lnTo>
                        <a:pt x="0" y="54769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679157" y="2607469"/>
                  <a:ext cx="109538" cy="10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38" h="109538">
                      <a:moveTo>
                        <a:pt x="0" y="54769"/>
                      </a:moveTo>
                      <a:lnTo>
                        <a:pt x="54769" y="109538"/>
                      </a:lnTo>
                      <a:lnTo>
                        <a:pt x="109538" y="54769"/>
                      </a:lnTo>
                      <a:lnTo>
                        <a:pt x="54769" y="0"/>
                      </a:lnTo>
                      <a:lnTo>
                        <a:pt x="0" y="54769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679157" y="2826544"/>
                  <a:ext cx="109538" cy="10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38" h="109538">
                      <a:moveTo>
                        <a:pt x="0" y="54769"/>
                      </a:moveTo>
                      <a:lnTo>
                        <a:pt x="54769" y="109538"/>
                      </a:lnTo>
                      <a:lnTo>
                        <a:pt x="109538" y="54769"/>
                      </a:lnTo>
                      <a:lnTo>
                        <a:pt x="54769" y="0"/>
                      </a:lnTo>
                      <a:lnTo>
                        <a:pt x="0" y="54769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5111496" y="2601278"/>
                <a:ext cx="1549298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2F8F6A"/>
                    </a:solidFill>
                    <a:latin typeface="+mj-lt"/>
                    <a:ea typeface="+mj-ea"/>
                    <a:cs typeface="+mj-cs"/>
                  </a:rPr>
                  <a:t>获取组件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06849" y="3239929"/>
                <a:ext cx="206730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GetComponent&lt;T&gt;()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506849" y="3611404"/>
                <a:ext cx="260136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TryGetComponent(out T)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506849" y="3982879"/>
                <a:ext cx="308529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GetComponentInChildren&lt;T&gt;()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506849" y="4354354"/>
                <a:ext cx="295991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GetComponentInParent&lt;T&gt;()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4495800" y="4724400"/>
                <a:ext cx="28194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702140" y="4778692"/>
                <a:ext cx="24067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需要反复使用 → Awake 缓存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7753350" y="2343150"/>
              <a:ext cx="3995513" cy="2800350"/>
              <a:chOff x="7753350" y="2343150"/>
              <a:chExt cx="3995513" cy="28003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7753350" y="2343150"/>
                <a:ext cx="3619500" cy="2800350"/>
              </a:xfrm>
              <a:prstGeom prst="roundRect">
                <a:avLst>
                  <a:gd name="adj" fmla="val 7483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8036719" y="2607469"/>
                <a:ext cx="328613" cy="328613"/>
                <a:chOff x="8036719" y="2607469"/>
                <a:chExt cx="328613" cy="328613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8036719" y="2607469"/>
                  <a:ext cx="255588" cy="255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588" h="255588">
                      <a:moveTo>
                        <a:pt x="0" y="127794"/>
                      </a:moveTo>
                      <a:cubicBezTo>
                        <a:pt x="0" y="198373"/>
                        <a:pt x="57215" y="255588"/>
                        <a:pt x="127794" y="255588"/>
                      </a:cubicBezTo>
                      <a:cubicBezTo>
                        <a:pt x="198373" y="255588"/>
                        <a:pt x="255588" y="198373"/>
                        <a:pt x="255588" y="127794"/>
                      </a:cubicBezTo>
                      <a:cubicBezTo>
                        <a:pt x="255588" y="57215"/>
                        <a:pt x="198373" y="0"/>
                        <a:pt x="127794" y="0"/>
                      </a:cubicBezTo>
                      <a:cubicBezTo>
                        <a:pt x="57215" y="0"/>
                        <a:pt x="0" y="57215"/>
                        <a:pt x="0" y="127794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255794" y="2826544"/>
                  <a:ext cx="109538" cy="10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38" h="109538">
                      <a:moveTo>
                        <a:pt x="109538" y="10953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8578596" y="2601278"/>
                <a:ext cx="1549298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8C5A00"/>
                    </a:solidFill>
                    <a:latin typeface="+mj-lt"/>
                    <a:ea typeface="+mj-ea"/>
                    <a:cs typeface="+mj-cs"/>
                  </a:rPr>
                  <a:t>引用策略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973187" y="3204686"/>
                <a:ext cx="3775676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优先 1：Inspector SerializeField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973187" y="3595211"/>
                <a:ext cx="315074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优先 2：创建对象时传入引用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973187" y="3985736"/>
                <a:ext cx="343115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必要时：初始化查找一次并缓存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7962900" y="4476750"/>
                <a:ext cx="3200400" cy="514350"/>
              </a:xfrm>
              <a:prstGeom prst="roundRect">
                <a:avLst>
                  <a:gd name="adj" fmla="val 27778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8441613" y="4533900"/>
                <a:ext cx="224297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8C5A00"/>
                    </a:solidFill>
                    <a:latin typeface="Consolas"/>
                    <a:ea typeface="Consolas"/>
                    <a:cs typeface="Consolas"/>
                  </a:rPr>
                  <a:t>GameObject.Find(...)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697535" y="4769168"/>
                <a:ext cx="17311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不要每帧按名称查找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2076450" y="5638800"/>
            <a:ext cx="8039100" cy="443484"/>
            <a:chOff x="2076450" y="5638800"/>
            <a:chExt cx="8039100" cy="443484"/>
          </a:xfrm>
        </p:grpSpPr>
        <p:sp>
          <p:nvSpPr>
            <p:cNvPr id="50" name="Rectangle 50"/>
            <p:cNvSpPr/>
            <p:nvPr/>
          </p:nvSpPr>
          <p:spPr>
            <a:xfrm>
              <a:off x="2076450" y="5638800"/>
              <a:ext cx="8039100" cy="419100"/>
            </a:xfrm>
            <a:prstGeom prst="roundRect">
              <a:avLst>
                <a:gd name="adj" fmla="val 4090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766521" y="5730240"/>
              <a:ext cx="66589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稳定的引用关系，比运行时“到处找对象”更可靠、更易维护</a:t>
              </a:r>
            </a:p>
          </p:txBody>
        </p:sp>
      </p:grpSp>
      <p:sp>
        <p:nvSpPr>
          <p:cNvPr id="53" name="Line 53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564642" y="6521768"/>
            <a:ext cx="251332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语法基础 · GameObject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8</a:t>
            </a:fld>
          </a:p>
        </p:txBody>
      </p: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8819998" cy="973074"/>
            <a:chOff x="552450" y="346710"/>
            <a:chExt cx="8819998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881999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创建对象容易，维护引用更重要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先获得稳定引用，再创建、使用并在合适时机销毁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52450" y="1695450"/>
            <a:ext cx="11531145" cy="3467100"/>
            <a:chOff x="552450" y="1695450"/>
            <a:chExt cx="11531145" cy="3467100"/>
          </a:xfrm>
        </p:grpSpPr>
        <p:grpSp>
          <p:nvGrpSpPr>
            <p:cNvPr id="16" name="Group 16"/>
            <p:cNvGrpSpPr/>
            <p:nvPr/>
          </p:nvGrpSpPr>
          <p:grpSpPr>
            <a:xfrm>
              <a:off x="552450" y="1695450"/>
              <a:ext cx="2526697" cy="3467100"/>
              <a:chOff x="552450" y="1695450"/>
              <a:chExt cx="2526697" cy="346710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1390650" y="1695450"/>
                <a:ext cx="762000" cy="762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8" name="Group 8"/>
              <p:cNvGrpSpPr/>
              <p:nvPr/>
            </p:nvGrpSpPr>
            <p:grpSpPr>
              <a:xfrm>
                <a:off x="1585913" y="1890713"/>
                <a:ext cx="371475" cy="371475"/>
                <a:chOff x="1585913" y="1890713"/>
                <a:chExt cx="371475" cy="371475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1585913" y="1890713"/>
                  <a:ext cx="288925" cy="28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925" h="288925">
                      <a:moveTo>
                        <a:pt x="0" y="144463"/>
                      </a:moveTo>
                      <a:cubicBezTo>
                        <a:pt x="0" y="224247"/>
                        <a:pt x="64678" y="288925"/>
                        <a:pt x="144463" y="288925"/>
                      </a:cubicBezTo>
                      <a:cubicBezTo>
                        <a:pt x="224247" y="288925"/>
                        <a:pt x="288925" y="224247"/>
                        <a:pt x="288925" y="144463"/>
                      </a:cubicBezTo>
                      <a:cubicBezTo>
                        <a:pt x="288925" y="64678"/>
                        <a:pt x="224247" y="0"/>
                        <a:pt x="144463" y="0"/>
                      </a:cubicBezTo>
                      <a:cubicBezTo>
                        <a:pt x="64678" y="0"/>
                        <a:pt x="0" y="64678"/>
                        <a:pt x="0" y="144463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833563" y="2138363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123825" y="1238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9" name="Rectangle 9"/>
              <p:cNvSpPr/>
              <p:nvPr/>
            </p:nvSpPr>
            <p:spPr>
              <a:xfrm>
                <a:off x="552450" y="2609850"/>
                <a:ext cx="2438400" cy="2552700"/>
              </a:xfrm>
              <a:prstGeom prst="roundRect">
                <a:avLst>
                  <a:gd name="adj" fmla="val 8594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30407" y="2734628"/>
                <a:ext cx="2082485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1. 建立引用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72287" y="3261836"/>
                <a:ext cx="2306860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86214" indent="-186214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Inspector 直接连接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72287" y="3604736"/>
                <a:ext cx="190639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86214" indent="-186214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Awake 查找组件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72287" y="3947636"/>
                <a:ext cx="215569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86214" indent="-186214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必要时按 Tag 查找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762000" y="4533900"/>
                <a:ext cx="201930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57617" y="4638675"/>
                <a:ext cx="182806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cached reference</a:t>
                </a:r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3086100" y="38862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352800" y="375285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0"/>
                  </a:moveTo>
                  <a:lnTo>
                    <a:pt x="152400" y="133350"/>
                  </a:lnTo>
                  <a:lnTo>
                    <a:pt x="0" y="26670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3429000" y="1695450"/>
              <a:ext cx="3025531" cy="3467100"/>
              <a:chOff x="3429000" y="1695450"/>
              <a:chExt cx="3025531" cy="346710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4267200" y="1695450"/>
                <a:ext cx="762000" cy="76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4503738" y="1931988"/>
                <a:ext cx="288925" cy="288925"/>
                <a:chOff x="4503738" y="1931988"/>
                <a:chExt cx="288925" cy="288925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4648200" y="1931988"/>
                  <a:ext cx="9525" cy="28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8925">
                      <a:moveTo>
                        <a:pt x="0" y="0"/>
                      </a:moveTo>
                      <a:lnTo>
                        <a:pt x="0" y="2889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503738" y="2076450"/>
                  <a:ext cx="288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925" h="9525">
                      <a:moveTo>
                        <a:pt x="0" y="0"/>
                      </a:moveTo>
                      <a:lnTo>
                        <a:pt x="28892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3" name="Rectangle 23"/>
              <p:cNvSpPr/>
              <p:nvPr/>
            </p:nvSpPr>
            <p:spPr>
              <a:xfrm>
                <a:off x="3429000" y="2609850"/>
                <a:ext cx="2438400" cy="2552700"/>
              </a:xfrm>
              <a:prstGeom prst="roundRect">
                <a:avLst>
                  <a:gd name="adj" fmla="val 8594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606957" y="2734628"/>
                <a:ext cx="2082485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rgbClr val="8C5A00"/>
                    </a:solidFill>
                    <a:latin typeface="+mj-lt"/>
                    <a:ea typeface="+mj-ea"/>
                    <a:cs typeface="+mj-cs"/>
                  </a:rPr>
                  <a:t>2. 创建能力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648837" y="3261836"/>
                <a:ext cx="234269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86214" indent="-186214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Instantiate Prefab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648837" y="3604736"/>
                <a:ext cx="1829276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86214" indent="-186214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指定位置与旋转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648837" y="3947636"/>
                <a:ext cx="280569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86214" indent="-186214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AddComponent 动态添加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3638550" y="4533900"/>
                <a:ext cx="201930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765971" y="4638675"/>
                <a:ext cx="176445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8C5A00"/>
                    </a:solidFill>
                    <a:latin typeface="Consolas"/>
                    <a:ea typeface="Consolas"/>
                    <a:cs typeface="Consolas"/>
                  </a:rPr>
                  <a:t>runtime instance</a:t>
                </a: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5962650" y="38862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229350" y="375285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0"/>
                  </a:moveTo>
                  <a:lnTo>
                    <a:pt x="152400" y="133350"/>
                  </a:lnTo>
                  <a:lnTo>
                    <a:pt x="0" y="26670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305550" y="1695450"/>
              <a:ext cx="2772061" cy="3467100"/>
              <a:chOff x="6305550" y="1695450"/>
              <a:chExt cx="2772061" cy="3467100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7143750" y="1695450"/>
                <a:ext cx="762000" cy="762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7339013" y="1890713"/>
                <a:ext cx="371475" cy="371475"/>
                <a:chOff x="7339013" y="1890713"/>
                <a:chExt cx="371475" cy="371475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7339013" y="2014538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0" y="61913"/>
                      </a:moveTo>
                      <a:lnTo>
                        <a:pt x="61913" y="123825"/>
                      </a:lnTo>
                      <a:lnTo>
                        <a:pt x="123825" y="61913"/>
                      </a:lnTo>
                      <a:lnTo>
                        <a:pt x="61913" y="0"/>
                      </a:lnTo>
                      <a:lnTo>
                        <a:pt x="0" y="619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586663" y="2014538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0" y="61913"/>
                      </a:moveTo>
                      <a:lnTo>
                        <a:pt x="61913" y="123825"/>
                      </a:lnTo>
                      <a:lnTo>
                        <a:pt x="123825" y="61913"/>
                      </a:lnTo>
                      <a:lnTo>
                        <a:pt x="61913" y="0"/>
                      </a:lnTo>
                      <a:lnTo>
                        <a:pt x="0" y="619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462838" y="1890713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0" y="61913"/>
                      </a:moveTo>
                      <a:lnTo>
                        <a:pt x="61913" y="123825"/>
                      </a:lnTo>
                      <a:lnTo>
                        <a:pt x="123825" y="61913"/>
                      </a:lnTo>
                      <a:lnTo>
                        <a:pt x="61913" y="0"/>
                      </a:lnTo>
                      <a:lnTo>
                        <a:pt x="0" y="619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462838" y="2138363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0" y="61913"/>
                      </a:moveTo>
                      <a:lnTo>
                        <a:pt x="61913" y="123825"/>
                      </a:lnTo>
                      <a:lnTo>
                        <a:pt x="123825" y="61913"/>
                      </a:lnTo>
                      <a:lnTo>
                        <a:pt x="61913" y="0"/>
                      </a:lnTo>
                      <a:lnTo>
                        <a:pt x="0" y="619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Rectangle 39"/>
              <p:cNvSpPr/>
              <p:nvPr/>
            </p:nvSpPr>
            <p:spPr>
              <a:xfrm>
                <a:off x="6305550" y="2609850"/>
                <a:ext cx="2438400" cy="2552700"/>
              </a:xfrm>
              <a:prstGeom prst="roundRect">
                <a:avLst>
                  <a:gd name="adj" fmla="val 8594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483507" y="2734628"/>
                <a:ext cx="2082485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rgbClr val="2F8F6A"/>
                    </a:solidFill>
                    <a:latin typeface="+mj-lt"/>
                    <a:ea typeface="+mj-ea"/>
                    <a:cs typeface="+mj-cs"/>
                  </a:rPr>
                  <a:t>3. 运行交互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525387" y="3261836"/>
                <a:ext cx="1597057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86214" indent="-186214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调用组件方法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525387" y="3604736"/>
                <a:ext cx="255222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86214" indent="-186214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CompareTag 判断身份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525387" y="3947636"/>
                <a:ext cx="1829276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86214" indent="-186214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更新状态与表现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6515100" y="4533900"/>
                <a:ext cx="201930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515305" y="4638675"/>
                <a:ext cx="2018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2F8F6A"/>
                    </a:solidFill>
                    <a:latin typeface="Consolas"/>
                    <a:ea typeface="Consolas"/>
                    <a:cs typeface="Consolas"/>
                  </a:rPr>
                  <a:t>controlled behavior</a:t>
                </a:r>
              </a:p>
            </p:txBody>
          </p:sp>
        </p:grpSp>
        <p:sp>
          <p:nvSpPr>
            <p:cNvPr id="47" name="Freeform 47"/>
            <p:cNvSpPr/>
            <p:nvPr/>
          </p:nvSpPr>
          <p:spPr>
            <a:xfrm>
              <a:off x="8839200" y="38862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105900" y="375285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0"/>
                  </a:moveTo>
                  <a:lnTo>
                    <a:pt x="152400" y="133350"/>
                  </a:lnTo>
                  <a:lnTo>
                    <a:pt x="0" y="26670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182100" y="1695450"/>
              <a:ext cx="2901495" cy="3467100"/>
              <a:chOff x="9182100" y="1695450"/>
              <a:chExt cx="2901495" cy="346710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10020300" y="1695450"/>
                <a:ext cx="762000" cy="7620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10236200" y="1890713"/>
                <a:ext cx="330201" cy="371475"/>
                <a:chOff x="10236200" y="1890713"/>
                <a:chExt cx="330201" cy="371475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10236200" y="1973263"/>
                  <a:ext cx="33020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201" h="9525">
                      <a:moveTo>
                        <a:pt x="0" y="0"/>
                      </a:moveTo>
                      <a:lnTo>
                        <a:pt x="330201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0360025" y="2055813"/>
                  <a:ext cx="95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3825">
                      <a:moveTo>
                        <a:pt x="0" y="0"/>
                      </a:moveTo>
                      <a:lnTo>
                        <a:pt x="0" y="1238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10442575" y="2055813"/>
                  <a:ext cx="95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3825">
                      <a:moveTo>
                        <a:pt x="0" y="0"/>
                      </a:moveTo>
                      <a:lnTo>
                        <a:pt x="0" y="1238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10256838" y="1973263"/>
                  <a:ext cx="288925" cy="28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925" h="288925">
                      <a:moveTo>
                        <a:pt x="0" y="0"/>
                      </a:moveTo>
                      <a:lnTo>
                        <a:pt x="20638" y="247650"/>
                      </a:lnTo>
                      <a:cubicBezTo>
                        <a:pt x="20638" y="270446"/>
                        <a:pt x="39117" y="288925"/>
                        <a:pt x="61913" y="288925"/>
                      </a:cubicBezTo>
                      <a:lnTo>
                        <a:pt x="227013" y="288925"/>
                      </a:lnTo>
                      <a:cubicBezTo>
                        <a:pt x="249808" y="288925"/>
                        <a:pt x="268288" y="270446"/>
                        <a:pt x="268288" y="247650"/>
                      </a:cubicBezTo>
                      <a:lnTo>
                        <a:pt x="28892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10339388" y="1890713"/>
                  <a:ext cx="123825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82550">
                      <a:moveTo>
                        <a:pt x="0" y="82550"/>
                      </a:moveTo>
                      <a:lnTo>
                        <a:pt x="0" y="20638"/>
                      </a:lnTo>
                      <a:cubicBezTo>
                        <a:pt x="0" y="9240"/>
                        <a:pt x="9240" y="0"/>
                        <a:pt x="20638" y="0"/>
                      </a:cubicBezTo>
                      <a:lnTo>
                        <a:pt x="103188" y="0"/>
                      </a:lnTo>
                      <a:cubicBezTo>
                        <a:pt x="114585" y="0"/>
                        <a:pt x="123825" y="9240"/>
                        <a:pt x="123825" y="20638"/>
                      </a:cubicBezTo>
                      <a:lnTo>
                        <a:pt x="123825" y="825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6" name="Rectangle 56"/>
              <p:cNvSpPr/>
              <p:nvPr/>
            </p:nvSpPr>
            <p:spPr>
              <a:xfrm>
                <a:off x="9182100" y="2609850"/>
                <a:ext cx="2438400" cy="2552700"/>
              </a:xfrm>
              <a:prstGeom prst="roundRect">
                <a:avLst>
                  <a:gd name="adj" fmla="val 8594"/>
                </a:avLst>
              </a:prstGeom>
              <a:solidFill>
                <a:srgbClr val="FFFFFF"/>
              </a:solidFill>
              <a:ln w="28575">
                <a:solidFill>
                  <a:srgbClr val="D85C45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9360057" y="2734628"/>
                <a:ext cx="2082485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rgbClr val="D85C45"/>
                    </a:solidFill>
                    <a:latin typeface="+mj-lt"/>
                    <a:ea typeface="+mj-ea"/>
                    <a:cs typeface="+mj-cs"/>
                  </a:rPr>
                  <a:t>4. 结束寿命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401937" y="3261836"/>
                <a:ext cx="268165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86214" indent="-186214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Destroy(gameObject)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401937" y="3604736"/>
                <a:ext cx="1597057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86214" indent="-186214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可延迟若干秒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401937" y="3947636"/>
                <a:ext cx="2425817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86214" indent="-186214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OnDestroy 清理资源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9391650" y="4533900"/>
                <a:ext cx="201930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508469" y="4638675"/>
                <a:ext cx="178566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D85C45"/>
                    </a:solidFill>
                    <a:latin typeface="Consolas"/>
                    <a:ea typeface="Consolas"/>
                    <a:cs typeface="Consolas"/>
                  </a:rPr>
                  <a:t>reference invalid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2000250" y="5486400"/>
            <a:ext cx="8191500" cy="533400"/>
            <a:chOff x="2000250" y="5486400"/>
            <a:chExt cx="8191500" cy="533400"/>
          </a:xfrm>
        </p:grpSpPr>
        <p:sp>
          <p:nvSpPr>
            <p:cNvPr id="65" name="Rectangle 65"/>
            <p:cNvSpPr/>
            <p:nvPr/>
          </p:nvSpPr>
          <p:spPr>
            <a:xfrm>
              <a:off x="2000250" y="5486400"/>
              <a:ext cx="8191500" cy="533400"/>
            </a:xfrm>
            <a:prstGeom prst="roundRect">
              <a:avLst>
                <a:gd name="adj" fmla="val 3214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361350" y="5634990"/>
              <a:ext cx="74692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固定配置尽量放 Inspector / Prefab；名称查找不要放进 Update</a:t>
              </a:r>
            </a:p>
          </p:txBody>
        </p:sp>
      </p:grpSp>
      <p:sp>
        <p:nvSpPr>
          <p:cNvPr id="68" name="Line 68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564642" y="6521768"/>
            <a:ext cx="257764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语法基础 · 对象生命周期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513687" y="652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9</a:t>
            </a:fld>
          </a:p>
        </p:txBody>
      </p: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1074839" cy="973074"/>
            <a:chOff x="552450" y="346710"/>
            <a:chExt cx="11074839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10748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Move 处理碰撞，但不会替你处理重力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78795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CharacterController 是脚本直接控制的胶囊角色，不是普通动力学刚体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8889" y="1485900"/>
            <a:ext cx="3768472" cy="3903345"/>
            <a:chOff x="258889" y="1485900"/>
            <a:chExt cx="3768472" cy="3903345"/>
          </a:xfrm>
        </p:grpSpPr>
        <p:sp>
          <p:nvSpPr>
            <p:cNvPr id="5" name="Rectangle 5"/>
            <p:cNvSpPr/>
            <p:nvPr/>
          </p:nvSpPr>
          <p:spPr>
            <a:xfrm>
              <a:off x="571500" y="1485900"/>
              <a:ext cx="3143250" cy="3867150"/>
            </a:xfrm>
            <a:prstGeom prst="roundRect">
              <a:avLst>
                <a:gd name="adj" fmla="val 8485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7204" y="1686878"/>
              <a:ext cx="26918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脚本驱动的胶囊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600200" y="2362200"/>
              <a:ext cx="1085850" cy="2057400"/>
            </a:xfrm>
            <a:prstGeom prst="roundRect">
              <a:avLst>
                <a:gd name="adj" fmla="val 50000"/>
              </a:avLst>
            </a:prstGeom>
            <a:solidFill>
              <a:srgbClr val="EAF0FA"/>
            </a:solidFill>
            <a:ln w="47625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857375" y="2619375"/>
              <a:ext cx="571500" cy="571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990725" y="3314700"/>
              <a:ext cx="304800" cy="457201"/>
              <a:chOff x="1990725" y="3314700"/>
              <a:chExt cx="304800" cy="45720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2143125" y="33147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016125" y="3670301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0160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117725" y="3441700"/>
                <a:ext cx="1270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330200">
                    <a:moveTo>
                      <a:pt x="127000" y="330200"/>
                    </a:moveTo>
                    <a:lnTo>
                      <a:pt x="76200" y="228600"/>
                    </a:lnTo>
                    <a:lnTo>
                      <a:pt x="0" y="152400"/>
                    </a:ln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990725" y="3441700"/>
                <a:ext cx="304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01600">
                    <a:moveTo>
                      <a:pt x="0" y="101600"/>
                    </a:moveTo>
                    <a:lnTo>
                      <a:pt x="50800" y="25400"/>
                    </a:lnTo>
                    <a:lnTo>
                      <a:pt x="152400" y="0"/>
                    </a:lnTo>
                    <a:lnTo>
                      <a:pt x="228600" y="76200"/>
                    </a:lnTo>
                    <a:lnTo>
                      <a:pt x="304800" y="1016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4" name="Line 14"/>
            <p:cNvSpPr/>
            <p:nvPr/>
          </p:nvSpPr>
          <p:spPr>
            <a:xfrm>
              <a:off x="1333500" y="462915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8889" y="4795361"/>
              <a:ext cx="376847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b="1" dirty="0">
                  <a:solidFill>
                    <a:srgbClr val="2F8F6A"/>
                  </a:solidFill>
                  <a:latin typeface="Consolas"/>
                  <a:ea typeface="Consolas"/>
                  <a:cs typeface="Consolas"/>
                </a:rPr>
                <a:t>controller.Move(displacement)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5398" y="5095875"/>
              <a:ext cx="3055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Collider 会阻挡；重力要自己维护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000500" y="1485900"/>
            <a:ext cx="9971913" cy="3867150"/>
            <a:chOff x="4000500" y="1485900"/>
            <a:chExt cx="9971913" cy="3867150"/>
          </a:xfrm>
        </p:grpSpPr>
        <p:grpSp>
          <p:nvGrpSpPr>
            <p:cNvPr id="22" name="Group 22"/>
            <p:cNvGrpSpPr/>
            <p:nvPr/>
          </p:nvGrpSpPr>
          <p:grpSpPr>
            <a:xfrm>
              <a:off x="4000500" y="1485900"/>
              <a:ext cx="2362200" cy="1123950"/>
              <a:chOff x="4000500" y="1485900"/>
              <a:chExt cx="2362200" cy="11239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000500" y="1485900"/>
                <a:ext cx="2362200" cy="1123950"/>
              </a:xfrm>
              <a:prstGeom prst="roundRect">
                <a:avLst>
                  <a:gd name="adj" fmla="val 16949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182237" y="1661636"/>
                <a:ext cx="1785297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height / radius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182237" y="1985486"/>
                <a:ext cx="783850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center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183380" y="229552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胶囊形状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591300" y="1485900"/>
              <a:ext cx="2362200" cy="1123950"/>
              <a:chOff x="6591300" y="1485900"/>
              <a:chExt cx="2362200" cy="11239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591300" y="1485900"/>
                <a:ext cx="2362200" cy="1123950"/>
              </a:xfrm>
              <a:prstGeom prst="roundRect">
                <a:avLst>
                  <a:gd name="adj" fmla="val 16949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772656" y="1710690"/>
                <a:ext cx="128485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8C5A00"/>
                    </a:solidFill>
                    <a:latin typeface="Consolas"/>
                    <a:ea typeface="Consolas"/>
                    <a:cs typeface="Consolas"/>
                  </a:rPr>
                  <a:t>slopeLimit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773418" y="2069782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可攀爬最大坡度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9182100" y="1485900"/>
              <a:ext cx="2362200" cy="1123950"/>
              <a:chOff x="9182100" y="1485900"/>
              <a:chExt cx="2362200" cy="11239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9182100" y="1485900"/>
                <a:ext cx="2362200" cy="1123950"/>
              </a:xfrm>
              <a:prstGeom prst="roundRect">
                <a:avLst>
                  <a:gd name="adj" fmla="val 16949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363456" y="1710690"/>
                <a:ext cx="14767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F8F6A"/>
                    </a:solidFill>
                    <a:latin typeface="Consolas"/>
                    <a:ea typeface="Consolas"/>
                    <a:cs typeface="Consolas"/>
                  </a:rPr>
                  <a:t>stepOffset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364218" y="2069782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可迈过台阶高度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000500" y="2838450"/>
              <a:ext cx="2362200" cy="1127951"/>
              <a:chOff x="4000500" y="2838450"/>
              <a:chExt cx="2362200" cy="1127951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4000500" y="2838450"/>
                <a:ext cx="2362200" cy="1123950"/>
              </a:xfrm>
              <a:prstGeom prst="roundRect">
                <a:avLst>
                  <a:gd name="adj" fmla="val 16949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181856" y="3063240"/>
                <a:ext cx="120883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skinWidth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182618" y="342233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碰撞外壳余量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184142" y="37023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过小容易抖动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591300" y="2838450"/>
              <a:ext cx="2362200" cy="1123950"/>
              <a:chOff x="6591300" y="2838450"/>
              <a:chExt cx="2362200" cy="11239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91300" y="2838450"/>
                <a:ext cx="2362200" cy="1123950"/>
              </a:xfrm>
              <a:prstGeom prst="roundRect">
                <a:avLst>
                  <a:gd name="adj" fmla="val 16949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72656" y="3063240"/>
                <a:ext cx="13616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isGrounded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73418" y="3422332"/>
                <a:ext cx="20158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上次移动后是否着地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9182100" y="2838450"/>
              <a:ext cx="2642235" cy="1123950"/>
              <a:chOff x="9182100" y="2838450"/>
              <a:chExt cx="2642235" cy="11239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9182100" y="2838450"/>
                <a:ext cx="2362200" cy="1123950"/>
              </a:xfrm>
              <a:prstGeom prst="roundRect">
                <a:avLst>
                  <a:gd name="adj" fmla="val 16949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363456" y="3063240"/>
                <a:ext cx="101057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velocity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364218" y="3422332"/>
                <a:ext cx="24601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最近一次移动形成的速度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4000500" y="4191000"/>
              <a:ext cx="9971913" cy="1162050"/>
              <a:chOff x="4000500" y="4191000"/>
              <a:chExt cx="9971913" cy="11620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4000500" y="4191000"/>
                <a:ext cx="7543800" cy="1162050"/>
              </a:xfrm>
              <a:prstGeom prst="roundRect">
                <a:avLst>
                  <a:gd name="adj" fmla="val 18033"/>
                </a:avLst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257294" y="4380548"/>
                <a:ext cx="349963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Move(motion × deltaTime)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259199" y="4763929"/>
                <a:ext cx="573357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参数是本次位移；可自定义重力与跳跃；返回 CollisionFlags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991094" y="4380548"/>
                <a:ext cx="290443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SimpleMove(velocity)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992999" y="4763929"/>
                <a:ext cx="597941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参数是速度；自动重力；不再乘 deltaTime；不适合自定义跳跃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052853" y="5073968"/>
                <a:ext cx="34390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D8D2C5"/>
                    </a:solidFill>
                    <a:latin typeface="+mn-lt"/>
                    <a:ea typeface="+mn-ea"/>
                    <a:cs typeface="+mn-cs"/>
                  </a:rPr>
                  <a:t>初学跳跃：优先 Move，完整过程更清楚</a:t>
                </a:r>
              </a:p>
            </p:txBody>
          </p:sp>
        </p:grpSp>
      </p:grpSp>
      <p:sp>
        <p:nvSpPr>
          <p:cNvPr id="52" name="Line 52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564642" y="6521768"/>
            <a:ext cx="328982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语法基础 · CharacterController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41373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10</a:t>
            </a:fld>
          </a:p>
        </p:txBody>
      </p: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8819998" cy="973074"/>
            <a:chOff x="552450" y="346710"/>
            <a:chExt cx="8819998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881999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一帧移动，其实是七个连续决策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输入、转向、贴地、跳跃、重力、移动与碰撞修正共同形成稳定角色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257300" y="1809750"/>
            <a:ext cx="9315450" cy="2400300"/>
          </a:xfrm>
          <a:custGeom>
            <a:avLst/>
            <a:gdLst/>
            <a:ahLst/>
            <a:cxnLst/>
            <a:rect l="l" t="t" r="r" b="b"/>
            <a:pathLst>
              <a:path w="9315450" h="2400300">
                <a:moveTo>
                  <a:pt x="0" y="0"/>
                </a:moveTo>
                <a:lnTo>
                  <a:pt x="8382000" y="0"/>
                </a:lnTo>
                <a:cubicBezTo>
                  <a:pt x="9220200" y="0"/>
                  <a:pt x="9315450" y="514350"/>
                  <a:pt x="9315450" y="1143000"/>
                </a:cubicBezTo>
                <a:cubicBezTo>
                  <a:pt x="9315450" y="1905000"/>
                  <a:pt x="8667750" y="2400300"/>
                  <a:pt x="7867650" y="2400300"/>
                </a:cubicBezTo>
                <a:lnTo>
                  <a:pt x="2419350" y="2400300"/>
                </a:lnTo>
              </a:path>
            </a:pathLst>
          </a:custGeom>
          <a:noFill/>
          <a:ln w="76200" cap="rnd">
            <a:solidFill>
              <a:schemeClr val="accent4"/>
            </a:solidFill>
            <a:round/>
          </a:ln>
        </p:spPr>
      </p:sp>
      <p:grpSp>
        <p:nvGrpSpPr>
          <p:cNvPr id="12" name="Group 12"/>
          <p:cNvGrpSpPr/>
          <p:nvPr/>
        </p:nvGrpSpPr>
        <p:grpSpPr>
          <a:xfrm>
            <a:off x="514350" y="1485900"/>
            <a:ext cx="2853385" cy="2019300"/>
            <a:chOff x="514350" y="1485900"/>
            <a:chExt cx="2853385" cy="2019300"/>
          </a:xfrm>
        </p:grpSpPr>
        <p:sp>
          <p:nvSpPr>
            <p:cNvPr id="6" name="Ellipse 6"/>
            <p:cNvSpPr/>
            <p:nvPr/>
          </p:nvSpPr>
          <p:spPr>
            <a:xfrm>
              <a:off x="933450" y="148590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78187" y="17011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14350" y="2228850"/>
              <a:ext cx="2362200" cy="1276350"/>
            </a:xfrm>
            <a:prstGeom prst="roundRect">
              <a:avLst>
                <a:gd name="adj" fmla="val 14925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3420" y="2347912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读取输入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7230" y="2762250"/>
              <a:ext cx="17386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W A S D → Vector3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7230" y="3076575"/>
              <a:ext cx="2670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Keyboard.current 可能为空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124200" y="1485900"/>
            <a:ext cx="2629243" cy="2019300"/>
            <a:chOff x="3124200" y="1485900"/>
            <a:chExt cx="2629243" cy="2019300"/>
          </a:xfrm>
        </p:grpSpPr>
        <p:sp>
          <p:nvSpPr>
            <p:cNvPr id="13" name="Ellipse 13"/>
            <p:cNvSpPr/>
            <p:nvPr/>
          </p:nvSpPr>
          <p:spPr>
            <a:xfrm>
              <a:off x="3543300" y="148590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88037" y="17011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124200" y="2228850"/>
              <a:ext cx="2362200" cy="1276350"/>
            </a:xfrm>
            <a:prstGeom prst="roundRect">
              <a:avLst>
                <a:gd name="adj" fmla="val 14925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303270" y="2347912"/>
              <a:ext cx="20391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限制输入长度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07461" y="2770346"/>
              <a:ext cx="2445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ClampMagnitude(input, 1)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07080" y="30765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避免斜向速度更快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34050" y="1485900"/>
            <a:ext cx="2362200" cy="2019300"/>
            <a:chOff x="5734050" y="1485900"/>
            <a:chExt cx="2362200" cy="2019300"/>
          </a:xfrm>
        </p:grpSpPr>
        <p:sp>
          <p:nvSpPr>
            <p:cNvPr id="20" name="Ellipse 20"/>
            <p:cNvSpPr/>
            <p:nvPr/>
          </p:nvSpPr>
          <p:spPr>
            <a:xfrm>
              <a:off x="6153150" y="14859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97887" y="17011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34050" y="2228850"/>
              <a:ext cx="2362200" cy="1276350"/>
            </a:xfrm>
            <a:prstGeom prst="roundRect">
              <a:avLst>
                <a:gd name="adj" fmla="val 14925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13120" y="2347912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平滑转向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17311" y="2770346"/>
              <a:ext cx="19519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LookRotation + Slerp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16930" y="30765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仅在输入不接近 0 时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343900" y="1485900"/>
            <a:ext cx="2362200" cy="2019300"/>
            <a:chOff x="8343900" y="1485900"/>
            <a:chExt cx="2362200" cy="2019300"/>
          </a:xfrm>
        </p:grpSpPr>
        <p:sp>
          <p:nvSpPr>
            <p:cNvPr id="27" name="Ellipse 27"/>
            <p:cNvSpPr/>
            <p:nvPr/>
          </p:nvSpPr>
          <p:spPr>
            <a:xfrm>
              <a:off x="8763000" y="14859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07737" y="17011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343900" y="2228850"/>
              <a:ext cx="2362200" cy="1276350"/>
            </a:xfrm>
            <a:prstGeom prst="roundRect">
              <a:avLst>
                <a:gd name="adj" fmla="val 14925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22970" y="2347912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8F6A"/>
                  </a:solidFill>
                  <a:latin typeface="+mj-lt"/>
                  <a:ea typeface="+mj-ea"/>
                  <a:cs typeface="+mj-cs"/>
                </a:rPr>
                <a:t>稳定贴地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27161" y="2770346"/>
              <a:ext cx="15666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isGrounded ? -2f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26780" y="30765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保留很小向下速度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343900" y="3886200"/>
            <a:ext cx="2362200" cy="1943100"/>
            <a:chOff x="8343900" y="3886200"/>
            <a:chExt cx="2362200" cy="1943100"/>
          </a:xfrm>
        </p:grpSpPr>
        <p:sp>
          <p:nvSpPr>
            <p:cNvPr id="34" name="Ellipse 34"/>
            <p:cNvSpPr/>
            <p:nvPr/>
          </p:nvSpPr>
          <p:spPr>
            <a:xfrm>
              <a:off x="8763000" y="38862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07737" y="41014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343900" y="4629150"/>
              <a:ext cx="2362200" cy="1200150"/>
            </a:xfrm>
            <a:prstGeom prst="roundRect">
              <a:avLst>
                <a:gd name="adj" fmla="val 15873"/>
              </a:avLst>
            </a:prstGeom>
            <a:solidFill>
              <a:srgbClr val="FFF0D1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10233025" y="4788694"/>
              <a:ext cx="241299" cy="271462"/>
              <a:chOff x="10233025" y="4788694"/>
              <a:chExt cx="241299" cy="271462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0263187" y="4818856"/>
                <a:ext cx="180975" cy="211137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211137">
                    <a:moveTo>
                      <a:pt x="0" y="135731"/>
                    </a:moveTo>
                    <a:lnTo>
                      <a:pt x="0" y="45244"/>
                    </a:lnTo>
                    <a:cubicBezTo>
                      <a:pt x="0" y="20256"/>
                      <a:pt x="20256" y="0"/>
                      <a:pt x="45244" y="0"/>
                    </a:cubicBezTo>
                    <a:cubicBezTo>
                      <a:pt x="70231" y="0"/>
                      <a:pt x="90487" y="20256"/>
                      <a:pt x="90487" y="45244"/>
                    </a:cubicBezTo>
                    <a:lnTo>
                      <a:pt x="90487" y="165893"/>
                    </a:lnTo>
                    <a:cubicBezTo>
                      <a:pt x="90487" y="190881"/>
                      <a:pt x="110744" y="211137"/>
                      <a:pt x="135731" y="211137"/>
                    </a:cubicBezTo>
                    <a:cubicBezTo>
                      <a:pt x="160718" y="211137"/>
                      <a:pt x="180975" y="190881"/>
                      <a:pt x="180975" y="165893"/>
                    </a:cubicBezTo>
                    <a:lnTo>
                      <a:pt x="180975" y="75406"/>
                    </a:lnTo>
                  </a:path>
                </a:pathLst>
              </a:custGeom>
              <a:noFill/>
              <a:ln w="19050">
                <a:solidFill>
                  <a:srgbClr val="8C5A0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413999" y="4788694"/>
                <a:ext cx="60325" cy="105569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105569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cubicBezTo>
                      <a:pt x="46821" y="0"/>
                      <a:pt x="60325" y="13504"/>
                      <a:pt x="60325" y="30162"/>
                    </a:cubicBezTo>
                    <a:lnTo>
                      <a:pt x="60325" y="75406"/>
                    </a:lnTo>
                    <a:cubicBezTo>
                      <a:pt x="60325" y="92064"/>
                      <a:pt x="46821" y="105569"/>
                      <a:pt x="30162" y="105569"/>
                    </a:cubicBezTo>
                    <a:cubicBezTo>
                      <a:pt x="13504" y="105569"/>
                      <a:pt x="0" y="92064"/>
                      <a:pt x="0" y="75406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8C5A0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233025" y="4954587"/>
                <a:ext cx="60325" cy="105569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105569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cubicBezTo>
                      <a:pt x="46821" y="0"/>
                      <a:pt x="60325" y="13504"/>
                      <a:pt x="60325" y="30162"/>
                    </a:cubicBezTo>
                    <a:lnTo>
                      <a:pt x="60325" y="75406"/>
                    </a:lnTo>
                    <a:cubicBezTo>
                      <a:pt x="60325" y="92064"/>
                      <a:pt x="46821" y="105569"/>
                      <a:pt x="30162" y="105569"/>
                    </a:cubicBezTo>
                    <a:cubicBezTo>
                      <a:pt x="13504" y="105569"/>
                      <a:pt x="0" y="92064"/>
                      <a:pt x="0" y="75406"/>
                    </a:cubicBezTo>
                    <a:lnTo>
                      <a:pt x="0" y="30162"/>
                    </a:lnTo>
                  </a:path>
                </a:pathLst>
              </a:custGeom>
              <a:noFill/>
              <a:ln w="19050">
                <a:solidFill>
                  <a:srgbClr val="8C5A00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522970" y="4748212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计算跳跃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27542" y="5178742"/>
              <a:ext cx="14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sqrt(h × -2 × g)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26780" y="54673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着地且空格刚按下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34050" y="3886200"/>
            <a:ext cx="2362200" cy="1943100"/>
            <a:chOff x="5734050" y="3886200"/>
            <a:chExt cx="2362200" cy="1943100"/>
          </a:xfrm>
        </p:grpSpPr>
        <p:sp>
          <p:nvSpPr>
            <p:cNvPr id="45" name="Ellipse 45"/>
            <p:cNvSpPr/>
            <p:nvPr/>
          </p:nvSpPr>
          <p:spPr>
            <a:xfrm>
              <a:off x="6153150" y="3886200"/>
              <a:ext cx="647700" cy="647700"/>
            </a:xfrm>
            <a:prstGeom prst="ellipse">
              <a:avLst/>
            </a:prstGeom>
            <a:solidFill>
              <a:srgbClr val="D85C4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97887" y="41014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34050" y="4629150"/>
              <a:ext cx="2362200" cy="1200150"/>
            </a:xfrm>
            <a:prstGeom prst="roundRect">
              <a:avLst>
                <a:gd name="adj" fmla="val 15873"/>
              </a:avLst>
            </a:prstGeom>
            <a:solidFill>
              <a:srgbClr val="FFFFFF"/>
            </a:solidFill>
            <a:ln w="28575">
              <a:solidFill>
                <a:srgbClr val="D85C4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628236" y="4793469"/>
              <a:ext cx="231178" cy="266687"/>
            </a:xfrm>
            <a:custGeom>
              <a:avLst/>
              <a:gdLst/>
              <a:ahLst/>
              <a:cxnLst/>
              <a:rect l="l" t="t" r="r" b="b"/>
              <a:pathLst>
                <a:path w="231178" h="266687">
                  <a:moveTo>
                    <a:pt x="70345" y="251606"/>
                  </a:moveTo>
                  <a:lnTo>
                    <a:pt x="70345" y="130956"/>
                  </a:lnTo>
                  <a:lnTo>
                    <a:pt x="16264" y="130956"/>
                  </a:lnTo>
                  <a:cubicBezTo>
                    <a:pt x="10165" y="130955"/>
                    <a:pt x="4667" y="127280"/>
                    <a:pt x="2334" y="121646"/>
                  </a:cubicBezTo>
                  <a:cubicBezTo>
                    <a:pt x="0" y="116011"/>
                    <a:pt x="1290" y="109525"/>
                    <a:pt x="5601" y="105212"/>
                  </a:cubicBezTo>
                  <a:lnTo>
                    <a:pt x="104926" y="5887"/>
                  </a:lnTo>
                  <a:cubicBezTo>
                    <a:pt x="110816" y="0"/>
                    <a:pt x="120362" y="0"/>
                    <a:pt x="126251" y="5887"/>
                  </a:cubicBezTo>
                  <a:lnTo>
                    <a:pt x="225576" y="105212"/>
                  </a:lnTo>
                  <a:cubicBezTo>
                    <a:pt x="229888" y="109525"/>
                    <a:pt x="231178" y="116011"/>
                    <a:pt x="228844" y="121646"/>
                  </a:cubicBezTo>
                  <a:cubicBezTo>
                    <a:pt x="226510" y="127280"/>
                    <a:pt x="221013" y="130955"/>
                    <a:pt x="214914" y="130956"/>
                  </a:cubicBezTo>
                  <a:lnTo>
                    <a:pt x="160832" y="130956"/>
                  </a:lnTo>
                  <a:lnTo>
                    <a:pt x="160832" y="251606"/>
                  </a:lnTo>
                  <a:cubicBezTo>
                    <a:pt x="160832" y="259935"/>
                    <a:pt x="154080" y="266687"/>
                    <a:pt x="145751" y="266687"/>
                  </a:cubicBezTo>
                  <a:lnTo>
                    <a:pt x="85426" y="266687"/>
                  </a:lnTo>
                  <a:cubicBezTo>
                    <a:pt x="77097" y="266687"/>
                    <a:pt x="70345" y="259935"/>
                    <a:pt x="70345" y="251606"/>
                  </a:cubicBezTo>
                </a:path>
              </a:pathLst>
            </a:custGeom>
            <a:noFill/>
            <a:ln w="19050">
              <a:solidFill>
                <a:srgbClr val="D85C45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13120" y="4748212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D85C45"/>
                  </a:solidFill>
                  <a:latin typeface="+mj-lt"/>
                  <a:ea typeface="+mj-ea"/>
                  <a:cs typeface="+mj-cs"/>
                </a:rPr>
                <a:t>积分重力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918073" y="5186839"/>
              <a:ext cx="1505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vY += gravity × dt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16930" y="54673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每帧更新竖直速度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3124200" y="3886200"/>
            <a:ext cx="2362200" cy="1943100"/>
            <a:chOff x="3124200" y="3886200"/>
            <a:chExt cx="2362200" cy="1943100"/>
          </a:xfrm>
        </p:grpSpPr>
        <p:sp>
          <p:nvSpPr>
            <p:cNvPr id="53" name="Ellipse 53"/>
            <p:cNvSpPr/>
            <p:nvPr/>
          </p:nvSpPr>
          <p:spPr>
            <a:xfrm>
              <a:off x="3543300" y="388620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788037" y="41014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124200" y="4629150"/>
              <a:ext cx="2362200" cy="1200150"/>
            </a:xfrm>
            <a:prstGeom prst="roundRect">
              <a:avLst>
                <a:gd name="adj" fmla="val 15873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4998244" y="4788694"/>
              <a:ext cx="271462" cy="271462"/>
              <a:chOff x="4998244" y="4788694"/>
              <a:chExt cx="271462" cy="271462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5224462" y="4879181"/>
                <a:ext cx="45244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45244" h="90487">
                    <a:moveTo>
                      <a:pt x="0" y="0"/>
                    </a:moveTo>
                    <a:lnTo>
                      <a:pt x="45244" y="45244"/>
                    </a:lnTo>
                    <a:lnTo>
                      <a:pt x="0" y="90487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179218" y="4924425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4998244" y="4879181"/>
                <a:ext cx="45244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45244" h="90487">
                    <a:moveTo>
                      <a:pt x="45244" y="0"/>
                    </a:moveTo>
                    <a:lnTo>
                      <a:pt x="0" y="45244"/>
                    </a:lnTo>
                    <a:lnTo>
                      <a:pt x="45244" y="90487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998244" y="4924425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5088731" y="5014912"/>
                <a:ext cx="90487" cy="45244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45244">
                    <a:moveTo>
                      <a:pt x="0" y="0"/>
                    </a:moveTo>
                    <a:lnTo>
                      <a:pt x="45244" y="45244"/>
                    </a:lnTo>
                    <a:lnTo>
                      <a:pt x="90487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5133975" y="4969668"/>
                <a:ext cx="9525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0487">
                    <a:moveTo>
                      <a:pt x="0" y="0"/>
                    </a:moveTo>
                    <a:lnTo>
                      <a:pt x="0" y="90487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5088731" y="4788694"/>
                <a:ext cx="90487" cy="45244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45244">
                    <a:moveTo>
                      <a:pt x="90487" y="45244"/>
                    </a:moveTo>
                    <a:lnTo>
                      <a:pt x="45244" y="0"/>
                    </a:lnTo>
                    <a:lnTo>
                      <a:pt x="0" y="45244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5133975" y="4788694"/>
                <a:ext cx="9525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0487">
                    <a:moveTo>
                      <a:pt x="0" y="0"/>
                    </a:moveTo>
                    <a:lnTo>
                      <a:pt x="0" y="90487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3303270" y="4748212"/>
              <a:ext cx="19878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Move + 修正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308223" y="5186839"/>
              <a:ext cx="16759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Move(velocity × dt)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307080" y="5467350"/>
              <a:ext cx="1790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撞到顶部 → vY 归零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22028" y="4857750"/>
            <a:ext cx="2746843" cy="971550"/>
            <a:chOff x="322028" y="4857750"/>
            <a:chExt cx="2746843" cy="971550"/>
          </a:xfrm>
        </p:grpSpPr>
        <p:sp>
          <p:nvSpPr>
            <p:cNvPr id="69" name="Rectangle 69"/>
            <p:cNvSpPr/>
            <p:nvPr/>
          </p:nvSpPr>
          <p:spPr>
            <a:xfrm>
              <a:off x="514350" y="4857750"/>
              <a:ext cx="2362200" cy="971550"/>
            </a:xfrm>
            <a:prstGeom prst="roundRect">
              <a:avLst>
                <a:gd name="adj" fmla="val 19608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68744" y="5049679"/>
              <a:ext cx="225341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horizontal + vertical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22028" y="5373529"/>
              <a:ext cx="27468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合成速度后只调用一次 Move</a:t>
              </a:r>
            </a:p>
          </p:txBody>
        </p:sp>
      </p:grpSp>
      <p:sp>
        <p:nvSpPr>
          <p:cNvPr id="73" name="Line 73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564642" y="6521768"/>
            <a:ext cx="257764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语法基础 · 完整移动算法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41373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11</a:t>
            </a:fld>
          </a:p>
        </p:txBody>
      </p: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9572732" cy="973074"/>
            <a:chOff x="552450" y="346710"/>
            <a:chExt cx="9572732" cy="973074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95727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先决定“直接控制”还是“物理响应”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1406" y="9677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选择移动系统，就是选择角色对世界的响应方式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543050"/>
            <a:ext cx="3352800" cy="3905250"/>
            <a:chOff x="571500" y="1543050"/>
            <a:chExt cx="3352800" cy="3905250"/>
          </a:xfrm>
        </p:grpSpPr>
        <p:sp>
          <p:nvSpPr>
            <p:cNvPr id="5" name="Rectangle 5"/>
            <p:cNvSpPr/>
            <p:nvPr/>
          </p:nvSpPr>
          <p:spPr>
            <a:xfrm>
              <a:off x="571500" y="1543050"/>
              <a:ext cx="3352800" cy="3905250"/>
            </a:xfrm>
            <a:prstGeom prst="roundRect">
              <a:avLst>
                <a:gd name="adj" fmla="val 7386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752600" y="1733550"/>
              <a:ext cx="990600" cy="990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095500" y="2000250"/>
              <a:ext cx="304800" cy="457201"/>
              <a:chOff x="2095500" y="2000250"/>
              <a:chExt cx="304800" cy="45720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247900" y="20002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120900" y="2355851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0160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222500" y="2127250"/>
                <a:ext cx="12700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330200">
                    <a:moveTo>
                      <a:pt x="127000" y="330200"/>
                    </a:moveTo>
                    <a:lnTo>
                      <a:pt x="76200" y="228600"/>
                    </a:lnTo>
                    <a:lnTo>
                      <a:pt x="0" y="152400"/>
                    </a:ln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095500" y="2127250"/>
                <a:ext cx="304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01600">
                    <a:moveTo>
                      <a:pt x="0" y="101600"/>
                    </a:moveTo>
                    <a:lnTo>
                      <a:pt x="50800" y="25400"/>
                    </a:lnTo>
                    <a:lnTo>
                      <a:pt x="152400" y="0"/>
                    </a:lnTo>
                    <a:lnTo>
                      <a:pt x="228600" y="76200"/>
                    </a:lnTo>
                    <a:lnTo>
                      <a:pt x="304800" y="1016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698232" y="2794159"/>
              <a:ext cx="3099337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CharacterController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8675" y="3293269"/>
              <a:ext cx="16092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脚本直接控制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437" y="3680936"/>
              <a:ext cx="208778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86214" indent="-18621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 Move 给位移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437" y="4023836"/>
              <a:ext cx="229371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86214" indent="-18621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重力与跳跃自己维护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9437" y="4366736"/>
              <a:ext cx="229371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86214" indent="-18621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坡度、台阶参数友好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9437" y="4709636"/>
              <a:ext cx="252593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86214" indent="-18621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默认不被刚体随意撞飞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38200" y="5086350"/>
              <a:ext cx="2819400" cy="228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46571" y="5120164"/>
              <a:ext cx="2202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常见：第一 / 第三人称玩家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248150" y="1543050"/>
            <a:ext cx="3695700" cy="3905250"/>
            <a:chOff x="4248150" y="1543050"/>
            <a:chExt cx="3695700" cy="3905250"/>
          </a:xfrm>
        </p:grpSpPr>
        <p:sp>
          <p:nvSpPr>
            <p:cNvPr id="21" name="Rectangle 21"/>
            <p:cNvSpPr/>
            <p:nvPr/>
          </p:nvSpPr>
          <p:spPr>
            <a:xfrm>
              <a:off x="4248150" y="1543050"/>
              <a:ext cx="3695700" cy="3905250"/>
            </a:xfrm>
            <a:prstGeom prst="roundRect">
              <a:avLst>
                <a:gd name="adj" fmla="val 6701"/>
              </a:avLst>
            </a:prstGeom>
            <a:solidFill>
              <a:srgbClr val="FFF9E9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5600700" y="1733550"/>
              <a:ext cx="990600" cy="99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918200" y="2101850"/>
              <a:ext cx="381000" cy="254000"/>
            </a:xfrm>
            <a:custGeom>
              <a:avLst/>
              <a:gdLst/>
              <a:ahLst/>
              <a:cxnLst/>
              <a:rect l="l" t="t" r="r" b="b"/>
              <a:pathLst>
                <a:path w="381000" h="254000">
                  <a:moveTo>
                    <a:pt x="0" y="127000"/>
                  </a:moveTo>
                  <a:lnTo>
                    <a:pt x="127000" y="254000"/>
                  </a:ln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75783" y="273748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选择规则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495800" y="3333750"/>
              <a:ext cx="3200400" cy="723900"/>
            </a:xfrm>
            <a:prstGeom prst="roundRect">
              <a:avLst>
                <a:gd name="adj" fmla="val 23684"/>
              </a:avLst>
            </a:prstGeom>
            <a:solidFill>
              <a:srgbClr val="EAF0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50776" y="34442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可控性优先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33880" y="3754279"/>
              <a:ext cx="19242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玩家角色、精确移动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66143" y="4119562"/>
              <a:ext cx="4597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OR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95800" y="4572000"/>
              <a:ext cx="3200400" cy="723900"/>
            </a:xfrm>
            <a:prstGeom prst="roundRect">
              <a:avLst>
                <a:gd name="adj" fmla="val 23684"/>
              </a:avLst>
            </a:prstGeom>
            <a:solidFill>
              <a:srgbClr val="E8F5F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23561" y="46824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物理响应优先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15840" y="4992529"/>
              <a:ext cx="256032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箱子、球、载具、物理角色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267700" y="1543050"/>
            <a:ext cx="3352800" cy="3905250"/>
            <a:chOff x="8267700" y="1543050"/>
            <a:chExt cx="3352800" cy="3905250"/>
          </a:xfrm>
        </p:grpSpPr>
        <p:sp>
          <p:nvSpPr>
            <p:cNvPr id="33" name="Rectangle 33"/>
            <p:cNvSpPr/>
            <p:nvPr/>
          </p:nvSpPr>
          <p:spPr>
            <a:xfrm>
              <a:off x="8267700" y="1543050"/>
              <a:ext cx="3352800" cy="3905250"/>
            </a:xfrm>
            <a:prstGeom prst="roundRect">
              <a:avLst>
                <a:gd name="adj" fmla="val 7386"/>
              </a:avLst>
            </a:prstGeom>
            <a:solidFill>
              <a:srgbClr val="E8F5F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9448800" y="1733550"/>
              <a:ext cx="990600" cy="990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9740900" y="2000250"/>
              <a:ext cx="406401" cy="457201"/>
              <a:chOff x="9740900" y="2000250"/>
              <a:chExt cx="406401" cy="45720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9740900" y="2000250"/>
                <a:ext cx="406401" cy="457201"/>
              </a:xfrm>
              <a:custGeom>
                <a:avLst/>
                <a:gdLst/>
                <a:ahLst/>
                <a:cxnLst/>
                <a:rect l="l" t="t" r="r" b="b"/>
                <a:pathLst>
                  <a:path w="406401" h="457201">
                    <a:moveTo>
                      <a:pt x="203200" y="0"/>
                    </a:moveTo>
                    <a:lnTo>
                      <a:pt x="406401" y="114300"/>
                    </a:lnTo>
                    <a:lnTo>
                      <a:pt x="406401" y="342900"/>
                    </a:lnTo>
                    <a:lnTo>
                      <a:pt x="203200" y="457201"/>
                    </a:lnTo>
                    <a:lnTo>
                      <a:pt x="0" y="342900"/>
                    </a:lnTo>
                    <a:lnTo>
                      <a:pt x="0" y="114300"/>
                    </a:ln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944100" y="21145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114300"/>
                    </a:move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944100" y="222885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740900" y="21145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203200" y="1143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9172346" y="2769870"/>
              <a:ext cx="15435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F8F6A"/>
                  </a:solidFill>
                  <a:latin typeface="Consolas"/>
                  <a:ea typeface="Consolas"/>
                  <a:cs typeface="Consolas"/>
                </a:rPr>
                <a:t>Rigidbody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24875" y="3293269"/>
              <a:ext cx="134421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动力学响应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25637" y="3680936"/>
              <a:ext cx="229371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86214" indent="-18621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力、速度或物理移动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25637" y="4023836"/>
              <a:ext cx="182927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86214" indent="-18621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可使用物理重力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25637" y="4366736"/>
              <a:ext cx="206149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86214" indent="-18621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会被其他刚体推动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25637" y="4709636"/>
              <a:ext cx="229371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86214" indent="-18621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坡度台阶需额外处理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534400" y="5086350"/>
              <a:ext cx="2819400" cy="228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036510" y="5120164"/>
              <a:ext cx="18151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常见：箱子、球、载具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657350" y="5638800"/>
            <a:ext cx="9088972" cy="446437"/>
            <a:chOff x="1657350" y="5638800"/>
            <a:chExt cx="9088972" cy="446437"/>
          </a:xfrm>
        </p:grpSpPr>
        <p:sp>
          <p:nvSpPr>
            <p:cNvPr id="49" name="Rectangle 49"/>
            <p:cNvSpPr/>
            <p:nvPr/>
          </p:nvSpPr>
          <p:spPr>
            <a:xfrm>
              <a:off x="1657350" y="5638800"/>
              <a:ext cx="8877300" cy="438150"/>
            </a:xfrm>
            <a:prstGeom prst="roundRect">
              <a:avLst>
                <a:gd name="adj" fmla="val 39130"/>
              </a:avLst>
            </a:prstGeom>
            <a:solidFill>
              <a:srgbClr val="D85C45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1850079" y="5754171"/>
              <a:ext cx="224134" cy="192560"/>
              <a:chOff x="1850079" y="5754171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962150" y="58245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850079" y="57541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962150" y="59023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750478" y="5747861"/>
              <a:ext cx="89958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不要让 CharacterController 与非运动学 Rigidbody 在同一根节点争夺移动控制权</a:t>
              </a:r>
            </a:p>
          </p:txBody>
        </p:sp>
      </p:grpSp>
      <p:sp>
        <p:nvSpPr>
          <p:cNvPr id="56" name="Line 56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564642" y="6521768"/>
            <a:ext cx="257764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语法基础 · 移动系统选择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41373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12</a:t>
            </a:fld>
          </a:p>
        </p:txBody>
      </p: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2450" y="346710"/>
            <a:ext cx="11329111" cy="819150"/>
            <a:chOff x="552450" y="346710"/>
            <a:chExt cx="11329111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552450" y="346710"/>
              <a:ext cx="1132911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把脚本放回场景：角色先走，摄像机后跟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571500" y="933450"/>
              <a:ext cx="5372100" cy="114300"/>
            </a:xfrm>
            <a:custGeom>
              <a:avLst/>
              <a:gdLst/>
              <a:ahLst/>
              <a:cxnLst/>
              <a:rect l="l" t="t" r="r" b="b"/>
              <a:pathLst>
                <a:path w="5372100" h="114300">
                  <a:moveTo>
                    <a:pt x="0" y="76200"/>
                  </a:moveTo>
                  <a:cubicBezTo>
                    <a:pt x="1809750" y="0"/>
                    <a:pt x="3429000" y="114300"/>
                    <a:pt x="5372100" y="19050"/>
                  </a:cubicBezTo>
                </a:path>
              </a:pathLst>
            </a:custGeom>
            <a:noFill/>
            <a:ln w="66675" cap="rnd">
              <a:solidFill>
                <a:schemeClr val="accent2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00100" y="1390650"/>
            <a:ext cx="11193859" cy="2190750"/>
            <a:chOff x="800100" y="1390650"/>
            <a:chExt cx="11193859" cy="2190750"/>
          </a:xfrm>
        </p:grpSpPr>
        <p:sp>
          <p:nvSpPr>
            <p:cNvPr id="5" name="Rectangle 5"/>
            <p:cNvSpPr/>
            <p:nvPr/>
          </p:nvSpPr>
          <p:spPr>
            <a:xfrm>
              <a:off x="800100" y="1390650"/>
              <a:ext cx="10591800" cy="2190750"/>
            </a:xfrm>
            <a:prstGeom prst="roundRect">
              <a:avLst>
                <a:gd name="adj" fmla="val 13043"/>
              </a:avLst>
            </a:prstGeom>
            <a:solidFill>
              <a:schemeClr val="lt2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600200" y="1828800"/>
              <a:ext cx="4383429" cy="1370362"/>
              <a:chOff x="1600200" y="1828800"/>
              <a:chExt cx="4383429" cy="1370362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600200" y="1828800"/>
                <a:ext cx="1333500" cy="1333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2076450" y="2209800"/>
                <a:ext cx="381000" cy="571500"/>
                <a:chOff x="2076450" y="2209800"/>
                <a:chExt cx="381000" cy="571500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2266950" y="220980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2108200" y="2654299"/>
                  <a:ext cx="9525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27000">
                      <a:moveTo>
                        <a:pt x="0" y="12700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2235200" y="2368550"/>
                  <a:ext cx="158750" cy="41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412750">
                      <a:moveTo>
                        <a:pt x="158750" y="412750"/>
                      </a:moveTo>
                      <a:lnTo>
                        <a:pt x="95250" y="285750"/>
                      </a:lnTo>
                      <a:lnTo>
                        <a:pt x="0" y="190500"/>
                      </a:lnTo>
                      <a:lnTo>
                        <a:pt x="317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2076450" y="2368550"/>
                  <a:ext cx="381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27000">
                      <a:moveTo>
                        <a:pt x="0" y="127000"/>
                      </a:moveTo>
                      <a:lnTo>
                        <a:pt x="63500" y="31750"/>
                      </a:lnTo>
                      <a:lnTo>
                        <a:pt x="190500" y="0"/>
                      </a:lnTo>
                      <a:lnTo>
                        <a:pt x="285750" y="95250"/>
                      </a:lnTo>
                      <a:lnTo>
                        <a:pt x="381000" y="1270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3206496" y="2029778"/>
                <a:ext cx="1135637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5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Player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208782" y="2478405"/>
                <a:ext cx="133974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Update()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210687" y="2861786"/>
                <a:ext cx="277294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读取输入 → Move → 新位置</a:t>
                </a:r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5238750" y="2228850"/>
              <a:ext cx="2000250" cy="266700"/>
            </a:xfrm>
            <a:custGeom>
              <a:avLst/>
              <a:gdLst/>
              <a:ahLst/>
              <a:cxnLst/>
              <a:rect l="l" t="t" r="r" b="b"/>
              <a:pathLst>
                <a:path w="2000250" h="266700">
                  <a:moveTo>
                    <a:pt x="0" y="266700"/>
                  </a:moveTo>
                  <a:cubicBezTo>
                    <a:pt x="781050" y="0"/>
                    <a:pt x="1219200" y="0"/>
                    <a:pt x="2000250" y="266700"/>
                  </a:cubicBezTo>
                </a:path>
              </a:pathLst>
            </a:custGeom>
            <a:noFill/>
            <a:ln w="66675" cap="rnd">
              <a:solidFill>
                <a:schemeClr val="accent2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991350" y="2324100"/>
              <a:ext cx="285750" cy="342900"/>
            </a:xfrm>
            <a:custGeom>
              <a:avLst/>
              <a:gdLst/>
              <a:ahLst/>
              <a:cxnLst/>
              <a:rect l="l" t="t" r="r" b="b"/>
              <a:pathLst>
                <a:path w="285750" h="342900">
                  <a:moveTo>
                    <a:pt x="0" y="0"/>
                  </a:moveTo>
                  <a:lnTo>
                    <a:pt x="285750" y="171450"/>
                  </a:lnTo>
                  <a:lnTo>
                    <a:pt x="0" y="342900"/>
                  </a:lnTo>
                </a:path>
              </a:pathLst>
            </a:custGeom>
            <a:noFill/>
            <a:ln w="66675" cap="rnd">
              <a:solidFill>
                <a:schemeClr val="accent2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060823" y="1833562"/>
              <a:ext cx="23751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8C5A00"/>
                  </a:solidFill>
                  <a:latin typeface="+mj-lt"/>
                  <a:ea typeface="+mj-ea"/>
                  <a:cs typeface="+mj-cs"/>
                </a:rPr>
                <a:t>同一帧，后执行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7543800" y="1828800"/>
              <a:ext cx="4450159" cy="1370362"/>
              <a:chOff x="7543800" y="1828800"/>
              <a:chExt cx="4450159" cy="1370362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7543800" y="1828800"/>
                <a:ext cx="1333500" cy="1333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7924800" y="2241550"/>
                <a:ext cx="571499" cy="507999"/>
                <a:chOff x="7924800" y="2241550"/>
                <a:chExt cx="571499" cy="507999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7924800" y="2241550"/>
                  <a:ext cx="571499" cy="507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499" h="507999">
                      <a:moveTo>
                        <a:pt x="63500" y="95250"/>
                      </a:moveTo>
                      <a:lnTo>
                        <a:pt x="95250" y="95250"/>
                      </a:lnTo>
                      <a:cubicBezTo>
                        <a:pt x="130320" y="95250"/>
                        <a:pt x="158750" y="66820"/>
                        <a:pt x="158750" y="31750"/>
                      </a:cubicBezTo>
                      <a:cubicBezTo>
                        <a:pt x="158750" y="14215"/>
                        <a:pt x="172965" y="0"/>
                        <a:pt x="190500" y="0"/>
                      </a:cubicBezTo>
                      <a:lnTo>
                        <a:pt x="381000" y="0"/>
                      </a:lnTo>
                      <a:cubicBezTo>
                        <a:pt x="398535" y="0"/>
                        <a:pt x="412750" y="14215"/>
                        <a:pt x="412750" y="31750"/>
                      </a:cubicBezTo>
                      <a:cubicBezTo>
                        <a:pt x="412750" y="66820"/>
                        <a:pt x="441179" y="95250"/>
                        <a:pt x="476250" y="95250"/>
                      </a:cubicBezTo>
                      <a:lnTo>
                        <a:pt x="507999" y="95250"/>
                      </a:lnTo>
                      <a:cubicBezTo>
                        <a:pt x="543070" y="95250"/>
                        <a:pt x="571499" y="123680"/>
                        <a:pt x="571499" y="158750"/>
                      </a:cubicBezTo>
                      <a:lnTo>
                        <a:pt x="571499" y="444500"/>
                      </a:lnTo>
                      <a:cubicBezTo>
                        <a:pt x="571499" y="479570"/>
                        <a:pt x="543070" y="507999"/>
                        <a:pt x="507999" y="507999"/>
                      </a:cubicBezTo>
                      <a:lnTo>
                        <a:pt x="63500" y="507999"/>
                      </a:lnTo>
                      <a:cubicBezTo>
                        <a:pt x="28430" y="507999"/>
                        <a:pt x="0" y="479570"/>
                        <a:pt x="0" y="444500"/>
                      </a:cubicBezTo>
                      <a:lnTo>
                        <a:pt x="0" y="158750"/>
                      </a:lnTo>
                      <a:cubicBezTo>
                        <a:pt x="0" y="123680"/>
                        <a:pt x="28430" y="95250"/>
                        <a:pt x="63500" y="952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8115300" y="243205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95250"/>
                      </a:moveTo>
                      <a:cubicBezTo>
                        <a:pt x="0" y="147855"/>
                        <a:pt x="42645" y="190500"/>
                        <a:pt x="95250" y="190500"/>
                      </a:cubicBezTo>
                      <a:cubicBezTo>
                        <a:pt x="147855" y="190500"/>
                        <a:pt x="190500" y="147855"/>
                        <a:pt x="190500" y="95250"/>
                      </a:cubicBezTo>
                      <a:cubicBezTo>
                        <a:pt x="190500" y="42645"/>
                        <a:pt x="147855" y="0"/>
                        <a:pt x="95250" y="0"/>
                      </a:cubicBezTo>
                      <a:cubicBezTo>
                        <a:pt x="42645" y="0"/>
                        <a:pt x="0" y="42645"/>
                        <a:pt x="0" y="9525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9150096" y="2029778"/>
                <a:ext cx="2194835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5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Main Camera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152382" y="2478405"/>
                <a:ext cx="200264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2F8F6A"/>
                    </a:solidFill>
                    <a:latin typeface="Consolas"/>
                    <a:ea typeface="Consolas"/>
                    <a:cs typeface="Consolas"/>
                  </a:rPr>
                  <a:t>LateUpdate()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154287" y="2861786"/>
                <a:ext cx="283967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Lerp 到目标位置 → LookAt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47700" y="4019550"/>
            <a:ext cx="10858500" cy="1866900"/>
            <a:chOff x="647700" y="4019550"/>
            <a:chExt cx="10858500" cy="1866900"/>
          </a:xfrm>
        </p:grpSpPr>
        <p:sp>
          <p:nvSpPr>
            <p:cNvPr id="28" name="Freeform 28"/>
            <p:cNvSpPr/>
            <p:nvPr/>
          </p:nvSpPr>
          <p:spPr>
            <a:xfrm>
              <a:off x="1619250" y="4324350"/>
              <a:ext cx="8953500" cy="9525"/>
            </a:xfrm>
            <a:custGeom>
              <a:avLst/>
              <a:gdLst/>
              <a:ahLst/>
              <a:cxnLst/>
              <a:rect l="l" t="t" r="r" b="b"/>
              <a:pathLst>
                <a:path w="8953500" h="9525">
                  <a:moveTo>
                    <a:pt x="0" y="0"/>
                  </a:moveTo>
                  <a:lnTo>
                    <a:pt x="8953500" y="0"/>
                  </a:lnTo>
                </a:path>
              </a:pathLst>
            </a:custGeom>
            <a:noFill/>
            <a:ln w="47625" cap="rnd">
              <a:solidFill>
                <a:schemeClr val="accent4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47700" y="4019550"/>
              <a:ext cx="1943100" cy="1866900"/>
              <a:chOff x="647700" y="4019550"/>
              <a:chExt cx="1943100" cy="1866900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1314450" y="4019550"/>
                <a:ext cx="609600" cy="609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543434" y="4223861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47700" y="4781550"/>
                <a:ext cx="19431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00911" y="4957286"/>
                <a:ext cx="123667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角色根节点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22824" y="5314950"/>
                <a:ext cx="15928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Capsule / 空物体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03707" y="5597842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模型可放子节点调朝向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2876550" y="4019550"/>
              <a:ext cx="1943100" cy="1866900"/>
              <a:chOff x="2876550" y="4019550"/>
              <a:chExt cx="1943100" cy="1866900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3543300" y="4019550"/>
                <a:ext cx="609600" cy="609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772284" y="4223861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2876550" y="4781550"/>
                <a:ext cx="19431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229761" y="4957286"/>
                <a:ext cx="123667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添加控制器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931713" y="5331142"/>
                <a:ext cx="18327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CharacterController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023425" y="5597842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调整胶囊与台阶参数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071216" y="4019550"/>
              <a:ext cx="2011469" cy="1866900"/>
              <a:chOff x="5071216" y="4019550"/>
              <a:chExt cx="2011469" cy="1866900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5772150" y="4019550"/>
                <a:ext cx="609600" cy="609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001134" y="4223861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5105400" y="4781550"/>
                <a:ext cx="19431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5458611" y="4957286"/>
                <a:ext cx="123667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挂移动脚本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071216" y="5331142"/>
                <a:ext cx="20114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SimpleCharacterMover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537225" y="5597842"/>
                <a:ext cx="10794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WASD + 空格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7332101" y="4019550"/>
              <a:ext cx="1947398" cy="1866900"/>
              <a:chOff x="7332101" y="4019550"/>
              <a:chExt cx="1947398" cy="186690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8001000" y="4019550"/>
                <a:ext cx="609600" cy="609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229984" y="4223861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7334250" y="4781550"/>
                <a:ext cx="19431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87461" y="4957286"/>
                <a:ext cx="123667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连接摄像机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427547" y="5331142"/>
                <a:ext cx="17565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SimpleCameraFollow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332101" y="5597842"/>
                <a:ext cx="19473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Inspector 连接 target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9563100" y="4019550"/>
              <a:ext cx="1943100" cy="1866900"/>
              <a:chOff x="9563100" y="4019550"/>
              <a:chExt cx="1943100" cy="1866900"/>
            </a:xfrm>
          </p:grpSpPr>
          <p:sp>
            <p:nvSpPr>
              <p:cNvPr id="57" name="Ellipse 57"/>
              <p:cNvSpPr/>
              <p:nvPr/>
            </p:nvSpPr>
            <p:spPr>
              <a:xfrm>
                <a:off x="10229850" y="4019550"/>
                <a:ext cx="609600" cy="6096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458834" y="4223861"/>
                <a:ext cx="15163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9563100" y="4781550"/>
                <a:ext cx="19431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FFFFFF"/>
              </a:solidFill>
              <a:ln w="28575">
                <a:solidFill>
                  <a:srgbClr val="D85C45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9916311" y="4957286"/>
                <a:ext cx="123667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播放并验证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731302" y="5323046"/>
                <a:ext cx="160669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移动 / 跳跃 / 碰撞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709976" y="5597842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跟随稳定即闭环完成</a:t>
                </a:r>
              </a:p>
            </p:txBody>
          </p:sp>
        </p:grpSp>
      </p:grpSp>
      <p:sp>
        <p:nvSpPr>
          <p:cNvPr id="65" name="Line 65"/>
          <p:cNvSpPr/>
          <p:nvPr/>
        </p:nvSpPr>
        <p:spPr>
          <a:xfrm>
            <a:off x="552450" y="635317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564642" y="6521768"/>
            <a:ext cx="331282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Unity 语法基础 · 角色与摄像机场景闭环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13731" y="65217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D9F2A183-AF9C-4B52-A043-5D39F4267624}" type="slidenum"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13</a:t>
            </a:fld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2026-07-18T15:14:57Z</dcterms:created>
  <dcterms:modified xsi:type="dcterms:W3CDTF">2026-07-18T15:14:57Z</dcterms:modified>
  <cp:category/>
  <cp:contentStatus/>
</cp:coreProperties>
</file>