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这一单元聚焦 Unity 的 UGUI 系统。目标不只是把控件摆出来，而是让界面在不同屏幕上稳定、能够接收输入，并把玩家操作可靠地转成游戏行为。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Canvas 决定 UI 的空间与布局，EventSystem 负责输入事件，控件保存视觉和交互状态，脚本或 Inspector 事件执行真正的业务行为。理解这四层后，排错时就能快速判断问题属于哪一层。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Overlay 直接覆盖在游戏画面上，最适合菜单和 HUD；World Space 是 3D 世界中的真实平面，适合头顶血条和场景面板。选择 World Space 时，尺寸、朝向、Event Camera 和遮挡都需要额外检查。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RectTransform 用 Anchor 描述相对父矩形的位置关系，用 Pivot 描述旋转、缩放与位置参考点。Canvas Scaler 再根据基准分辨率和 Match 值，让同一套布局适配不同屏幕比例。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输入先由设备产生，再经过与项目匹配的输入模块交给 EventSystem。Graphic Raycaster 判断指针命中哪个 UI Graphic，最后控件接收点击或导航事件；任意一环缺失都可能导致交互失败。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排错要从全局基础设施开始，再检查 Canvas 和控件，最后检查遮挡与摄像机。按照清单顺序逐项确认，可以避免在复杂层级里反复猜测。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Button 至少要让玩家分辨普通、悬停、按下和禁用状态。事件既可以在 Inspector 中连接，也可以在脚本中监听；如果在 OnEnable 添加监听，就应在 OnDisable 移除。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Simple 适合普通图标，Sliced 适合可缩放的按钮和面板，Tiled 用于重复纹理，Filled 用于血条和冷却。纯装饰 Image 通常可以关闭 Raycast Target，避免透明图片挡住后面的控件。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RawImage 直接显示 Texture，常与 RenderTexture 和 Camera 组合。Image 更适合 Sprite、九宫格和 Filled，RawImage 更适合摄像机、视频或运行时纹理，不应为了普通图标大量替代 Image。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Toggle 表示开关或是非状态，多个 Toggle 放进 ToggleGroup 后可以形成单选。恢复保存值时使用 SetIsOnWithoutNotify，可以只更新显示而不误触发业务监听器。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Dropdown 的 Template、Caption 和 Item 之间有固定引用关系，修改层级后要重新检查。显示选项索引不一定等于内部质量等级，实际项目应建立明确映射并成对管理监听生命周期。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设置面板用 Image 作为背景，用 RawImage 显示预览，用 Toggle、Dropdown 和 Button 分别管理状态、选择与提交。每个控件都应有明确的数据来源、当前值和输出行为。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交付前检查适配、交互、状态、事件和性能。一个成熟 UI 不仅能显示，还要在多种输入方式和屏幕比例下保持清楚、稳定、可操作。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losing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857750"/>
            <a:ext cx="12192000" cy="2000250"/>
          </a:xfrm>
          <a:custGeom>
            <a:avLst/>
            <a:gdLst/>
            <a:ahLst/>
            <a:cxnLst/>
            <a:rect l="l" t="t" r="r" b="b"/>
            <a:pathLst>
              <a:path w="12192000" h="2000250">
                <a:moveTo>
                  <a:pt x="0" y="742950"/>
                </a:moveTo>
                <a:cubicBezTo>
                  <a:pt x="2381250" y="0"/>
                  <a:pt x="3714750" y="1714500"/>
                  <a:pt x="6191250" y="914400"/>
                </a:cubicBezTo>
                <a:cubicBezTo>
                  <a:pt x="8572500" y="171450"/>
                  <a:pt x="10096500" y="1104900"/>
                  <a:pt x="12192000" y="95250"/>
                </a:cubicBezTo>
                <a:lnTo>
                  <a:pt x="12192000" y="2000250"/>
                </a:lnTo>
                <a:lnTo>
                  <a:pt x="0" y="200025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47700" y="838200"/>
            <a:ext cx="4267200" cy="247650"/>
          </a:xfrm>
          <a:custGeom>
            <a:avLst/>
            <a:gdLst/>
            <a:ahLst/>
            <a:cxnLst/>
            <a:rect l="l" t="t" r="r" b="b"/>
            <a:pathLst>
              <a:path w="4267200" h="247650">
                <a:moveTo>
                  <a:pt x="0" y="247650"/>
                </a:moveTo>
                <a:cubicBezTo>
                  <a:pt x="1543050" y="0"/>
                  <a:pt x="2971800" y="209550"/>
                  <a:pt x="4267200" y="38100"/>
                </a:cubicBezTo>
              </a:path>
            </a:pathLst>
          </a:custGeom>
          <a:noFill/>
          <a:ln w="95250" cap="rnd">
            <a:solidFill>
              <a:schemeClr val="accent3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09600" y="1579245"/>
            <a:ext cx="6732857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9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Unity UI 基础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0748" y="2631758"/>
            <a:ext cx="930676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Canvas、EventSystem 与常用 UGUI 控件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3608" y="3341370"/>
            <a:ext cx="622767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把“看得见”变成“点得到、会响应、能适配”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477125" y="781050"/>
            <a:ext cx="4000500" cy="4572000"/>
            <a:chOff x="7477125" y="781050"/>
            <a:chExt cx="4000500" cy="4572000"/>
          </a:xfrm>
        </p:grpSpPr>
        <p:sp>
          <p:nvSpPr>
            <p:cNvPr id="7" name="Rectangle 7"/>
            <p:cNvSpPr/>
            <p:nvPr/>
          </p:nvSpPr>
          <p:spPr>
            <a:xfrm>
              <a:off x="7477125" y="781050"/>
              <a:ext cx="4000500" cy="4572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38100">
              <a:solidFill>
                <a:schemeClr val="accent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477125" y="781050"/>
              <a:ext cx="4000500" cy="628650"/>
            </a:xfrm>
            <a:prstGeom prst="roundRect">
              <a:avLst>
                <a:gd name="adj" fmla="val 4242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715250" y="1000125"/>
              <a:ext cx="190500" cy="190500"/>
            </a:xfrm>
            <a:prstGeom prst="ellipse">
              <a:avLst/>
            </a:prstGeom>
            <a:solidFill>
              <a:srgbClr val="D85C45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001000" y="100012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8286750" y="1000125"/>
              <a:ext cx="190500" cy="19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36965" y="996315"/>
              <a:ext cx="1080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SETTINGS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781925" y="1695450"/>
              <a:ext cx="3390900" cy="1047750"/>
            </a:xfrm>
            <a:prstGeom prst="roundRect">
              <a:avLst>
                <a:gd name="adj" fmla="val 18182"/>
              </a:avLst>
            </a:prstGeom>
            <a:solidFill>
              <a:srgbClr val="EAF0FA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163050" y="1978025"/>
              <a:ext cx="628651" cy="558801"/>
              <a:chOff x="9163050" y="1978025"/>
              <a:chExt cx="628651" cy="55880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9163050" y="1978025"/>
                <a:ext cx="628651" cy="558801"/>
              </a:xfrm>
              <a:custGeom>
                <a:avLst/>
                <a:gdLst/>
                <a:ahLst/>
                <a:cxnLst/>
                <a:rect l="l" t="t" r="r" b="b"/>
                <a:pathLst>
                  <a:path w="628651" h="558801">
                    <a:moveTo>
                      <a:pt x="69850" y="104775"/>
                    </a:moveTo>
                    <a:lnTo>
                      <a:pt x="104775" y="104775"/>
                    </a:lnTo>
                    <a:cubicBezTo>
                      <a:pt x="143352" y="104775"/>
                      <a:pt x="174625" y="73502"/>
                      <a:pt x="174625" y="34925"/>
                    </a:cubicBezTo>
                    <a:cubicBezTo>
                      <a:pt x="174625" y="15636"/>
                      <a:pt x="190262" y="0"/>
                      <a:pt x="209550" y="0"/>
                    </a:cubicBezTo>
                    <a:lnTo>
                      <a:pt x="419100" y="0"/>
                    </a:lnTo>
                    <a:cubicBezTo>
                      <a:pt x="438389" y="0"/>
                      <a:pt x="454025" y="15636"/>
                      <a:pt x="454025" y="34925"/>
                    </a:cubicBezTo>
                    <a:cubicBezTo>
                      <a:pt x="454025" y="73502"/>
                      <a:pt x="485298" y="104775"/>
                      <a:pt x="523875" y="104775"/>
                    </a:cubicBezTo>
                    <a:lnTo>
                      <a:pt x="558801" y="104775"/>
                    </a:lnTo>
                    <a:cubicBezTo>
                      <a:pt x="597378" y="104775"/>
                      <a:pt x="628651" y="136048"/>
                      <a:pt x="628651" y="174625"/>
                    </a:cubicBezTo>
                    <a:lnTo>
                      <a:pt x="628651" y="488950"/>
                    </a:lnTo>
                    <a:cubicBezTo>
                      <a:pt x="628651" y="527528"/>
                      <a:pt x="597378" y="558801"/>
                      <a:pt x="558801" y="558801"/>
                    </a:cubicBezTo>
                    <a:lnTo>
                      <a:pt x="69850" y="558801"/>
                    </a:lnTo>
                    <a:cubicBezTo>
                      <a:pt x="31273" y="558801"/>
                      <a:pt x="0" y="527528"/>
                      <a:pt x="0" y="488950"/>
                    </a:cubicBezTo>
                    <a:lnTo>
                      <a:pt x="0" y="174625"/>
                    </a:lnTo>
                    <a:cubicBezTo>
                      <a:pt x="0" y="136048"/>
                      <a:pt x="31273" y="104775"/>
                      <a:pt x="69850" y="10477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372600" y="2187575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0" y="104775"/>
                    </a:moveTo>
                    <a:cubicBezTo>
                      <a:pt x="0" y="162641"/>
                      <a:pt x="46909" y="209550"/>
                      <a:pt x="104775" y="209550"/>
                    </a:cubicBezTo>
                    <a:cubicBezTo>
                      <a:pt x="162641" y="209550"/>
                      <a:pt x="209550" y="162641"/>
                      <a:pt x="209550" y="104775"/>
                    </a:cubicBezTo>
                    <a:cubicBezTo>
                      <a:pt x="209550" y="46909"/>
                      <a:pt x="162641" y="0"/>
                      <a:pt x="104775" y="0"/>
                    </a:cubicBezTo>
                    <a:cubicBezTo>
                      <a:pt x="46909" y="0"/>
                      <a:pt x="0" y="46909"/>
                      <a:pt x="0" y="10477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7848981" y="30060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音乐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353675" y="2933700"/>
              <a:ext cx="819150" cy="438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782300" y="2981325"/>
              <a:ext cx="342900" cy="3429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8981" y="36918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画质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286875" y="3562350"/>
              <a:ext cx="1885950" cy="476250"/>
            </a:xfrm>
            <a:prstGeom prst="roundRect">
              <a:avLst>
                <a:gd name="adj" fmla="val 28000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506331" y="369189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10772775" y="3733800"/>
              <a:ext cx="266700" cy="152400"/>
            </a:xfrm>
            <a:custGeom>
              <a:avLst/>
              <a:gdLst/>
              <a:ahLst/>
              <a:cxnLst/>
              <a:rect l="l" t="t" r="r" b="b"/>
              <a:pathLst>
                <a:path w="266700" h="152400">
                  <a:moveTo>
                    <a:pt x="0" y="0"/>
                  </a:moveTo>
                  <a:lnTo>
                    <a:pt x="133350" y="152400"/>
                  </a:lnTo>
                  <a:lnTo>
                    <a:pt x="266700" y="0"/>
                  </a:lnTo>
                </a:path>
              </a:pathLst>
            </a:custGeom>
            <a:noFill/>
            <a:ln w="38100" cap="rnd">
              <a:solidFill>
                <a:schemeClr val="dk2"/>
              </a:solidFill>
              <a:round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334375" y="4419600"/>
              <a:ext cx="2286000" cy="590550"/>
            </a:xfrm>
            <a:prstGeom prst="roundRect">
              <a:avLst>
                <a:gd name="adj" fmla="val 2903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86698" y="45605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应用设置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6750" y="4762500"/>
            <a:ext cx="5810250" cy="781050"/>
            <a:chOff x="666750" y="4762500"/>
            <a:chExt cx="5810250" cy="781050"/>
          </a:xfrm>
        </p:grpSpPr>
        <p:sp>
          <p:nvSpPr>
            <p:cNvPr id="27" name="Rectangle 27"/>
            <p:cNvSpPr/>
            <p:nvPr/>
          </p:nvSpPr>
          <p:spPr>
            <a:xfrm>
              <a:off x="666750" y="4762500"/>
              <a:ext cx="5810250" cy="781050"/>
            </a:xfrm>
            <a:prstGeom prst="roundRect">
              <a:avLst>
                <a:gd name="adj" fmla="val 24390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958850" y="5026025"/>
              <a:ext cx="254000" cy="254001"/>
              <a:chOff x="958850" y="5026025"/>
              <a:chExt cx="254000" cy="25400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958850" y="5026025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15875" y="0"/>
                    </a:move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58850" y="52165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15875" y="0"/>
                    </a:move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47625"/>
                    </a:lnTo>
                    <a:cubicBezTo>
                      <a:pt x="95250" y="56393"/>
                      <a:pt x="88143" y="63500"/>
                      <a:pt x="79375" y="63500"/>
                    </a:cubicBezTo>
                    <a:lnTo>
                      <a:pt x="15875" y="63500"/>
                    </a:lnTo>
                    <a:cubicBezTo>
                      <a:pt x="7107" y="63500"/>
                      <a:pt x="0" y="56393"/>
                      <a:pt x="0" y="476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17600" y="5153025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15875" y="0"/>
                    </a:move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17600" y="5026025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15875" y="0"/>
                    </a:move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47625"/>
                    </a:lnTo>
                    <a:cubicBezTo>
                      <a:pt x="95250" y="56393"/>
                      <a:pt x="88143" y="63500"/>
                      <a:pt x="79375" y="63500"/>
                    </a:cubicBezTo>
                    <a:lnTo>
                      <a:pt x="15875" y="63500"/>
                    </a:lnTo>
                    <a:cubicBezTo>
                      <a:pt x="7107" y="63500"/>
                      <a:pt x="0" y="56393"/>
                      <a:pt x="0" y="476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457706" y="5063490"/>
              <a:ext cx="43057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Canvas + Input + Controls + Events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78942" y="6274118"/>
            <a:ext cx="25825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Unity UI 基础课程 · 第 04 单元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470073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UGUI 的四层结构：空间、输入、控件、行为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389717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把职责分清，UI 问题就更容易定位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143000" y="1524000"/>
            <a:ext cx="9906000" cy="4082034"/>
            <a:chOff x="1143000" y="1524000"/>
            <a:chExt cx="9906000" cy="4082034"/>
          </a:xfrm>
        </p:grpSpPr>
        <p:grpSp>
          <p:nvGrpSpPr>
            <p:cNvPr id="12" name="Group 12"/>
            <p:cNvGrpSpPr/>
            <p:nvPr/>
          </p:nvGrpSpPr>
          <p:grpSpPr>
            <a:xfrm>
              <a:off x="1143000" y="1524000"/>
              <a:ext cx="9906000" cy="881634"/>
              <a:chOff x="1143000" y="1524000"/>
              <a:chExt cx="9906000" cy="881634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1143000" y="1524000"/>
                <a:ext cx="9906000" cy="876300"/>
              </a:xfrm>
              <a:prstGeom prst="roundRect">
                <a:avLst>
                  <a:gd name="adj" fmla="val 2391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1466850" y="1809750"/>
                <a:ext cx="304800" cy="304800"/>
                <a:chOff x="1466850" y="1809750"/>
                <a:chExt cx="304800" cy="304800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1466850" y="1809750"/>
                  <a:ext cx="1143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52400">
                      <a:moveTo>
                        <a:pt x="19050" y="0"/>
                      </a:move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133350"/>
                      </a:lnTo>
                      <a:cubicBezTo>
                        <a:pt x="114300" y="143871"/>
                        <a:pt x="105771" y="152400"/>
                        <a:pt x="95250" y="152400"/>
                      </a:cubicBezTo>
                      <a:lnTo>
                        <a:pt x="19050" y="152400"/>
                      </a:lnTo>
                      <a:cubicBezTo>
                        <a:pt x="8529" y="152400"/>
                        <a:pt x="0" y="143871"/>
                        <a:pt x="0" y="1333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6" name="Freeform 6"/>
                <p:cNvSpPr/>
                <p:nvPr/>
              </p:nvSpPr>
              <p:spPr>
                <a:xfrm>
                  <a:off x="1466850" y="2038350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76200">
                      <a:moveTo>
                        <a:pt x="19050" y="0"/>
                      </a:move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57150"/>
                      </a:lnTo>
                      <a:cubicBezTo>
                        <a:pt x="114300" y="67671"/>
                        <a:pt x="105771" y="76200"/>
                        <a:pt x="95250" y="76200"/>
                      </a:cubicBezTo>
                      <a:lnTo>
                        <a:pt x="19050" y="76200"/>
                      </a:lnTo>
                      <a:cubicBezTo>
                        <a:pt x="8529" y="76200"/>
                        <a:pt x="0" y="67671"/>
                        <a:pt x="0" y="571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657350" y="1962150"/>
                  <a:ext cx="1143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52400">
                      <a:moveTo>
                        <a:pt x="19050" y="0"/>
                      </a:move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133350"/>
                      </a:lnTo>
                      <a:cubicBezTo>
                        <a:pt x="114300" y="143871"/>
                        <a:pt x="105771" y="152400"/>
                        <a:pt x="95250" y="152400"/>
                      </a:cubicBezTo>
                      <a:lnTo>
                        <a:pt x="19050" y="152400"/>
                      </a:lnTo>
                      <a:cubicBezTo>
                        <a:pt x="8529" y="152400"/>
                        <a:pt x="0" y="143871"/>
                        <a:pt x="0" y="1333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657350" y="1809750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76200">
                      <a:moveTo>
                        <a:pt x="19050" y="0"/>
                      </a:move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57150"/>
                      </a:lnTo>
                      <a:cubicBezTo>
                        <a:pt x="114300" y="67671"/>
                        <a:pt x="105771" y="76200"/>
                        <a:pt x="95250" y="76200"/>
                      </a:cubicBezTo>
                      <a:lnTo>
                        <a:pt x="19050" y="76200"/>
                      </a:lnTo>
                      <a:cubicBezTo>
                        <a:pt x="8529" y="76200"/>
                        <a:pt x="0" y="67671"/>
                        <a:pt x="0" y="571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0" name="TextBox 10"/>
              <p:cNvSpPr txBox="1"/>
              <p:nvPr/>
            </p:nvSpPr>
            <p:spPr>
              <a:xfrm>
                <a:off x="2045208" y="1674495"/>
                <a:ext cx="389398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Canvas：布局与渲染空间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048256" y="2053590"/>
                <a:ext cx="415320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决定 UI 在屏幕或 3D 世界中如何存在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143000" y="2590800"/>
              <a:ext cx="9906000" cy="881634"/>
              <a:chOff x="1143000" y="2590800"/>
              <a:chExt cx="9906000" cy="881634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143000" y="2590800"/>
                <a:ext cx="9906000" cy="876300"/>
              </a:xfrm>
              <a:prstGeom prst="roundRect">
                <a:avLst>
                  <a:gd name="adj" fmla="val 23913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466850" y="2876550"/>
                <a:ext cx="304753" cy="304753"/>
              </a:xfrm>
              <a:custGeom>
                <a:avLst/>
                <a:gdLst/>
                <a:ahLst/>
                <a:cxnLst/>
                <a:rect l="l" t="t" r="r" b="b"/>
                <a:pathLst>
                  <a:path w="304753" h="304753">
                    <a:moveTo>
                      <a:pt x="74371" y="258375"/>
                    </a:moveTo>
                    <a:cubicBezTo>
                      <a:pt x="76446" y="267696"/>
                      <a:pt x="84096" y="274745"/>
                      <a:pt x="93555" y="276053"/>
                    </a:cubicBezTo>
                    <a:cubicBezTo>
                      <a:pt x="103014" y="277361"/>
                      <a:pt x="112289" y="272651"/>
                      <a:pt x="116815" y="264243"/>
                    </a:cubicBezTo>
                    <a:lnTo>
                      <a:pt x="156629" y="205321"/>
                    </a:lnTo>
                    <a:lnTo>
                      <a:pt x="250107" y="298799"/>
                    </a:lnTo>
                    <a:cubicBezTo>
                      <a:pt x="253919" y="302611"/>
                      <a:pt x="259090" y="304753"/>
                      <a:pt x="264481" y="304753"/>
                    </a:cubicBezTo>
                    <a:cubicBezTo>
                      <a:pt x="269872" y="304753"/>
                      <a:pt x="275042" y="302611"/>
                      <a:pt x="278854" y="298799"/>
                    </a:cubicBezTo>
                    <a:lnTo>
                      <a:pt x="298799" y="278854"/>
                    </a:lnTo>
                    <a:cubicBezTo>
                      <a:pt x="302611" y="275042"/>
                      <a:pt x="304753" y="269872"/>
                      <a:pt x="304753" y="264481"/>
                    </a:cubicBezTo>
                    <a:cubicBezTo>
                      <a:pt x="304753" y="259090"/>
                      <a:pt x="302611" y="253919"/>
                      <a:pt x="298799" y="250107"/>
                    </a:cubicBezTo>
                    <a:lnTo>
                      <a:pt x="205321" y="156629"/>
                    </a:lnTo>
                    <a:lnTo>
                      <a:pt x="264624" y="116815"/>
                    </a:lnTo>
                    <a:cubicBezTo>
                      <a:pt x="273032" y="112286"/>
                      <a:pt x="277739" y="103007"/>
                      <a:pt x="276427" y="93548"/>
                    </a:cubicBezTo>
                    <a:cubicBezTo>
                      <a:pt x="275115" y="84088"/>
                      <a:pt x="268061" y="76441"/>
                      <a:pt x="258737" y="74371"/>
                    </a:cubicBezTo>
                    <a:lnTo>
                      <a:pt x="0" y="0"/>
                    </a:lnTo>
                    <a:lnTo>
                      <a:pt x="74371" y="2583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045208" y="2741295"/>
                <a:ext cx="456560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EventSystem：输入事件调度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048256" y="3120390"/>
                <a:ext cx="534924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维护选中对象，并把鼠标、键盘、手柄事件送出去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143000" y="3657600"/>
              <a:ext cx="9906000" cy="881634"/>
              <a:chOff x="1143000" y="3657600"/>
              <a:chExt cx="9906000" cy="881634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1143000" y="3657600"/>
                <a:ext cx="9906000" cy="876300"/>
              </a:xfrm>
              <a:prstGeom prst="roundRect">
                <a:avLst>
                  <a:gd name="adj" fmla="val 23913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1466850" y="3924300"/>
                <a:ext cx="304800" cy="342900"/>
                <a:chOff x="1466850" y="3924300"/>
                <a:chExt cx="304800" cy="34290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466850" y="3924300"/>
                  <a:ext cx="3048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342900">
                      <a:moveTo>
                        <a:pt x="152400" y="0"/>
                      </a:moveTo>
                      <a:lnTo>
                        <a:pt x="304800" y="85725"/>
                      </a:lnTo>
                      <a:lnTo>
                        <a:pt x="304800" y="257175"/>
                      </a:lnTo>
                      <a:lnTo>
                        <a:pt x="152400" y="342900"/>
                      </a:lnTo>
                      <a:lnTo>
                        <a:pt x="0" y="257175"/>
                      </a:lnTo>
                      <a:lnTo>
                        <a:pt x="0" y="85725"/>
                      </a:ln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619250" y="4010025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85725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619250" y="4095750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466850" y="4010025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152400" y="857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2045208" y="3808095"/>
                <a:ext cx="451698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Controls：显示、状态与交互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048256" y="4187190"/>
                <a:ext cx="54530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Button、Image、RawImage、Toggle、Dropdown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143000" y="4724400"/>
              <a:ext cx="9906000" cy="881634"/>
              <a:chOff x="1143000" y="4724400"/>
              <a:chExt cx="9906000" cy="881634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1143000" y="4724400"/>
                <a:ext cx="9906000" cy="876300"/>
              </a:xfrm>
              <a:prstGeom prst="roundRect">
                <a:avLst>
                  <a:gd name="adj" fmla="val 23913"/>
                </a:avLst>
              </a:prstGeom>
              <a:solidFill>
                <a:schemeClr val="dk2"/>
              </a:solidFill>
              <a:ln>
                <a:noFill/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1439437" y="4982737"/>
                <a:ext cx="359626" cy="359626"/>
                <a:chOff x="1439437" y="4982737"/>
                <a:chExt cx="359626" cy="359626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1439437" y="4982737"/>
                  <a:ext cx="359626" cy="3596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626" h="359626">
                      <a:moveTo>
                        <a:pt x="147904" y="33452"/>
                      </a:moveTo>
                      <a:cubicBezTo>
                        <a:pt x="156019" y="0"/>
                        <a:pt x="203606" y="0"/>
                        <a:pt x="211722" y="33452"/>
                      </a:cubicBezTo>
                      <a:cubicBezTo>
                        <a:pt x="214191" y="43645"/>
                        <a:pt x="221381" y="52045"/>
                        <a:pt x="231070" y="56059"/>
                      </a:cubicBezTo>
                      <a:cubicBezTo>
                        <a:pt x="240759" y="60074"/>
                        <a:pt x="251783" y="59219"/>
                        <a:pt x="260737" y="53759"/>
                      </a:cubicBezTo>
                      <a:cubicBezTo>
                        <a:pt x="290131" y="35852"/>
                        <a:pt x="323793" y="69494"/>
                        <a:pt x="305886" y="98908"/>
                      </a:cubicBezTo>
                      <a:cubicBezTo>
                        <a:pt x="300434" y="107858"/>
                        <a:pt x="299581" y="118874"/>
                        <a:pt x="303591" y="128557"/>
                      </a:cubicBezTo>
                      <a:cubicBezTo>
                        <a:pt x="307600" y="138240"/>
                        <a:pt x="315991" y="145428"/>
                        <a:pt x="326174" y="147904"/>
                      </a:cubicBezTo>
                      <a:cubicBezTo>
                        <a:pt x="359626" y="156019"/>
                        <a:pt x="359626" y="203606"/>
                        <a:pt x="326174" y="211722"/>
                      </a:cubicBezTo>
                      <a:cubicBezTo>
                        <a:pt x="315981" y="214191"/>
                        <a:pt x="307581" y="221381"/>
                        <a:pt x="303567" y="231070"/>
                      </a:cubicBezTo>
                      <a:cubicBezTo>
                        <a:pt x="299552" y="240759"/>
                        <a:pt x="300407" y="251783"/>
                        <a:pt x="305867" y="260737"/>
                      </a:cubicBezTo>
                      <a:cubicBezTo>
                        <a:pt x="323774" y="290132"/>
                        <a:pt x="290131" y="323793"/>
                        <a:pt x="260718" y="305886"/>
                      </a:cubicBezTo>
                      <a:cubicBezTo>
                        <a:pt x="251768" y="300434"/>
                        <a:pt x="240752" y="299581"/>
                        <a:pt x="231069" y="303591"/>
                      </a:cubicBezTo>
                      <a:cubicBezTo>
                        <a:pt x="221386" y="307600"/>
                        <a:pt x="214198" y="315991"/>
                        <a:pt x="211722" y="326174"/>
                      </a:cubicBezTo>
                      <a:cubicBezTo>
                        <a:pt x="203606" y="359626"/>
                        <a:pt x="156019" y="359626"/>
                        <a:pt x="147904" y="326174"/>
                      </a:cubicBezTo>
                      <a:cubicBezTo>
                        <a:pt x="145435" y="315981"/>
                        <a:pt x="138245" y="307581"/>
                        <a:pt x="128556" y="303567"/>
                      </a:cubicBezTo>
                      <a:cubicBezTo>
                        <a:pt x="118867" y="299552"/>
                        <a:pt x="107843" y="300407"/>
                        <a:pt x="98889" y="305867"/>
                      </a:cubicBezTo>
                      <a:cubicBezTo>
                        <a:pt x="69494" y="323774"/>
                        <a:pt x="35833" y="290132"/>
                        <a:pt x="53740" y="260718"/>
                      </a:cubicBezTo>
                      <a:cubicBezTo>
                        <a:pt x="59192" y="251768"/>
                        <a:pt x="60045" y="240752"/>
                        <a:pt x="56035" y="231069"/>
                      </a:cubicBezTo>
                      <a:cubicBezTo>
                        <a:pt x="52026" y="221386"/>
                        <a:pt x="43635" y="214198"/>
                        <a:pt x="33452" y="211722"/>
                      </a:cubicBezTo>
                      <a:cubicBezTo>
                        <a:pt x="0" y="203606"/>
                        <a:pt x="0" y="156019"/>
                        <a:pt x="33452" y="147904"/>
                      </a:cubicBezTo>
                      <a:cubicBezTo>
                        <a:pt x="43645" y="145435"/>
                        <a:pt x="52045" y="138245"/>
                        <a:pt x="56059" y="128556"/>
                      </a:cubicBezTo>
                      <a:cubicBezTo>
                        <a:pt x="60074" y="118867"/>
                        <a:pt x="59219" y="107843"/>
                        <a:pt x="53759" y="98889"/>
                      </a:cubicBezTo>
                      <a:cubicBezTo>
                        <a:pt x="35852" y="69494"/>
                        <a:pt x="69494" y="35833"/>
                        <a:pt x="98908" y="53740"/>
                      </a:cubicBezTo>
                      <a:cubicBezTo>
                        <a:pt x="117958" y="65322"/>
                        <a:pt x="142646" y="55074"/>
                        <a:pt x="147904" y="33452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562100" y="510540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57150"/>
                      </a:moveTo>
                      <a:cubicBezTo>
                        <a:pt x="0" y="88713"/>
                        <a:pt x="25587" y="114300"/>
                        <a:pt x="57150" y="114300"/>
                      </a:cubicBez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ubicBezTo>
                        <a:pt x="25587" y="0"/>
                        <a:pt x="0" y="25587"/>
                        <a:pt x="0" y="5715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2045208" y="4874895"/>
                <a:ext cx="4359859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Behaviour：真正的游戏行为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048256" y="5253990"/>
                <a:ext cx="44805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通过 Inspector 事件或脚本监听执行逻辑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5" name="Line 35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4642" y="6521768"/>
              <a:ext cx="17611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UGUI · 四层职责模型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342153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Canvas 模式：贴在屏幕上，还是放进世界里？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89432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选择 Render Mode，就是选择 UI 所在的空间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762000" y="1524000"/>
            <a:ext cx="10668000" cy="4171950"/>
            <a:chOff x="762000" y="1524000"/>
            <a:chExt cx="10668000" cy="4171950"/>
          </a:xfrm>
        </p:grpSpPr>
        <p:grpSp>
          <p:nvGrpSpPr>
            <p:cNvPr id="19" name="Group 19"/>
            <p:cNvGrpSpPr/>
            <p:nvPr/>
          </p:nvGrpSpPr>
          <p:grpSpPr>
            <a:xfrm>
              <a:off x="762000" y="1524000"/>
              <a:ext cx="5281420" cy="4171950"/>
              <a:chOff x="762000" y="1524000"/>
              <a:chExt cx="5281420" cy="41719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762000" y="1524000"/>
                <a:ext cx="5048250" cy="4171950"/>
              </a:xfrm>
              <a:prstGeom prst="roundRect">
                <a:avLst>
                  <a:gd name="adj" fmla="val 6849"/>
                </a:avLst>
              </a:prstGeom>
              <a:solidFill>
                <a:srgbClr val="FFFFFF"/>
              </a:solidFill>
              <a:ln w="38100">
                <a:solidFill>
                  <a:schemeClr val="accent1"/>
                </a:solidFill>
              </a:ln>
            </p:spPr>
          </p:sp>
          <p:sp>
            <p:nvSpPr>
              <p:cNvPr id="5" name="Rectangle 5"/>
              <p:cNvSpPr/>
              <p:nvPr/>
            </p:nvSpPr>
            <p:spPr>
              <a:xfrm>
                <a:off x="762000" y="1524000"/>
                <a:ext cx="5048250" cy="838200"/>
              </a:xfrm>
              <a:prstGeom prst="roundRect">
                <a:avLst>
                  <a:gd name="adj" fmla="val 3409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10" name="Group 10"/>
              <p:cNvGrpSpPr/>
              <p:nvPr/>
            </p:nvGrpSpPr>
            <p:grpSpPr>
              <a:xfrm>
                <a:off x="1104900" y="1790700"/>
                <a:ext cx="304800" cy="304800"/>
                <a:chOff x="1104900" y="1790700"/>
                <a:chExt cx="304800" cy="304800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1104900" y="1790700"/>
                  <a:ext cx="1143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52400">
                      <a:moveTo>
                        <a:pt x="19050" y="0"/>
                      </a:move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133350"/>
                      </a:lnTo>
                      <a:cubicBezTo>
                        <a:pt x="114300" y="143871"/>
                        <a:pt x="105771" y="152400"/>
                        <a:pt x="95250" y="152400"/>
                      </a:cubicBezTo>
                      <a:lnTo>
                        <a:pt x="19050" y="152400"/>
                      </a:lnTo>
                      <a:cubicBezTo>
                        <a:pt x="8529" y="152400"/>
                        <a:pt x="0" y="143871"/>
                        <a:pt x="0" y="1333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104900" y="2019300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76200">
                      <a:moveTo>
                        <a:pt x="19050" y="0"/>
                      </a:move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57150"/>
                      </a:lnTo>
                      <a:cubicBezTo>
                        <a:pt x="114300" y="67671"/>
                        <a:pt x="105771" y="76200"/>
                        <a:pt x="95250" y="76200"/>
                      </a:cubicBezTo>
                      <a:lnTo>
                        <a:pt x="19050" y="76200"/>
                      </a:lnTo>
                      <a:cubicBezTo>
                        <a:pt x="8529" y="76200"/>
                        <a:pt x="0" y="67671"/>
                        <a:pt x="0" y="571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295400" y="1943100"/>
                  <a:ext cx="1143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52400">
                      <a:moveTo>
                        <a:pt x="19050" y="0"/>
                      </a:move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133350"/>
                      </a:lnTo>
                      <a:cubicBezTo>
                        <a:pt x="114300" y="143871"/>
                        <a:pt x="105771" y="152400"/>
                        <a:pt x="95250" y="152400"/>
                      </a:cubicBezTo>
                      <a:lnTo>
                        <a:pt x="19050" y="152400"/>
                      </a:lnTo>
                      <a:cubicBezTo>
                        <a:pt x="8529" y="152400"/>
                        <a:pt x="0" y="143871"/>
                        <a:pt x="0" y="1333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295400" y="1790700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76200">
                      <a:moveTo>
                        <a:pt x="19050" y="0"/>
                      </a:move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57150"/>
                      </a:lnTo>
                      <a:cubicBezTo>
                        <a:pt x="114300" y="67671"/>
                        <a:pt x="105771" y="76200"/>
                        <a:pt x="95250" y="76200"/>
                      </a:cubicBezTo>
                      <a:lnTo>
                        <a:pt x="19050" y="76200"/>
                      </a:lnTo>
                      <a:cubicBezTo>
                        <a:pt x="8529" y="76200"/>
                        <a:pt x="0" y="67671"/>
                        <a:pt x="0" y="571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1" name="TextBox 11"/>
              <p:cNvSpPr txBox="1"/>
              <p:nvPr/>
            </p:nvSpPr>
            <p:spPr>
              <a:xfrm>
                <a:off x="1662684" y="1784985"/>
                <a:ext cx="4380736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Screen Space - Overlay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35558" y="2598420"/>
                <a:ext cx="287402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最适合菜单与 HUD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38606" y="3158490"/>
                <a:ext cx="215112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不需要渲染摄像机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8606" y="3558540"/>
                <a:ext cx="218404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不受 3D 场景遮挡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38606" y="3958590"/>
                <a:ext cx="394277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由屏幕与 Canvas Scaler 决定尺寸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047750" y="4552950"/>
                <a:ext cx="4476750" cy="800100"/>
              </a:xfrm>
              <a:prstGeom prst="roundRect">
                <a:avLst>
                  <a:gd name="adj" fmla="val 21429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792349" y="46824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适配重点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230763" y="4941570"/>
                <a:ext cx="211072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分辨率 + 锚点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381750" y="1524000"/>
              <a:ext cx="5048250" cy="4171950"/>
              <a:chOff x="6381750" y="1524000"/>
              <a:chExt cx="5048250" cy="41719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381750" y="1524000"/>
                <a:ext cx="5048250" cy="4171950"/>
              </a:xfrm>
              <a:prstGeom prst="roundRect">
                <a:avLst>
                  <a:gd name="adj" fmla="val 6849"/>
                </a:avLst>
              </a:prstGeom>
              <a:solidFill>
                <a:srgbClr val="FFFFFF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6381750" y="1524000"/>
                <a:ext cx="5048250" cy="838200"/>
              </a:xfrm>
              <a:prstGeom prst="roundRect">
                <a:avLst>
                  <a:gd name="adj" fmla="val 34091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6705600" y="1771650"/>
                <a:ext cx="342900" cy="342900"/>
                <a:chOff x="6705600" y="1771650"/>
                <a:chExt cx="342900" cy="34290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6705600" y="1771650"/>
                  <a:ext cx="3429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42900">
                      <a:moveTo>
                        <a:pt x="0" y="171450"/>
                      </a:moveTo>
                      <a:cubicBezTo>
                        <a:pt x="0" y="266139"/>
                        <a:pt x="76761" y="342900"/>
                        <a:pt x="171450" y="342900"/>
                      </a:cubicBezTo>
                      <a:cubicBezTo>
                        <a:pt x="266139" y="342900"/>
                        <a:pt x="342900" y="266139"/>
                        <a:pt x="342900" y="171450"/>
                      </a:cubicBezTo>
                      <a:cubicBezTo>
                        <a:pt x="342900" y="76761"/>
                        <a:pt x="266139" y="0"/>
                        <a:pt x="171450" y="0"/>
                      </a:cubicBezTo>
                      <a:cubicBezTo>
                        <a:pt x="76761" y="0"/>
                        <a:pt x="0" y="76761"/>
                        <a:pt x="0" y="17145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6717030" y="1885950"/>
                  <a:ext cx="32004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040" h="9525">
                      <a:moveTo>
                        <a:pt x="0" y="0"/>
                      </a:moveTo>
                      <a:lnTo>
                        <a:pt x="32004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717030" y="2000250"/>
                  <a:ext cx="32004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040" h="9525">
                      <a:moveTo>
                        <a:pt x="0" y="0"/>
                      </a:moveTo>
                      <a:lnTo>
                        <a:pt x="32004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802049" y="1771650"/>
                  <a:ext cx="65476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76" h="342900">
                      <a:moveTo>
                        <a:pt x="65476" y="0"/>
                      </a:moveTo>
                      <a:cubicBezTo>
                        <a:pt x="0" y="104923"/>
                        <a:pt x="0" y="237977"/>
                        <a:pt x="65476" y="3429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886575" y="1771650"/>
                  <a:ext cx="65476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76" h="342900">
                      <a:moveTo>
                        <a:pt x="0" y="0"/>
                      </a:moveTo>
                      <a:cubicBezTo>
                        <a:pt x="65476" y="104923"/>
                        <a:pt x="65476" y="237977"/>
                        <a:pt x="0" y="3429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7282434" y="1784985"/>
                <a:ext cx="2246749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World Space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655308" y="2598420"/>
                <a:ext cx="402104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最适合世界面板与头顶 UI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658356" y="3158490"/>
                <a:ext cx="263575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有真实世界位置与尺寸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658356" y="3558540"/>
                <a:ext cx="28780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受距离、角度、遮挡影响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658356" y="3958590"/>
                <a:ext cx="367665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需要 Event Camera 与正确缩放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667500" y="4552950"/>
                <a:ext cx="4476750" cy="800100"/>
              </a:xfrm>
              <a:prstGeom prst="roundRect">
                <a:avLst>
                  <a:gd name="adj" fmla="val 21429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412099" y="46824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适配重点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485827" y="4941570"/>
                <a:ext cx="28400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尺寸 + 朝向 + 射线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8" name="Line 38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4642" y="6521768"/>
              <a:ext cx="19330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Canvas · Render Mode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2640881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RectTransform：适配的关键是“相对关系”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66967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别先写死坐标，先把 Anchor 与 Pivot 放对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66750" y="1504950"/>
            <a:ext cx="5810250" cy="4191000"/>
            <a:chOff x="666750" y="1504950"/>
            <a:chExt cx="5810250" cy="4191000"/>
          </a:xfrm>
        </p:grpSpPr>
        <p:sp>
          <p:nvSpPr>
            <p:cNvPr id="4" name="Rectangle 4"/>
            <p:cNvSpPr/>
            <p:nvPr/>
          </p:nvSpPr>
          <p:spPr>
            <a:xfrm>
              <a:off x="666750" y="1504950"/>
              <a:ext cx="5810250" cy="4191000"/>
            </a:xfrm>
            <a:prstGeom prst="roundRect">
              <a:avLst>
                <a:gd name="adj" fmla="val 6364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19734" y="1727835"/>
              <a:ext cx="303164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父矩形与 UI 元素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352550" y="2400300"/>
              <a:ext cx="4438650" cy="2724150"/>
            </a:xfrm>
            <a:prstGeom prst="roundRect">
              <a:avLst>
                <a:gd name="adj" fmla="val 6294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  <a:custDash>
                <a:ds d="400000" sp="266666"/>
              </a:custDash>
            </a:ln>
          </p:spPr>
        </p:sp>
        <p:sp>
          <p:nvSpPr>
            <p:cNvPr id="7" name="Line 7"/>
            <p:cNvSpPr/>
            <p:nvPr/>
          </p:nvSpPr>
          <p:spPr>
            <a:xfrm>
              <a:off x="3571875" y="2400300"/>
              <a:ext cx="9525" cy="2724150"/>
            </a:xfrm>
            <a:custGeom>
              <a:avLst/>
              <a:gdLst/>
              <a:ahLst/>
              <a:cxnLst/>
              <a:rect l="l" t="t" r="r" b="b"/>
              <a:pathLst>
                <a:path w="9525" h="2724150">
                  <a:moveTo>
                    <a:pt x="0" y="0"/>
                  </a:moveTo>
                  <a:lnTo>
                    <a:pt x="0" y="2724150"/>
                  </a:lnTo>
                </a:path>
              </a:pathLst>
            </a:custGeom>
            <a:noFill/>
            <a:ln w="28575">
              <a:solidFill>
                <a:schemeClr val="accent4"/>
              </a:solidFill>
              <a:custDash>
                <a:ds d="266666" sp="266666"/>
              </a:custDash>
            </a:ln>
          </p:spPr>
        </p:sp>
        <p:sp>
          <p:nvSpPr>
            <p:cNvPr id="8" name="Line 8"/>
            <p:cNvSpPr/>
            <p:nvPr/>
          </p:nvSpPr>
          <p:spPr>
            <a:xfrm>
              <a:off x="1352550" y="3762375"/>
              <a:ext cx="4438650" cy="9525"/>
            </a:xfrm>
            <a:custGeom>
              <a:avLst/>
              <a:gdLst/>
              <a:ahLst/>
              <a:cxnLst/>
              <a:rect l="l" t="t" r="r" b="b"/>
              <a:pathLst>
                <a:path w="4438650" h="9525">
                  <a:moveTo>
                    <a:pt x="0" y="0"/>
                  </a:moveTo>
                  <a:lnTo>
                    <a:pt x="4438650" y="0"/>
                  </a:lnTo>
                </a:path>
              </a:pathLst>
            </a:custGeom>
            <a:noFill/>
            <a:ln w="28575">
              <a:solidFill>
                <a:schemeClr val="accent4"/>
              </a:solidFill>
              <a:custDash>
                <a:ds d="266666" sp="266666"/>
              </a:custDash>
            </a:ln>
          </p:spPr>
        </p:sp>
        <p:sp>
          <p:nvSpPr>
            <p:cNvPr id="9" name="Ellipse 9"/>
            <p:cNvSpPr/>
            <p:nvPr/>
          </p:nvSpPr>
          <p:spPr>
            <a:xfrm>
              <a:off x="3438525" y="3629025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43706" y="3491865"/>
              <a:ext cx="825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8C5A00"/>
                  </a:solidFill>
                  <a:latin typeface="+mn-lt"/>
                  <a:ea typeface="+mn-ea"/>
                  <a:cs typeface="+mn-cs"/>
                </a:rPr>
                <a:t>Anchor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248150" y="2724150"/>
              <a:ext cx="1181100" cy="876300"/>
            </a:xfrm>
            <a:prstGeom prst="roundRect">
              <a:avLst>
                <a:gd name="adj" fmla="val 1739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743450" y="3067050"/>
              <a:ext cx="190500" cy="190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96156" y="3768090"/>
              <a:ext cx="6309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Pivot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038600" y="3238500"/>
              <a:ext cx="723900" cy="600075"/>
            </a:xfrm>
            <a:custGeom>
              <a:avLst/>
              <a:gdLst/>
              <a:ahLst/>
              <a:cxnLst/>
              <a:rect l="l" t="t" r="r" b="b"/>
              <a:pathLst>
                <a:path w="723900" h="600075">
                  <a:moveTo>
                    <a:pt x="0" y="600075"/>
                  </a:moveTo>
                  <a:cubicBezTo>
                    <a:pt x="228600" y="400050"/>
                    <a:pt x="514350" y="180975"/>
                    <a:pt x="723900" y="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67379" y="5292090"/>
              <a:ext cx="46089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Anchored Position 是相对 Anchor 的偏移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58000" y="1504950"/>
            <a:ext cx="4667250" cy="4191000"/>
            <a:chOff x="6858000" y="1504950"/>
            <a:chExt cx="4667250" cy="4191000"/>
          </a:xfrm>
        </p:grpSpPr>
        <p:sp>
          <p:nvSpPr>
            <p:cNvPr id="17" name="Rectangle 17"/>
            <p:cNvSpPr/>
            <p:nvPr/>
          </p:nvSpPr>
          <p:spPr>
            <a:xfrm>
              <a:off x="6858000" y="1504950"/>
              <a:ext cx="4667250" cy="4191000"/>
            </a:xfrm>
            <a:prstGeom prst="roundRect">
              <a:avLst>
                <a:gd name="adj" fmla="val 6364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181850" y="1752600"/>
              <a:ext cx="342900" cy="342900"/>
              <a:chOff x="7181850" y="1752600"/>
              <a:chExt cx="342900" cy="3429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181850" y="17526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372350" y="17526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52400" y="152400"/>
                    </a:moveTo>
                    <a:lnTo>
                      <a:pt x="152400" y="95250"/>
                    </a:lnTo>
                    <a:cubicBezTo>
                      <a:pt x="152400" y="74208"/>
                      <a:pt x="135342" y="57150"/>
                      <a:pt x="114300" y="57150"/>
                    </a:cubicBezTo>
                    <a:lnTo>
                      <a:pt x="0" y="57150"/>
                    </a:lnTo>
                    <a:lnTo>
                      <a:pt x="57150" y="114300"/>
                    </a:lnTo>
                    <a:moveTo>
                      <a:pt x="5715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181850" y="19431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8192"/>
                      <a:pt x="17058" y="95250"/>
                      <a:pt x="38100" y="95250"/>
                    </a:cubicBezTo>
                    <a:lnTo>
                      <a:pt x="152400" y="95250"/>
                    </a:lnTo>
                    <a:lnTo>
                      <a:pt x="95250" y="38100"/>
                    </a:lnTo>
                    <a:moveTo>
                      <a:pt x="95250" y="152400"/>
                    </a:moveTo>
                    <a:lnTo>
                      <a:pt x="152400" y="952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410450" y="19812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7758684" y="1746885"/>
              <a:ext cx="258933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Canvas Scaler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124700" y="2381250"/>
              <a:ext cx="4133850" cy="666750"/>
            </a:xfrm>
            <a:prstGeom prst="roundRect">
              <a:avLst>
                <a:gd name="adj" fmla="val 25714"/>
              </a:avLst>
            </a:prstGeom>
            <a:solidFill>
              <a:srgbClr val="EAF0F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06056" y="2482215"/>
              <a:ext cx="15886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UI Scale Mode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78297" y="2691765"/>
              <a:ext cx="27988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Scale With Screen Size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124700" y="3257550"/>
              <a:ext cx="4133850" cy="666750"/>
            </a:xfrm>
            <a:prstGeom prst="roundRect">
              <a:avLst>
                <a:gd name="adj" fmla="val 25714"/>
              </a:avLst>
            </a:prstGeom>
            <a:solidFill>
              <a:srgbClr val="E8F5F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06056" y="3358515"/>
              <a:ext cx="25168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Reference Resolution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46810" y="3568065"/>
              <a:ext cx="1430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1920 × 1080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124700" y="4133850"/>
              <a:ext cx="4133850" cy="1162050"/>
            </a:xfrm>
            <a:prstGeom prst="roundRect">
              <a:avLst>
                <a:gd name="adj" fmla="val 14754"/>
              </a:avLst>
            </a:prstGeom>
            <a:solidFill>
              <a:srgbClr val="FFF0D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06056" y="4282440"/>
              <a:ext cx="7412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Match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7581900" y="4857750"/>
              <a:ext cx="3219450" cy="9525"/>
            </a:xfrm>
            <a:custGeom>
              <a:avLst/>
              <a:gdLst/>
              <a:ahLst/>
              <a:cxnLst/>
              <a:rect l="l" t="t" r="r" b="b"/>
              <a:pathLst>
                <a:path w="3219450" h="9525">
                  <a:moveTo>
                    <a:pt x="0" y="0"/>
                  </a:moveTo>
                  <a:lnTo>
                    <a:pt x="3219450" y="0"/>
                  </a:lnTo>
                </a:path>
              </a:pathLst>
            </a:custGeom>
            <a:noFill/>
            <a:ln w="76200" cap="rnd">
              <a:solidFill>
                <a:schemeClr val="accent4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9020175" y="46863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72756" y="5006340"/>
              <a:ext cx="466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C5A00"/>
                  </a:solidFill>
                  <a:latin typeface="+mn-lt"/>
                  <a:ea typeface="+mn-ea"/>
                  <a:cs typeface="+mn-cs"/>
                </a:rPr>
                <a:t>宽 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43921" y="5006340"/>
              <a:ext cx="466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rgbClr val="8C5A00"/>
                  </a:solidFill>
                  <a:latin typeface="+mn-lt"/>
                  <a:ea typeface="+mn-ea"/>
                  <a:cs typeface="+mn-cs"/>
                </a:rPr>
                <a:t>高 1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7" name="Line 37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4642" y="6521768"/>
              <a:ext cx="36185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RectTransform · Anchor / Pivot / Scaler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128023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EventSystem：输入如何抵达一个控件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1788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缺一环，UI 都可能“看得见但点不到”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66750" y="1790700"/>
            <a:ext cx="11620500" cy="2667000"/>
            <a:chOff x="666750" y="1790700"/>
            <a:chExt cx="11620500" cy="2667000"/>
          </a:xfrm>
        </p:grpSpPr>
        <p:grpSp>
          <p:nvGrpSpPr>
            <p:cNvPr id="11" name="Group 11"/>
            <p:cNvGrpSpPr/>
            <p:nvPr/>
          </p:nvGrpSpPr>
          <p:grpSpPr>
            <a:xfrm>
              <a:off x="666750" y="1790700"/>
              <a:ext cx="2190750" cy="2667000"/>
              <a:chOff x="666750" y="1790700"/>
              <a:chExt cx="2190750" cy="2667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666750" y="1790700"/>
                <a:ext cx="2190750" cy="2667000"/>
              </a:xfrm>
              <a:prstGeom prst="roundRect">
                <a:avLst>
                  <a:gd name="adj" fmla="val 12174"/>
                </a:avLst>
              </a:prstGeom>
              <a:solidFill>
                <a:srgbClr val="EAF0FA"/>
              </a:solidFill>
              <a:ln w="38100">
                <a:solidFill>
                  <a:schemeClr val="accent1"/>
                </a:solidFill>
              </a:ln>
            </p:spPr>
          </p:sp>
          <p:grpSp>
            <p:nvGrpSpPr>
              <p:cNvPr id="7" name="Group 7"/>
              <p:cNvGrpSpPr/>
              <p:nvPr/>
            </p:nvGrpSpPr>
            <p:grpSpPr>
              <a:xfrm>
                <a:off x="1571625" y="2209800"/>
                <a:ext cx="381000" cy="571499"/>
                <a:chOff x="1571625" y="2209800"/>
                <a:chExt cx="381000" cy="571499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1571625" y="2209800"/>
                  <a:ext cx="381000" cy="5714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571499">
                      <a:moveTo>
                        <a:pt x="0" y="127000"/>
                      </a:moveTo>
                      <a:cubicBezTo>
                        <a:pt x="0" y="56860"/>
                        <a:pt x="56860" y="0"/>
                        <a:pt x="127000" y="0"/>
                      </a:cubicBezTo>
                      <a:lnTo>
                        <a:pt x="254000" y="0"/>
                      </a:lnTo>
                      <a:cubicBezTo>
                        <a:pt x="324140" y="0"/>
                        <a:pt x="381000" y="56860"/>
                        <a:pt x="381000" y="127000"/>
                      </a:cubicBezTo>
                      <a:lnTo>
                        <a:pt x="381000" y="444500"/>
                      </a:lnTo>
                      <a:cubicBezTo>
                        <a:pt x="381000" y="514640"/>
                        <a:pt x="324140" y="571499"/>
                        <a:pt x="254000" y="571499"/>
                      </a:cubicBezTo>
                      <a:lnTo>
                        <a:pt x="127000" y="571499"/>
                      </a:lnTo>
                      <a:cubicBezTo>
                        <a:pt x="56860" y="571499"/>
                        <a:pt x="0" y="514640"/>
                        <a:pt x="0" y="444500"/>
                      </a:cubicBez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" name="Freeform 6"/>
                <p:cNvSpPr/>
                <p:nvPr/>
              </p:nvSpPr>
              <p:spPr>
                <a:xfrm>
                  <a:off x="1762125" y="233680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8" name="TextBox 8"/>
              <p:cNvSpPr txBox="1"/>
              <p:nvPr/>
            </p:nvSpPr>
            <p:spPr>
              <a:xfrm>
                <a:off x="985114" y="3004185"/>
                <a:ext cx="155402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输入设备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29017" y="3539490"/>
                <a:ext cx="12662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鼠标 · 键盘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29017" y="3882390"/>
                <a:ext cx="12662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手柄 · 触摸</a:t>
                </a:r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3009900" y="2895600"/>
              <a:ext cx="762000" cy="457200"/>
            </a:xfrm>
            <a:custGeom>
              <a:avLst/>
              <a:gdLst/>
              <a:ahLst/>
              <a:cxnLst/>
              <a:rect l="l" t="t" r="r" b="b"/>
              <a:pathLst>
                <a:path w="762000" h="457200">
                  <a:moveTo>
                    <a:pt x="0" y="228600"/>
                  </a:moveTo>
                  <a:lnTo>
                    <a:pt x="381000" y="228600"/>
                  </a:lnTo>
                  <a:lnTo>
                    <a:pt x="381000" y="0"/>
                  </a:lnTo>
                  <a:lnTo>
                    <a:pt x="762000" y="228600"/>
                  </a:lnTo>
                  <a:lnTo>
                    <a:pt x="381000" y="457200"/>
                  </a:lnTo>
                  <a:lnTo>
                    <a:pt x="381000" y="22860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3810000" y="1790700"/>
              <a:ext cx="2190750" cy="2667000"/>
              <a:chOff x="3810000" y="1790700"/>
              <a:chExt cx="2190750" cy="2667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810000" y="1790700"/>
                <a:ext cx="2190750" cy="2667000"/>
              </a:xfrm>
              <a:prstGeom prst="roundRect">
                <a:avLst>
                  <a:gd name="adj" fmla="val 12174"/>
                </a:avLst>
              </a:prstGeom>
              <a:solidFill>
                <a:srgbClr val="E8F5F0"/>
              </a:solidFill>
              <a:ln w="38100">
                <a:solidFill>
                  <a:schemeClr val="accent3"/>
                </a:solidFill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4605687" y="2195862"/>
                <a:ext cx="599376" cy="599376"/>
                <a:chOff x="4605687" y="2195862"/>
                <a:chExt cx="599376" cy="599376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4605687" y="2195862"/>
                  <a:ext cx="599376" cy="599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9376" h="599376">
                      <a:moveTo>
                        <a:pt x="246507" y="55753"/>
                      </a:moveTo>
                      <a:cubicBezTo>
                        <a:pt x="260032" y="0"/>
                        <a:pt x="339344" y="0"/>
                        <a:pt x="352869" y="55753"/>
                      </a:cubicBezTo>
                      <a:cubicBezTo>
                        <a:pt x="356985" y="72741"/>
                        <a:pt x="368967" y="86742"/>
                        <a:pt x="385116" y="93432"/>
                      </a:cubicBezTo>
                      <a:cubicBezTo>
                        <a:pt x="401265" y="100122"/>
                        <a:pt x="419637" y="98698"/>
                        <a:pt x="434562" y="89598"/>
                      </a:cubicBezTo>
                      <a:cubicBezTo>
                        <a:pt x="483552" y="59753"/>
                        <a:pt x="539654" y="115824"/>
                        <a:pt x="509809" y="164846"/>
                      </a:cubicBezTo>
                      <a:cubicBezTo>
                        <a:pt x="500723" y="179764"/>
                        <a:pt x="499302" y="198122"/>
                        <a:pt x="505984" y="214261"/>
                      </a:cubicBezTo>
                      <a:cubicBezTo>
                        <a:pt x="512667" y="230399"/>
                        <a:pt x="526650" y="242379"/>
                        <a:pt x="543623" y="246507"/>
                      </a:cubicBezTo>
                      <a:cubicBezTo>
                        <a:pt x="599376" y="260032"/>
                        <a:pt x="599376" y="339344"/>
                        <a:pt x="543623" y="352869"/>
                      </a:cubicBezTo>
                      <a:cubicBezTo>
                        <a:pt x="526635" y="356985"/>
                        <a:pt x="512634" y="368967"/>
                        <a:pt x="505944" y="385116"/>
                      </a:cubicBezTo>
                      <a:cubicBezTo>
                        <a:pt x="499253" y="401265"/>
                        <a:pt x="500678" y="419637"/>
                        <a:pt x="509777" y="434562"/>
                      </a:cubicBezTo>
                      <a:cubicBezTo>
                        <a:pt x="539622" y="483552"/>
                        <a:pt x="483552" y="539654"/>
                        <a:pt x="434530" y="509809"/>
                      </a:cubicBezTo>
                      <a:cubicBezTo>
                        <a:pt x="419612" y="500723"/>
                        <a:pt x="401254" y="499302"/>
                        <a:pt x="385115" y="505984"/>
                      </a:cubicBezTo>
                      <a:cubicBezTo>
                        <a:pt x="368977" y="512667"/>
                        <a:pt x="356997" y="526650"/>
                        <a:pt x="352869" y="543623"/>
                      </a:cubicBezTo>
                      <a:cubicBezTo>
                        <a:pt x="339344" y="599376"/>
                        <a:pt x="260032" y="599376"/>
                        <a:pt x="246507" y="543623"/>
                      </a:cubicBezTo>
                      <a:cubicBezTo>
                        <a:pt x="242391" y="526635"/>
                        <a:pt x="230408" y="512634"/>
                        <a:pt x="214260" y="505944"/>
                      </a:cubicBezTo>
                      <a:cubicBezTo>
                        <a:pt x="198111" y="499253"/>
                        <a:pt x="179738" y="500678"/>
                        <a:pt x="164814" y="509777"/>
                      </a:cubicBezTo>
                      <a:cubicBezTo>
                        <a:pt x="115824" y="539622"/>
                        <a:pt x="59722" y="483552"/>
                        <a:pt x="89567" y="434530"/>
                      </a:cubicBezTo>
                      <a:cubicBezTo>
                        <a:pt x="98653" y="419612"/>
                        <a:pt x="100074" y="401254"/>
                        <a:pt x="93392" y="385115"/>
                      </a:cubicBezTo>
                      <a:cubicBezTo>
                        <a:pt x="86709" y="368977"/>
                        <a:pt x="72726" y="356997"/>
                        <a:pt x="55753" y="352869"/>
                      </a:cubicBezTo>
                      <a:cubicBezTo>
                        <a:pt x="0" y="339344"/>
                        <a:pt x="0" y="260032"/>
                        <a:pt x="55753" y="246507"/>
                      </a:cubicBezTo>
                      <a:cubicBezTo>
                        <a:pt x="72741" y="242391"/>
                        <a:pt x="86742" y="230408"/>
                        <a:pt x="93432" y="214260"/>
                      </a:cubicBezTo>
                      <a:cubicBezTo>
                        <a:pt x="100122" y="198111"/>
                        <a:pt x="98698" y="179738"/>
                        <a:pt x="89598" y="164814"/>
                      </a:cubicBezTo>
                      <a:cubicBezTo>
                        <a:pt x="59753" y="115824"/>
                        <a:pt x="115824" y="59722"/>
                        <a:pt x="164846" y="89567"/>
                      </a:cubicBezTo>
                      <a:cubicBezTo>
                        <a:pt x="196596" y="108871"/>
                        <a:pt x="237744" y="91789"/>
                        <a:pt x="246507" y="55753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4810125" y="240030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95250"/>
                      </a:moveTo>
                      <a:cubicBezTo>
                        <a:pt x="0" y="147855"/>
                        <a:pt x="42645" y="190500"/>
                        <a:pt x="95250" y="190500"/>
                      </a:cubicBezTo>
                      <a:cubicBezTo>
                        <a:pt x="147855" y="190500"/>
                        <a:pt x="190500" y="147855"/>
                        <a:pt x="190500" y="95250"/>
                      </a:cubicBezTo>
                      <a:cubicBezTo>
                        <a:pt x="190500" y="42645"/>
                        <a:pt x="147855" y="0"/>
                        <a:pt x="95250" y="0"/>
                      </a:cubicBezTo>
                      <a:cubicBezTo>
                        <a:pt x="42645" y="0"/>
                        <a:pt x="0" y="42645"/>
                        <a:pt x="0" y="95250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4128364" y="3004185"/>
                <a:ext cx="155402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输入模块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77883" y="3539490"/>
                <a:ext cx="18549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Input System UI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155681" y="3882390"/>
                <a:ext cx="149938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Input Module</a:t>
                </a:r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6153150" y="2895600"/>
              <a:ext cx="762000" cy="457200"/>
            </a:xfrm>
            <a:custGeom>
              <a:avLst/>
              <a:gdLst/>
              <a:ahLst/>
              <a:cxnLst/>
              <a:rect l="l" t="t" r="r" b="b"/>
              <a:pathLst>
                <a:path w="762000" h="457200">
                  <a:moveTo>
                    <a:pt x="0" y="228600"/>
                  </a:moveTo>
                  <a:lnTo>
                    <a:pt x="381000" y="228600"/>
                  </a:lnTo>
                  <a:lnTo>
                    <a:pt x="381000" y="0"/>
                  </a:lnTo>
                  <a:lnTo>
                    <a:pt x="762000" y="228600"/>
                  </a:lnTo>
                  <a:lnTo>
                    <a:pt x="381000" y="457200"/>
                  </a:lnTo>
                  <a:lnTo>
                    <a:pt x="381000" y="22860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829986" y="1790700"/>
              <a:ext cx="2437279" cy="2667000"/>
              <a:chOff x="6829986" y="1790700"/>
              <a:chExt cx="2437279" cy="26670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953250" y="1790700"/>
                <a:ext cx="2190750" cy="2667000"/>
              </a:xfrm>
              <a:prstGeom prst="roundRect">
                <a:avLst>
                  <a:gd name="adj" fmla="val 12174"/>
                </a:avLst>
              </a:prstGeom>
              <a:solidFill>
                <a:srgbClr val="FFF0D1"/>
              </a:solidFill>
              <a:ln w="38100">
                <a:solidFill>
                  <a:schemeClr val="accent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94625" y="2241550"/>
                <a:ext cx="507921" cy="507921"/>
              </a:xfrm>
              <a:custGeom>
                <a:avLst/>
                <a:gdLst/>
                <a:ahLst/>
                <a:cxnLst/>
                <a:rect l="l" t="t" r="r" b="b"/>
                <a:pathLst>
                  <a:path w="507921" h="507921">
                    <a:moveTo>
                      <a:pt x="123952" y="430625"/>
                    </a:moveTo>
                    <a:cubicBezTo>
                      <a:pt x="127410" y="446160"/>
                      <a:pt x="140159" y="457908"/>
                      <a:pt x="155924" y="460088"/>
                    </a:cubicBezTo>
                    <a:cubicBezTo>
                      <a:pt x="171689" y="462267"/>
                      <a:pt x="187148" y="454418"/>
                      <a:pt x="194691" y="440404"/>
                    </a:cubicBezTo>
                    <a:lnTo>
                      <a:pt x="261048" y="342201"/>
                    </a:lnTo>
                    <a:lnTo>
                      <a:pt x="416845" y="497998"/>
                    </a:lnTo>
                    <a:cubicBezTo>
                      <a:pt x="423199" y="504352"/>
                      <a:pt x="431816" y="507921"/>
                      <a:pt x="440801" y="507921"/>
                    </a:cubicBezTo>
                    <a:cubicBezTo>
                      <a:pt x="449786" y="507921"/>
                      <a:pt x="458403" y="504352"/>
                      <a:pt x="464756" y="497998"/>
                    </a:cubicBezTo>
                    <a:lnTo>
                      <a:pt x="497998" y="464756"/>
                    </a:lnTo>
                    <a:cubicBezTo>
                      <a:pt x="504352" y="458403"/>
                      <a:pt x="507921" y="449786"/>
                      <a:pt x="507921" y="440801"/>
                    </a:cubicBezTo>
                    <a:cubicBezTo>
                      <a:pt x="507921" y="431816"/>
                      <a:pt x="504352" y="423199"/>
                      <a:pt x="497998" y="416845"/>
                    </a:cubicBezTo>
                    <a:lnTo>
                      <a:pt x="342201" y="261048"/>
                    </a:lnTo>
                    <a:lnTo>
                      <a:pt x="441039" y="194691"/>
                    </a:lnTo>
                    <a:cubicBezTo>
                      <a:pt x="455053" y="187143"/>
                      <a:pt x="462898" y="171679"/>
                      <a:pt x="460711" y="155913"/>
                    </a:cubicBezTo>
                    <a:cubicBezTo>
                      <a:pt x="458524" y="140146"/>
                      <a:pt x="446767" y="127401"/>
                      <a:pt x="431228" y="123952"/>
                    </a:cubicBezTo>
                    <a:lnTo>
                      <a:pt x="0" y="0"/>
                    </a:lnTo>
                    <a:lnTo>
                      <a:pt x="123952" y="430625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829986" y="3004185"/>
                <a:ext cx="2437279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EventSystem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433691" y="35394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选中与导航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554849" y="38823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事件分发</a:t>
                </a:r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9296400" y="2895600"/>
              <a:ext cx="762000" cy="457200"/>
            </a:xfrm>
            <a:custGeom>
              <a:avLst/>
              <a:gdLst/>
              <a:ahLst/>
              <a:cxnLst/>
              <a:rect l="l" t="t" r="r" b="b"/>
              <a:pathLst>
                <a:path w="762000" h="457200">
                  <a:moveTo>
                    <a:pt x="0" y="228600"/>
                  </a:moveTo>
                  <a:lnTo>
                    <a:pt x="381000" y="228600"/>
                  </a:lnTo>
                  <a:lnTo>
                    <a:pt x="381000" y="0"/>
                  </a:lnTo>
                  <a:lnTo>
                    <a:pt x="762000" y="228600"/>
                  </a:lnTo>
                  <a:lnTo>
                    <a:pt x="381000" y="457200"/>
                  </a:lnTo>
                  <a:lnTo>
                    <a:pt x="381000" y="22860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10096500" y="1790700"/>
              <a:ext cx="2190750" cy="2667000"/>
              <a:chOff x="10096500" y="1790700"/>
              <a:chExt cx="2190750" cy="26670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10096500" y="1790700"/>
                <a:ext cx="2190750" cy="2667000"/>
              </a:xfrm>
              <a:prstGeom prst="roundRect">
                <a:avLst>
                  <a:gd name="adj" fmla="val 12174"/>
                </a:avLst>
              </a:prstGeom>
              <a:solidFill>
                <a:srgbClr val="FFFFFF"/>
              </a:solidFill>
              <a:ln w="38100">
                <a:solidFill>
                  <a:schemeClr val="dk2"/>
                </a:solidFill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10906125" y="2209800"/>
                <a:ext cx="571500" cy="571500"/>
                <a:chOff x="10906125" y="2209800"/>
                <a:chExt cx="571500" cy="5715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10906125" y="2495550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1191875" y="2209800"/>
                  <a:ext cx="95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0">
                      <a:moveTo>
                        <a:pt x="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0988675" y="2292350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69850" y="698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1325224" y="2292350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69850"/>
                      </a:moveTo>
                      <a:lnTo>
                        <a:pt x="69850" y="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0988675" y="2628899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69850" y="0"/>
                      </a:moveTo>
                      <a:lnTo>
                        <a:pt x="0" y="6985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11191875" y="2495550"/>
                  <a:ext cx="28575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285750">
                      <a:moveTo>
                        <a:pt x="0" y="0"/>
                      </a:moveTo>
                      <a:lnTo>
                        <a:pt x="285750" y="95250"/>
                      </a:lnTo>
                      <a:lnTo>
                        <a:pt x="158750" y="158750"/>
                      </a:lnTo>
                      <a:lnTo>
                        <a:pt x="95250" y="28575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10796511" y="3004185"/>
                <a:ext cx="790727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控件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102896" y="3539490"/>
                <a:ext cx="217795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Graphic Raycaster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0576941" y="38823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命中并响应</a:t>
                </a:r>
              </a:p>
            </p:txBody>
          </p:sp>
        </p:grpSp>
      </p:grpSp>
      <p:sp>
        <p:nvSpPr>
          <p:cNvPr id="42" name="Rectangle 42"/>
          <p:cNvSpPr/>
          <p:nvPr/>
        </p:nvSpPr>
        <p:spPr>
          <a:xfrm>
            <a:off x="2095500" y="4953000"/>
            <a:ext cx="8001000" cy="685800"/>
          </a:xfrm>
          <a:prstGeom prst="roundRect">
            <a:avLst>
              <a:gd name="adj" fmla="val 27778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076319" y="5151120"/>
            <a:ext cx="603936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一个场景通常只保留一个 EventSystem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4" name="Line 44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64642" y="6521768"/>
              <a:ext cx="24740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EventSystem · 输入事件管线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081608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UI 看得见但点不到：按顺序排查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8646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从全局基础设施，到控件自身，再到遮挡关系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685800" y="1466850"/>
            <a:ext cx="11334750" cy="3581400"/>
            <a:chOff x="685800" y="1466850"/>
            <a:chExt cx="11334750" cy="3581400"/>
          </a:xfrm>
        </p:grpSpPr>
        <p:grpSp>
          <p:nvGrpSpPr>
            <p:cNvPr id="8" name="Group 8"/>
            <p:cNvGrpSpPr/>
            <p:nvPr/>
          </p:nvGrpSpPr>
          <p:grpSpPr>
            <a:xfrm>
              <a:off x="685800" y="1466850"/>
              <a:ext cx="5429250" cy="533400"/>
              <a:chOff x="685800" y="1466850"/>
              <a:chExt cx="5429250" cy="533400"/>
            </a:xfrm>
          </p:grpSpPr>
          <p:sp>
            <p:nvSpPr>
              <p:cNvPr id="4" name="Ellipse 4"/>
              <p:cNvSpPr/>
              <p:nvPr/>
            </p:nvSpPr>
            <p:spPr>
              <a:xfrm>
                <a:off x="685800" y="1485900"/>
                <a:ext cx="495300" cy="495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854337" y="16249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6" name="Rectangle 6"/>
              <p:cNvSpPr/>
              <p:nvPr/>
            </p:nvSpPr>
            <p:spPr>
              <a:xfrm>
                <a:off x="1352550" y="1466850"/>
                <a:ext cx="4762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572006" y="1624965"/>
                <a:ext cx="333546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场景中有启用的 EventSystem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85800" y="2076450"/>
              <a:ext cx="5429250" cy="533400"/>
              <a:chOff x="685800" y="2076450"/>
              <a:chExt cx="5429250" cy="53340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685800" y="2095500"/>
                <a:ext cx="495300" cy="495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54337" y="22345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1352550" y="2076450"/>
                <a:ext cx="4762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572006" y="2234565"/>
                <a:ext cx="31683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输入模块与项目输入系统匹配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85800" y="2686050"/>
              <a:ext cx="5429250" cy="533400"/>
              <a:chOff x="685800" y="2686050"/>
              <a:chExt cx="5429250" cy="53340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685800" y="2705100"/>
                <a:ext cx="495300" cy="495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54337" y="28441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352550" y="2686050"/>
                <a:ext cx="4762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572006" y="2844165"/>
                <a:ext cx="362003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Canvas 上有 Graphic Raycaster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85800" y="3295650"/>
              <a:ext cx="5429250" cy="533400"/>
              <a:chOff x="685800" y="3295650"/>
              <a:chExt cx="5429250" cy="53340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685800" y="3314700"/>
                <a:ext cx="495300" cy="495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54337" y="34537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1352550" y="3295650"/>
                <a:ext cx="4762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572006" y="3453765"/>
                <a:ext cx="286675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控件 Interactable 已开启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85800" y="3905250"/>
              <a:ext cx="5429250" cy="533400"/>
              <a:chOff x="685800" y="3905250"/>
              <a:chExt cx="5429250" cy="53340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685800" y="3924300"/>
                <a:ext cx="495300" cy="495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54337" y="40633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1352550" y="3905250"/>
                <a:ext cx="4762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572006" y="4063365"/>
                <a:ext cx="304168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CanvasGroup 没有阻止交互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591300" y="1466850"/>
              <a:ext cx="5429250" cy="533400"/>
              <a:chOff x="6591300" y="1466850"/>
              <a:chExt cx="5429250" cy="533400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6591300" y="1485900"/>
                <a:ext cx="495300" cy="495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759837" y="16249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7258050" y="1466850"/>
                <a:ext cx="4762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477506" y="1624965"/>
                <a:ext cx="41887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透明 Image 没有误开 Raycast Target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591300" y="2076450"/>
              <a:ext cx="5429250" cy="533400"/>
              <a:chOff x="6591300" y="2076450"/>
              <a:chExt cx="5429250" cy="533400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6591300" y="2095500"/>
                <a:ext cx="495300" cy="4953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759837" y="22345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7258050" y="2076450"/>
                <a:ext cx="4762500" cy="533400"/>
              </a:xfrm>
              <a:prstGeom prst="roundRect">
                <a:avLst>
                  <a:gd name="adj" fmla="val 2857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477506" y="2234565"/>
                <a:ext cx="39126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World Space 已设置 Event Camera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591300" y="2686050"/>
              <a:ext cx="5429250" cy="533400"/>
              <a:chOff x="6591300" y="2686050"/>
              <a:chExt cx="5429250" cy="533400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6591300" y="2705100"/>
                <a:ext cx="495300" cy="4953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759837" y="28441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8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7258050" y="2686050"/>
                <a:ext cx="4762500" cy="533400"/>
              </a:xfrm>
              <a:prstGeom prst="roundRect">
                <a:avLst>
                  <a:gd name="adj" fmla="val 2857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477506" y="2844165"/>
                <a:ext cx="367819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摄像机能看到 Canvas 所在 Layer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591300" y="3295650"/>
              <a:ext cx="5429250" cy="533400"/>
              <a:chOff x="6591300" y="3295650"/>
              <a:chExt cx="5429250" cy="533400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6591300" y="3314700"/>
                <a:ext cx="495300" cy="495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759837" y="34537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9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7258050" y="3295650"/>
                <a:ext cx="4762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477506" y="3453765"/>
                <a:ext cx="341825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没有被其他 Canvas 或控件挡住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6572250" y="4171950"/>
              <a:ext cx="5448300" cy="876300"/>
              <a:chOff x="6572250" y="4171950"/>
              <a:chExt cx="5448300" cy="8763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6572250" y="4171950"/>
                <a:ext cx="5448300" cy="876300"/>
              </a:xfrm>
              <a:prstGeom prst="roundRect">
                <a:avLst>
                  <a:gd name="adj" fmla="val 2391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54" name="Group 54"/>
              <p:cNvGrpSpPr/>
              <p:nvPr/>
            </p:nvGrpSpPr>
            <p:grpSpPr>
              <a:xfrm>
                <a:off x="6896100" y="4457700"/>
                <a:ext cx="285750" cy="323850"/>
                <a:chOff x="6896100" y="4457700"/>
                <a:chExt cx="285750" cy="323850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6896100" y="4457700"/>
                  <a:ext cx="2286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304800">
                      <a:moveTo>
                        <a:pt x="87916" y="304800"/>
                      </a:moveTo>
                      <a:lnTo>
                        <a:pt x="38100" y="304800"/>
                      </a:lnTo>
                      <a:cubicBezTo>
                        <a:pt x="17058" y="304800"/>
                        <a:pt x="0" y="287742"/>
                        <a:pt x="0" y="2667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600" y="17058"/>
                        <a:pt x="228600" y="38100"/>
                      </a:cubicBezTo>
                      <a:lnTo>
                        <a:pt x="228600" y="1905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7067550" y="4705350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76200">
                      <a:moveTo>
                        <a:pt x="0" y="38100"/>
                      </a:moveTo>
                      <a:lnTo>
                        <a:pt x="38100" y="76200"/>
                      </a:lnTo>
                      <a:lnTo>
                        <a:pt x="1143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972300" y="453390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972300" y="4610100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5" name="TextBox 55"/>
              <p:cNvSpPr txBox="1"/>
              <p:nvPr/>
            </p:nvSpPr>
            <p:spPr>
              <a:xfrm>
                <a:off x="7439406" y="437769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排错原则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439406" y="4682490"/>
                <a:ext cx="365302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先系统，后控件；先输入，后遮挡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59" name="Line 59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4642" y="6521768"/>
              <a:ext cx="17611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UGUI · 点击问题排查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127758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Button：明确状态，执行一次明确操作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31683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视觉反馈与事件连接同样重要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71500" y="1524000"/>
            <a:ext cx="11049000" cy="4171950"/>
            <a:chOff x="571500" y="1524000"/>
            <a:chExt cx="11049000" cy="4171950"/>
          </a:xfrm>
        </p:grpSpPr>
        <p:sp>
          <p:nvSpPr>
            <p:cNvPr id="4" name="Rectangle 4"/>
            <p:cNvSpPr/>
            <p:nvPr/>
          </p:nvSpPr>
          <p:spPr>
            <a:xfrm>
              <a:off x="571500" y="1524000"/>
              <a:ext cx="11049000" cy="4171950"/>
            </a:xfrm>
            <a:prstGeom prst="roundRect">
              <a:avLst>
                <a:gd name="adj" fmla="val 6393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00100" y="1771650"/>
              <a:ext cx="3826573" cy="1643634"/>
              <a:chOff x="800100" y="1771650"/>
              <a:chExt cx="3826573" cy="1643634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800100" y="1771650"/>
                <a:ext cx="3333750" cy="1619250"/>
              </a:xfrm>
              <a:prstGeom prst="roundRect">
                <a:avLst>
                  <a:gd name="adj" fmla="val 12941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508" y="1931670"/>
                <a:ext cx="285603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状态与 Transition</a:t>
                </a:r>
              </a:p>
            </p:txBody>
          </p:sp>
          <p:grpSp>
            <p:nvGrpSpPr>
              <p:cNvPr id="15" name="Group 15"/>
              <p:cNvGrpSpPr/>
              <p:nvPr/>
            </p:nvGrpSpPr>
            <p:grpSpPr>
              <a:xfrm>
                <a:off x="1009650" y="2457450"/>
                <a:ext cx="2914650" cy="533400"/>
                <a:chOff x="1009650" y="2457450"/>
                <a:chExt cx="2914650" cy="533400"/>
              </a:xfrm>
            </p:grpSpPr>
            <p:sp>
              <p:nvSpPr>
                <p:cNvPr id="7" name="Rectangle 7"/>
                <p:cNvSpPr/>
                <p:nvPr/>
              </p:nvSpPr>
              <p:spPr>
                <a:xfrm>
                  <a:off x="1009650" y="2457450"/>
                  <a:ext cx="666750" cy="5334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FFFFFF"/>
                </a:solidFill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1091565" y="2606040"/>
                  <a:ext cx="502920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普通</a:t>
                  </a:r>
                </a:p>
              </p:txBody>
            </p:sp>
            <p:sp>
              <p:nvSpPr>
                <p:cNvPr id="9" name="Rectangle 9"/>
                <p:cNvSpPr/>
                <p:nvPr/>
              </p:nvSpPr>
              <p:spPr>
                <a:xfrm>
                  <a:off x="1733550" y="2457450"/>
                  <a:ext cx="666750" cy="5334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E8F5F0"/>
                </a:solidFill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1815465" y="2606040"/>
                  <a:ext cx="502920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rgbClr val="2F8F6A"/>
                      </a:solidFill>
                      <a:latin typeface="+mn-lt"/>
                      <a:ea typeface="+mn-ea"/>
                      <a:cs typeface="+mn-cs"/>
                    </a:rPr>
                    <a:t>悬停</a:t>
                  </a:r>
                </a:p>
              </p:txBody>
            </p:sp>
            <p:sp>
              <p:nvSpPr>
                <p:cNvPr id="11" name="Rectangle 11"/>
                <p:cNvSpPr/>
                <p:nvPr/>
              </p:nvSpPr>
              <p:spPr>
                <a:xfrm>
                  <a:off x="2457450" y="2457450"/>
                  <a:ext cx="666750" cy="5334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FFF0D1"/>
                </a:solidFill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2539365" y="2606040"/>
                  <a:ext cx="502920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rgbClr val="8C5A00"/>
                      </a:solidFill>
                      <a:latin typeface="+mn-lt"/>
                      <a:ea typeface="+mn-ea"/>
                      <a:cs typeface="+mn-cs"/>
                    </a:rPr>
                    <a:t>按下</a:t>
                  </a:r>
                </a:p>
              </p:txBody>
            </p:sp>
            <p:sp>
              <p:nvSpPr>
                <p:cNvPr id="13" name="Rectangle 13"/>
                <p:cNvSpPr/>
                <p:nvPr/>
              </p:nvSpPr>
              <p:spPr>
                <a:xfrm>
                  <a:off x="3181350" y="2457450"/>
                  <a:ext cx="742950" cy="5334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3301365" y="2606040"/>
                  <a:ext cx="502920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禁用</a:t>
                  </a:r>
                </a:p>
              </p:txBody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000506" y="3063240"/>
                <a:ext cx="362616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Color Tint / Sprite / Animation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429125" y="1771650"/>
              <a:ext cx="3333750" cy="1643634"/>
              <a:chOff x="4429125" y="1771650"/>
              <a:chExt cx="3333750" cy="1643634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4429125" y="1771650"/>
                <a:ext cx="3333750" cy="1619250"/>
              </a:xfrm>
              <a:prstGeom prst="roundRect">
                <a:avLst>
                  <a:gd name="adj" fmla="val 12941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645533" y="1931670"/>
                <a:ext cx="241401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Inspector 连接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648581" y="2415540"/>
                <a:ext cx="292385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On Click() → + → 拖入对象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648581" y="2777490"/>
                <a:ext cx="181142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选择 public 方法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648581" y="3063240"/>
                <a:ext cx="28170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直观，但关系藏在场景中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58150" y="1771650"/>
              <a:ext cx="3455567" cy="1643634"/>
              <a:chOff x="8058150" y="1771650"/>
              <a:chExt cx="3455567" cy="1643634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8058150" y="1771650"/>
                <a:ext cx="3333750" cy="1619250"/>
              </a:xfrm>
              <a:prstGeom prst="roundRect">
                <a:avLst>
                  <a:gd name="adj" fmla="val 12941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274558" y="193167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脚本监听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277606" y="2415540"/>
                <a:ext cx="271552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OnEnable: AddListener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277606" y="2777490"/>
                <a:ext cx="32361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OnDisable: RemoveListener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277606" y="3063240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避免重复订阅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800100" y="3657600"/>
              <a:ext cx="10591800" cy="1714500"/>
              <a:chOff x="800100" y="3657600"/>
              <a:chExt cx="10591800" cy="1714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00100" y="3657600"/>
                <a:ext cx="10591800" cy="1714500"/>
              </a:xfrm>
              <a:prstGeom prst="roundRect">
                <a:avLst>
                  <a:gd name="adj" fmla="val 12222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1204912" y="4157662"/>
                <a:ext cx="600076" cy="600076"/>
                <a:chOff x="1204912" y="4157662"/>
                <a:chExt cx="600076" cy="600076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1204912" y="4457700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504950" y="4157662"/>
                  <a:ext cx="95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0012">
                      <a:moveTo>
                        <a:pt x="0" y="0"/>
                      </a:moveTo>
                      <a:lnTo>
                        <a:pt x="0" y="100012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291590" y="4244340"/>
                  <a:ext cx="73343" cy="733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43" h="73342">
                      <a:moveTo>
                        <a:pt x="73343" y="7334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644968" y="4244340"/>
                  <a:ext cx="73342" cy="733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42" h="73342">
                      <a:moveTo>
                        <a:pt x="0" y="73342"/>
                      </a:moveTo>
                      <a:lnTo>
                        <a:pt x="73342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1291590" y="4597718"/>
                  <a:ext cx="73343" cy="733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43" h="73342">
                      <a:moveTo>
                        <a:pt x="73343" y="0"/>
                      </a:moveTo>
                      <a:lnTo>
                        <a:pt x="0" y="73342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1504950" y="4457700"/>
                  <a:ext cx="300038" cy="300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300038">
                      <a:moveTo>
                        <a:pt x="0" y="0"/>
                      </a:moveTo>
                      <a:lnTo>
                        <a:pt x="300038" y="100012"/>
                      </a:lnTo>
                      <a:lnTo>
                        <a:pt x="166688" y="166688"/>
                      </a:lnTo>
                      <a:lnTo>
                        <a:pt x="100012" y="30003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2215134" y="3823335"/>
                <a:ext cx="372581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Button 文案描述结果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216658" y="4312920"/>
                <a:ext cx="425683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“保存设置” 比 “确定” 更清楚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219706" y="4796790"/>
                <a:ext cx="66335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点击区域足够大 · 禁用时说明原因 · 破坏性操作可确认或撤销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3" name="Line 43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64642" y="6521768"/>
              <a:ext cx="24811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Button · 状态与事件生命周期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180160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Image：同一张 Sprite，有四种显示方式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529361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Image Type 决定拉伸、切片、平铺或按比例填充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71500" y="1524000"/>
            <a:ext cx="11029950" cy="3810000"/>
            <a:chOff x="571500" y="1524000"/>
            <a:chExt cx="11029950" cy="3810000"/>
          </a:xfrm>
        </p:grpSpPr>
        <p:grpSp>
          <p:nvGrpSpPr>
            <p:cNvPr id="11" name="Group 11"/>
            <p:cNvGrpSpPr/>
            <p:nvPr/>
          </p:nvGrpSpPr>
          <p:grpSpPr>
            <a:xfrm>
              <a:off x="571500" y="1524000"/>
              <a:ext cx="2571750" cy="3810000"/>
              <a:chOff x="571500" y="1524000"/>
              <a:chExt cx="2571750" cy="3810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71500" y="1524000"/>
                <a:ext cx="2571750" cy="3810000"/>
              </a:xfrm>
              <a:prstGeom prst="roundRect">
                <a:avLst>
                  <a:gd name="adj" fmla="val 9630"/>
                </a:avLst>
              </a:prstGeom>
              <a:solidFill>
                <a:srgbClr val="FFFFFF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5" name="Rectangle 5"/>
              <p:cNvSpPr/>
              <p:nvPr/>
            </p:nvSpPr>
            <p:spPr>
              <a:xfrm>
                <a:off x="952500" y="1885950"/>
                <a:ext cx="1809750" cy="1200150"/>
              </a:xfrm>
              <a:prstGeom prst="roundRect">
                <a:avLst>
                  <a:gd name="adj" fmla="val 12698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238250" y="2343150"/>
                <a:ext cx="13906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390650" h="457200">
                    <a:moveTo>
                      <a:pt x="0" y="457200"/>
                    </a:moveTo>
                    <a:lnTo>
                      <a:pt x="476250" y="0"/>
                    </a:lnTo>
                    <a:lnTo>
                      <a:pt x="838200" y="314325"/>
                    </a:lnTo>
                    <a:lnTo>
                      <a:pt x="1143000" y="76200"/>
                    </a:lnTo>
                    <a:lnTo>
                      <a:pt x="1390650" y="4572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265787" y="3308985"/>
                <a:ext cx="1183176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Simple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363599" y="38633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整张拉伸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00125" y="424434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图标与普通图片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55556" y="4663440"/>
                <a:ext cx="24036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 Preserve Aspect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390900" y="1524000"/>
              <a:ext cx="2571750" cy="3810000"/>
              <a:chOff x="3390900" y="1524000"/>
              <a:chExt cx="2571750" cy="3810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390900" y="1524000"/>
                <a:ext cx="2571750" cy="3810000"/>
              </a:xfrm>
              <a:prstGeom prst="roundRect">
                <a:avLst>
                  <a:gd name="adj" fmla="val 9630"/>
                </a:avLst>
              </a:prstGeom>
              <a:solidFill>
                <a:srgbClr val="FFFFFF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3771900" y="1885950"/>
                <a:ext cx="1809750" cy="1200150"/>
              </a:xfrm>
              <a:prstGeom prst="roundRect">
                <a:avLst>
                  <a:gd name="adj" fmla="val 20635"/>
                </a:avLst>
              </a:prstGeom>
              <a:solidFill>
                <a:srgbClr val="E8F5F0"/>
              </a:solidFill>
              <a:ln w="57150">
                <a:solidFill>
                  <a:schemeClr val="accent3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4095750" y="1885950"/>
                <a:ext cx="9525" cy="1200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00150">
                    <a:moveTo>
                      <a:pt x="0" y="0"/>
                    </a:moveTo>
                    <a:lnTo>
                      <a:pt x="0" y="120015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  <a:custDash>
                  <a:ds d="266666" sp="200000"/>
                </a:custDash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5257800" y="1885950"/>
                <a:ext cx="9525" cy="1200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00150">
                    <a:moveTo>
                      <a:pt x="0" y="0"/>
                    </a:moveTo>
                    <a:lnTo>
                      <a:pt x="0" y="120015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  <a:custDash>
                  <a:ds d="266666" sp="200000"/>
                </a:custDash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3771900" y="2190750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  <a:custDash>
                  <a:ds d="266666" sp="200000"/>
                </a:custDash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3771900" y="2781300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  <a:custDash>
                  <a:ds d="266666" sp="200000"/>
                </a:custDash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123712" y="3308985"/>
                <a:ext cx="1106127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Sliced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304157" y="3863340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九宫格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061841" y="42443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按钮与面板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904336" y="4663440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四角保持形状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210300" y="1524000"/>
              <a:ext cx="2571750" cy="3810000"/>
              <a:chOff x="6210300" y="1524000"/>
              <a:chExt cx="2571750" cy="38100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210300" y="1524000"/>
                <a:ext cx="2571750" cy="3810000"/>
              </a:xfrm>
              <a:prstGeom prst="roundRect">
                <a:avLst>
                  <a:gd name="adj" fmla="val 9630"/>
                </a:avLst>
              </a:prstGeom>
              <a:solidFill>
                <a:srgbClr val="FFFFFF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591300" y="1885950"/>
                <a:ext cx="1809750" cy="1200150"/>
              </a:xfrm>
              <a:prstGeom prst="roundRect">
                <a:avLst>
                  <a:gd name="adj" fmla="val 9524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6819900" y="2095500"/>
                <a:ext cx="1181100" cy="704850"/>
                <a:chOff x="6819900" y="2095500"/>
                <a:chExt cx="1181100" cy="704850"/>
              </a:xfrm>
            </p:grpSpPr>
            <p:sp>
              <p:nvSpPr>
                <p:cNvPr id="25" name="Ellipse 25"/>
                <p:cNvSpPr/>
                <p:nvPr/>
              </p:nvSpPr>
              <p:spPr>
                <a:xfrm>
                  <a:off x="6819900" y="2095500"/>
                  <a:ext cx="228600" cy="2286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6" name="Ellipse 26"/>
                <p:cNvSpPr/>
                <p:nvPr/>
              </p:nvSpPr>
              <p:spPr>
                <a:xfrm>
                  <a:off x="7296150" y="2095500"/>
                  <a:ext cx="228600" cy="2286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7" name="Ellipse 27"/>
                <p:cNvSpPr/>
                <p:nvPr/>
              </p:nvSpPr>
              <p:spPr>
                <a:xfrm>
                  <a:off x="7772400" y="2095500"/>
                  <a:ext cx="228600" cy="2286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8" name="Ellipse 28"/>
                <p:cNvSpPr/>
                <p:nvPr/>
              </p:nvSpPr>
              <p:spPr>
                <a:xfrm>
                  <a:off x="6819900" y="2571750"/>
                  <a:ext cx="228600" cy="2286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9" name="Ellipse 29"/>
                <p:cNvSpPr/>
                <p:nvPr/>
              </p:nvSpPr>
              <p:spPr>
                <a:xfrm>
                  <a:off x="7296150" y="2571750"/>
                  <a:ext cx="228600" cy="2286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0" name="Ellipse 30"/>
                <p:cNvSpPr/>
                <p:nvPr/>
              </p:nvSpPr>
              <p:spPr>
                <a:xfrm>
                  <a:off x="7772400" y="2571750"/>
                  <a:ext cx="228600" cy="2286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7048245" y="3308985"/>
                <a:ext cx="895861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Tiled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002399" y="38633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平铺填充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002399" y="42443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重复纹理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850952" y="4663440"/>
                <a:ext cx="12904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不拉伸图案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9029700" y="1524000"/>
              <a:ext cx="2571750" cy="3810000"/>
              <a:chOff x="9029700" y="1524000"/>
              <a:chExt cx="2571750" cy="38100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9029700" y="1524000"/>
                <a:ext cx="2571750" cy="3810000"/>
              </a:xfrm>
              <a:prstGeom prst="roundRect">
                <a:avLst>
                  <a:gd name="adj" fmla="val 9630"/>
                </a:avLst>
              </a:prstGeom>
              <a:solidFill>
                <a:srgbClr val="FFFFFF"/>
              </a:solidFill>
              <a:ln w="28575">
                <a:solidFill>
                  <a:srgbClr val="D85C45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9705975" y="1885950"/>
                <a:ext cx="1219200" cy="1219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705975" y="1885950"/>
                <a:ext cx="12192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219200" h="1219200">
                    <a:moveTo>
                      <a:pt x="609600" y="609600"/>
                    </a:moveTo>
                    <a:lnTo>
                      <a:pt x="609600" y="0"/>
                    </a:lnTo>
                    <a:cubicBezTo>
                      <a:pt x="946273" y="0"/>
                      <a:pt x="1219200" y="272927"/>
                      <a:pt x="1219200" y="609600"/>
                    </a:cubicBezTo>
                    <a:cubicBezTo>
                      <a:pt x="1219200" y="946273"/>
                      <a:pt x="946273" y="1219200"/>
                      <a:pt x="609600" y="1219200"/>
                    </a:cubicBezTo>
                    <a:cubicBezTo>
                      <a:pt x="272927" y="1219200"/>
                      <a:pt x="0" y="946273"/>
                      <a:pt x="0" y="609600"/>
                    </a:cubicBezTo>
                    <a:close/>
                  </a:path>
                </a:pathLst>
              </a:cu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9810668" y="3308985"/>
                <a:ext cx="1009815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Filled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700641" y="38633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按比例显示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700641" y="42443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血条与冷却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673148" y="4663440"/>
                <a:ext cx="128485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fillAmount</a:t>
                </a:r>
              </a:p>
            </p:txBody>
          </p:sp>
        </p:grpSp>
      </p:grpSp>
      <p:sp>
        <p:nvSpPr>
          <p:cNvPr id="46" name="Rectangle 46"/>
          <p:cNvSpPr/>
          <p:nvPr/>
        </p:nvSpPr>
        <p:spPr>
          <a:xfrm>
            <a:off x="2000250" y="5543550"/>
            <a:ext cx="8191500" cy="438150"/>
          </a:xfrm>
          <a:prstGeom prst="roundRect">
            <a:avLst>
              <a:gd name="adj" fmla="val 30435"/>
            </a:avLst>
          </a:prstGeom>
          <a:solidFill>
            <a:srgbClr val="EAF0F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2741618" y="5654040"/>
            <a:ext cx="67087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纯装饰 Image 可关闭 Raycast Target，避免挡住后方按钮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8" name="Line 48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4642" y="6521768"/>
              <a:ext cx="1824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Image · 四种显示模式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378125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RawImage：直接显示 Texture，而不是 Sprite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摄像机画面、视频与运行时纹理，走同一条管线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762000" y="1733550"/>
            <a:ext cx="11049000" cy="2857500"/>
            <a:chOff x="762000" y="1733550"/>
            <a:chExt cx="11049000" cy="2857500"/>
          </a:xfrm>
        </p:grpSpPr>
        <p:grpSp>
          <p:nvGrpSpPr>
            <p:cNvPr id="11" name="Group 11"/>
            <p:cNvGrpSpPr/>
            <p:nvPr/>
          </p:nvGrpSpPr>
          <p:grpSpPr>
            <a:xfrm>
              <a:off x="762000" y="1733550"/>
              <a:ext cx="2857500" cy="2857500"/>
              <a:chOff x="762000" y="1733550"/>
              <a:chExt cx="2857500" cy="28575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762000" y="1733550"/>
                <a:ext cx="2857500" cy="2857500"/>
              </a:xfrm>
              <a:prstGeom prst="roundRect">
                <a:avLst>
                  <a:gd name="adj" fmla="val 9333"/>
                </a:avLst>
              </a:prstGeom>
              <a:solidFill>
                <a:srgbClr val="EAF0FA"/>
              </a:solidFill>
              <a:ln w="38100">
                <a:solidFill>
                  <a:schemeClr val="accent1"/>
                </a:solidFill>
              </a:ln>
            </p:spPr>
          </p:sp>
          <p:grpSp>
            <p:nvGrpSpPr>
              <p:cNvPr id="7" name="Group 7"/>
              <p:cNvGrpSpPr/>
              <p:nvPr/>
            </p:nvGrpSpPr>
            <p:grpSpPr>
              <a:xfrm>
                <a:off x="1833563" y="2254250"/>
                <a:ext cx="714376" cy="635001"/>
                <a:chOff x="1833563" y="2254250"/>
                <a:chExt cx="714376" cy="635001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1833563" y="2254250"/>
                  <a:ext cx="714376" cy="635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76" h="635001">
                      <a:moveTo>
                        <a:pt x="79375" y="119063"/>
                      </a:moveTo>
                      <a:lnTo>
                        <a:pt x="119063" y="119063"/>
                      </a:lnTo>
                      <a:cubicBezTo>
                        <a:pt x="162900" y="119063"/>
                        <a:pt x="198438" y="83525"/>
                        <a:pt x="198438" y="39688"/>
                      </a:cubicBezTo>
                      <a:cubicBezTo>
                        <a:pt x="198438" y="17769"/>
                        <a:pt x="216206" y="0"/>
                        <a:pt x="238125" y="0"/>
                      </a:cubicBezTo>
                      <a:lnTo>
                        <a:pt x="476250" y="0"/>
                      </a:lnTo>
                      <a:cubicBezTo>
                        <a:pt x="498169" y="0"/>
                        <a:pt x="515938" y="17769"/>
                        <a:pt x="515938" y="39688"/>
                      </a:cubicBezTo>
                      <a:cubicBezTo>
                        <a:pt x="515938" y="83525"/>
                        <a:pt x="551475" y="119063"/>
                        <a:pt x="595313" y="119063"/>
                      </a:cubicBezTo>
                      <a:lnTo>
                        <a:pt x="635001" y="119063"/>
                      </a:lnTo>
                      <a:cubicBezTo>
                        <a:pt x="678838" y="119063"/>
                        <a:pt x="714376" y="154600"/>
                        <a:pt x="714376" y="198438"/>
                      </a:cubicBezTo>
                      <a:lnTo>
                        <a:pt x="714376" y="555625"/>
                      </a:lnTo>
                      <a:cubicBezTo>
                        <a:pt x="714376" y="599463"/>
                        <a:pt x="678838" y="635001"/>
                        <a:pt x="635001" y="635001"/>
                      </a:cubicBezTo>
                      <a:lnTo>
                        <a:pt x="79375" y="635001"/>
                      </a:lnTo>
                      <a:cubicBezTo>
                        <a:pt x="35537" y="635001"/>
                        <a:pt x="0" y="599463"/>
                        <a:pt x="0" y="555625"/>
                      </a:cubicBezTo>
                      <a:lnTo>
                        <a:pt x="0" y="198438"/>
                      </a:lnTo>
                      <a:cubicBezTo>
                        <a:pt x="0" y="154600"/>
                        <a:pt x="35537" y="119063"/>
                        <a:pt x="79375" y="119063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" name="Freeform 6"/>
                <p:cNvSpPr/>
                <p:nvPr/>
              </p:nvSpPr>
              <p:spPr>
                <a:xfrm>
                  <a:off x="2071688" y="2492375"/>
                  <a:ext cx="238125" cy="23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238125">
                      <a:moveTo>
                        <a:pt x="0" y="119063"/>
                      </a:moveTo>
                      <a:cubicBezTo>
                        <a:pt x="0" y="184819"/>
                        <a:pt x="53306" y="238125"/>
                        <a:pt x="119063" y="238125"/>
                      </a:cubicBezTo>
                      <a:cubicBezTo>
                        <a:pt x="184819" y="238125"/>
                        <a:pt x="238125" y="184819"/>
                        <a:pt x="238125" y="119063"/>
                      </a:cubicBezTo>
                      <a:cubicBezTo>
                        <a:pt x="238125" y="53306"/>
                        <a:pt x="184819" y="0"/>
                        <a:pt x="119063" y="0"/>
                      </a:cubicBezTo>
                      <a:cubicBezTo>
                        <a:pt x="53306" y="0"/>
                        <a:pt x="0" y="53306"/>
                        <a:pt x="0" y="119063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8" name="TextBox 8"/>
              <p:cNvSpPr txBox="1"/>
              <p:nvPr/>
            </p:nvSpPr>
            <p:spPr>
              <a:xfrm>
                <a:off x="1502850" y="3251835"/>
                <a:ext cx="1375801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Camera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71119" y="3787140"/>
                <a:ext cx="18392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Target Texture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454658" y="41300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指定输出纹理</a:t>
                </a:r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3848100" y="2914650"/>
              <a:ext cx="1162050" cy="495300"/>
            </a:xfrm>
            <a:custGeom>
              <a:avLst/>
              <a:gdLst/>
              <a:ahLst/>
              <a:cxnLst/>
              <a:rect l="l" t="t" r="r" b="b"/>
              <a:pathLst>
                <a:path w="1162050" h="495300">
                  <a:moveTo>
                    <a:pt x="0" y="247650"/>
                  </a:moveTo>
                  <a:lnTo>
                    <a:pt x="685800" y="247650"/>
                  </a:lnTo>
                  <a:lnTo>
                    <a:pt x="685800" y="0"/>
                  </a:lnTo>
                  <a:lnTo>
                    <a:pt x="1162050" y="247650"/>
                  </a:lnTo>
                  <a:lnTo>
                    <a:pt x="685800" y="495300"/>
                  </a:lnTo>
                  <a:lnTo>
                    <a:pt x="685800" y="24765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857750" y="1733550"/>
              <a:ext cx="2857500" cy="2857500"/>
              <a:chOff x="4857750" y="1733550"/>
              <a:chExt cx="2857500" cy="28575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857750" y="1733550"/>
                <a:ext cx="2857500" cy="2857500"/>
              </a:xfrm>
              <a:prstGeom prst="roundRect">
                <a:avLst>
                  <a:gd name="adj" fmla="val 9333"/>
                </a:avLst>
              </a:prstGeom>
              <a:solidFill>
                <a:srgbClr val="FFF0D1"/>
              </a:solidFill>
              <a:ln w="38100">
                <a:solidFill>
                  <a:schemeClr val="accent2"/>
                </a:solidFill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5929313" y="2214563"/>
                <a:ext cx="714376" cy="674688"/>
                <a:chOff x="5929313" y="2214563"/>
                <a:chExt cx="714376" cy="674688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5929313" y="2373313"/>
                  <a:ext cx="714376" cy="515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76" h="515938">
                      <a:moveTo>
                        <a:pt x="0" y="79375"/>
                      </a:moveTo>
                      <a:cubicBezTo>
                        <a:pt x="0" y="35537"/>
                        <a:pt x="35537" y="0"/>
                        <a:pt x="79375" y="0"/>
                      </a:cubicBezTo>
                      <a:lnTo>
                        <a:pt x="635001" y="0"/>
                      </a:lnTo>
                      <a:cubicBezTo>
                        <a:pt x="678838" y="0"/>
                        <a:pt x="714376" y="35537"/>
                        <a:pt x="714376" y="79375"/>
                      </a:cubicBezTo>
                      <a:lnTo>
                        <a:pt x="714376" y="436563"/>
                      </a:lnTo>
                      <a:cubicBezTo>
                        <a:pt x="714376" y="480400"/>
                        <a:pt x="678838" y="515938"/>
                        <a:pt x="635001" y="515938"/>
                      </a:cubicBezTo>
                      <a:lnTo>
                        <a:pt x="79375" y="515938"/>
                      </a:lnTo>
                      <a:cubicBezTo>
                        <a:pt x="35537" y="515938"/>
                        <a:pt x="0" y="480400"/>
                        <a:pt x="0" y="436563"/>
                      </a:cubicBezTo>
                      <a:lnTo>
                        <a:pt x="0" y="79375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6127750" y="2214563"/>
                  <a:ext cx="317500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0" h="158750">
                      <a:moveTo>
                        <a:pt x="317500" y="0"/>
                      </a:moveTo>
                      <a:lnTo>
                        <a:pt x="158750" y="15875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4896512" y="3251835"/>
                <a:ext cx="2779976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RenderTexture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792724" y="37871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保存画面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186934" y="41300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注意分辨率与宽高比</a:t>
                </a:r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7943850" y="2914650"/>
              <a:ext cx="1162050" cy="495300"/>
            </a:xfrm>
            <a:custGeom>
              <a:avLst/>
              <a:gdLst/>
              <a:ahLst/>
              <a:cxnLst/>
              <a:rect l="l" t="t" r="r" b="b"/>
              <a:pathLst>
                <a:path w="1162050" h="495300">
                  <a:moveTo>
                    <a:pt x="0" y="247650"/>
                  </a:moveTo>
                  <a:lnTo>
                    <a:pt x="685800" y="247650"/>
                  </a:lnTo>
                  <a:lnTo>
                    <a:pt x="685800" y="0"/>
                  </a:lnTo>
                  <a:lnTo>
                    <a:pt x="1162050" y="247650"/>
                  </a:lnTo>
                  <a:lnTo>
                    <a:pt x="685800" y="495300"/>
                  </a:lnTo>
                  <a:lnTo>
                    <a:pt x="685800" y="24765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953500" y="1733550"/>
              <a:ext cx="2857500" cy="2857500"/>
              <a:chOff x="8953500" y="1733550"/>
              <a:chExt cx="2857500" cy="2857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953500" y="1733550"/>
                <a:ext cx="2857500" cy="2857500"/>
              </a:xfrm>
              <a:prstGeom prst="roundRect">
                <a:avLst>
                  <a:gd name="adj" fmla="val 9333"/>
                </a:avLst>
              </a:prstGeom>
              <a:solidFill>
                <a:srgbClr val="E8F5F0"/>
              </a:solidFill>
              <a:ln w="38100">
                <a:solidFill>
                  <a:schemeClr val="accent3"/>
                </a:solidFill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10064750" y="2254250"/>
                <a:ext cx="635000" cy="635001"/>
                <a:chOff x="10064750" y="2254250"/>
                <a:chExt cx="635000" cy="635001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10064750" y="2254250"/>
                  <a:ext cx="238125" cy="31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317500">
                      <a:moveTo>
                        <a:pt x="39688" y="0"/>
                      </a:moveTo>
                      <a:lnTo>
                        <a:pt x="198438" y="0"/>
                      </a:lnTo>
                      <a:cubicBezTo>
                        <a:pt x="220356" y="0"/>
                        <a:pt x="238125" y="17769"/>
                        <a:pt x="238125" y="39688"/>
                      </a:cubicBezTo>
                      <a:lnTo>
                        <a:pt x="238125" y="277813"/>
                      </a:lnTo>
                      <a:cubicBezTo>
                        <a:pt x="238125" y="299732"/>
                        <a:pt x="220356" y="317500"/>
                        <a:pt x="198438" y="317500"/>
                      </a:cubicBezTo>
                      <a:lnTo>
                        <a:pt x="39688" y="317500"/>
                      </a:lnTo>
                      <a:cubicBezTo>
                        <a:pt x="17769" y="317500"/>
                        <a:pt x="0" y="299732"/>
                        <a:pt x="0" y="277813"/>
                      </a:cubicBezTo>
                      <a:lnTo>
                        <a:pt x="0" y="39688"/>
                      </a:lnTo>
                      <a:cubicBezTo>
                        <a:pt x="0" y="17769"/>
                        <a:pt x="17769" y="0"/>
                        <a:pt x="39688" y="0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0064750" y="2730501"/>
                  <a:ext cx="238125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158750">
                      <a:moveTo>
                        <a:pt x="39688" y="0"/>
                      </a:moveTo>
                      <a:lnTo>
                        <a:pt x="198438" y="0"/>
                      </a:lnTo>
                      <a:cubicBezTo>
                        <a:pt x="220356" y="0"/>
                        <a:pt x="238125" y="17769"/>
                        <a:pt x="238125" y="39688"/>
                      </a:cubicBezTo>
                      <a:lnTo>
                        <a:pt x="238125" y="119063"/>
                      </a:lnTo>
                      <a:cubicBezTo>
                        <a:pt x="238125" y="140981"/>
                        <a:pt x="220356" y="158750"/>
                        <a:pt x="198438" y="158750"/>
                      </a:cubicBezTo>
                      <a:lnTo>
                        <a:pt x="39688" y="158750"/>
                      </a:lnTo>
                      <a:cubicBezTo>
                        <a:pt x="17769" y="158750"/>
                        <a:pt x="0" y="140981"/>
                        <a:pt x="0" y="119063"/>
                      </a:cubicBezTo>
                      <a:lnTo>
                        <a:pt x="0" y="39688"/>
                      </a:lnTo>
                      <a:cubicBezTo>
                        <a:pt x="0" y="17769"/>
                        <a:pt x="17769" y="0"/>
                        <a:pt x="39688" y="0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0461625" y="2571750"/>
                  <a:ext cx="238125" cy="31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317500">
                      <a:moveTo>
                        <a:pt x="39688" y="0"/>
                      </a:moveTo>
                      <a:lnTo>
                        <a:pt x="198438" y="0"/>
                      </a:lnTo>
                      <a:cubicBezTo>
                        <a:pt x="220356" y="0"/>
                        <a:pt x="238125" y="17769"/>
                        <a:pt x="238125" y="39688"/>
                      </a:cubicBezTo>
                      <a:lnTo>
                        <a:pt x="238125" y="277813"/>
                      </a:lnTo>
                      <a:cubicBezTo>
                        <a:pt x="238125" y="299732"/>
                        <a:pt x="220356" y="317500"/>
                        <a:pt x="198438" y="317500"/>
                      </a:cubicBezTo>
                      <a:lnTo>
                        <a:pt x="39688" y="317500"/>
                      </a:lnTo>
                      <a:cubicBezTo>
                        <a:pt x="17769" y="317500"/>
                        <a:pt x="0" y="299732"/>
                        <a:pt x="0" y="277813"/>
                      </a:cubicBezTo>
                      <a:lnTo>
                        <a:pt x="0" y="39688"/>
                      </a:lnTo>
                      <a:cubicBezTo>
                        <a:pt x="0" y="17769"/>
                        <a:pt x="17769" y="0"/>
                        <a:pt x="39688" y="0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0461625" y="2254250"/>
                  <a:ext cx="238125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158750">
                      <a:moveTo>
                        <a:pt x="39688" y="0"/>
                      </a:moveTo>
                      <a:lnTo>
                        <a:pt x="198438" y="0"/>
                      </a:lnTo>
                      <a:cubicBezTo>
                        <a:pt x="220356" y="0"/>
                        <a:pt x="238125" y="17769"/>
                        <a:pt x="238125" y="39688"/>
                      </a:cubicBezTo>
                      <a:lnTo>
                        <a:pt x="238125" y="119063"/>
                      </a:lnTo>
                      <a:cubicBezTo>
                        <a:pt x="238125" y="140981"/>
                        <a:pt x="220356" y="158750"/>
                        <a:pt x="198438" y="158750"/>
                      </a:cubicBezTo>
                      <a:lnTo>
                        <a:pt x="39688" y="158750"/>
                      </a:lnTo>
                      <a:cubicBezTo>
                        <a:pt x="17769" y="158750"/>
                        <a:pt x="0" y="140981"/>
                        <a:pt x="0" y="119063"/>
                      </a:cubicBezTo>
                      <a:lnTo>
                        <a:pt x="0" y="39688"/>
                      </a:lnTo>
                      <a:cubicBezTo>
                        <a:pt x="0" y="17769"/>
                        <a:pt x="17769" y="0"/>
                        <a:pt x="39688" y="0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9487999" y="3251835"/>
                <a:ext cx="1788502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RawImage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621959" y="3787140"/>
                <a:ext cx="152058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Texture 引用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565919" y="4130040"/>
                <a:ext cx="163266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Canvas 中显示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963226" y="4953000"/>
            <a:ext cx="10203298" cy="685800"/>
            <a:chOff x="963226" y="4953000"/>
            <a:chExt cx="10203298" cy="685800"/>
          </a:xfrm>
        </p:grpSpPr>
        <p:sp>
          <p:nvSpPr>
            <p:cNvPr id="33" name="Rectangle 33"/>
            <p:cNvSpPr/>
            <p:nvPr/>
          </p:nvSpPr>
          <p:spPr>
            <a:xfrm>
              <a:off x="1238250" y="4953000"/>
              <a:ext cx="4476750" cy="685800"/>
            </a:xfrm>
            <a:prstGeom prst="roundRect">
              <a:avLst>
                <a:gd name="adj" fmla="val 277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63226" y="5132070"/>
              <a:ext cx="502679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Image：Sprite · 九宫格 · Filled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77000" y="4953000"/>
              <a:ext cx="4476750" cy="685800"/>
            </a:xfrm>
            <a:prstGeom prst="roundRect">
              <a:avLst>
                <a:gd name="adj" fmla="val 2777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64227" y="5132070"/>
              <a:ext cx="490229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RawImage：Texture · UV Rect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8" name="Line 38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4642" y="6521768"/>
              <a:ext cx="2559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RawImage · Texture 输出管线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1764846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Toggle：一个布尔状态，或一组互斥选择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5336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开关用 Toggle；多选一可用 ToggleGroup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762000" y="1524000"/>
            <a:ext cx="10668000" cy="4171950"/>
            <a:chOff x="762000" y="1524000"/>
            <a:chExt cx="10668000" cy="4171950"/>
          </a:xfrm>
        </p:grpSpPr>
        <p:grpSp>
          <p:nvGrpSpPr>
            <p:cNvPr id="18" name="Group 18"/>
            <p:cNvGrpSpPr/>
            <p:nvPr/>
          </p:nvGrpSpPr>
          <p:grpSpPr>
            <a:xfrm>
              <a:off x="762000" y="1524000"/>
              <a:ext cx="5048250" cy="4171950"/>
              <a:chOff x="762000" y="1524000"/>
              <a:chExt cx="5048250" cy="41719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762000" y="1524000"/>
                <a:ext cx="5048250" cy="4171950"/>
              </a:xfrm>
              <a:prstGeom prst="roundRect">
                <a:avLst>
                  <a:gd name="adj" fmla="val 6849"/>
                </a:avLst>
              </a:prstGeom>
              <a:solidFill>
                <a:srgbClr val="FFFFFF"/>
              </a:solidFill>
              <a:ln w="38100">
                <a:solidFill>
                  <a:schemeClr val="accent1"/>
                </a:solidFill>
              </a:ln>
            </p:spPr>
          </p:sp>
          <p:sp>
            <p:nvSpPr>
              <p:cNvPr id="5" name="Rectangle 5"/>
              <p:cNvSpPr/>
              <p:nvPr/>
            </p:nvSpPr>
            <p:spPr>
              <a:xfrm>
                <a:off x="762000" y="1524000"/>
                <a:ext cx="5048250" cy="838200"/>
              </a:xfrm>
              <a:prstGeom prst="roundRect">
                <a:avLst>
                  <a:gd name="adj" fmla="val 3409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8" name="Group 8"/>
              <p:cNvGrpSpPr/>
              <p:nvPr/>
            </p:nvGrpSpPr>
            <p:grpSpPr>
              <a:xfrm>
                <a:off x="1066800" y="1828800"/>
                <a:ext cx="381000" cy="228600"/>
                <a:chOff x="1066800" y="1828800"/>
                <a:chExt cx="381000" cy="228600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1143000" y="19050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066800" y="1828800"/>
                  <a:ext cx="3810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228600">
                      <a:moveTo>
                        <a:pt x="0" y="114300"/>
                      </a:moveTo>
                      <a:cubicBezTo>
                        <a:pt x="0" y="51174"/>
                        <a:pt x="51174" y="0"/>
                        <a:pt x="114300" y="0"/>
                      </a:cubicBezTo>
                      <a:lnTo>
                        <a:pt x="266700" y="0"/>
                      </a:lnTo>
                      <a:cubicBezTo>
                        <a:pt x="329826" y="0"/>
                        <a:pt x="381000" y="51174"/>
                        <a:pt x="381000" y="114300"/>
                      </a:cubicBezTo>
                      <a:cubicBezTo>
                        <a:pt x="381000" y="177426"/>
                        <a:pt x="329826" y="228600"/>
                        <a:pt x="266700" y="228600"/>
                      </a:cubicBezTo>
                      <a:lnTo>
                        <a:pt x="114300" y="228600"/>
                      </a:lnTo>
                      <a:cubicBezTo>
                        <a:pt x="51174" y="228600"/>
                        <a:pt x="0" y="177426"/>
                        <a:pt x="0" y="1143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9" name="TextBox 9"/>
              <p:cNvSpPr txBox="1"/>
              <p:nvPr/>
            </p:nvSpPr>
            <p:spPr>
              <a:xfrm>
                <a:off x="1662684" y="1784985"/>
                <a:ext cx="2088510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单个 Toggle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35558" y="2598420"/>
                <a:ext cx="211072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音乐：开 / 关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4076700" y="2590800"/>
                <a:ext cx="1219200" cy="55245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4781550" y="2657475"/>
                <a:ext cx="419100" cy="4191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38606" y="3272790"/>
                <a:ext cx="21985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Is On 保存当前状态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8606" y="3672840"/>
                <a:ext cx="278229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On Value Changed(bool)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1047750" y="4248150"/>
                <a:ext cx="447675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67206" y="4434840"/>
                <a:ext cx="351038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SetIsOnWithoutNotify(value)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67206" y="4872990"/>
                <a:ext cx="31683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初始化显示，不误触发监听器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381750" y="1524000"/>
              <a:ext cx="5048250" cy="4171950"/>
              <a:chOff x="6381750" y="1524000"/>
              <a:chExt cx="5048250" cy="4171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381750" y="1524000"/>
                <a:ext cx="5048250" cy="4171950"/>
              </a:xfrm>
              <a:prstGeom prst="roundRect">
                <a:avLst>
                  <a:gd name="adj" fmla="val 6849"/>
                </a:avLst>
              </a:prstGeom>
              <a:solidFill>
                <a:srgbClr val="FFFFFF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6381750" y="1524000"/>
                <a:ext cx="5048250" cy="838200"/>
              </a:xfrm>
              <a:prstGeom prst="roundRect">
                <a:avLst>
                  <a:gd name="adj" fmla="val 34091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6743700" y="1828800"/>
                <a:ext cx="285750" cy="238125"/>
                <a:chOff x="6743700" y="1828800"/>
                <a:chExt cx="285750" cy="238125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6819900" y="1828800"/>
                  <a:ext cx="2095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9525">
                      <a:moveTo>
                        <a:pt x="0" y="0"/>
                      </a:moveTo>
                      <a:lnTo>
                        <a:pt x="2095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6819900" y="1943100"/>
                  <a:ext cx="2095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9525">
                      <a:moveTo>
                        <a:pt x="0" y="0"/>
                      </a:moveTo>
                      <a:lnTo>
                        <a:pt x="2095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6819900" y="2057400"/>
                  <a:ext cx="2095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9525">
                      <a:moveTo>
                        <a:pt x="0" y="0"/>
                      </a:moveTo>
                      <a:lnTo>
                        <a:pt x="2095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743700" y="18288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9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743700" y="19431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9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743700" y="2057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9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7282434" y="1784985"/>
                <a:ext cx="2379442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Toggle Group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655308" y="2598420"/>
                <a:ext cx="205983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难度：多选一</a:t>
                </a:r>
              </a:p>
            </p:txBody>
          </p:sp>
          <p:grpSp>
            <p:nvGrpSpPr>
              <p:cNvPr id="37" name="Group 37"/>
              <p:cNvGrpSpPr/>
              <p:nvPr/>
            </p:nvGrpSpPr>
            <p:grpSpPr>
              <a:xfrm>
                <a:off x="6724650" y="3257550"/>
                <a:ext cx="1065276" cy="1519809"/>
                <a:chOff x="6724650" y="3257550"/>
                <a:chExt cx="1065276" cy="1519809"/>
              </a:xfrm>
            </p:grpSpPr>
            <p:sp>
              <p:nvSpPr>
                <p:cNvPr id="30" name="Ellipse 30"/>
                <p:cNvSpPr/>
                <p:nvPr/>
              </p:nvSpPr>
              <p:spPr>
                <a:xfrm>
                  <a:off x="6724650" y="3257550"/>
                  <a:ext cx="419100" cy="4191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1" name="Ellipse 31"/>
                <p:cNvSpPr/>
                <p:nvPr/>
              </p:nvSpPr>
              <p:spPr>
                <a:xfrm>
                  <a:off x="6838950" y="3371850"/>
                  <a:ext cx="190500" cy="1905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7287006" y="3358515"/>
                  <a:ext cx="502920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简单</a:t>
                  </a:r>
                </a:p>
              </p:txBody>
            </p:sp>
            <p:sp>
              <p:nvSpPr>
                <p:cNvPr id="33" name="Ellipse 33"/>
                <p:cNvSpPr/>
                <p:nvPr/>
              </p:nvSpPr>
              <p:spPr>
                <a:xfrm>
                  <a:off x="6724650" y="3790950"/>
                  <a:ext cx="419100" cy="419100"/>
                </a:xfrm>
                <a:prstGeom prst="ellipse">
                  <a:avLst/>
                </a:prstGeom>
                <a:solidFill>
                  <a:schemeClr val="lt2"/>
                </a:solidFill>
                <a:ln w="28575">
                  <a:solidFill>
                    <a:schemeClr val="accent4"/>
                  </a:solidFill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7287006" y="3891915"/>
                  <a:ext cx="502920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普通</a:t>
                  </a:r>
                </a:p>
              </p:txBody>
            </p:sp>
            <p:sp>
              <p:nvSpPr>
                <p:cNvPr id="35" name="Ellipse 35"/>
                <p:cNvSpPr/>
                <p:nvPr/>
              </p:nvSpPr>
              <p:spPr>
                <a:xfrm>
                  <a:off x="6724650" y="4324350"/>
                  <a:ext cx="419100" cy="419100"/>
                </a:xfrm>
                <a:prstGeom prst="ellipse">
                  <a:avLst/>
                </a:prstGeom>
                <a:solidFill>
                  <a:schemeClr val="lt2"/>
                </a:solidFill>
                <a:ln w="28575">
                  <a:solidFill>
                    <a:schemeClr val="accent4"/>
                  </a:solidFill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7287006" y="4425315"/>
                  <a:ext cx="502920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困难</a:t>
                  </a:r>
                </a:p>
              </p:txBody>
            </p:sp>
          </p:grpSp>
          <p:sp>
            <p:nvSpPr>
              <p:cNvPr id="38" name="Rectangle 38"/>
              <p:cNvSpPr/>
              <p:nvPr/>
            </p:nvSpPr>
            <p:spPr>
              <a:xfrm>
                <a:off x="8763000" y="3276600"/>
                <a:ext cx="2286000" cy="1485900"/>
              </a:xfrm>
              <a:prstGeom prst="roundRect">
                <a:avLst>
                  <a:gd name="adj" fmla="val 11538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9642424" y="3482340"/>
                <a:ext cx="5271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适合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272892" y="3901440"/>
                <a:ext cx="12662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难度 / 角色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412224" y="42824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互斥模式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658356" y="5082540"/>
                <a:ext cx="316628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选项很多时，改用 Dropdown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5" name="Line 45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64642" y="6521768"/>
              <a:ext cx="2435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Toggle · 布尔状态与互斥选择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47DFC295-102A-4A8A-8FC4-5DCA9EA7071F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fld>
            </a:p>
          </p:txBody>
        </p:sp>
      </p:grp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0085756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Dropdown：从互斥列表中选择一项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528585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现代项目优先 TMP_Dropdown，并明确索引映射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781050" y="1905000"/>
            <a:ext cx="10668000" cy="3505200"/>
            <a:chOff x="781050" y="1905000"/>
            <a:chExt cx="10668000" cy="3505200"/>
          </a:xfrm>
        </p:grpSpPr>
        <p:sp>
          <p:nvSpPr>
            <p:cNvPr id="4" name="Line 4"/>
            <p:cNvSpPr/>
            <p:nvPr/>
          </p:nvSpPr>
          <p:spPr>
            <a:xfrm>
              <a:off x="1733550" y="234315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76200" cap="rnd">
              <a:solidFill>
                <a:schemeClr val="accent4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81050" y="1905000"/>
              <a:ext cx="1905000" cy="3505200"/>
              <a:chOff x="781050" y="1905000"/>
              <a:chExt cx="1905000" cy="3505200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1295400" y="1905000"/>
                <a:ext cx="876300" cy="87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628066" y="21983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781050" y="3028950"/>
                <a:ext cx="1905000" cy="2381250"/>
              </a:xfrm>
              <a:prstGeom prst="roundRect">
                <a:avLst>
                  <a:gd name="adj" fmla="val 11000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42873" y="322707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准备结构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84710" y="3729990"/>
                <a:ext cx="8976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Caption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93640" y="4072890"/>
                <a:ext cx="10798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Template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93640" y="4415790"/>
                <a:ext cx="10798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Viewport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60230" y="4758690"/>
                <a:ext cx="54664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Item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971800" y="1905000"/>
              <a:ext cx="1905000" cy="3505200"/>
              <a:chOff x="2971800" y="1905000"/>
              <a:chExt cx="1905000" cy="350520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3486150" y="1905000"/>
                <a:ext cx="876300" cy="87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818816" y="21983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2971800" y="3028950"/>
                <a:ext cx="1905000" cy="2381250"/>
              </a:xfrm>
              <a:prstGeom prst="roundRect">
                <a:avLst>
                  <a:gd name="adj" fmla="val 11000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233623" y="322707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添加选项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793998" y="378714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低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793998" y="420624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中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793998" y="462534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高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162550" y="1905000"/>
              <a:ext cx="1905000" cy="3505200"/>
              <a:chOff x="5162550" y="1905000"/>
              <a:chExt cx="1905000" cy="350520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5676900" y="1905000"/>
                <a:ext cx="876300" cy="87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009566" y="21983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5162550" y="3028950"/>
                <a:ext cx="1905000" cy="2381250"/>
              </a:xfrm>
              <a:prstGeom prst="roundRect">
                <a:avLst>
                  <a:gd name="adj" fmla="val 11000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424373" y="322707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恢复初值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595985" y="3787140"/>
                <a:ext cx="10381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SetValue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268746" y="4110990"/>
                <a:ext cx="169260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WithoutNotify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621274" y="46443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刷新显示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7353300" y="1905000"/>
              <a:ext cx="1905000" cy="3505200"/>
              <a:chOff x="7353300" y="1905000"/>
              <a:chExt cx="1905000" cy="3505200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7867650" y="1905000"/>
                <a:ext cx="876300" cy="8763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200316" y="21983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7353300" y="3028950"/>
                <a:ext cx="1905000" cy="2381250"/>
              </a:xfrm>
              <a:prstGeom prst="roundRect">
                <a:avLst>
                  <a:gd name="adj" fmla="val 11000"/>
                </a:avLst>
              </a:prstGeom>
              <a:solidFill>
                <a:schemeClr val="lt2"/>
              </a:solidFill>
              <a:ln w="28575">
                <a:solidFill>
                  <a:srgbClr val="D85C45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15123" y="322707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监听变化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856960" y="3787140"/>
                <a:ext cx="8976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onValue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826426" y="4110990"/>
                <a:ext cx="9587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Changed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523759" y="4644390"/>
                <a:ext cx="156408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Add / Remove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544050" y="1905000"/>
              <a:ext cx="1905000" cy="3505200"/>
              <a:chOff x="9544050" y="1905000"/>
              <a:chExt cx="1905000" cy="3505200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10058400" y="1905000"/>
                <a:ext cx="876300" cy="87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0391066" y="21983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9544050" y="3028950"/>
                <a:ext cx="1905000" cy="2381250"/>
              </a:xfrm>
              <a:prstGeom prst="roundRect">
                <a:avLst>
                  <a:gd name="adj" fmla="val 11000"/>
                </a:avLst>
              </a:prstGeom>
              <a:solidFill>
                <a:srgbClr val="FFFFFF"/>
              </a:solidFill>
              <a:ln w="28575">
                <a:solidFill>
                  <a:schemeClr val="dk2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9805873" y="322707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应用映射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0002774" y="37871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显示顺序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420769" y="4206240"/>
                <a:ext cx="151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≠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002774" y="46253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内部等级</a:t>
                </a:r>
              </a:p>
            </p:txBody>
          </p:sp>
        </p:grpSp>
      </p:grpSp>
      <p:sp>
        <p:nvSpPr>
          <p:cNvPr id="47" name="Rectangle 47"/>
          <p:cNvSpPr/>
          <p:nvPr/>
        </p:nvSpPr>
        <p:spPr>
          <a:xfrm>
            <a:off x="1752600" y="5657850"/>
            <a:ext cx="8686800" cy="381000"/>
          </a:xfrm>
          <a:prstGeom prst="roundRect">
            <a:avLst>
              <a:gd name="adj" fmla="val 35000"/>
            </a:avLst>
          </a:prstGeom>
          <a:solidFill>
            <a:srgbClr val="EAF0FA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2397488" y="5730240"/>
            <a:ext cx="73970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不要随意破坏 Template、Caption Text、Item Text 的引用关系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9" name="Line 49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4642" y="6521768"/>
              <a:ext cx="30091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TMP_Dropdown · 初始化与索引映射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47DFC295-102A-4A8A-8FC4-5DCA9EA7071F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fld>
            </a:p>
          </p:txBody>
        </p:sp>
      </p:grp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8192719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综合实践：组装一个设置面板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3799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每个控件都有明确的数据来源与输出行为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71500" y="1485900"/>
            <a:ext cx="4953000" cy="4286250"/>
            <a:chOff x="571500" y="1485900"/>
            <a:chExt cx="4953000" cy="4286250"/>
          </a:xfrm>
        </p:grpSpPr>
        <p:sp>
          <p:nvSpPr>
            <p:cNvPr id="4" name="Rectangle 4"/>
            <p:cNvSpPr/>
            <p:nvPr/>
          </p:nvSpPr>
          <p:spPr>
            <a:xfrm>
              <a:off x="571500" y="1485900"/>
              <a:ext cx="4953000" cy="4286250"/>
            </a:xfrm>
            <a:prstGeom prst="roundRect">
              <a:avLst>
                <a:gd name="adj" fmla="val 6222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24484" y="170878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目标层级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466850" y="2743200"/>
              <a:ext cx="3171825" cy="933450"/>
              <a:chOff x="1466850" y="2743200"/>
              <a:chExt cx="3171825" cy="933450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3048000" y="2743200"/>
                <a:ext cx="9525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95300">
                    <a:moveTo>
                      <a:pt x="0" y="0"/>
                    </a:moveTo>
                    <a:lnTo>
                      <a:pt x="0" y="4953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1466850" y="3238500"/>
                <a:ext cx="3162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62300" h="9525">
                    <a:moveTo>
                      <a:pt x="0" y="0"/>
                    </a:moveTo>
                    <a:lnTo>
                      <a:pt x="3162300" y="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1466850" y="3238500"/>
                <a:ext cx="95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38150">
                    <a:moveTo>
                      <a:pt x="0" y="0"/>
                    </a:moveTo>
                    <a:lnTo>
                      <a:pt x="0" y="43815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2524125" y="3238500"/>
                <a:ext cx="95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38150">
                    <a:moveTo>
                      <a:pt x="0" y="0"/>
                    </a:moveTo>
                    <a:lnTo>
                      <a:pt x="0" y="43815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3581400" y="3238500"/>
                <a:ext cx="95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38150">
                    <a:moveTo>
                      <a:pt x="0" y="0"/>
                    </a:moveTo>
                    <a:lnTo>
                      <a:pt x="0" y="43815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4629150" y="3238500"/>
                <a:ext cx="95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38150">
                    <a:moveTo>
                      <a:pt x="0" y="0"/>
                    </a:moveTo>
                    <a:lnTo>
                      <a:pt x="0" y="43815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</p:grpSp>
        <p:sp>
          <p:nvSpPr>
            <p:cNvPr id="13" name="Rectangle 13"/>
            <p:cNvSpPr/>
            <p:nvPr/>
          </p:nvSpPr>
          <p:spPr>
            <a:xfrm>
              <a:off x="1714500" y="2209800"/>
              <a:ext cx="2667000" cy="552450"/>
            </a:xfrm>
            <a:prstGeom prst="roundRect">
              <a:avLst>
                <a:gd name="adj" fmla="val 275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658383" y="2386965"/>
              <a:ext cx="27792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SettingsPanel (Image)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838200" y="3676650"/>
              <a:ext cx="4429125" cy="895350"/>
              <a:chOff x="838200" y="3676650"/>
              <a:chExt cx="4429125" cy="8953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838200" y="3676650"/>
                <a:ext cx="1257300" cy="895350"/>
              </a:xfrm>
              <a:prstGeom prst="roundRect">
                <a:avLst>
                  <a:gd name="adj" fmla="val 17021"/>
                </a:avLst>
              </a:prstGeom>
              <a:solidFill>
                <a:srgbClr val="EAF0FA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93583" y="3863340"/>
                <a:ext cx="94653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Preview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98636" y="4168140"/>
                <a:ext cx="113642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RawImage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1895475" y="3676650"/>
                <a:ext cx="1257300" cy="895350"/>
              </a:xfrm>
              <a:prstGeom prst="roundRect">
                <a:avLst>
                  <a:gd name="adj" fmla="val 17021"/>
                </a:avLst>
              </a:prstGeom>
              <a:solidFill>
                <a:srgbClr val="E8F5F0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184151" y="3863340"/>
                <a:ext cx="6799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Music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141963" y="4168140"/>
                <a:ext cx="76432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Toggle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2952750" y="3676650"/>
                <a:ext cx="1257300" cy="895350"/>
              </a:xfrm>
              <a:prstGeom prst="roundRect">
                <a:avLst>
                  <a:gd name="adj" fmla="val 17021"/>
                </a:avLst>
              </a:prstGeom>
              <a:solidFill>
                <a:srgbClr val="FFF0D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138667" y="3863340"/>
                <a:ext cx="8854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Quality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010986" y="4168140"/>
                <a:ext cx="114082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Dropdown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4010025" y="3676650"/>
                <a:ext cx="1257300" cy="895350"/>
              </a:xfrm>
              <a:prstGeom prst="roundRect">
                <a:avLst>
                  <a:gd name="adj" fmla="val 17021"/>
                </a:avLst>
              </a:prstGeom>
              <a:solidFill>
                <a:schemeClr val="lt2"/>
              </a:solidFill>
              <a:ln w="19050">
                <a:solidFill>
                  <a:schemeClr val="dk2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323207" y="3863340"/>
                <a:ext cx="6309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Apply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225938" y="4168140"/>
                <a:ext cx="82547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Button</a:t>
                </a:r>
              </a:p>
            </p:txBody>
          </p:sp>
        </p:grpSp>
        <p:sp>
          <p:nvSpPr>
            <p:cNvPr id="28" name="Rectangle 28"/>
            <p:cNvSpPr/>
            <p:nvPr/>
          </p:nvSpPr>
          <p:spPr>
            <a:xfrm>
              <a:off x="1104900" y="4914900"/>
              <a:ext cx="3886200" cy="552450"/>
            </a:xfrm>
            <a:prstGeom prst="roundRect">
              <a:avLst>
                <a:gd name="adj" fmla="val 275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464423" y="5092065"/>
              <a:ext cx="31671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EventSystem（场景唯一）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905500" y="1485900"/>
            <a:ext cx="5715000" cy="4286250"/>
            <a:chOff x="5905500" y="1485900"/>
            <a:chExt cx="5715000" cy="4286250"/>
          </a:xfrm>
        </p:grpSpPr>
        <p:sp>
          <p:nvSpPr>
            <p:cNvPr id="31" name="Rectangle 31"/>
            <p:cNvSpPr/>
            <p:nvPr/>
          </p:nvSpPr>
          <p:spPr>
            <a:xfrm>
              <a:off x="5905500" y="1485900"/>
              <a:ext cx="5715000" cy="4286250"/>
            </a:xfrm>
            <a:prstGeom prst="roundRect">
              <a:avLst>
                <a:gd name="adj" fmla="val 6222"/>
              </a:avLst>
            </a:prstGeom>
            <a:solidFill>
              <a:srgbClr val="FFFFFF"/>
            </a:solidFill>
            <a:ln w="38100">
              <a:solidFill>
                <a:schemeClr val="accent1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905500" y="1485900"/>
              <a:ext cx="5715000" cy="628650"/>
            </a:xfrm>
            <a:prstGeom prst="roundRect">
              <a:avLst>
                <a:gd name="adj" fmla="val 42424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174756" y="1650381"/>
              <a:ext cx="299689" cy="299689"/>
              <a:chOff x="6174756" y="1650381"/>
              <a:chExt cx="299689" cy="299689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174756" y="1650381"/>
                <a:ext cx="299689" cy="299689"/>
              </a:xfrm>
              <a:custGeom>
                <a:avLst/>
                <a:gdLst/>
                <a:ahLst/>
                <a:cxnLst/>
                <a:rect l="l" t="t" r="r" b="b"/>
                <a:pathLst>
                  <a:path w="299689" h="299689">
                    <a:moveTo>
                      <a:pt x="123254" y="27877"/>
                    </a:moveTo>
                    <a:cubicBezTo>
                      <a:pt x="130017" y="0"/>
                      <a:pt x="169672" y="0"/>
                      <a:pt x="176435" y="27877"/>
                    </a:cubicBezTo>
                    <a:cubicBezTo>
                      <a:pt x="178493" y="36371"/>
                      <a:pt x="184484" y="43371"/>
                      <a:pt x="192559" y="46716"/>
                    </a:cubicBezTo>
                    <a:cubicBezTo>
                      <a:pt x="200633" y="50061"/>
                      <a:pt x="209819" y="49349"/>
                      <a:pt x="217282" y="44799"/>
                    </a:cubicBezTo>
                    <a:cubicBezTo>
                      <a:pt x="241777" y="29877"/>
                      <a:pt x="269828" y="57912"/>
                      <a:pt x="254905" y="82423"/>
                    </a:cubicBezTo>
                    <a:cubicBezTo>
                      <a:pt x="250362" y="89882"/>
                      <a:pt x="249652" y="99061"/>
                      <a:pt x="252993" y="107131"/>
                    </a:cubicBezTo>
                    <a:cubicBezTo>
                      <a:pt x="256334" y="115200"/>
                      <a:pt x="263326" y="121190"/>
                      <a:pt x="271812" y="123254"/>
                    </a:cubicBezTo>
                    <a:cubicBezTo>
                      <a:pt x="299689" y="130017"/>
                      <a:pt x="299689" y="169672"/>
                      <a:pt x="271812" y="176435"/>
                    </a:cubicBezTo>
                    <a:cubicBezTo>
                      <a:pt x="263318" y="178493"/>
                      <a:pt x="256318" y="184484"/>
                      <a:pt x="252973" y="192559"/>
                    </a:cubicBezTo>
                    <a:cubicBezTo>
                      <a:pt x="249627" y="200633"/>
                      <a:pt x="250340" y="209819"/>
                      <a:pt x="254890" y="217282"/>
                    </a:cubicBezTo>
                    <a:cubicBezTo>
                      <a:pt x="269812" y="241777"/>
                      <a:pt x="241777" y="269828"/>
                      <a:pt x="217266" y="254905"/>
                    </a:cubicBezTo>
                    <a:cubicBezTo>
                      <a:pt x="209807" y="250362"/>
                      <a:pt x="200627" y="249652"/>
                      <a:pt x="192558" y="252993"/>
                    </a:cubicBezTo>
                    <a:cubicBezTo>
                      <a:pt x="184489" y="256334"/>
                      <a:pt x="178499" y="263326"/>
                      <a:pt x="176435" y="271812"/>
                    </a:cubicBezTo>
                    <a:cubicBezTo>
                      <a:pt x="169672" y="299689"/>
                      <a:pt x="130017" y="299689"/>
                      <a:pt x="123254" y="271812"/>
                    </a:cubicBezTo>
                    <a:cubicBezTo>
                      <a:pt x="121196" y="263318"/>
                      <a:pt x="115205" y="256318"/>
                      <a:pt x="107130" y="252973"/>
                    </a:cubicBezTo>
                    <a:cubicBezTo>
                      <a:pt x="99056" y="249627"/>
                      <a:pt x="89869" y="250340"/>
                      <a:pt x="82407" y="254890"/>
                    </a:cubicBezTo>
                    <a:cubicBezTo>
                      <a:pt x="57912" y="269812"/>
                      <a:pt x="29861" y="241777"/>
                      <a:pt x="44783" y="217266"/>
                    </a:cubicBezTo>
                    <a:cubicBezTo>
                      <a:pt x="49327" y="209807"/>
                      <a:pt x="50037" y="200627"/>
                      <a:pt x="46696" y="192558"/>
                    </a:cubicBezTo>
                    <a:cubicBezTo>
                      <a:pt x="43355" y="184489"/>
                      <a:pt x="36363" y="178499"/>
                      <a:pt x="27877" y="176435"/>
                    </a:cubicBezTo>
                    <a:cubicBezTo>
                      <a:pt x="0" y="169672"/>
                      <a:pt x="0" y="130017"/>
                      <a:pt x="27877" y="123254"/>
                    </a:cubicBezTo>
                    <a:cubicBezTo>
                      <a:pt x="36371" y="121196"/>
                      <a:pt x="43371" y="115205"/>
                      <a:pt x="46716" y="107130"/>
                    </a:cubicBezTo>
                    <a:cubicBezTo>
                      <a:pt x="50061" y="99056"/>
                      <a:pt x="49349" y="89869"/>
                      <a:pt x="44799" y="82407"/>
                    </a:cubicBezTo>
                    <a:cubicBezTo>
                      <a:pt x="29877" y="57912"/>
                      <a:pt x="57912" y="29861"/>
                      <a:pt x="82423" y="44783"/>
                    </a:cubicBezTo>
                    <a:cubicBezTo>
                      <a:pt x="98298" y="54435"/>
                      <a:pt x="118872" y="45895"/>
                      <a:pt x="123254" y="27877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276975" y="17526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674358" y="1655445"/>
              <a:ext cx="7028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设置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191250" y="2362200"/>
              <a:ext cx="2095500" cy="1428750"/>
            </a:xfrm>
            <a:prstGeom prst="roundRect">
              <a:avLst>
                <a:gd name="adj" fmla="val 13333"/>
              </a:avLst>
            </a:prstGeom>
            <a:solidFill>
              <a:srgbClr val="EAF0F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953250" y="2774950"/>
              <a:ext cx="571499" cy="507999"/>
              <a:chOff x="6953250" y="2774950"/>
              <a:chExt cx="571499" cy="507999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953250" y="2774950"/>
                <a:ext cx="571499" cy="507999"/>
              </a:xfrm>
              <a:custGeom>
                <a:avLst/>
                <a:gdLst/>
                <a:ahLst/>
                <a:cxnLst/>
                <a:rect l="l" t="t" r="r" b="b"/>
                <a:pathLst>
                  <a:path w="571499" h="507999">
                    <a:moveTo>
                      <a:pt x="63500" y="95250"/>
                    </a:moveTo>
                    <a:lnTo>
                      <a:pt x="95250" y="95250"/>
                    </a:lnTo>
                    <a:cubicBezTo>
                      <a:pt x="130320" y="95250"/>
                      <a:pt x="158750" y="66820"/>
                      <a:pt x="158750" y="31750"/>
                    </a:cubicBezTo>
                    <a:cubicBezTo>
                      <a:pt x="158750" y="14215"/>
                      <a:pt x="172965" y="0"/>
                      <a:pt x="190500" y="0"/>
                    </a:cubicBezTo>
                    <a:lnTo>
                      <a:pt x="381000" y="0"/>
                    </a:lnTo>
                    <a:cubicBezTo>
                      <a:pt x="398535" y="0"/>
                      <a:pt x="412750" y="14215"/>
                      <a:pt x="412750" y="31750"/>
                    </a:cubicBezTo>
                    <a:cubicBezTo>
                      <a:pt x="412750" y="66820"/>
                      <a:pt x="441179" y="95250"/>
                      <a:pt x="476250" y="95250"/>
                    </a:cubicBezTo>
                    <a:lnTo>
                      <a:pt x="507999" y="95250"/>
                    </a:lnTo>
                    <a:cubicBezTo>
                      <a:pt x="543070" y="95250"/>
                      <a:pt x="571499" y="123680"/>
                      <a:pt x="571499" y="158750"/>
                    </a:cubicBezTo>
                    <a:lnTo>
                      <a:pt x="571499" y="444500"/>
                    </a:lnTo>
                    <a:cubicBezTo>
                      <a:pt x="571499" y="479570"/>
                      <a:pt x="543070" y="507999"/>
                      <a:pt x="507999" y="507999"/>
                    </a:cubicBezTo>
                    <a:lnTo>
                      <a:pt x="63500" y="507999"/>
                    </a:lnTo>
                    <a:cubicBezTo>
                      <a:pt x="28430" y="507999"/>
                      <a:pt x="0" y="479570"/>
                      <a:pt x="0" y="444500"/>
                    </a:cubicBezTo>
                    <a:lnTo>
                      <a:pt x="0" y="158750"/>
                    </a:lnTo>
                    <a:cubicBezTo>
                      <a:pt x="0" y="123680"/>
                      <a:pt x="28430" y="95250"/>
                      <a:pt x="63500" y="952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143750" y="29654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147855"/>
                      <a:pt x="42645" y="190500"/>
                      <a:pt x="95250" y="190500"/>
                    </a:cubicBezTo>
                    <a:cubicBezTo>
                      <a:pt x="147855" y="190500"/>
                      <a:pt x="190500" y="147855"/>
                      <a:pt x="190500" y="95250"/>
                    </a:cubicBez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610981" y="25107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音乐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325100" y="2438400"/>
              <a:ext cx="952500" cy="495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0839450" y="249555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610981" y="31775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画质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001250" y="3067050"/>
              <a:ext cx="1276350" cy="476250"/>
            </a:xfrm>
            <a:prstGeom prst="roundRect">
              <a:avLst>
                <a:gd name="adj" fmla="val 28000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163556" y="3187065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10858500" y="3238500"/>
              <a:ext cx="266700" cy="152400"/>
            </a:xfrm>
            <a:custGeom>
              <a:avLst/>
              <a:gdLst/>
              <a:ahLst/>
              <a:cxnLst/>
              <a:rect l="l" t="t" r="r" b="b"/>
              <a:pathLst>
                <a:path w="266700" h="152400">
                  <a:moveTo>
                    <a:pt x="0" y="0"/>
                  </a:moveTo>
                  <a:lnTo>
                    <a:pt x="133350" y="152400"/>
                  </a:lnTo>
                  <a:lnTo>
                    <a:pt x="266700" y="0"/>
                  </a:lnTo>
                </a:path>
              </a:pathLst>
            </a:custGeom>
            <a:noFill/>
            <a:ln w="38100">
              <a:solidFill>
                <a:schemeClr val="dk2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96050" y="4210050"/>
              <a:ext cx="4533900" cy="647700"/>
            </a:xfrm>
            <a:prstGeom prst="roundRect">
              <a:avLst>
                <a:gd name="adj" fmla="val 264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072323" y="4379595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应用设置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66597" y="5101590"/>
              <a:ext cx="27928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预览 · 状态 · 选择 · 提交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52" name="Line 52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4642" y="6521768"/>
              <a:ext cx="2231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综合实践 · Settings Panel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47DFC295-102A-4A8A-8FC4-5DCA9EA7071F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fld>
            </a:p>
          </p:txBody>
        </p:sp>
      </p:grpSp>
    </p:spTree>
  </p:cSld>
  <p:clrMapOvr>
    <a:masterClrMapping/>
  </p:clrMapOvr>
  <p:transition p14:dur="400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6310884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交付前，检查这五件事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341071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UI 的完成标准不只是“能显示”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81050" y="1524000"/>
            <a:ext cx="10648950" cy="4457700"/>
            <a:chOff x="781050" y="1524000"/>
            <a:chExt cx="10648950" cy="4457700"/>
          </a:xfrm>
        </p:grpSpPr>
        <p:grpSp>
          <p:nvGrpSpPr>
            <p:cNvPr id="9" name="Group 9"/>
            <p:cNvGrpSpPr/>
            <p:nvPr/>
          </p:nvGrpSpPr>
          <p:grpSpPr>
            <a:xfrm>
              <a:off x="781050" y="1524000"/>
              <a:ext cx="10648950" cy="800100"/>
              <a:chOff x="781050" y="1524000"/>
              <a:chExt cx="10648950" cy="800100"/>
            </a:xfrm>
          </p:grpSpPr>
          <p:sp>
            <p:nvSpPr>
              <p:cNvPr id="4" name="Ellipse 4"/>
              <p:cNvSpPr/>
              <p:nvPr/>
            </p:nvSpPr>
            <p:spPr>
              <a:xfrm>
                <a:off x="781050" y="1543050"/>
                <a:ext cx="762000" cy="762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1056566" y="17792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6" name="Rectangle 6"/>
              <p:cNvSpPr/>
              <p:nvPr/>
            </p:nvSpPr>
            <p:spPr>
              <a:xfrm>
                <a:off x="1752600" y="1524000"/>
                <a:ext cx="9677400" cy="800100"/>
              </a:xfrm>
              <a:prstGeom prst="roundRect">
                <a:avLst>
                  <a:gd name="adj" fmla="val 23810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2045208" y="1626870"/>
                <a:ext cx="702869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适配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3534156" y="1691640"/>
                <a:ext cx="582994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Anchor、Pivot、Canvas Scaler 在不同宽高比下稳定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81050" y="2438400"/>
              <a:ext cx="10648950" cy="800100"/>
              <a:chOff x="781050" y="2438400"/>
              <a:chExt cx="10648950" cy="80010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781050" y="2457450"/>
                <a:ext cx="762000" cy="762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056566" y="26936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752600" y="2438400"/>
                <a:ext cx="9677400" cy="800100"/>
              </a:xfrm>
              <a:prstGeom prst="roundRect">
                <a:avLst>
                  <a:gd name="adj" fmla="val 23810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045208" y="2541270"/>
                <a:ext cx="702869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交互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534156" y="2606040"/>
                <a:ext cx="486460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鼠标、键盘、手柄都有清楚的导航与焦点反馈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81050" y="3352800"/>
              <a:ext cx="10648950" cy="800100"/>
              <a:chOff x="781050" y="3352800"/>
              <a:chExt cx="10648950" cy="8001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781050" y="3371850"/>
                <a:ext cx="762000" cy="762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56566" y="36080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1752600" y="3352800"/>
                <a:ext cx="9677400" cy="800100"/>
              </a:xfrm>
              <a:prstGeom prst="roundRect">
                <a:avLst>
                  <a:gd name="adj" fmla="val 23810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045208" y="3455670"/>
                <a:ext cx="702869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状态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534156" y="3520440"/>
                <a:ext cx="46222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正常、悬停、按下、禁用与当前值都可辨认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81050" y="4267200"/>
              <a:ext cx="10648950" cy="800100"/>
              <a:chOff x="781050" y="4267200"/>
              <a:chExt cx="10648950" cy="80010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81050" y="4286250"/>
                <a:ext cx="762000" cy="7620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56566" y="45224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752600" y="4267200"/>
                <a:ext cx="9677400" cy="800100"/>
              </a:xfrm>
              <a:prstGeom prst="roundRect">
                <a:avLst>
                  <a:gd name="adj" fmla="val 2381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045208" y="4370070"/>
                <a:ext cx="702869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事件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34156" y="4434840"/>
                <a:ext cx="489508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监听添加与移除成对，Inspector 引用未丢失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781050" y="5181600"/>
              <a:ext cx="10648950" cy="800100"/>
              <a:chOff x="781050" y="5181600"/>
              <a:chExt cx="10648950" cy="800100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781050" y="5200650"/>
                <a:ext cx="762000" cy="762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056566" y="54368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1752600" y="5181600"/>
                <a:ext cx="9677400" cy="800100"/>
              </a:xfrm>
              <a:prstGeom prst="roundRect">
                <a:avLst>
                  <a:gd name="adj" fmla="val 23810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2045208" y="5284470"/>
                <a:ext cx="702869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性能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534156" y="5349240"/>
                <a:ext cx="61447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装饰图关闭 Raycast，RawImage 与纹理批次不过度使用</a:t>
                </a:r>
              </a:p>
            </p:txBody>
          </p:sp>
        </p:grpSp>
      </p:grpSp>
      <p:sp>
        <p:nvSpPr>
          <p:cNvPr id="35" name="TextBox 35"/>
          <p:cNvSpPr txBox="1"/>
          <p:nvPr/>
        </p:nvSpPr>
        <p:spPr>
          <a:xfrm>
            <a:off x="2081098" y="5755958"/>
            <a:ext cx="802980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会布局、能点击、状态清楚、事件可靠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6" name="Line 36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4642" y="6521768"/>
              <a:ext cx="2079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Unity UI 基础 · 完成标准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47DFC295-102A-4A8A-8FC4-5DCA9EA7071F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fld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2026-07-18T11:20:08Z</dcterms:created>
  <dcterms:modified xsi:type="dcterms:W3CDTF">2026-07-18T11:20:08Z</dcterms:modified>
  <cp:category/>
  <cp:contentStatus/>
</cp:coreProperties>
</file>