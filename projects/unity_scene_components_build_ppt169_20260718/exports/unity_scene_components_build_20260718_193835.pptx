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这一单元把 Unity 场景中的核心概念串成一条完整工作流。我们会从对象和组件开始，经过物理、渲染与复用，最后导出一个可以运行的 Windows 程序。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整套内容分成四段：先组织场景，再建立物理交互，然后完成渲染与镜头，最后用 Prefab 和 Build 收尾。学习时始终问自己两个问题：当前对象由谁驱动，它最终要输出什么结果。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Scene 是对象的组织容器，GameObject 本身更像一个空壳。对象通过 Transform、Collider、Renderer 和脚本等组件组合出具体能力，这也是 Unity 常见的组合式设计思路。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Transform 同时描述位置、旋转和缩放，并区分本地空间与世界空间。父物体变化会带动子物体，因此适合把角色模型、相机轴和功能节点挂到稳定的根节点下。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碰撞体只描述物理边界，不必和可见模型完全一致。优先使用 Box、Sphere 或 Capsule，只有在简单形状和组合碰撞体都无法满足需求时，才考虑 Mesh Collider。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静态对象属于世界，不应在运行时频繁移动；动态对象交给物理系统处理；运动学对象则由脚本控制轨迹。确定移动责任后再设置 Rigidbody，可以避免抖动、穿透和不可预期的碰撞。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Trigger 不产生阻挡，而是报告进入、停留与离开事件。事件不触发时，从 Rigidbody、Is Trigger、Layer 碰撞矩阵、脚本挂载位置和方法签名依次排查，效率最高。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Texture 提供表面数据，Shader 定义计算规则，Material 保存参数，Renderer 负责把它们绑定到对象并输出画面。Skinned Mesh Renderer 在此基础上增加骨骼变形能力，通常用于角色动画。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先用天空盒和主方向光确定场景基调，再用局部光源补充重点区域。静态环境适合烘焙，动态变化适合实时光；两者合理组合，能同时兼顾效果与性能。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Camera 可以把结果写入 RenderTexture，RawImage 再把这张纹理显示在 Canvas 上。小地图、监控屏和角色预览都可以复用这条管线，关键是两端引用同一张纹理资产。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Prefab 把配置好的对象保存为可复用资产，多个实例共享来源，同时允许保留局部覆盖。角色则用 PlayerRoot 作为稳定根节点，让视觉、物理、镜头和脚本模块各司其职。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练习时不要一次堆完全部功能，而要按层级、碰撞、材质灯光、动态物体、触发区、角色与相机逐步完成。每一步都运行验证，错误就会被限制在最小范围内。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打包前先保存场景并清理 Console，再在 Build Profiles 中选择 Windows、加入需要的场景并执行 Build。最终交付时要保留生成目录的完整结构，因为可执行文件通常依赖旁边的数据文件夹和运行库。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5300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619125"/>
                </a:moveTo>
                <a:cubicBezTo>
                  <a:pt x="2095500" y="0"/>
                  <a:pt x="3429000" y="1524000"/>
                  <a:pt x="5810250" y="876300"/>
                </a:cubicBezTo>
                <a:cubicBezTo>
                  <a:pt x="8001000" y="285750"/>
                  <a:pt x="9620250" y="857250"/>
                  <a:pt x="12192000" y="0"/>
                </a:cubicBezTo>
                <a:lnTo>
                  <a:pt x="12192000" y="1905000"/>
                </a:lnTo>
                <a:lnTo>
                  <a:pt x="0" y="1905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66750" y="866775"/>
            <a:ext cx="3924300" cy="238125"/>
          </a:xfrm>
          <a:custGeom>
            <a:avLst/>
            <a:gdLst/>
            <a:ahLst/>
            <a:cxnLst/>
            <a:rect l="l" t="t" r="r" b="b"/>
            <a:pathLst>
              <a:path w="3924300" h="238125">
                <a:moveTo>
                  <a:pt x="0" y="238125"/>
                </a:moveTo>
                <a:cubicBezTo>
                  <a:pt x="1524000" y="0"/>
                  <a:pt x="2619375" y="95250"/>
                  <a:pt x="3924300" y="9525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79245"/>
            <a:ext cx="5196633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基础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748" y="2612708"/>
            <a:ext cx="66184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场景、组件、物理、渲染与打包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3608" y="3341370"/>
            <a:ext cx="648614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把编辑器里的层级结构，变成可以运行的游戏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334250" y="781050"/>
            <a:ext cx="4048125" cy="4476750"/>
            <a:chOff x="7334250" y="781050"/>
            <a:chExt cx="4048125" cy="4476750"/>
          </a:xfrm>
        </p:grpSpPr>
        <p:sp>
          <p:nvSpPr>
            <p:cNvPr id="7" name="Rectangle 7"/>
            <p:cNvSpPr/>
            <p:nvPr/>
          </p:nvSpPr>
          <p:spPr>
            <a:xfrm>
              <a:off x="7334250" y="781050"/>
              <a:ext cx="4048125" cy="4476750"/>
            </a:xfrm>
            <a:prstGeom prst="roundRect">
              <a:avLst>
                <a:gd name="adj" fmla="val 6588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9906" y="108204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SCENE → BUILD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153400" y="1847850"/>
              <a:ext cx="2428875" cy="790575"/>
              <a:chOff x="8153400" y="1847850"/>
              <a:chExt cx="2428875" cy="79057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9363075" y="184785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153400" y="2286000"/>
                <a:ext cx="2419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19350" h="9525">
                    <a:moveTo>
                      <a:pt x="0" y="0"/>
                    </a:moveTo>
                    <a:lnTo>
                      <a:pt x="2419350" y="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8153400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363075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0572750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5" name="Rectangle 15"/>
            <p:cNvSpPr/>
            <p:nvPr/>
          </p:nvSpPr>
          <p:spPr>
            <a:xfrm>
              <a:off x="8620125" y="1447800"/>
              <a:ext cx="1485900" cy="457200"/>
            </a:xfrm>
            <a:prstGeom prst="roundRect">
              <a:avLst>
                <a:gd name="adj" fmla="val 291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00127" y="1567815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Scene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562850" y="2638425"/>
              <a:ext cx="3600450" cy="647700"/>
              <a:chOff x="7562850" y="2638425"/>
              <a:chExt cx="3600450" cy="647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562850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89824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环境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772525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099499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玩家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9982200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309174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相机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9363075" y="3505200"/>
              <a:ext cx="9525" cy="752475"/>
            </a:xfrm>
            <a:custGeom>
              <a:avLst/>
              <a:gdLst/>
              <a:ahLst/>
              <a:cxnLst/>
              <a:rect l="l" t="t" r="r" b="b"/>
              <a:pathLst>
                <a:path w="9525" h="752475">
                  <a:moveTo>
                    <a:pt x="0" y="0"/>
                  </a:moveTo>
                  <a:cubicBezTo>
                    <a:pt x="0" y="342900"/>
                    <a:pt x="0" y="485775"/>
                    <a:pt x="0" y="752475"/>
                  </a:cubicBez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220200" y="4105275"/>
              <a:ext cx="285750" cy="171450"/>
            </a:xfrm>
            <a:custGeom>
              <a:avLst/>
              <a:gdLst/>
              <a:ahLst/>
              <a:cxnLst/>
              <a:rect l="l" t="t" r="r" b="b"/>
              <a:pathLst>
                <a:path w="285750" h="171450">
                  <a:moveTo>
                    <a:pt x="0" y="0"/>
                  </a:moveTo>
                  <a:lnTo>
                    <a:pt x="142875" y="171450"/>
                  </a:lnTo>
                  <a:lnTo>
                    <a:pt x="2857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24850" y="4419600"/>
              <a:ext cx="2076450" cy="552450"/>
            </a:xfrm>
            <a:prstGeom prst="roundRect">
              <a:avLst>
                <a:gd name="adj" fmla="val 31034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566150" y="4581525"/>
              <a:ext cx="228600" cy="228600"/>
              <a:chOff x="8566150" y="4581525"/>
              <a:chExt cx="22860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566150" y="4581525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228599"/>
                    </a:move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  <a:lnTo>
                      <a:pt x="203199" y="57150"/>
                    </a:lnTo>
                    <a:lnTo>
                      <a:pt x="203199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750" y="46386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67750" y="469582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66150" y="46386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05850" y="4772024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56649" y="473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589006" y="4587240"/>
              <a:ext cx="1700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Windows Build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4762500"/>
            <a:ext cx="5810250" cy="781050"/>
            <a:chOff x="666750" y="4762500"/>
            <a:chExt cx="5810250" cy="781050"/>
          </a:xfrm>
        </p:grpSpPr>
        <p:sp>
          <p:nvSpPr>
            <p:cNvPr id="36" name="Rectangle 36"/>
            <p:cNvSpPr/>
            <p:nvPr/>
          </p:nvSpPr>
          <p:spPr>
            <a:xfrm>
              <a:off x="666750" y="4762500"/>
              <a:ext cx="5810250" cy="78105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2975" y="4992862"/>
              <a:ext cx="285751" cy="320310"/>
              <a:chOff x="942975" y="4992862"/>
              <a:chExt cx="285751" cy="3203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42975" y="4992862"/>
                <a:ext cx="285751" cy="32031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320310">
                    <a:moveTo>
                      <a:pt x="285751" y="223790"/>
                    </a:moveTo>
                    <a:lnTo>
                      <a:pt x="285751" y="96504"/>
                    </a:lnTo>
                    <a:cubicBezTo>
                      <a:pt x="285731" y="85229"/>
                      <a:pt x="279673" y="74828"/>
                      <a:pt x="269876" y="69247"/>
                    </a:cubicBezTo>
                    <a:lnTo>
                      <a:pt x="158750" y="5620"/>
                    </a:lnTo>
                    <a:cubicBezTo>
                      <a:pt x="148913" y="0"/>
                      <a:pt x="136838" y="0"/>
                      <a:pt x="127000" y="5620"/>
                    </a:cubicBezTo>
                    <a:lnTo>
                      <a:pt x="15875" y="69247"/>
                    </a:lnTo>
                    <a:cubicBezTo>
                      <a:pt x="6048" y="74882"/>
                      <a:pt x="0" y="85281"/>
                      <a:pt x="0" y="96520"/>
                    </a:cubicBezTo>
                    <a:lnTo>
                      <a:pt x="0" y="223806"/>
                    </a:lnTo>
                    <a:cubicBezTo>
                      <a:pt x="0" y="235062"/>
                      <a:pt x="6048" y="245444"/>
                      <a:pt x="15875" y="251064"/>
                    </a:cubicBezTo>
                    <a:lnTo>
                      <a:pt x="127000" y="314691"/>
                    </a:lnTo>
                    <a:cubicBezTo>
                      <a:pt x="136838" y="320310"/>
                      <a:pt x="148913" y="320310"/>
                      <a:pt x="158750" y="314691"/>
                    </a:cubicBezTo>
                    <a:lnTo>
                      <a:pt x="269876" y="251064"/>
                    </a:lnTo>
                    <a:cubicBezTo>
                      <a:pt x="279702" y="245428"/>
                      <a:pt x="285751" y="235030"/>
                      <a:pt x="285751" y="22379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85850" y="51530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158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85850" y="5073015"/>
                <a:ext cx="138589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38589" h="80010">
                    <a:moveTo>
                      <a:pt x="0" y="80010"/>
                    </a:moveTo>
                    <a:lnTo>
                      <a:pt x="138589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7261" y="5073015"/>
                <a:ext cx="138589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38589" h="80010">
                    <a:moveTo>
                      <a:pt x="0" y="0"/>
                    </a:moveTo>
                    <a:lnTo>
                      <a:pt x="138589" y="8001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457706" y="5063490"/>
              <a:ext cx="4699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GameObject + Component + Transform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78942" y="6274118"/>
            <a:ext cx="23387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基础课程 · 第 03 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89560"/>
            <a:ext cx="1057010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一张地图，串起 Unity 的基础工作流</a:t>
            </a:r>
          </a:p>
        </p:txBody>
      </p:sp>
      <p:sp>
        <p:nvSpPr>
          <p:cNvPr id="3" name="Freeform 3"/>
          <p:cNvSpPr/>
          <p:nvPr/>
        </p:nvSpPr>
        <p:spPr>
          <a:xfrm>
            <a:off x="571500" y="838200"/>
            <a:ext cx="5048250" cy="285750"/>
          </a:xfrm>
          <a:custGeom>
            <a:avLst/>
            <a:gdLst/>
            <a:ahLst/>
            <a:cxnLst/>
            <a:rect l="l" t="t" r="r" b="b"/>
            <a:pathLst>
              <a:path w="5048250" h="285750">
                <a:moveTo>
                  <a:pt x="0" y="133350"/>
                </a:moveTo>
                <a:cubicBezTo>
                  <a:pt x="1809750" y="285750"/>
                  <a:pt x="3276600" y="0"/>
                  <a:pt x="5048250" y="152400"/>
                </a:cubicBezTo>
              </a:path>
            </a:pathLst>
          </a:custGeom>
          <a:noFill/>
          <a:ln w="7620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581406" y="1196340"/>
            <a:ext cx="49130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从“组织场景”出发，到“交付可运行程序”结束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85800" y="1714500"/>
            <a:ext cx="10791825" cy="4238625"/>
            <a:chOff x="685800" y="1714500"/>
            <a:chExt cx="10791825" cy="4238625"/>
          </a:xfrm>
        </p:grpSpPr>
        <p:grpSp>
          <p:nvGrpSpPr>
            <p:cNvPr id="24" name="Group 24"/>
            <p:cNvGrpSpPr/>
            <p:nvPr/>
          </p:nvGrpSpPr>
          <p:grpSpPr>
            <a:xfrm>
              <a:off x="685800" y="1714500"/>
              <a:ext cx="10791825" cy="952500"/>
              <a:chOff x="685800" y="1714500"/>
              <a:chExt cx="10791825" cy="9525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685800" y="18097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8025" y="20364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619250" y="1714500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1905000" y="2019300"/>
                <a:ext cx="381000" cy="342900"/>
                <a:chOff x="1905000" y="2019300"/>
                <a:chExt cx="381000" cy="3429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2057400" y="2019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981200" y="2152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0574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2098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9050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133600" y="2152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9621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038350" y="2095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114550" y="2095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1907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1145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3810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0383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2540508" y="1884045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场景与层级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848606" y="1948815"/>
                <a:ext cx="54316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Scene · GameObject · Component · Transform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543556" y="2263140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先理解对象如何被组织，再谈功能如何叠加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85800" y="2809875"/>
              <a:ext cx="10791825" cy="952500"/>
              <a:chOff x="685800" y="2809875"/>
              <a:chExt cx="10791825" cy="9525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85800" y="2905125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68025" y="31318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619250" y="2809875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1943100" y="3114675"/>
                <a:ext cx="304800" cy="342900"/>
                <a:chOff x="1943100" y="3114675"/>
                <a:chExt cx="304800" cy="3429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943100" y="3114675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0"/>
                      </a:moveTo>
                      <a:lnTo>
                        <a:pt x="304800" y="85725"/>
                      </a:lnTo>
                      <a:lnTo>
                        <a:pt x="304800" y="257175"/>
                      </a:lnTo>
                      <a:lnTo>
                        <a:pt x="152400" y="342900"/>
                      </a:ln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095500" y="3200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095500" y="328612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943100" y="3200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2540508" y="297942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碰撞与物理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48606" y="3044190"/>
                <a:ext cx="34347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Collider · Rigidbody · Trigger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543556" y="3358515"/>
                <a:ext cx="41618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明确“谁移动、谁阻挡、谁只负责检测”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85800" y="3905250"/>
              <a:ext cx="10791825" cy="952500"/>
              <a:chOff x="685800" y="3905250"/>
              <a:chExt cx="10791825" cy="9525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85800" y="400050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68025" y="42271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1619250" y="3905250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924050" y="4210050"/>
                <a:ext cx="342900" cy="343867"/>
                <a:chOff x="1924050" y="4210050"/>
                <a:chExt cx="342900" cy="343867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1924050" y="421005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2009775" y="43338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085975" y="4276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2162175" y="43338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2540508" y="4074795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渲染与镜头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848606" y="4139565"/>
                <a:ext cx="4075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 · 灯光 · 相机 · RenderTexture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543556" y="4453890"/>
                <a:ext cx="39438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让场景“看得见”，也让画面“送得到”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85800" y="5000625"/>
              <a:ext cx="10791825" cy="952500"/>
              <a:chOff x="685800" y="5000625"/>
              <a:chExt cx="10791825" cy="9525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685800" y="5095875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68025" y="532257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1619250" y="5000625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943100" y="5305425"/>
                <a:ext cx="342900" cy="342900"/>
                <a:chOff x="1943100" y="5305425"/>
                <a:chExt cx="342900" cy="3429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1943100" y="5305425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342900"/>
                      </a:move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  <a:lnTo>
                        <a:pt x="304800" y="85725"/>
                      </a:lnTo>
                      <a:lnTo>
                        <a:pt x="304800" y="1714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2095500" y="53911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2095500" y="54768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943100" y="53911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2152650" y="5591175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2228850" y="5534025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0"/>
                      </a:moveTo>
                      <a:lnTo>
                        <a:pt x="57150" y="57150"/>
                      </a:ln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2540508" y="517017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复用与打包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848606" y="5234940"/>
                <a:ext cx="425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Prefab · PlayerRoot · Build Profiles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2543556" y="55492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把可复用对象整理成稳定、可交付的工程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64" name="Line 6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4642" y="6521768"/>
              <a:ext cx="1842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Unity 基础 · 学习路线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89560"/>
            <a:ext cx="1299050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的基本语法：对象是容器，组件给能力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104394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场景负责组织对象，对象通过组合组件获得行为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14600" y="1952625"/>
            <a:ext cx="7172325" cy="962025"/>
            <a:chOff x="2514600" y="1952625"/>
            <a:chExt cx="7172325" cy="962025"/>
          </a:xfrm>
        </p:grpSpPr>
        <p:sp>
          <p:nvSpPr>
            <p:cNvPr id="4" name="Line 4"/>
            <p:cNvSpPr/>
            <p:nvPr/>
          </p:nvSpPr>
          <p:spPr>
            <a:xfrm>
              <a:off x="6096000" y="195262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5" name="Line 5"/>
            <p:cNvSpPr/>
            <p:nvPr/>
          </p:nvSpPr>
          <p:spPr>
            <a:xfrm>
              <a:off x="2514600" y="2457450"/>
              <a:ext cx="7162800" cy="9525"/>
            </a:xfrm>
            <a:custGeom>
              <a:avLst/>
              <a:gdLst/>
              <a:ahLst/>
              <a:cxnLst/>
              <a:rect l="l" t="t" r="r" b="b"/>
              <a:pathLst>
                <a:path w="7162800" h="9525">
                  <a:moveTo>
                    <a:pt x="0" y="0"/>
                  </a:moveTo>
                  <a:lnTo>
                    <a:pt x="7162800" y="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6" name="Line 6"/>
            <p:cNvSpPr/>
            <p:nvPr/>
          </p:nvSpPr>
          <p:spPr>
            <a:xfrm>
              <a:off x="25146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8" name="Line 8"/>
            <p:cNvSpPr/>
            <p:nvPr/>
          </p:nvSpPr>
          <p:spPr>
            <a:xfrm>
              <a:off x="96774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</p:grpSp>
      <p:sp>
        <p:nvSpPr>
          <p:cNvPr id="10" name="Rectangle 10"/>
          <p:cNvSpPr/>
          <p:nvPr/>
        </p:nvSpPr>
        <p:spPr>
          <a:xfrm>
            <a:off x="4810125" y="1524000"/>
            <a:ext cx="2571750" cy="609600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056188" y="1716881"/>
            <a:ext cx="269875" cy="242888"/>
            <a:chOff x="5056188" y="1716881"/>
            <a:chExt cx="269875" cy="242888"/>
          </a:xfrm>
        </p:grpSpPr>
        <p:sp>
          <p:nvSpPr>
            <p:cNvPr id="11" name="Freeform 11"/>
            <p:cNvSpPr/>
            <p:nvPr/>
          </p:nvSpPr>
          <p:spPr>
            <a:xfrm>
              <a:off x="5164138" y="1716881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10163" y="18113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413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7208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05618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18113" y="18113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096669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40481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50644" y="1770856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40481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204619" y="1770856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58594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204619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26988" y="0"/>
                  </a:moveTo>
                  <a:lnTo>
                    <a:pt x="0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50644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331824" y="1674495"/>
            <a:ext cx="17569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Scene 场景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95350" y="2914650"/>
            <a:ext cx="10401300" cy="2724150"/>
            <a:chOff x="895350" y="2914650"/>
            <a:chExt cx="10401300" cy="2724150"/>
          </a:xfrm>
        </p:grpSpPr>
        <p:grpSp>
          <p:nvGrpSpPr>
            <p:cNvPr id="37" name="Group 37"/>
            <p:cNvGrpSpPr/>
            <p:nvPr/>
          </p:nvGrpSpPr>
          <p:grpSpPr>
            <a:xfrm>
              <a:off x="895350" y="2914650"/>
              <a:ext cx="3238500" cy="2724150"/>
              <a:chOff x="895350" y="2914650"/>
              <a:chExt cx="3238500" cy="27241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953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95350" y="29146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169194" y="3114920"/>
                <a:ext cx="271462" cy="304294"/>
                <a:chOff x="1169194" y="3114920"/>
                <a:chExt cx="271462" cy="304294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169194" y="3114920"/>
                  <a:ext cx="271462" cy="30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304294">
                      <a:moveTo>
                        <a:pt x="271462" y="212600"/>
                      </a:moveTo>
                      <a:lnTo>
                        <a:pt x="271462" y="91679"/>
                      </a:lnTo>
                      <a:cubicBezTo>
                        <a:pt x="271443" y="80967"/>
                        <a:pt x="265688" y="71086"/>
                        <a:pt x="256381" y="65784"/>
                      </a:cubicBezTo>
                      <a:lnTo>
                        <a:pt x="150812" y="5339"/>
                      </a:lnTo>
                      <a:cubicBezTo>
                        <a:pt x="141467" y="0"/>
                        <a:pt x="129995" y="0"/>
                        <a:pt x="120650" y="5339"/>
                      </a:cubicBezTo>
                      <a:lnTo>
                        <a:pt x="15081" y="65784"/>
                      </a:lnTo>
                      <a:cubicBezTo>
                        <a:pt x="5746" y="71138"/>
                        <a:pt x="0" y="81016"/>
                        <a:pt x="0" y="91694"/>
                      </a:cubicBezTo>
                      <a:lnTo>
                        <a:pt x="0" y="212615"/>
                      </a:lnTo>
                      <a:cubicBezTo>
                        <a:pt x="0" y="223308"/>
                        <a:pt x="5746" y="233171"/>
                        <a:pt x="15081" y="238509"/>
                      </a:cubicBezTo>
                      <a:lnTo>
                        <a:pt x="120650" y="298955"/>
                      </a:lnTo>
                      <a:cubicBezTo>
                        <a:pt x="129995" y="304294"/>
                        <a:pt x="141467" y="304294"/>
                        <a:pt x="150812" y="298955"/>
                      </a:cubicBezTo>
                      <a:lnTo>
                        <a:pt x="256381" y="238509"/>
                      </a:lnTo>
                      <a:cubicBezTo>
                        <a:pt x="265716" y="233156"/>
                        <a:pt x="271462" y="223277"/>
                        <a:pt x="271462" y="2126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304925" y="3267075"/>
                  <a:ext cx="9525" cy="150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0812">
                      <a:moveTo>
                        <a:pt x="0" y="1508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304925" y="3191065"/>
                  <a:ext cx="131659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59" h="76009">
                      <a:moveTo>
                        <a:pt x="0" y="76009"/>
                      </a:moveTo>
                      <a:lnTo>
                        <a:pt x="131659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173266" y="3191065"/>
                  <a:ext cx="131659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59" h="76009">
                      <a:moveTo>
                        <a:pt x="0" y="0"/>
                      </a:moveTo>
                      <a:lnTo>
                        <a:pt x="131659" y="76009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664208" y="3122295"/>
                <a:ext cx="20703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Environment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52906" y="388239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地面 · 墙体 · 道具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52906" y="4291965"/>
                <a:ext cx="15085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灯光 · 天空盒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1162050" y="4667250"/>
                <a:ext cx="26289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85750">
                    <a:moveTo>
                      <a:pt x="0" y="133350"/>
                    </a:moveTo>
                    <a:cubicBezTo>
                      <a:pt x="628650" y="0"/>
                      <a:pt x="1333500" y="285750"/>
                      <a:pt x="2628900" y="95250"/>
                    </a:cubicBezTo>
                  </a:path>
                </a:pathLst>
              </a:custGeom>
              <a:noFill/>
              <a:ln w="57150" cap="rnd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52906" y="505396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负责构成世界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476750" y="2914650"/>
              <a:ext cx="3238500" cy="2724150"/>
              <a:chOff x="4476750" y="2914650"/>
              <a:chExt cx="3238500" cy="27241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4767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476750" y="29146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795837" y="3131344"/>
                <a:ext cx="180975" cy="271462"/>
                <a:chOff x="4795837" y="3131344"/>
                <a:chExt cx="180975" cy="271462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886325" y="3131344"/>
                  <a:ext cx="30162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30162">
                      <a:moveTo>
                        <a:pt x="0" y="15081"/>
                      </a:moveTo>
                      <a:cubicBezTo>
                        <a:pt x="0" y="23410"/>
                        <a:pt x="6752" y="30162"/>
                        <a:pt x="15081" y="30162"/>
                      </a:cubicBezTo>
                      <a:cubicBezTo>
                        <a:pt x="23410" y="30162"/>
                        <a:pt x="30162" y="23410"/>
                        <a:pt x="30162" y="15081"/>
                      </a:cubicBezTo>
                      <a:cubicBezTo>
                        <a:pt x="30162" y="6752"/>
                        <a:pt x="23410" y="0"/>
                        <a:pt x="15081" y="0"/>
                      </a:cubicBezTo>
                      <a:cubicBezTo>
                        <a:pt x="6752" y="0"/>
                        <a:pt x="0" y="6752"/>
                        <a:pt x="0" y="15081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810919" y="3342481"/>
                  <a:ext cx="45244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4" h="60325">
                      <a:moveTo>
                        <a:pt x="0" y="60325"/>
                      </a:moveTo>
                      <a:lnTo>
                        <a:pt x="45244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871243" y="3206750"/>
                  <a:ext cx="75406" cy="19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06" h="196056">
                      <a:moveTo>
                        <a:pt x="75406" y="196056"/>
                      </a:moveTo>
                      <a:lnTo>
                        <a:pt x="45244" y="135731"/>
                      </a:lnTo>
                      <a:lnTo>
                        <a:pt x="0" y="90487"/>
                      </a:lnTo>
                      <a:lnTo>
                        <a:pt x="15081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795837" y="3206750"/>
                  <a:ext cx="18097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60325">
                      <a:moveTo>
                        <a:pt x="0" y="60325"/>
                      </a:moveTo>
                      <a:lnTo>
                        <a:pt x="30162" y="15081"/>
                      </a:lnTo>
                      <a:lnTo>
                        <a:pt x="90487" y="0"/>
                      </a:lnTo>
                      <a:lnTo>
                        <a:pt x="135731" y="45244"/>
                      </a:lnTo>
                      <a:lnTo>
                        <a:pt x="180975" y="60325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245608" y="3122295"/>
                <a:ext cx="106883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4705350" y="3886200"/>
                <a:ext cx="2781300" cy="1123950"/>
                <a:chOff x="4705350" y="3886200"/>
                <a:chExt cx="2781300" cy="1123950"/>
              </a:xfrm>
            </p:grpSpPr>
            <p:sp>
              <p:nvSpPr>
                <p:cNvPr id="46" name="Rectangle 46"/>
                <p:cNvSpPr/>
                <p:nvPr/>
              </p:nvSpPr>
              <p:spPr>
                <a:xfrm>
                  <a:off x="4705350" y="38862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7" name="Rectangle 47"/>
                <p:cNvSpPr/>
                <p:nvPr/>
              </p:nvSpPr>
              <p:spPr>
                <a:xfrm>
                  <a:off x="6229350" y="38862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8" name="Rectangle 48"/>
                <p:cNvSpPr/>
                <p:nvPr/>
              </p:nvSpPr>
              <p:spPr>
                <a:xfrm>
                  <a:off x="4705350" y="45339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9" name="Rectangle 49"/>
                <p:cNvSpPr/>
                <p:nvPr/>
              </p:nvSpPr>
              <p:spPr>
                <a:xfrm>
                  <a:off x="6229350" y="45339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4665574" y="4015740"/>
                <a:ext cx="2669194" cy="999744"/>
                <a:chOff x="4665574" y="4015740"/>
                <a:chExt cx="2669194" cy="999744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4665574" y="4015740"/>
                  <a:ext cx="133685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Transform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381233" y="4015740"/>
                  <a:ext cx="953535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Collider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761146" y="4663440"/>
                  <a:ext cx="114570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Renderer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457187" y="4663440"/>
                  <a:ext cx="80162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Script</a:t>
                  </a:r>
                </a:p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5117592" y="51968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能力来自组件组合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058150" y="2914650"/>
              <a:ext cx="3238500" cy="2724150"/>
              <a:chOff x="8058150" y="2914650"/>
              <a:chExt cx="3238500" cy="27241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80581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058150" y="29146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8331994" y="3146425"/>
                <a:ext cx="271462" cy="241299"/>
                <a:chOff x="8331994" y="3146425"/>
                <a:chExt cx="271462" cy="241299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331994" y="3146425"/>
                  <a:ext cx="271462" cy="241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41299">
                      <a:moveTo>
                        <a:pt x="30162" y="45244"/>
                      </a:moveTo>
                      <a:lnTo>
                        <a:pt x="45244" y="45244"/>
                      </a:lnTo>
                      <a:cubicBezTo>
                        <a:pt x="61902" y="45244"/>
                        <a:pt x="75406" y="31739"/>
                        <a:pt x="75406" y="15081"/>
                      </a:cubicBezTo>
                      <a:cubicBezTo>
                        <a:pt x="75406" y="6752"/>
                        <a:pt x="82158" y="0"/>
                        <a:pt x="90487" y="0"/>
                      </a:cubicBezTo>
                      <a:lnTo>
                        <a:pt x="180975" y="0"/>
                      </a:lnTo>
                      <a:cubicBezTo>
                        <a:pt x="189304" y="0"/>
                        <a:pt x="196056" y="6752"/>
                        <a:pt x="196056" y="15081"/>
                      </a:cubicBezTo>
                      <a:cubicBezTo>
                        <a:pt x="196056" y="31739"/>
                        <a:pt x="209560" y="45244"/>
                        <a:pt x="226218" y="45244"/>
                      </a:cubicBezTo>
                      <a:lnTo>
                        <a:pt x="241299" y="45244"/>
                      </a:lnTo>
                      <a:cubicBezTo>
                        <a:pt x="257958" y="45244"/>
                        <a:pt x="271462" y="58748"/>
                        <a:pt x="271462" y="75406"/>
                      </a:cubicBezTo>
                      <a:lnTo>
                        <a:pt x="271462" y="211137"/>
                      </a:lnTo>
                      <a:cubicBezTo>
                        <a:pt x="271462" y="227795"/>
                        <a:pt x="257958" y="241299"/>
                        <a:pt x="241299" y="241299"/>
                      </a:cubicBezTo>
                      <a:lnTo>
                        <a:pt x="30162" y="241299"/>
                      </a:lnTo>
                      <a:cubicBezTo>
                        <a:pt x="13504" y="241299"/>
                        <a:pt x="0" y="227795"/>
                        <a:pt x="0" y="211137"/>
                      </a:cubicBezTo>
                      <a:lnTo>
                        <a:pt x="0" y="75406"/>
                      </a:lnTo>
                      <a:cubicBezTo>
                        <a:pt x="0" y="58748"/>
                        <a:pt x="13504" y="45244"/>
                        <a:pt x="30162" y="4524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422481" y="3236912"/>
                  <a:ext cx="90487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" h="90487">
                      <a:moveTo>
                        <a:pt x="0" y="45244"/>
                      </a:moveTo>
                      <a:cubicBezTo>
                        <a:pt x="0" y="70231"/>
                        <a:pt x="20256" y="90487"/>
                        <a:pt x="45244" y="90487"/>
                      </a:cubicBezTo>
                      <a:cubicBezTo>
                        <a:pt x="70231" y="90487"/>
                        <a:pt x="90487" y="70231"/>
                        <a:pt x="90487" y="45244"/>
                      </a:cubicBezTo>
                      <a:cubicBezTo>
                        <a:pt x="90487" y="20256"/>
                        <a:pt x="70231" y="0"/>
                        <a:pt x="45244" y="0"/>
                      </a:cubicBezTo>
                      <a:cubicBezTo>
                        <a:pt x="20256" y="0"/>
                        <a:pt x="0" y="20256"/>
                        <a:pt x="0" y="4524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8827008" y="3122295"/>
                <a:ext cx="12229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315706" y="38823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位置与朝向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315706" y="429196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视野与裁剪面</a:t>
                </a:r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8324850" y="4629150"/>
                <a:ext cx="26289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323850">
                    <a:moveTo>
                      <a:pt x="0" y="171450"/>
                    </a:moveTo>
                    <a:cubicBezTo>
                      <a:pt x="762000" y="323850"/>
                      <a:pt x="1733550" y="0"/>
                      <a:pt x="2628900" y="171450"/>
                    </a:cubicBez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315706" y="5053965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决定玩家看见什么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70" name="Line 70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4642" y="6521768"/>
              <a:ext cx="2921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Scene → GameObject → Component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620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Transform：位置、旋转、缩放，以及父子关系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75238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每个 GameObject 都有 Transform；子物体会继承父物体的空间变化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90550" y="1476375"/>
            <a:ext cx="3905250" cy="4114800"/>
            <a:chOff x="590550" y="1476375"/>
            <a:chExt cx="3905250" cy="4114800"/>
          </a:xfrm>
        </p:grpSpPr>
        <p:sp>
          <p:nvSpPr>
            <p:cNvPr id="4" name="Rectangle 4"/>
            <p:cNvSpPr/>
            <p:nvPr/>
          </p:nvSpPr>
          <p:spPr>
            <a:xfrm>
              <a:off x="590550" y="1476375"/>
              <a:ext cx="3905250" cy="4114800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584" y="1699260"/>
              <a:ext cx="19356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空间坐标系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448181" y="1939290"/>
              <a:ext cx="2626081" cy="2761869"/>
              <a:chOff x="1448181" y="1939290"/>
              <a:chExt cx="2626081" cy="2761869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543175" y="3514725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76200" cap="rnd">
                <a:solidFill>
                  <a:srgbClr val="D85C45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533775" y="3400425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28600">
                    <a:moveTo>
                      <a:pt x="0" y="0"/>
                    </a:moveTo>
                    <a:lnTo>
                      <a:pt x="190500" y="114300"/>
                    </a:lnTo>
                    <a:lnTo>
                      <a:pt x="0" y="228600"/>
                    </a:lnTo>
                  </a:path>
                </a:pathLst>
              </a:custGeom>
              <a:noFill/>
              <a:ln w="76200" cap="rnd">
                <a:solidFill>
                  <a:srgbClr val="D85C45"/>
                </a:solidFill>
                <a:round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543175" y="2371725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1143000"/>
                    </a:moveTo>
                    <a:lnTo>
                      <a:pt x="0" y="0"/>
                    </a:lnTo>
                  </a:path>
                </a:pathLst>
              </a:custGeom>
              <a:noFill/>
              <a:ln w="76200" cap="rnd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428875" y="2333625"/>
                <a:ext cx="2286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0">
                    <a:moveTo>
                      <a:pt x="0" y="190500"/>
                    </a:moveTo>
                    <a:lnTo>
                      <a:pt x="114300" y="0"/>
                    </a:lnTo>
                    <a:lnTo>
                      <a:pt x="228600" y="190500"/>
                    </a:lnTo>
                  </a:path>
                </a:pathLst>
              </a:custGeom>
              <a:noFill/>
              <a:ln w="76200" cap="rnd">
                <a:solidFill>
                  <a:schemeClr val="accent3"/>
                </a:solidFill>
                <a:round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762125" y="3514725"/>
                <a:ext cx="7810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742950">
                    <a:moveTo>
                      <a:pt x="781050" y="0"/>
                    </a:moveTo>
                    <a:lnTo>
                      <a:pt x="0" y="742950"/>
                    </a:lnTo>
                  </a:path>
                </a:pathLst>
              </a:custGeom>
              <a:noFill/>
              <a:ln w="76200" cap="rnd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24025" y="402907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266700" y="171450"/>
                    </a:moveTo>
                    <a:lnTo>
                      <a:pt x="0" y="266700"/>
                    </a:lnTo>
                    <a:lnTo>
                      <a:pt x="76200" y="0"/>
                    </a:lnTo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2333625" y="3305175"/>
                <a:ext cx="419100" cy="419100"/>
              </a:xfrm>
              <a:prstGeom prst="ellipse">
                <a:avLst/>
              </a:prstGeom>
              <a:solidFill>
                <a:srgbClr val="FFF9E9"/>
              </a:solidFill>
              <a:ln w="38100" cap="rnd">
                <a:solidFill>
                  <a:schemeClr val="dk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15156" y="341566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D85C45"/>
                    </a:solidFill>
                    <a:latin typeface="Consolas"/>
                    <a:ea typeface="Consolas"/>
                    <a:cs typeface="Consolas"/>
                  </a:rPr>
                  <a:t>X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57831" y="193929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Y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48181" y="434911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Z</a:t>
                </a:r>
              </a:p>
            </p:txBody>
          </p:sp>
        </p:grpSp>
        <p:sp>
          <p:nvSpPr>
            <p:cNvPr id="17" name="Rectangle 17"/>
            <p:cNvSpPr/>
            <p:nvPr/>
          </p:nvSpPr>
          <p:spPr>
            <a:xfrm>
              <a:off x="857250" y="4791075"/>
              <a:ext cx="3371850" cy="53340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25435" y="49491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本地坐标 ≠ 世界坐标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62500" y="1476375"/>
            <a:ext cx="6686550" cy="4120134"/>
            <a:chOff x="4762500" y="1476375"/>
            <a:chExt cx="6686550" cy="4120134"/>
          </a:xfrm>
        </p:grpSpPr>
        <p:grpSp>
          <p:nvGrpSpPr>
            <p:cNvPr id="28" name="Group 28"/>
            <p:cNvGrpSpPr/>
            <p:nvPr/>
          </p:nvGrpSpPr>
          <p:grpSpPr>
            <a:xfrm>
              <a:off x="4762500" y="1476375"/>
              <a:ext cx="2076450" cy="1866900"/>
              <a:chOff x="4762500" y="1476375"/>
              <a:chExt cx="2076450" cy="1866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76250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5586412" y="1776412"/>
                <a:ext cx="428626" cy="428626"/>
                <a:chOff x="5586412" y="1776412"/>
                <a:chExt cx="428626" cy="428626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586412" y="1776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824538" y="1776412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190500"/>
                      </a:moveTo>
                      <a:lnTo>
                        <a:pt x="190500" y="119062"/>
                      </a:lnTo>
                      <a:cubicBezTo>
                        <a:pt x="190500" y="92760"/>
                        <a:pt x="169178" y="71438"/>
                        <a:pt x="142875" y="71438"/>
                      </a:cubicBezTo>
                      <a:lnTo>
                        <a:pt x="0" y="71438"/>
                      </a:lnTo>
                      <a:lnTo>
                        <a:pt x="71438" y="142875"/>
                      </a:lnTo>
                      <a:moveTo>
                        <a:pt x="71438" y="0"/>
                      </a:moveTo>
                      <a:lnTo>
                        <a:pt x="0" y="71438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586412" y="2014538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7740"/>
                        <a:pt x="21322" y="119062"/>
                        <a:pt x="47625" y="119062"/>
                      </a:cubicBezTo>
                      <a:lnTo>
                        <a:pt x="190500" y="119062"/>
                      </a:lnTo>
                      <a:lnTo>
                        <a:pt x="119062" y="47625"/>
                      </a:lnTo>
                      <a:moveTo>
                        <a:pt x="119062" y="190500"/>
                      </a:moveTo>
                      <a:lnTo>
                        <a:pt x="190500" y="11906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872162" y="2062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122330" y="2379345"/>
                <a:ext cx="135679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Position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28107" y="278701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在哪里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067550" y="1476375"/>
              <a:ext cx="2076450" cy="1866900"/>
              <a:chOff x="7067550" y="1476375"/>
              <a:chExt cx="2076450" cy="18669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06755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96200" y="1685925"/>
                <a:ext cx="8763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419100">
                    <a:moveTo>
                      <a:pt x="0" y="419100"/>
                    </a:moveTo>
                    <a:cubicBezTo>
                      <a:pt x="76200" y="57150"/>
                      <a:pt x="723900" y="0"/>
                      <a:pt x="876300" y="400050"/>
                    </a:cubicBezTo>
                  </a:path>
                </a:pathLst>
              </a:custGeom>
              <a:noFill/>
              <a:ln w="76200" cap="rnd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62950" y="1905000"/>
                <a:ext cx="2286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57175">
                    <a:moveTo>
                      <a:pt x="85725" y="0"/>
                    </a:moveTo>
                    <a:lnTo>
                      <a:pt x="228600" y="200025"/>
                    </a:lnTo>
                    <a:lnTo>
                      <a:pt x="0" y="257175"/>
                    </a:lnTo>
                  </a:path>
                </a:pathLst>
              </a:custGeom>
              <a:noFill/>
              <a:ln w="76200">
                <a:solidFill>
                  <a:schemeClr val="accent3"/>
                </a:solidFill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384674" y="2379345"/>
                <a:ext cx="144220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Rotation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1999" y="27870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朝向哪里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372600" y="1476375"/>
              <a:ext cx="2076450" cy="1866900"/>
              <a:chOff x="9372600" y="1476375"/>
              <a:chExt cx="2076450" cy="18669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37260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067925" y="1762125"/>
                <a:ext cx="685800" cy="552450"/>
              </a:xfrm>
              <a:prstGeom prst="roundRect">
                <a:avLst>
                  <a:gd name="adj" fmla="val 13793"/>
                </a:avLst>
              </a:prstGeom>
              <a:noFill/>
              <a:ln w="6667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858375" y="1562100"/>
                <a:ext cx="11049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" h="952500">
                    <a:moveTo>
                      <a:pt x="104775" y="847725"/>
                    </a:moveTo>
                    <a:lnTo>
                      <a:pt x="0" y="952500"/>
                    </a:lnTo>
                    <a:moveTo>
                      <a:pt x="1000125" y="847725"/>
                    </a:moveTo>
                    <a:lnTo>
                      <a:pt x="1104900" y="952500"/>
                    </a:lnTo>
                    <a:moveTo>
                      <a:pt x="104775" y="104775"/>
                    </a:moveTo>
                    <a:lnTo>
                      <a:pt x="0" y="0"/>
                    </a:lnTo>
                    <a:moveTo>
                      <a:pt x="1000125" y="104775"/>
                    </a:moveTo>
                    <a:lnTo>
                      <a:pt x="1104900" y="0"/>
                    </a:lnTo>
                  </a:path>
                </a:pathLst>
              </a:custGeom>
              <a:solidFill>
                <a:srgbClr val="000000"/>
              </a:solidFill>
              <a:ln w="66675" cap="rnd">
                <a:solidFill>
                  <a:schemeClr val="accent2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969779" y="2379345"/>
                <a:ext cx="88209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Scale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038207" y="278701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有多大</a:t>
                </a:r>
              </a:p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4762500" y="3609975"/>
              <a:ext cx="6686550" cy="19812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15484" y="3756660"/>
              <a:ext cx="5370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父子层级：一起移动，分别控制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343650" y="4467225"/>
              <a:ext cx="3514725" cy="647700"/>
              <a:chOff x="6343650" y="4467225"/>
              <a:chExt cx="3514725" cy="647700"/>
            </a:xfrm>
          </p:grpSpPr>
          <p:sp>
            <p:nvSpPr>
              <p:cNvPr id="43" name="Line 43"/>
              <p:cNvSpPr/>
              <p:nvPr/>
            </p:nvSpPr>
            <p:spPr>
              <a:xfrm>
                <a:off x="8096250" y="4467225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343650" y="4848225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343650" y="4848225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9848850" y="4848225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sp>
          <p:nvSpPr>
            <p:cNvPr id="48" name="Rectangle 48"/>
            <p:cNvSpPr/>
            <p:nvPr/>
          </p:nvSpPr>
          <p:spPr>
            <a:xfrm>
              <a:off x="7219950" y="4219575"/>
              <a:ext cx="17526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11662" y="4377690"/>
              <a:ext cx="13691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PlayerRoot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429250" y="5114925"/>
              <a:ext cx="1828800" cy="476250"/>
            </a:xfrm>
            <a:prstGeom prst="roundRect">
              <a:avLst>
                <a:gd name="adj" fmla="val 28000"/>
              </a:avLst>
            </a:prstGeom>
            <a:solidFill>
              <a:srgbClr val="E8F5F0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92063" y="5244465"/>
              <a:ext cx="703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Visual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34450" y="5114925"/>
              <a:ext cx="1828800" cy="476250"/>
            </a:xfrm>
            <a:prstGeom prst="roundRect">
              <a:avLst>
                <a:gd name="adj" fmla="val 28000"/>
              </a:avLst>
            </a:prstGeom>
            <a:solidFill>
              <a:srgbClr val="FFF0D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05277" y="5244465"/>
              <a:ext cx="1487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CameraPivot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5" name="Line 5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4642" y="6521768"/>
              <a:ext cx="289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Transform · Local / World Space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53158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Collider 选型：先选简单形状，再考虑精确贴合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碰撞体定义物理边界；它可以和可见模型完全不同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524000"/>
            <a:ext cx="11298653" cy="4076700"/>
            <a:chOff x="571500" y="1524000"/>
            <a:chExt cx="11298653" cy="4076700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524000"/>
              <a:ext cx="3390900" cy="1847850"/>
              <a:chOff x="571500" y="1524000"/>
              <a:chExt cx="3390900" cy="18478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98525" y="1826419"/>
                <a:ext cx="393700" cy="442912"/>
                <a:chOff x="898525" y="1826419"/>
                <a:chExt cx="393700" cy="442912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898525" y="1826419"/>
                  <a:ext cx="393699" cy="442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699" h="442912">
                      <a:moveTo>
                        <a:pt x="196850" y="0"/>
                      </a:moveTo>
                      <a:lnTo>
                        <a:pt x="393699" y="110728"/>
                      </a:lnTo>
                      <a:lnTo>
                        <a:pt x="393699" y="332184"/>
                      </a:lnTo>
                      <a:lnTo>
                        <a:pt x="196850" y="442912"/>
                      </a:lnTo>
                      <a:lnTo>
                        <a:pt x="0" y="332184"/>
                      </a:lnTo>
                      <a:lnTo>
                        <a:pt x="0" y="110728"/>
                      </a:lnTo>
                      <a:lnTo>
                        <a:pt x="1968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095375" y="1937147"/>
                  <a:ext cx="196850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50" h="110728">
                      <a:moveTo>
                        <a:pt x="0" y="110728"/>
                      </a:moveTo>
                      <a:lnTo>
                        <a:pt x="1968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95375" y="2047875"/>
                  <a:ext cx="9525" cy="221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1456">
                      <a:moveTo>
                        <a:pt x="0" y="0"/>
                      </a:moveTo>
                      <a:lnTo>
                        <a:pt x="0" y="22145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898525" y="1937147"/>
                  <a:ext cx="196850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50" h="110728">
                      <a:moveTo>
                        <a:pt x="196850" y="11072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607058" y="1779270"/>
                <a:ext cx="194369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Box Collider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0956" y="237744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墙体 · 地面 · 箱子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0956" y="27584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性能优先，首选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400550" y="1524000"/>
              <a:ext cx="3539338" cy="1847850"/>
              <a:chOff x="4400550" y="1524000"/>
              <a:chExt cx="3539338" cy="18478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0055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02969" y="1826419"/>
                <a:ext cx="442912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42912" h="442912">
                    <a:moveTo>
                      <a:pt x="0" y="221456"/>
                    </a:moveTo>
                    <a:cubicBezTo>
                      <a:pt x="0" y="343763"/>
                      <a:pt x="99149" y="442912"/>
                      <a:pt x="221456" y="442912"/>
                    </a:cubicBezTo>
                    <a:cubicBezTo>
                      <a:pt x="343763" y="442912"/>
                      <a:pt x="442912" y="343763"/>
                      <a:pt x="442912" y="221456"/>
                    </a:cubicBezTo>
                    <a:cubicBezTo>
                      <a:pt x="442912" y="99149"/>
                      <a:pt x="343763" y="0"/>
                      <a:pt x="221456" y="0"/>
                    </a:cubicBezTo>
                    <a:cubicBezTo>
                      <a:pt x="99149" y="0"/>
                      <a:pt x="0" y="99149"/>
                      <a:pt x="0" y="221456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436108" y="1779270"/>
                <a:ext cx="250378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Sphere Collider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20006" y="23774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球体 · 范围检测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20006" y="27584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旋转稳定，计算轻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229600" y="1524000"/>
              <a:ext cx="3640553" cy="1847850"/>
              <a:chOff x="8229600" y="1524000"/>
              <a:chExt cx="3640553" cy="1847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22960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605837" y="1826419"/>
                <a:ext cx="295275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442912">
                    <a:moveTo>
                      <a:pt x="0" y="147637"/>
                    </a:moveTo>
                    <a:cubicBezTo>
                      <a:pt x="0" y="66099"/>
                      <a:pt x="66099" y="0"/>
                      <a:pt x="147637" y="0"/>
                    </a:cubicBezTo>
                    <a:cubicBezTo>
                      <a:pt x="229175" y="0"/>
                      <a:pt x="295275" y="66099"/>
                      <a:pt x="295275" y="147637"/>
                    </a:cubicBezTo>
                    <a:lnTo>
                      <a:pt x="295275" y="295275"/>
                    </a:lnTo>
                    <a:cubicBezTo>
                      <a:pt x="295275" y="376812"/>
                      <a:pt x="229175" y="442912"/>
                      <a:pt x="147637" y="442912"/>
                    </a:cubicBezTo>
                    <a:cubicBezTo>
                      <a:pt x="66099" y="442912"/>
                      <a:pt x="0" y="376812"/>
                      <a:pt x="0" y="295275"/>
                    </a:cubicBezTo>
                    <a:lnTo>
                      <a:pt x="0" y="147637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265158" y="1779270"/>
                <a:ext cx="260499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Capsule Collider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49056" y="23774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角色 · 柱状物体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49056" y="27584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转角不易卡住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24000" y="3714750"/>
              <a:ext cx="4171950" cy="1885950"/>
              <a:chOff x="1524000" y="3714750"/>
              <a:chExt cx="4171950" cy="1885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524000" y="3714750"/>
                <a:ext cx="4171950" cy="18859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826419" y="3990373"/>
                <a:ext cx="442912" cy="496480"/>
                <a:chOff x="1826419" y="3990373"/>
                <a:chExt cx="442912" cy="49648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826419" y="3990373"/>
                  <a:ext cx="442912" cy="496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912" h="496480">
                      <a:moveTo>
                        <a:pt x="442912" y="346874"/>
                      </a:moveTo>
                      <a:lnTo>
                        <a:pt x="442912" y="149581"/>
                      </a:lnTo>
                      <a:cubicBezTo>
                        <a:pt x="442881" y="132104"/>
                        <a:pt x="433492" y="115982"/>
                        <a:pt x="418306" y="107332"/>
                      </a:cubicBezTo>
                      <a:lnTo>
                        <a:pt x="246062" y="8711"/>
                      </a:lnTo>
                      <a:cubicBezTo>
                        <a:pt x="230814" y="0"/>
                        <a:pt x="212098" y="0"/>
                        <a:pt x="196850" y="8711"/>
                      </a:cubicBezTo>
                      <a:lnTo>
                        <a:pt x="24606" y="107332"/>
                      </a:lnTo>
                      <a:cubicBezTo>
                        <a:pt x="9375" y="116067"/>
                        <a:pt x="0" y="132185"/>
                        <a:pt x="0" y="149606"/>
                      </a:cubicBezTo>
                      <a:lnTo>
                        <a:pt x="0" y="346898"/>
                      </a:lnTo>
                      <a:cubicBezTo>
                        <a:pt x="0" y="364344"/>
                        <a:pt x="9375" y="380437"/>
                        <a:pt x="24606" y="389147"/>
                      </a:cubicBezTo>
                      <a:lnTo>
                        <a:pt x="196850" y="487769"/>
                      </a:lnTo>
                      <a:cubicBezTo>
                        <a:pt x="212098" y="496480"/>
                        <a:pt x="230814" y="496480"/>
                        <a:pt x="246062" y="487769"/>
                      </a:cubicBezTo>
                      <a:lnTo>
                        <a:pt x="418306" y="389147"/>
                      </a:lnTo>
                      <a:cubicBezTo>
                        <a:pt x="433537" y="380412"/>
                        <a:pt x="442912" y="364295"/>
                        <a:pt x="442912" y="346874"/>
                      </a:cubicBez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047875" y="4238625"/>
                  <a:ext cx="9525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6062">
                      <a:moveTo>
                        <a:pt x="0" y="2460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047875" y="4114609"/>
                  <a:ext cx="214812" cy="12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12" h="124015">
                      <a:moveTo>
                        <a:pt x="0" y="124015"/>
                      </a:moveTo>
                      <a:lnTo>
                        <a:pt x="214812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833062" y="4114609"/>
                  <a:ext cx="214812" cy="12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12" h="124015">
                      <a:moveTo>
                        <a:pt x="0" y="0"/>
                      </a:moveTo>
                      <a:lnTo>
                        <a:pt x="214812" y="124015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2559558" y="3970020"/>
                <a:ext cx="21988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Mesh Collider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43456" y="4568190"/>
                <a:ext cx="29624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复杂静态模型 · 不规则地形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743456" y="494919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开销较大，谨慎用于动态物体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496050" y="3714750"/>
              <a:ext cx="4171950" cy="1885950"/>
              <a:chOff x="6496050" y="3714750"/>
              <a:chExt cx="4171950" cy="1885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496050" y="3714750"/>
                <a:ext cx="4171950" cy="1885950"/>
              </a:xfrm>
              <a:prstGeom prst="roundRect">
                <a:avLst>
                  <a:gd name="adj" fmla="val 12121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847681" y="4041775"/>
                <a:ext cx="369093" cy="418306"/>
                <a:chOff x="6847681" y="4041775"/>
                <a:chExt cx="369093" cy="418306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847681" y="4041775"/>
                  <a:ext cx="295275" cy="393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" h="393699">
                      <a:moveTo>
                        <a:pt x="113558" y="393699"/>
                      </a:moveTo>
                      <a:lnTo>
                        <a:pt x="49212" y="393699"/>
                      </a:lnTo>
                      <a:cubicBezTo>
                        <a:pt x="22033" y="393699"/>
                        <a:pt x="0" y="371666"/>
                        <a:pt x="0" y="344487"/>
                      </a:cubicBezTo>
                      <a:lnTo>
                        <a:pt x="0" y="49212"/>
                      </a:lnTo>
                      <a:cubicBezTo>
                        <a:pt x="0" y="22033"/>
                        <a:pt x="22033" y="0"/>
                        <a:pt x="49212" y="0"/>
                      </a:cubicBezTo>
                      <a:lnTo>
                        <a:pt x="246062" y="0"/>
                      </a:lnTo>
                      <a:cubicBezTo>
                        <a:pt x="273241" y="0"/>
                        <a:pt x="295275" y="22033"/>
                        <a:pt x="295275" y="49212"/>
                      </a:cubicBezTo>
                      <a:lnTo>
                        <a:pt x="295275" y="24606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069137" y="4361656"/>
                  <a:ext cx="147637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37" h="98425">
                      <a:moveTo>
                        <a:pt x="0" y="49212"/>
                      </a:moveTo>
                      <a:lnTo>
                        <a:pt x="49212" y="98425"/>
                      </a:lnTo>
                      <a:lnTo>
                        <a:pt x="147637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946106" y="4140200"/>
                  <a:ext cx="984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25" h="9525">
                      <a:moveTo>
                        <a:pt x="0" y="0"/>
                      </a:moveTo>
                      <a:lnTo>
                        <a:pt x="984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946106" y="4238625"/>
                  <a:ext cx="492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12" h="9525">
                      <a:moveTo>
                        <a:pt x="0" y="0"/>
                      </a:moveTo>
                      <a:lnTo>
                        <a:pt x="49212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531608" y="39700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选型顺序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15506" y="45681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 盒 → ② 球 / 胶囊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15506" y="4949190"/>
                <a:ext cx="19204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组合体 → ④ 网格</a:t>
                </a:r>
              </a:p>
            </p:txBody>
          </p:sp>
        </p:grpSp>
      </p:grpSp>
      <p:sp>
        <p:nvSpPr>
          <p:cNvPr id="47" name="Freeform 47"/>
          <p:cNvSpPr/>
          <p:nvPr/>
        </p:nvSpPr>
        <p:spPr>
          <a:xfrm>
            <a:off x="5810250" y="3048000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0" y="0"/>
                </a:moveTo>
                <a:cubicBezTo>
                  <a:pt x="171450" y="190500"/>
                  <a:pt x="342900" y="190500"/>
                  <a:pt x="514350" y="0"/>
                </a:cubicBez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8" name="Line 4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4642" y="6521768"/>
              <a:ext cx="19903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Collider · 物理边界选型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520988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物理对象的三种角色：Static、Dynamic、Kinematic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6530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先确定“谁驱动移动”，再配置 Rigidbody 与 Collider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52450" y="1562100"/>
            <a:ext cx="11211302" cy="4171950"/>
            <a:chOff x="552450" y="1562100"/>
            <a:chExt cx="11211302" cy="4171950"/>
          </a:xfrm>
        </p:grpSpPr>
        <p:grpSp>
          <p:nvGrpSpPr>
            <p:cNvPr id="19" name="Group 19"/>
            <p:cNvGrpSpPr/>
            <p:nvPr/>
          </p:nvGrpSpPr>
          <p:grpSpPr>
            <a:xfrm>
              <a:off x="552450" y="1562100"/>
              <a:ext cx="3486150" cy="4171950"/>
              <a:chOff x="552450" y="1562100"/>
              <a:chExt cx="34861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52450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552450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24484" y="1851660"/>
                <a:ext cx="208851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Static 静态</a:t>
                </a: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3035300" y="1824038"/>
                <a:ext cx="330201" cy="371476"/>
                <a:chOff x="3035300" y="1824038"/>
                <a:chExt cx="330201" cy="371476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3035300" y="1824038"/>
                  <a:ext cx="330201" cy="37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01" h="371476">
                      <a:moveTo>
                        <a:pt x="165100" y="0"/>
                      </a:moveTo>
                      <a:lnTo>
                        <a:pt x="330201" y="92869"/>
                      </a:lnTo>
                      <a:lnTo>
                        <a:pt x="330201" y="278607"/>
                      </a:lnTo>
                      <a:lnTo>
                        <a:pt x="165100" y="371476"/>
                      </a:lnTo>
                      <a:lnTo>
                        <a:pt x="0" y="278607"/>
                      </a:lnTo>
                      <a:lnTo>
                        <a:pt x="0" y="92869"/>
                      </a:ln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3200400" y="1916906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92869"/>
                      </a:move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3200400" y="2009775"/>
                  <a:ext cx="9525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5738">
                      <a:moveTo>
                        <a:pt x="0" y="0"/>
                      </a:moveTo>
                      <a:lnTo>
                        <a:pt x="0" y="18573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3035300" y="1916906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165100" y="9286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806958" y="2693670"/>
                <a:ext cx="20598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世界的一部分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10006" y="3253740"/>
                <a:ext cx="18585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不挂 Rigidbody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0006" y="3653790"/>
                <a:ext cx="19818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由 Collider 阻挡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0006" y="4053840"/>
                <a:ext cx="23934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墙、地面、固定建筑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819150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01749" y="47777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性能稳定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68654" y="5073015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不要在运行时移动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52925" y="1562100"/>
              <a:ext cx="3486150" cy="4171950"/>
              <a:chOff x="4352925" y="1562100"/>
              <a:chExt cx="3486150" cy="4171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52925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52925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624959" y="1851660"/>
                <a:ext cx="237430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Dynamic 动态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6815138" y="182403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607433" y="2693670"/>
                <a:ext cx="23990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由物理系统驱动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10481" y="3253740"/>
                <a:ext cx="2468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 + Collider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10481" y="365379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受重力、力与碰撞影响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10481" y="405384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球、箱子、可推动道具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619625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70584" y="4777740"/>
                <a:ext cx="26508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用 AddForce / Velocity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9089" y="5073015"/>
                <a:ext cx="26938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避免直接改 Transform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153400" y="1562100"/>
              <a:ext cx="3610352" cy="4171950"/>
              <a:chOff x="8153400" y="1562100"/>
              <a:chExt cx="3610352" cy="41719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153400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153400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25434" y="1851660"/>
                <a:ext cx="308061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Kinematic 运动学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0868025" y="1824038"/>
                <a:ext cx="247650" cy="371475"/>
                <a:chOff x="10868025" y="1824038"/>
                <a:chExt cx="247650" cy="371475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0991850" y="18240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888663" y="2112963"/>
                  <a:ext cx="61913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3" h="82550">
                      <a:moveTo>
                        <a:pt x="0" y="82550"/>
                      </a:moveTo>
                      <a:lnTo>
                        <a:pt x="61913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971213" y="1927225"/>
                  <a:ext cx="103188" cy="268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268288">
                      <a:moveTo>
                        <a:pt x="103188" y="268288"/>
                      </a:moveTo>
                      <a:lnTo>
                        <a:pt x="61913" y="185738"/>
                      </a:lnTo>
                      <a:lnTo>
                        <a:pt x="0" y="123825"/>
                      </a:lnTo>
                      <a:lnTo>
                        <a:pt x="206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868025" y="1927225"/>
                  <a:ext cx="2476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82550">
                      <a:moveTo>
                        <a:pt x="0" y="82550"/>
                      </a:moveTo>
                      <a:lnTo>
                        <a:pt x="41275" y="20638"/>
                      </a:lnTo>
                      <a:lnTo>
                        <a:pt x="123825" y="0"/>
                      </a:lnTo>
                      <a:lnTo>
                        <a:pt x="185738" y="61913"/>
                      </a:lnTo>
                      <a:lnTo>
                        <a:pt x="247650" y="825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8407908" y="269367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由脚本驱动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10956" y="3253740"/>
                <a:ext cx="33527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 勾选 Is Kinematic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10956" y="3653790"/>
                <a:ext cx="31203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不被力推动，但能参与检测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410956" y="405384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门、移动平台、动画机关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420100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957843" y="4777740"/>
                <a:ext cx="18772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用 MovePosition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78467" y="507301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轨迹可控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9" name="Line 4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4642" y="6521768"/>
              <a:ext cx="2135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Rigidbody · 运动责任划分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40667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Trigger：不阻挡，但能感知“进入、停留、离开”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适合门、任务区、拾取范围、检测区域与剧情触发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524000"/>
            <a:ext cx="4762500" cy="4171950"/>
            <a:chOff x="571500" y="1524000"/>
            <a:chExt cx="476250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476250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43534" y="17659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事件顺序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71600" y="26479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28700" y="2419350"/>
              <a:ext cx="3346704" cy="2919984"/>
              <a:chOff x="1028700" y="2419350"/>
              <a:chExt cx="3346704" cy="291998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028700" y="241935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66116" y="2607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933956" y="2491740"/>
                <a:ext cx="19883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OnTriggerEnter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33956" y="28155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第一次进入检测区</a:t>
                </a: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028700" y="3505200"/>
                <a:ext cx="685800" cy="685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66116" y="36937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933956" y="3577590"/>
                <a:ext cx="18483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OnTriggerStay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33956" y="390144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仍在区域内，每帧调用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028700" y="4591050"/>
                <a:ext cx="685800" cy="6858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66116" y="47796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33956" y="4663440"/>
                <a:ext cx="1783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OnTriggerExit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33956" y="49872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离开区域，收尾状态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5715000" y="1524000"/>
            <a:ext cx="5905500" cy="4171950"/>
            <a:chOff x="5715000" y="1524000"/>
            <a:chExt cx="5905500" cy="4171950"/>
          </a:xfrm>
        </p:grpSpPr>
        <p:sp>
          <p:nvSpPr>
            <p:cNvPr id="21" name="Rectangle 21"/>
            <p:cNvSpPr/>
            <p:nvPr/>
          </p:nvSpPr>
          <p:spPr>
            <a:xfrm>
              <a:off x="5715000" y="1524000"/>
              <a:ext cx="590550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076950" y="1809750"/>
              <a:ext cx="285750" cy="323850"/>
              <a:chOff x="6076950" y="1809750"/>
              <a:chExt cx="285750" cy="3238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76950" y="18097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87916" y="304800"/>
                    </a:move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248400" y="20574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153150" y="18859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53150" y="19621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596634" y="178498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事件没触发？按顺序检查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5981700" y="2428875"/>
              <a:ext cx="3724199" cy="3043809"/>
              <a:chOff x="5981700" y="2428875"/>
              <a:chExt cx="3724199" cy="3043809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5981700" y="2428875"/>
                <a:ext cx="2862834" cy="376809"/>
                <a:chOff x="5981700" y="2428875"/>
                <a:chExt cx="2862834" cy="376809"/>
              </a:xfrm>
            </p:grpSpPr>
            <p:sp>
              <p:nvSpPr>
                <p:cNvPr id="28" name="Ellipse 28"/>
                <p:cNvSpPr/>
                <p:nvPr/>
              </p:nvSpPr>
              <p:spPr>
                <a:xfrm>
                  <a:off x="5981700" y="24288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048794" y="24536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448806" y="2453640"/>
                  <a:ext cx="2395728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至少一方有 Rigidbody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5981700" y="2962275"/>
                <a:ext cx="2951302" cy="376809"/>
                <a:chOff x="5981700" y="2962275"/>
                <a:chExt cx="2951302" cy="376809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5981700" y="29622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048794" y="29870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448806" y="2987040"/>
                  <a:ext cx="248419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检测区勾选 Is Trigger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5981700" y="3495675"/>
                <a:ext cx="3266816" cy="376809"/>
                <a:chOff x="5981700" y="3495675"/>
                <a:chExt cx="3266816" cy="376809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5981700" y="34956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048794" y="35204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448806" y="3520440"/>
                  <a:ext cx="279971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两者 Layer 允许相互碰撞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5981700" y="4029075"/>
                <a:ext cx="2666238" cy="376809"/>
                <a:chOff x="5981700" y="4029075"/>
                <a:chExt cx="2666238" cy="376809"/>
              </a:xfrm>
            </p:grpSpPr>
            <p:sp>
              <p:nvSpPr>
                <p:cNvPr id="40" name="Ellipse 40"/>
                <p:cNvSpPr/>
                <p:nvPr/>
              </p:nvSpPr>
              <p:spPr>
                <a:xfrm>
                  <a:off x="5981700" y="40290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048794" y="40538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448806" y="4053840"/>
                  <a:ext cx="219913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脚本挂在正确对象上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5981700" y="4562475"/>
                <a:ext cx="3724199" cy="376809"/>
                <a:chOff x="5981700" y="4562475"/>
                <a:chExt cx="3724199" cy="376809"/>
              </a:xfrm>
            </p:grpSpPr>
            <p:sp>
              <p:nvSpPr>
                <p:cNvPr id="44" name="Ellipse 44"/>
                <p:cNvSpPr/>
                <p:nvPr/>
              </p:nvSpPr>
              <p:spPr>
                <a:xfrm>
                  <a:off x="5981700" y="45624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048794" y="45872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448806" y="4587240"/>
                  <a:ext cx="325709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方法签名与 2D / 3D API 一致</a:t>
                  </a:r>
                </a:p>
              </p:txBody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5981700" y="5095875"/>
                <a:ext cx="3709830" cy="376809"/>
                <a:chOff x="5981700" y="5095875"/>
                <a:chExt cx="3709830" cy="376809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5981700" y="5095875"/>
                  <a:ext cx="285750" cy="2857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079084" y="5120640"/>
                  <a:ext cx="9098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!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448806" y="5120640"/>
                  <a:ext cx="324272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8C5A00"/>
                      </a:solidFill>
                      <a:latin typeface="+mn-lt"/>
                      <a:ea typeface="+mn-ea"/>
                      <a:cs typeface="+mn-cs"/>
                    </a:rPr>
                    <a:t>用 Console 日志定位到哪一步</a:t>
                  </a:r>
                </a:p>
              </p:txBody>
            </p:sp>
          </p:grpSp>
        </p:grpSp>
      </p:grpSp>
      <p:grpSp>
        <p:nvGrpSpPr>
          <p:cNvPr id="57" name="Group 5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4" name="Line 5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4642" y="6521768"/>
              <a:ext cx="1799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Trigger · 事件与排错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660334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从贴图到画面：Texture、Material、Shader、Renderer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4517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四者不是同义词，而是一条“数据 → 规则 → 绑定 → 输出”的链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66750" y="1504950"/>
            <a:ext cx="8191500" cy="3882009"/>
            <a:chOff x="666750" y="1504950"/>
            <a:chExt cx="8191500" cy="3882009"/>
          </a:xfrm>
        </p:grpSpPr>
        <p:grpSp>
          <p:nvGrpSpPr>
            <p:cNvPr id="14" name="Group 14"/>
            <p:cNvGrpSpPr/>
            <p:nvPr/>
          </p:nvGrpSpPr>
          <p:grpSpPr>
            <a:xfrm>
              <a:off x="666750" y="1504950"/>
              <a:ext cx="8191500" cy="853059"/>
              <a:chOff x="666750" y="1504950"/>
              <a:chExt cx="8191500" cy="853059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50495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666750" y="150495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01375" y="17887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2057400" y="1752600"/>
                <a:ext cx="342900" cy="343867"/>
                <a:chOff x="2057400" y="1752600"/>
                <a:chExt cx="342900" cy="343867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2057400" y="175260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143125" y="18764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219325" y="1819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295525" y="18764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2654808" y="1645920"/>
                <a:ext cx="212759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Texture 贴图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57856" y="2005965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颜色、法线、粗糙度等表面数据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66750" y="2514600"/>
              <a:ext cx="8191500" cy="853059"/>
              <a:chOff x="666750" y="2514600"/>
              <a:chExt cx="8191500" cy="853059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66750" y="251460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66750" y="251460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01375" y="27984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990725" y="269557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 w="47625">
                <a:solidFill>
                  <a:srgbClr val="2F8F6A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654808" y="2655570"/>
                <a:ext cx="228450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Shader 着色器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57856" y="30156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规定顶点与像素如何被计算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66750" y="3524250"/>
              <a:ext cx="8191500" cy="853059"/>
              <a:chOff x="666750" y="3524250"/>
              <a:chExt cx="8191500" cy="853059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" y="352425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66750" y="352425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01375" y="38080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2057400" y="3771900"/>
                <a:ext cx="342900" cy="343867"/>
                <a:chOff x="2057400" y="3771900"/>
                <a:chExt cx="342900" cy="343867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2057400" y="377190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2143125" y="3895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2219325" y="38385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295525" y="3895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2654808" y="3665220"/>
                <a:ext cx="221089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Material 材质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57856" y="4025265"/>
                <a:ext cx="35894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Shader，并保存它所需参数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66750" y="4533900"/>
              <a:ext cx="8191500" cy="853059"/>
              <a:chOff x="666750" y="4533900"/>
              <a:chExt cx="8191500" cy="853059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66750" y="453390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lt2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66750" y="453390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01375" y="48177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2057400" y="4760805"/>
                <a:ext cx="342900" cy="384372"/>
                <a:chOff x="2057400" y="4760805"/>
                <a:chExt cx="342900" cy="38437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2057400" y="4760805"/>
                  <a:ext cx="342900" cy="384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4372">
                      <a:moveTo>
                        <a:pt x="342900" y="268548"/>
                      </a:moveTo>
                      <a:lnTo>
                        <a:pt x="342900" y="115805"/>
                      </a:lnTo>
                      <a:cubicBezTo>
                        <a:pt x="342876" y="102274"/>
                        <a:pt x="335607" y="89793"/>
                        <a:pt x="323850" y="83096"/>
                      </a:cubicBezTo>
                      <a:lnTo>
                        <a:pt x="190500" y="6744"/>
                      </a:lnTo>
                      <a:cubicBezTo>
                        <a:pt x="178695" y="0"/>
                        <a:pt x="164205" y="0"/>
                        <a:pt x="152400" y="6744"/>
                      </a:cubicBezTo>
                      <a:lnTo>
                        <a:pt x="19050" y="83096"/>
                      </a:lnTo>
                      <a:cubicBezTo>
                        <a:pt x="7258" y="89859"/>
                        <a:pt x="0" y="102337"/>
                        <a:pt x="0" y="115824"/>
                      </a:cubicBezTo>
                      <a:lnTo>
                        <a:pt x="0" y="268567"/>
                      </a:lnTo>
                      <a:cubicBezTo>
                        <a:pt x="0" y="282073"/>
                        <a:pt x="7258" y="294532"/>
                        <a:pt x="19050" y="301276"/>
                      </a:cubicBezTo>
                      <a:lnTo>
                        <a:pt x="152400" y="377628"/>
                      </a:lnTo>
                      <a:cubicBezTo>
                        <a:pt x="164205" y="384372"/>
                        <a:pt x="178695" y="384372"/>
                        <a:pt x="190500" y="377628"/>
                      </a:cubicBezTo>
                      <a:lnTo>
                        <a:pt x="323850" y="301276"/>
                      </a:lnTo>
                      <a:cubicBezTo>
                        <a:pt x="335642" y="294513"/>
                        <a:pt x="342900" y="282035"/>
                        <a:pt x="342900" y="268548"/>
                      </a:cubicBez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2228850" y="495300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190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2228850" y="4856988"/>
                  <a:ext cx="166307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07" h="96012">
                      <a:moveTo>
                        <a:pt x="0" y="96012"/>
                      </a:moveTo>
                      <a:lnTo>
                        <a:pt x="166307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2062544" y="4856988"/>
                  <a:ext cx="166307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07" h="96012">
                      <a:moveTo>
                        <a:pt x="0" y="0"/>
                      </a:moveTo>
                      <a:lnTo>
                        <a:pt x="166307" y="96012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2654808" y="4674870"/>
                <a:ext cx="265503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Renderer 渲染器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657856" y="50349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把网格与材质送入渲染管线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9144000" y="1504950"/>
            <a:ext cx="2476500" cy="3867150"/>
            <a:chOff x="9144000" y="1504950"/>
            <a:chExt cx="2476500" cy="3867150"/>
          </a:xfrm>
        </p:grpSpPr>
        <p:sp>
          <p:nvSpPr>
            <p:cNvPr id="45" name="Rectangle 45"/>
            <p:cNvSpPr/>
            <p:nvPr/>
          </p:nvSpPr>
          <p:spPr>
            <a:xfrm>
              <a:off x="9144000" y="1504950"/>
              <a:ext cx="2476500" cy="38671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0145652" y="1962150"/>
              <a:ext cx="473197" cy="538896"/>
              <a:chOff x="10145652" y="1962150"/>
              <a:chExt cx="473197" cy="53889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145652" y="1962150"/>
                <a:ext cx="473197" cy="538896"/>
              </a:xfrm>
              <a:custGeom>
                <a:avLst/>
                <a:gdLst/>
                <a:ahLst/>
                <a:cxnLst/>
                <a:rect l="l" t="t" r="r" b="b"/>
                <a:pathLst>
                  <a:path w="473197" h="538896">
                    <a:moveTo>
                      <a:pt x="3236" y="233362"/>
                    </a:moveTo>
                    <a:cubicBezTo>
                      <a:pt x="3236" y="104480"/>
                      <a:pt x="107716" y="0"/>
                      <a:pt x="236598" y="0"/>
                    </a:cubicBezTo>
                    <a:cubicBezTo>
                      <a:pt x="365481" y="0"/>
                      <a:pt x="469961" y="104480"/>
                      <a:pt x="469961" y="233362"/>
                    </a:cubicBezTo>
                    <a:lnTo>
                      <a:pt x="469961" y="466725"/>
                    </a:lnTo>
                    <a:cubicBezTo>
                      <a:pt x="473197" y="492551"/>
                      <a:pt x="459225" y="517471"/>
                      <a:pt x="435504" y="528184"/>
                    </a:cubicBezTo>
                    <a:cubicBezTo>
                      <a:pt x="411783" y="538896"/>
                      <a:pt x="383850" y="532901"/>
                      <a:pt x="366615" y="513397"/>
                    </a:cubicBezTo>
                    <a:cubicBezTo>
                      <a:pt x="356190" y="500060"/>
                      <a:pt x="340204" y="492266"/>
                      <a:pt x="323276" y="492266"/>
                    </a:cubicBezTo>
                    <a:cubicBezTo>
                      <a:pt x="306347" y="492266"/>
                      <a:pt x="290362" y="500060"/>
                      <a:pt x="279937" y="513397"/>
                    </a:cubicBezTo>
                    <a:cubicBezTo>
                      <a:pt x="269512" y="526735"/>
                      <a:pt x="253527" y="534529"/>
                      <a:pt x="236598" y="534529"/>
                    </a:cubicBezTo>
                    <a:cubicBezTo>
                      <a:pt x="219670" y="534529"/>
                      <a:pt x="203685" y="526735"/>
                      <a:pt x="193260" y="513397"/>
                    </a:cubicBezTo>
                    <a:cubicBezTo>
                      <a:pt x="182835" y="500060"/>
                      <a:pt x="166849" y="492266"/>
                      <a:pt x="149921" y="492266"/>
                    </a:cubicBezTo>
                    <a:cubicBezTo>
                      <a:pt x="132992" y="492266"/>
                      <a:pt x="117007" y="500060"/>
                      <a:pt x="106582" y="513397"/>
                    </a:cubicBezTo>
                    <a:cubicBezTo>
                      <a:pt x="89347" y="532901"/>
                      <a:pt x="61413" y="538896"/>
                      <a:pt x="37692" y="528184"/>
                    </a:cubicBezTo>
                    <a:cubicBezTo>
                      <a:pt x="13971" y="517471"/>
                      <a:pt x="0" y="492551"/>
                      <a:pt x="3236" y="466725"/>
                    </a:cubicBezTo>
                    <a:lnTo>
                      <a:pt x="3236" y="23336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315575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3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448925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3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0315575" y="2295525"/>
                <a:ext cx="133350" cy="2790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7902">
                    <a:moveTo>
                      <a:pt x="0" y="0"/>
                    </a:moveTo>
                    <a:cubicBezTo>
                      <a:pt x="40071" y="27902"/>
                      <a:pt x="93279" y="27902"/>
                      <a:pt x="13335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153971" y="2737485"/>
              <a:ext cx="2456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Skinned Mesh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18444" y="3169920"/>
              <a:ext cx="1527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Renderer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9505950" y="3543300"/>
              <a:ext cx="1752600" cy="342900"/>
            </a:xfrm>
            <a:custGeom>
              <a:avLst/>
              <a:gdLst/>
              <a:ahLst/>
              <a:cxnLst/>
              <a:rect l="l" t="t" r="r" b="b"/>
              <a:pathLst>
                <a:path w="1752600" h="342900">
                  <a:moveTo>
                    <a:pt x="0" y="171450"/>
                  </a:moveTo>
                  <a:cubicBezTo>
                    <a:pt x="542925" y="0"/>
                    <a:pt x="1219200" y="342900"/>
                    <a:pt x="1752600" y="1333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01556" y="4015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骨骼驱动网格变形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01556" y="4415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常用于角色与动画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410700" y="4838700"/>
              <a:ext cx="1943100" cy="361950"/>
            </a:xfrm>
            <a:prstGeom prst="roundRect">
              <a:avLst>
                <a:gd name="adj" fmla="val 31579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69873" y="4901565"/>
              <a:ext cx="1824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网格会“动起来”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642" y="652176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渲染关系 · 数据、规则、参数与输出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07455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让场景有氛围：天空盒、灯光与烘焙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实时光负责变化，烘焙光负责稳定与性能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66750" y="1524000"/>
            <a:ext cx="10858500" cy="2152650"/>
            <a:chOff x="666750" y="1524000"/>
            <a:chExt cx="10858500" cy="2152650"/>
          </a:xfrm>
        </p:grpSpPr>
        <p:sp>
          <p:nvSpPr>
            <p:cNvPr id="4" name="Rectangle 4"/>
            <p:cNvSpPr/>
            <p:nvPr/>
          </p:nvSpPr>
          <p:spPr>
            <a:xfrm>
              <a:off x="666750" y="1524000"/>
              <a:ext cx="10858500" cy="2152650"/>
            </a:xfrm>
            <a:prstGeom prst="roundRect">
              <a:avLst>
                <a:gd name="adj" fmla="val 1327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524000" y="1981200"/>
              <a:ext cx="1219200" cy="1219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6800" y="1524000"/>
              <a:ext cx="2133600" cy="2133600"/>
              <a:chOff x="1066800" y="1524000"/>
              <a:chExt cx="2133600" cy="213360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133600" y="15240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2133600" y="34290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066800" y="2590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228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971800" y="2590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228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1876425" y="2333625"/>
              <a:ext cx="514350" cy="514350"/>
              <a:chOff x="1876425" y="2333625"/>
              <a:chExt cx="514350" cy="514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019300" y="2476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76425" y="233362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257175"/>
                    </a:moveTo>
                    <a:lnTo>
                      <a:pt x="28575" y="257175"/>
                    </a:lnTo>
                    <a:moveTo>
                      <a:pt x="257175" y="0"/>
                    </a:moveTo>
                    <a:lnTo>
                      <a:pt x="257175" y="28575"/>
                    </a:lnTo>
                    <a:moveTo>
                      <a:pt x="485775" y="257175"/>
                    </a:moveTo>
                    <a:lnTo>
                      <a:pt x="514350" y="257175"/>
                    </a:lnTo>
                    <a:moveTo>
                      <a:pt x="257175" y="485775"/>
                    </a:moveTo>
                    <a:lnTo>
                      <a:pt x="257175" y="514350"/>
                    </a:lnTo>
                    <a:moveTo>
                      <a:pt x="74295" y="74295"/>
                    </a:moveTo>
                    <a:lnTo>
                      <a:pt x="94298" y="94298"/>
                    </a:lnTo>
                    <a:moveTo>
                      <a:pt x="440055" y="74295"/>
                    </a:moveTo>
                    <a:lnTo>
                      <a:pt x="420052" y="94298"/>
                    </a:lnTo>
                    <a:moveTo>
                      <a:pt x="420052" y="420053"/>
                    </a:moveTo>
                    <a:lnTo>
                      <a:pt x="440055" y="440055"/>
                    </a:lnTo>
                    <a:moveTo>
                      <a:pt x="94298" y="420053"/>
                    </a:moveTo>
                    <a:lnTo>
                      <a:pt x="74295" y="44005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3412998" y="1926908"/>
              <a:ext cx="5663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Skybox + Directional Light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35858" y="246507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先定天空与主光方向，再补局部光源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3028950"/>
              <a:ext cx="3048000" cy="4000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17963" y="3120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环境色决定整体情绪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148762" y="2290762"/>
              <a:ext cx="600075" cy="600075"/>
              <a:chOff x="9148762" y="2290762"/>
              <a:chExt cx="600075" cy="6000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148762" y="2290762"/>
                <a:ext cx="6000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300038">
                    <a:moveTo>
                      <a:pt x="0" y="300038"/>
                    </a:moveTo>
                    <a:lnTo>
                      <a:pt x="33338" y="300038"/>
                    </a:lnTo>
                    <a:moveTo>
                      <a:pt x="300038" y="0"/>
                    </a:moveTo>
                    <a:lnTo>
                      <a:pt x="300038" y="33338"/>
                    </a:lnTo>
                    <a:moveTo>
                      <a:pt x="566738" y="300038"/>
                    </a:moveTo>
                    <a:lnTo>
                      <a:pt x="600075" y="300038"/>
                    </a:lnTo>
                    <a:moveTo>
                      <a:pt x="86678" y="86677"/>
                    </a:moveTo>
                    <a:lnTo>
                      <a:pt x="110014" y="110014"/>
                    </a:lnTo>
                    <a:moveTo>
                      <a:pt x="513397" y="86677"/>
                    </a:moveTo>
                    <a:lnTo>
                      <a:pt x="490061" y="110014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267978" y="2424112"/>
                <a:ext cx="361644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361644" h="466725">
                    <a:moveTo>
                      <a:pt x="80810" y="300038"/>
                    </a:moveTo>
                    <a:cubicBezTo>
                      <a:pt x="23412" y="256989"/>
                      <a:pt x="0" y="182042"/>
                      <a:pt x="22689" y="113976"/>
                    </a:cubicBezTo>
                    <a:cubicBezTo>
                      <a:pt x="45377" y="45911"/>
                      <a:pt x="109075" y="0"/>
                      <a:pt x="180822" y="0"/>
                    </a:cubicBezTo>
                    <a:cubicBezTo>
                      <a:pt x="252570" y="0"/>
                      <a:pt x="316267" y="45911"/>
                      <a:pt x="338956" y="113976"/>
                    </a:cubicBezTo>
                    <a:cubicBezTo>
                      <a:pt x="361644" y="182042"/>
                      <a:pt x="338233" y="256989"/>
                      <a:pt x="280835" y="300038"/>
                    </a:cubicBezTo>
                    <a:cubicBezTo>
                      <a:pt x="254437" y="326168"/>
                      <a:pt x="242057" y="363307"/>
                      <a:pt x="247497" y="400050"/>
                    </a:cubicBezTo>
                    <a:cubicBezTo>
                      <a:pt x="247497" y="436874"/>
                      <a:pt x="217646" y="466725"/>
                      <a:pt x="180822" y="466725"/>
                    </a:cubicBezTo>
                    <a:cubicBezTo>
                      <a:pt x="143999" y="466725"/>
                      <a:pt x="114147" y="436874"/>
                      <a:pt x="114147" y="400050"/>
                    </a:cubicBezTo>
                    <a:cubicBezTo>
                      <a:pt x="119587" y="363307"/>
                      <a:pt x="107208" y="326168"/>
                      <a:pt x="80810" y="300038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372124" y="2757488"/>
                <a:ext cx="15335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3352" h="952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9935566" y="22936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补光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53892" y="2739390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点光 / 聚光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" y="4057650"/>
            <a:ext cx="10668000" cy="1371600"/>
            <a:chOff x="666750" y="4057650"/>
            <a:chExt cx="10668000" cy="1371600"/>
          </a:xfrm>
        </p:grpSpPr>
        <p:sp>
          <p:nvSpPr>
            <p:cNvPr id="25" name="Polygon 25"/>
            <p:cNvSpPr/>
            <p:nvPr/>
          </p:nvSpPr>
          <p:spPr>
            <a:xfrm>
              <a:off x="66675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033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标记静态物体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8088" y="4844415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28" name="Polygon 28"/>
            <p:cNvSpPr/>
            <p:nvPr/>
          </p:nvSpPr>
          <p:spPr>
            <a:xfrm>
              <a:off x="323850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4208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配置灯光模式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4161" y="48444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Baked / Mixed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581025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1383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生成光照数据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85275" y="4844415"/>
              <a:ext cx="21169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Generate Lighting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8382000" y="4057650"/>
              <a:ext cx="2952750" cy="1371600"/>
            </a:xfrm>
            <a:custGeom>
              <a:avLst/>
              <a:gdLst/>
              <a:ahLst/>
              <a:cxnLst/>
              <a:rect l="l" t="t" r="r" b="b"/>
              <a:pathLst>
                <a:path w="2952750" h="1371600">
                  <a:moveTo>
                    <a:pt x="0" y="0"/>
                  </a:moveTo>
                  <a:lnTo>
                    <a:pt x="2619375" y="0"/>
                  </a:lnTo>
                  <a:lnTo>
                    <a:pt x="2952750" y="685800"/>
                  </a:lnTo>
                  <a:lnTo>
                    <a:pt x="261937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8077" y="43891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验证与优化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3620" y="4844415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阴影 · 内存 · 效果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4642" y="6521768"/>
              <a:ext cx="2402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Lighting · 实时与烘焙的平衡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761974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把相机画面送进 UI：Camera → RenderTexture → RawImage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常见于小地图、监控屏、角色预览与画中画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66750" y="1619250"/>
            <a:ext cx="11239500" cy="3429000"/>
            <a:chOff x="666750" y="1619250"/>
            <a:chExt cx="11239500" cy="3429000"/>
          </a:xfrm>
        </p:grpSpPr>
        <p:grpSp>
          <p:nvGrpSpPr>
            <p:cNvPr id="13" name="Group 13"/>
            <p:cNvGrpSpPr/>
            <p:nvPr/>
          </p:nvGrpSpPr>
          <p:grpSpPr>
            <a:xfrm>
              <a:off x="666750" y="1619250"/>
              <a:ext cx="2952750" cy="3429000"/>
              <a:chOff x="666750" y="1619250"/>
              <a:chExt cx="295275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1457325" y="1924050"/>
                <a:ext cx="1371600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800225" y="2305050"/>
                <a:ext cx="685800" cy="609600"/>
                <a:chOff x="1800225" y="2305050"/>
                <a:chExt cx="685800" cy="6096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800225" y="2305050"/>
                  <a:ext cx="6858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609600">
                      <a:moveTo>
                        <a:pt x="76200" y="114300"/>
                      </a:moveTo>
                      <a:lnTo>
                        <a:pt x="114300" y="114300"/>
                      </a:lnTo>
                      <a:cubicBezTo>
                        <a:pt x="156384" y="114300"/>
                        <a:pt x="190500" y="80184"/>
                        <a:pt x="190500" y="38100"/>
                      </a:cubicBezTo>
                      <a:cubicBezTo>
                        <a:pt x="190500" y="17058"/>
                        <a:pt x="207558" y="0"/>
                        <a:pt x="228600" y="0"/>
                      </a:cubicBezTo>
                      <a:lnTo>
                        <a:pt x="457200" y="0"/>
                      </a:lnTo>
                      <a:cubicBezTo>
                        <a:pt x="478242" y="0"/>
                        <a:pt x="495300" y="17058"/>
                        <a:pt x="495300" y="38100"/>
                      </a:cubicBezTo>
                      <a:cubicBezTo>
                        <a:pt x="495300" y="80184"/>
                        <a:pt x="529416" y="114300"/>
                        <a:pt x="571500" y="114300"/>
                      </a:cubicBezTo>
                      <a:lnTo>
                        <a:pt x="609600" y="114300"/>
                      </a:lnTo>
                      <a:cubicBezTo>
                        <a:pt x="651684" y="114300"/>
                        <a:pt x="685800" y="148416"/>
                        <a:pt x="685800" y="190500"/>
                      </a:cubicBezTo>
                      <a:lnTo>
                        <a:pt x="685800" y="533400"/>
                      </a:lnTo>
                      <a:cubicBezTo>
                        <a:pt x="685800" y="575484"/>
                        <a:pt x="651684" y="609600"/>
                        <a:pt x="609600" y="609600"/>
                      </a:cubicBezTo>
                      <a:lnTo>
                        <a:pt x="76200" y="609600"/>
                      </a:lnTo>
                      <a:cubicBezTo>
                        <a:pt x="34116" y="609600"/>
                        <a:pt x="0" y="575484"/>
                        <a:pt x="0" y="533400"/>
                      </a:cubicBezTo>
                      <a:lnTo>
                        <a:pt x="0" y="190500"/>
                      </a:lnTo>
                      <a:cubicBezTo>
                        <a:pt x="0" y="148416"/>
                        <a:pt x="34116" y="114300"/>
                        <a:pt x="7620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2028825" y="2533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455225" y="3404235"/>
                <a:ext cx="137580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64717" y="39395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选择要渲染的场景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085850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77969" y="4511040"/>
                <a:ext cx="193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Target Texture</a:t>
                </a: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810000" y="3086100"/>
              <a:ext cx="1190625" cy="495300"/>
            </a:xfrm>
            <a:custGeom>
              <a:avLst/>
              <a:gdLst/>
              <a:ahLst/>
              <a:cxnLst/>
              <a:rect l="l" t="t" r="r" b="b"/>
              <a:pathLst>
                <a:path w="1190625" h="495300">
                  <a:moveTo>
                    <a:pt x="0" y="247650"/>
                  </a:moveTo>
                  <a:lnTo>
                    <a:pt x="714375" y="247650"/>
                  </a:lnTo>
                  <a:lnTo>
                    <a:pt x="714375" y="0"/>
                  </a:lnTo>
                  <a:lnTo>
                    <a:pt x="1190625" y="247650"/>
                  </a:lnTo>
                  <a:lnTo>
                    <a:pt x="714375" y="495300"/>
                  </a:lnTo>
                  <a:lnTo>
                    <a:pt x="714375" y="24765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810125" y="1619250"/>
              <a:ext cx="2952750" cy="3429000"/>
              <a:chOff x="4810125" y="1619250"/>
              <a:chExt cx="2952750" cy="3429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810125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600700" y="1924050"/>
                <a:ext cx="1371600" cy="137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5943600" y="2266950"/>
                <a:ext cx="685800" cy="647700"/>
                <a:chOff x="5943600" y="2266950"/>
                <a:chExt cx="685800" cy="6477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943600" y="2419350"/>
                  <a:ext cx="6858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495300">
                      <a:moveTo>
                        <a:pt x="0" y="76200"/>
                      </a:moveTo>
                      <a:cubicBezTo>
                        <a:pt x="0" y="34116"/>
                        <a:pt x="34116" y="0"/>
                        <a:pt x="76200" y="0"/>
                      </a:cubicBezTo>
                      <a:lnTo>
                        <a:pt x="609600" y="0"/>
                      </a:lnTo>
                      <a:cubicBezTo>
                        <a:pt x="651684" y="0"/>
                        <a:pt x="685800" y="34116"/>
                        <a:pt x="685800" y="76200"/>
                      </a:cubicBezTo>
                      <a:lnTo>
                        <a:pt x="685800" y="419100"/>
                      </a:lnTo>
                      <a:cubicBezTo>
                        <a:pt x="685800" y="461184"/>
                        <a:pt x="651684" y="495300"/>
                        <a:pt x="609600" y="495300"/>
                      </a:cubicBezTo>
                      <a:lnTo>
                        <a:pt x="76200" y="495300"/>
                      </a:lnTo>
                      <a:cubicBezTo>
                        <a:pt x="34116" y="495300"/>
                        <a:pt x="0" y="461184"/>
                        <a:pt x="0" y="4191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6134100" y="2266950"/>
                  <a:ext cx="3048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52400">
                      <a:moveTo>
                        <a:pt x="304800" y="0"/>
                      </a:moveTo>
                      <a:lnTo>
                        <a:pt x="152400" y="1524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4896512" y="3404235"/>
                <a:ext cx="27799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RenderTexture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86934" y="39395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接收相机输出的纹理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229225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259629" y="4511040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分辨率影响清晰度</a:t>
                </a: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7953375" y="3086100"/>
              <a:ext cx="1190625" cy="495300"/>
            </a:xfrm>
            <a:custGeom>
              <a:avLst/>
              <a:gdLst/>
              <a:ahLst/>
              <a:cxnLst/>
              <a:rect l="l" t="t" r="r" b="b"/>
              <a:pathLst>
                <a:path w="1190625" h="495300">
                  <a:moveTo>
                    <a:pt x="0" y="247650"/>
                  </a:moveTo>
                  <a:lnTo>
                    <a:pt x="714375" y="247650"/>
                  </a:lnTo>
                  <a:lnTo>
                    <a:pt x="714375" y="0"/>
                  </a:lnTo>
                  <a:lnTo>
                    <a:pt x="1190625" y="247650"/>
                  </a:lnTo>
                  <a:lnTo>
                    <a:pt x="714375" y="495300"/>
                  </a:lnTo>
                  <a:lnTo>
                    <a:pt x="714375" y="24765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953500" y="1619250"/>
              <a:ext cx="2952750" cy="3429000"/>
              <a:chOff x="8953500" y="1619250"/>
              <a:chExt cx="2952750" cy="3429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953500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9639300" y="2019300"/>
                <a:ext cx="1581150" cy="1181100"/>
              </a:xfrm>
              <a:prstGeom prst="roundRect">
                <a:avLst>
                  <a:gd name="adj" fmla="val 1451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086975" y="2266950"/>
                <a:ext cx="685800" cy="647700"/>
                <a:chOff x="10086975" y="2266950"/>
                <a:chExt cx="685800" cy="6477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86975" y="2419350"/>
                  <a:ext cx="6858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495300">
                      <a:moveTo>
                        <a:pt x="0" y="76200"/>
                      </a:moveTo>
                      <a:cubicBezTo>
                        <a:pt x="0" y="34116"/>
                        <a:pt x="34116" y="0"/>
                        <a:pt x="76200" y="0"/>
                      </a:cubicBezTo>
                      <a:lnTo>
                        <a:pt x="609600" y="0"/>
                      </a:lnTo>
                      <a:cubicBezTo>
                        <a:pt x="651684" y="0"/>
                        <a:pt x="685800" y="34116"/>
                        <a:pt x="685800" y="76200"/>
                      </a:cubicBezTo>
                      <a:lnTo>
                        <a:pt x="685800" y="419100"/>
                      </a:lnTo>
                      <a:cubicBezTo>
                        <a:pt x="685800" y="461184"/>
                        <a:pt x="651684" y="495300"/>
                        <a:pt x="609600" y="495300"/>
                      </a:cubicBezTo>
                      <a:lnTo>
                        <a:pt x="76200" y="495300"/>
                      </a:lnTo>
                      <a:cubicBezTo>
                        <a:pt x="34116" y="495300"/>
                        <a:pt x="0" y="461184"/>
                        <a:pt x="0" y="4191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277475" y="2266950"/>
                  <a:ext cx="3048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52400">
                      <a:moveTo>
                        <a:pt x="304800" y="0"/>
                      </a:moveTo>
                      <a:lnTo>
                        <a:pt x="152400" y="1524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9535624" y="3404235"/>
                <a:ext cx="17885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RawImage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09951" y="3939540"/>
                <a:ext cx="24398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 Canvas 上显示纹理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372600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266530" y="4511040"/>
                <a:ext cx="23266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Texture = 输出纹理</a:t>
                </a:r>
              </a:p>
            </p:txBody>
          </p:sp>
        </p:grpSp>
      </p:grpSp>
      <p:sp>
        <p:nvSpPr>
          <p:cNvPr id="37" name="Rectangle 37"/>
          <p:cNvSpPr/>
          <p:nvPr/>
        </p:nvSpPr>
        <p:spPr>
          <a:xfrm>
            <a:off x="2076450" y="5334000"/>
            <a:ext cx="8039100" cy="590550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chemeClr val="accent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261378" y="5474970"/>
            <a:ext cx="76692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关键：相机与 UI 共享同一张 RenderTexture 资产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9" name="Line 3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4642" y="6521768"/>
              <a:ext cx="2322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Camera Pipeline · 画面复用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57694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Prefab：把调好的对象，变成可复用的资产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70882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统一来源、批量复用、局部覆盖；角色再用 PlayerRoot 组织模块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524000"/>
            <a:ext cx="4476750" cy="4171950"/>
            <a:chOff x="571500" y="1524000"/>
            <a:chExt cx="447675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447675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24484" y="1765935"/>
              <a:ext cx="33405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Prefab 资产与实例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847850" y="2400300"/>
              <a:ext cx="192405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2105025" y="2631281"/>
              <a:ext cx="266700" cy="300038"/>
              <a:chOff x="2105025" y="2631281"/>
              <a:chExt cx="266700" cy="300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105025" y="2631281"/>
                <a:ext cx="266700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0038">
                    <a:moveTo>
                      <a:pt x="133350" y="0"/>
                    </a:moveTo>
                    <a:lnTo>
                      <a:pt x="266700" y="75009"/>
                    </a:lnTo>
                    <a:lnTo>
                      <a:pt x="266700" y="225028"/>
                    </a:lnTo>
                    <a:lnTo>
                      <a:pt x="133350" y="300038"/>
                    </a:lnTo>
                    <a:lnTo>
                      <a:pt x="0" y="225028"/>
                    </a:lnTo>
                    <a:lnTo>
                      <a:pt x="0" y="75009"/>
                    </a:ln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38375" y="2706291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0" y="75009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38375" y="2781300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105025" y="2706291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133350" y="7500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171700" y="2668786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133350" y="0"/>
                    </a:moveTo>
                    <a:lnTo>
                      <a:pt x="0" y="7500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061676" y="2682240"/>
              <a:ext cx="1782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Player.prefab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4000" y="3181350"/>
              <a:ext cx="2581275" cy="800100"/>
              <a:chOff x="1524000" y="3181350"/>
              <a:chExt cx="2581275" cy="8001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809875" y="318135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524000" y="3714750"/>
                <a:ext cx="257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525">
                    <a:moveTo>
                      <a:pt x="0" y="0"/>
                    </a:moveTo>
                    <a:lnTo>
                      <a:pt x="257175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524000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809875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4095750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895350" y="3981450"/>
              <a:ext cx="3829050" cy="704850"/>
              <a:chOff x="895350" y="3981450"/>
              <a:chExt cx="3829050" cy="704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95350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181225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467100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50010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实例 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35885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实例 B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21760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实例 C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692135" y="4968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修改资产 → 实例同步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64411" y="5311140"/>
              <a:ext cx="2490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Override 只保留差异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429250" y="1524000"/>
            <a:ext cx="6409113" cy="4171950"/>
            <a:chOff x="5429250" y="1524000"/>
            <a:chExt cx="6409113" cy="4171950"/>
          </a:xfrm>
        </p:grpSpPr>
        <p:sp>
          <p:nvSpPr>
            <p:cNvPr id="30" name="Rectangle 30"/>
            <p:cNvSpPr/>
            <p:nvPr/>
          </p:nvSpPr>
          <p:spPr>
            <a:xfrm>
              <a:off x="5429250" y="1524000"/>
              <a:ext cx="619125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810250" y="1771650"/>
              <a:ext cx="228600" cy="342900"/>
              <a:chOff x="5810250" y="1771650"/>
              <a:chExt cx="228600" cy="3429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245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829300" y="203835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7620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5500" y="186690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95250" y="247650"/>
                    </a:moveTo>
                    <a:lnTo>
                      <a:pt x="57150" y="171450"/>
                    </a:lnTo>
                    <a:lnTo>
                      <a:pt x="0" y="114300"/>
                    </a:ln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810250" y="1866900"/>
                <a:ext cx="228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6200">
                    <a:moveTo>
                      <a:pt x="0" y="76200"/>
                    </a:moveTo>
                    <a:lnTo>
                      <a:pt x="38100" y="19050"/>
                    </a:lnTo>
                    <a:lnTo>
                      <a:pt x="114300" y="0"/>
                    </a:lnTo>
                    <a:lnTo>
                      <a:pt x="171450" y="57150"/>
                    </a:lnTo>
                    <a:lnTo>
                      <a:pt x="228600" y="762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310884" y="1765935"/>
              <a:ext cx="552747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PlayerRoot：稳定的角色根节点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43750" y="2381250"/>
              <a:ext cx="2762250" cy="609600"/>
            </a:xfrm>
            <a:prstGeom prst="roundRect">
              <a:avLst>
                <a:gd name="adj" fmla="val 2812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2090" y="2531745"/>
              <a:ext cx="18255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PlayerRoot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324600" y="2990850"/>
              <a:ext cx="4410075" cy="819150"/>
              <a:chOff x="6324600" y="2990850"/>
              <a:chExt cx="4410075" cy="8191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8524875" y="29908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0"/>
                    </a:moveTo>
                    <a:lnTo>
                      <a:pt x="0" y="5143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324600" y="3505200"/>
                <a:ext cx="4400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00550" h="9525">
                    <a:moveTo>
                      <a:pt x="0" y="0"/>
                    </a:moveTo>
                    <a:lnTo>
                      <a:pt x="440055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32460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779145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25830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072515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5638800" y="3810000"/>
              <a:ext cx="5772150" cy="1104900"/>
              <a:chOff x="5638800" y="3810000"/>
              <a:chExt cx="5772150" cy="11049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63880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710565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57250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03935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chemeClr val="lt2"/>
              </a:solidFill>
              <a:ln w="19050">
                <a:solidFill>
                  <a:schemeClr val="dk2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955891" y="4053840"/>
                <a:ext cx="7374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Visual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83082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模型动画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20625" y="4053840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Physics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29767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碰撞控制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799700" y="4053840"/>
                <a:ext cx="9172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885682" y="44348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镜头轴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254325" y="4053840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Scripts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23137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输入行为</a:t>
                </a:r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6607492" y="52349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根节点负责移动，子节点各司其职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61" name="Line 61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4642" y="6521768"/>
              <a:ext cx="211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Prefab · 复用与模块组合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83822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综合练习：搭一间可进入、可观察、可打包的房间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按顺序完成，每一步都能单独运行验证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85800" y="1428750"/>
            <a:ext cx="10744200" cy="4686300"/>
            <a:chOff x="685800" y="1428750"/>
            <a:chExt cx="10744200" cy="4686300"/>
          </a:xfrm>
        </p:grpSpPr>
        <p:sp>
          <p:nvSpPr>
            <p:cNvPr id="4" name="Freeform 4"/>
            <p:cNvSpPr/>
            <p:nvPr/>
          </p:nvSpPr>
          <p:spPr>
            <a:xfrm>
              <a:off x="1428750" y="2247900"/>
              <a:ext cx="9525000" cy="3181350"/>
            </a:xfrm>
            <a:custGeom>
              <a:avLst/>
              <a:gdLst/>
              <a:ahLst/>
              <a:cxnLst/>
              <a:rect l="l" t="t" r="r" b="b"/>
              <a:pathLst>
                <a:path w="9525000" h="3181350">
                  <a:moveTo>
                    <a:pt x="0" y="0"/>
                  </a:moveTo>
                  <a:lnTo>
                    <a:pt x="8667750" y="0"/>
                  </a:lnTo>
                  <a:cubicBezTo>
                    <a:pt x="9141196" y="0"/>
                    <a:pt x="9525000" y="383804"/>
                    <a:pt x="9525000" y="857250"/>
                  </a:cubicBezTo>
                  <a:cubicBezTo>
                    <a:pt x="9525000" y="1330696"/>
                    <a:pt x="9141196" y="1714500"/>
                    <a:pt x="8667750" y="1714500"/>
                  </a:cubicBezTo>
                  <a:lnTo>
                    <a:pt x="666750" y="1714500"/>
                  </a:lnTo>
                  <a:cubicBezTo>
                    <a:pt x="338318" y="1807069"/>
                    <a:pt x="111467" y="2106697"/>
                    <a:pt x="111467" y="2447925"/>
                  </a:cubicBezTo>
                  <a:cubicBezTo>
                    <a:pt x="111467" y="2789153"/>
                    <a:pt x="338318" y="3088781"/>
                    <a:pt x="666750" y="3181350"/>
                  </a:cubicBezTo>
                  <a:lnTo>
                    <a:pt x="8572500" y="3181350"/>
                  </a:lnTo>
                </a:path>
              </a:pathLst>
            </a:custGeom>
            <a:noFill/>
            <a:ln w="266700" cap="rnd">
              <a:solidFill>
                <a:srgbClr val="E9E3D8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428750" y="2247900"/>
              <a:ext cx="9525000" cy="3181350"/>
            </a:xfrm>
            <a:custGeom>
              <a:avLst/>
              <a:gdLst/>
              <a:ahLst/>
              <a:cxnLst/>
              <a:rect l="l" t="t" r="r" b="b"/>
              <a:pathLst>
                <a:path w="9525000" h="3181350">
                  <a:moveTo>
                    <a:pt x="0" y="0"/>
                  </a:moveTo>
                  <a:lnTo>
                    <a:pt x="8667750" y="0"/>
                  </a:lnTo>
                  <a:cubicBezTo>
                    <a:pt x="9141196" y="0"/>
                    <a:pt x="9525000" y="383804"/>
                    <a:pt x="9525000" y="857250"/>
                  </a:cubicBezTo>
                  <a:cubicBezTo>
                    <a:pt x="9525000" y="1330696"/>
                    <a:pt x="9141196" y="1714500"/>
                    <a:pt x="8667750" y="1714500"/>
                  </a:cubicBezTo>
                  <a:lnTo>
                    <a:pt x="666750" y="1714500"/>
                  </a:lnTo>
                  <a:cubicBezTo>
                    <a:pt x="338318" y="1807069"/>
                    <a:pt x="111467" y="2106697"/>
                    <a:pt x="111467" y="2447925"/>
                  </a:cubicBezTo>
                  <a:cubicBezTo>
                    <a:pt x="111467" y="2789153"/>
                    <a:pt x="338318" y="3088781"/>
                    <a:pt x="666750" y="3181350"/>
                  </a:cubicBezTo>
                  <a:lnTo>
                    <a:pt x="8572500" y="3181350"/>
                  </a:lnTo>
                </a:path>
              </a:pathLst>
            </a:custGeom>
            <a:noFill/>
            <a:ln w="38100" cap="rnd">
              <a:solidFill>
                <a:schemeClr val="accent1">
                  <a:alpha val="32000"/>
                </a:scheme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85800" y="1428750"/>
              <a:ext cx="2419350" cy="1143000"/>
              <a:chOff x="685800" y="1428750"/>
              <a:chExt cx="2419350" cy="1143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858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377467" y="152971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建立层级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21118" y="1805940"/>
                <a:ext cx="11487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RoomRoot</a:t>
                </a:r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1104900" y="19240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23266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429000" y="1428750"/>
              <a:ext cx="2419350" cy="1143000"/>
              <a:chOff x="3429000" y="1428750"/>
              <a:chExt cx="2419350" cy="1143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4290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93452" y="1529715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搭墙与地面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944064" y="1805940"/>
                <a:ext cx="13892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Box Collider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4314825" y="192405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533191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172200" y="1428750"/>
              <a:ext cx="2419350" cy="1143000"/>
              <a:chOff x="6172200" y="1428750"/>
              <a:chExt cx="2419350" cy="1143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1722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09436" y="152971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布置材质灯光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25580" y="1805940"/>
                <a:ext cx="19125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Material + Light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7058025" y="19240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276391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915400" y="1428750"/>
              <a:ext cx="2419350" cy="1143000"/>
              <a:chOff x="8915400" y="1428750"/>
              <a:chExt cx="2419350" cy="1143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9154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352636" y="152971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加入可动物体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73387" y="1805940"/>
                <a:ext cx="11033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9801225" y="1924050"/>
                <a:ext cx="647700" cy="6477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019591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743700" y="3638550"/>
              <a:ext cx="2419350" cy="1243584"/>
              <a:chOff x="6743700" y="3638550"/>
              <a:chExt cx="2419350" cy="1243584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743700" y="415290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308152" y="4253865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加入触发区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59778" y="4530090"/>
                <a:ext cx="1787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 / 提示 / 拾取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629525" y="36385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847891" y="38080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4250" y="3638550"/>
              <a:ext cx="2419350" cy="1243584"/>
              <a:chOff x="3524250" y="3638550"/>
              <a:chExt cx="2419350" cy="1243584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524250" y="415290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215917" y="42538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放入角色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81501" y="4530090"/>
                <a:ext cx="13048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PlayerRoot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4410075" y="363855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628441" y="38080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85800" y="3638550"/>
              <a:ext cx="2419350" cy="1243584"/>
              <a:chOff x="685800" y="3638550"/>
              <a:chExt cx="2419350" cy="1243584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85800" y="415290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377467" y="42538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接入相机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280541" y="45300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观察与小屏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771650" y="36385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990016" y="38080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3905250" y="5105400"/>
              <a:ext cx="2857500" cy="1009650"/>
              <a:chOff x="3905250" y="5105400"/>
              <a:chExt cx="2857500" cy="10096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3905250" y="5581650"/>
                <a:ext cx="2857500" cy="533400"/>
              </a:xfrm>
              <a:prstGeom prst="roundRect">
                <a:avLst>
                  <a:gd name="adj" fmla="val 32143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561561" y="574929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逐项运行验证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5010150" y="5105400"/>
                <a:ext cx="647700" cy="6477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5228516" y="5274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572500" y="5105400"/>
              <a:ext cx="2857500" cy="1009650"/>
              <a:chOff x="8572500" y="5105400"/>
              <a:chExt cx="2857500" cy="10096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572500" y="5581650"/>
                <a:ext cx="2857500" cy="533400"/>
              </a:xfrm>
              <a:prstGeom prst="roundRect">
                <a:avLst>
                  <a:gd name="adj" fmla="val 3214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101595" y="5749290"/>
                <a:ext cx="17993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保存场景并打包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9677400" y="510540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895766" y="5274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642" y="652176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综合练习 · 让知识在一个场景里闭环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41616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最后一步：把场景交付为 Windows 程序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8273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打包不是“另一个世界”，只是把已验证的场景与资产装进运行时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99973" y="1828800"/>
            <a:ext cx="9827374" cy="1967484"/>
            <a:chOff x="699973" y="1828800"/>
            <a:chExt cx="9827374" cy="1967484"/>
          </a:xfrm>
        </p:grpSpPr>
        <p:grpSp>
          <p:nvGrpSpPr>
            <p:cNvPr id="8" name="Group 8"/>
            <p:cNvGrpSpPr/>
            <p:nvPr/>
          </p:nvGrpSpPr>
          <p:grpSpPr>
            <a:xfrm>
              <a:off x="699973" y="1828800"/>
              <a:ext cx="1381354" cy="1967484"/>
              <a:chOff x="699973" y="1828800"/>
              <a:chExt cx="1381354" cy="1967484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838200" y="1828800"/>
                <a:ext cx="1104900" cy="1104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16702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99973" y="30175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保存场景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75716" y="34442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确认无报错</a:t>
                </a: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13360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605498" y="1828800"/>
              <a:ext cx="3018604" cy="1967484"/>
              <a:chOff x="2605498" y="1828800"/>
              <a:chExt cx="3018604" cy="1967484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562350" y="1828800"/>
                <a:ext cx="1104900" cy="1104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89117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05498" y="3017520"/>
                <a:ext cx="301860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打开 Build Profiles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36188" y="3444240"/>
                <a:ext cx="15572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Windows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485775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70622" y="1828800"/>
              <a:ext cx="1736657" cy="1967484"/>
              <a:chOff x="5970622" y="1828800"/>
              <a:chExt cx="1736657" cy="196748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286500" y="1828800"/>
                <a:ext cx="1104900" cy="1104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61532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48273" y="30175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加入场景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970622" y="3444240"/>
                <a:ext cx="1736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Scenes In Build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758190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98853" y="1828800"/>
              <a:ext cx="1928494" cy="1967484"/>
              <a:chOff x="8598853" y="1828800"/>
              <a:chExt cx="1928494" cy="196748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9010650" y="1828800"/>
                <a:ext cx="1104900" cy="11049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3947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98853" y="3017520"/>
                <a:ext cx="19284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Build 并运行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27008" y="34442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检查完整目录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66750" y="4095750"/>
            <a:ext cx="11855806" cy="1619250"/>
            <a:chOff x="666750" y="4095750"/>
            <a:chExt cx="11855806" cy="1619250"/>
          </a:xfrm>
        </p:grpSpPr>
        <p:sp>
          <p:nvSpPr>
            <p:cNvPr id="28" name="Rectangle 28"/>
            <p:cNvSpPr/>
            <p:nvPr/>
          </p:nvSpPr>
          <p:spPr>
            <a:xfrm>
              <a:off x="666750" y="4095750"/>
              <a:ext cx="10858500" cy="161925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257300" y="4605338"/>
              <a:ext cx="600074" cy="600075"/>
              <a:chOff x="1257300" y="4605338"/>
              <a:chExt cx="600074" cy="60007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257300" y="4605338"/>
                <a:ext cx="533400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600075">
                    <a:moveTo>
                      <a:pt x="266700" y="600075"/>
                    </a:moveTo>
                    <a:lnTo>
                      <a:pt x="0" y="450056"/>
                    </a:lnTo>
                    <a:lnTo>
                      <a:pt x="0" y="150019"/>
                    </a:lnTo>
                    <a:lnTo>
                      <a:pt x="266700" y="0"/>
                    </a:lnTo>
                    <a:lnTo>
                      <a:pt x="533400" y="150019"/>
                    </a:lnTo>
                    <a:lnTo>
                      <a:pt x="533400" y="3000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24000" y="4755356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150019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24000" y="4905375"/>
                <a:ext cx="95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0038">
                    <a:moveTo>
                      <a:pt x="0" y="0"/>
                    </a:moveTo>
                    <a:lnTo>
                      <a:pt x="0" y="3000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57300" y="4755356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266700" y="15001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624012" y="5105400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757362" y="5005388"/>
                <a:ext cx="1000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200025">
                    <a:moveTo>
                      <a:pt x="0" y="0"/>
                    </a:moveTo>
                    <a:lnTo>
                      <a:pt x="100012" y="100012"/>
                    </a:ln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2269998" y="43653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最终闭环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73808" y="4960620"/>
              <a:ext cx="102487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层级组织 → 组件组合 → 物理交互 → 渲染呈现 → Prefab 复用 → 打包交付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316328" y="5794058"/>
            <a:ext cx="755934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会搭、会动、会看、会复用、会交付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0" name="Line 40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4642" y="6521768"/>
              <a:ext cx="2311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Unity 基础 · 从场景到 Build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2026-07-18T11:38:35Z</dcterms:created>
  <dcterms:modified xsi:type="dcterms:W3CDTF">2026-07-18T11:38:35Z</dcterms:modified>
  <cp:category/>
  <cp:contentStatus/>
</cp:coreProperties>
</file>