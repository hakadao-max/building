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这一单元介绍普通静态模型从 Blender 到 Unity 的完整资产管线。重点不是记住所有按钮，而是建立可重复、可协作、可安全重导入的交付方式。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流程分为准备、导出、导入、材质、Prefab 和验收六段。任何异常都应该沿这条链向上追溯，先修源头，再重新导出和导入。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`.blend` 是制作源文件，FBX 才是明确的交换格式。直接让 Unity 读取 `.blend` 会依赖本机 Blender 版本，也无法保证程序化材质节点完整还原，因此团队交付应使用 FBX 和独立贴图。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静态模型的基础预设由导出范围、变换、几何和禁用项四部分组成。先用统一值建立稳定起点，再根据项目管线对三角化、顶点色等特殊数据做有限调整。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路径模式推荐自动，分批模式对普通模型保持关闭。导出范围应限制到当前选中对象，类型以网格为主，只有需要根节点或挂点时才加入空物体。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尺寸和朝向必须在 Blender 中正确，Unity 实例才能保持 Scale 为 1。Metric、Unit Scale 1.0、应用 Rotation &amp; Scale、-Z 向前和 Y 向上共同构成一致的空间约定，Origin 则决定模型在游戏中的旋转支点。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普通静态模型通常导入自定义法线并应用修改器，切线由 Unity 以 MikkTSpace 计算。没有实际用途的数据不要导出，骨架和动画尤其要明确关闭，避免产生无关 Clip 与运行时负担。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把设置保存为 `Unity_静态模型` 可以减少重复操作，但预设不会替你选择当前对象。每次仍要检查对象范围、物体类型、变换、几何以及动画开关，再导出并到 Unity 验证。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Unity 的 Model 页签负责尺寸、轴向、法线、切线、UV 与部分运行时成本设置。Scale Factor 应保持 1，Read/Write 默认关闭，自动碰撞体只适合原型，正式资源应使用外层 Prefab 的简单碰撞方案。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静态模型在 Rig 页签使用 None，并关闭 Import Animation。如果 Unity 仍然出现动画 Clip，不要只在 Unity 中隐藏它，应回到 Blender 关闭导出动画并重新生成 FBX。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Blender 材质节点是制作环境，Unity 材质才是最终运行时配置。Base Color 使用 sRGB，Normal 设置为 Normal Map，金属度与 AO 等数据贴图关闭 sRGB，Roughness 需要反相后才能作为 Smoothness 使用。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FBX 是可重新导入的模型资源，不适合直接承载游戏逻辑。外层 ObjectRoot Prefab 保存 Collider、Rigidbody 与脚本，内部 Model 节点只引用 Imported FBX，这样 Blender 更新模型时不会破坏 Unity 游戏配置。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最终验收应覆盖 Blender 源头、FBX 导出、Unity 导入、材质与 Prefab，以及实际场景测试。只有 Scale 为 1、朝向正确、材质正常、碰撞可用并且可以安全重导入，资产才真正达到交付标准。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933950"/>
            <a:ext cx="12192000" cy="1924050"/>
          </a:xfrm>
          <a:custGeom>
            <a:avLst/>
            <a:gdLst/>
            <a:ahLst/>
            <a:cxnLst/>
            <a:rect l="l" t="t" r="r" b="b"/>
            <a:pathLst>
              <a:path w="12192000" h="1924050">
                <a:moveTo>
                  <a:pt x="0" y="685800"/>
                </a:moveTo>
                <a:cubicBezTo>
                  <a:pt x="2190750" y="19050"/>
                  <a:pt x="3905250" y="1543050"/>
                  <a:pt x="6191250" y="838200"/>
                </a:cubicBezTo>
                <a:cubicBezTo>
                  <a:pt x="8286750" y="209550"/>
                  <a:pt x="9906000" y="895350"/>
                  <a:pt x="12192000" y="0"/>
                </a:cubicBezTo>
                <a:lnTo>
                  <a:pt x="12192000" y="1924050"/>
                </a:lnTo>
                <a:lnTo>
                  <a:pt x="0" y="192405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85800" y="800100"/>
            <a:ext cx="4171950" cy="266700"/>
          </a:xfrm>
          <a:custGeom>
            <a:avLst/>
            <a:gdLst/>
            <a:ahLst/>
            <a:cxnLst/>
            <a:rect l="l" t="t" r="r" b="b"/>
            <a:pathLst>
              <a:path w="4171950" h="266700">
                <a:moveTo>
                  <a:pt x="0" y="266700"/>
                </a:moveTo>
                <a:cubicBezTo>
                  <a:pt x="1638300" y="0"/>
                  <a:pt x="2667000" y="190500"/>
                  <a:pt x="4171950" y="76200"/>
                </a:cubicBezTo>
              </a:path>
            </a:pathLst>
          </a:custGeom>
          <a:noFill/>
          <a:ln w="95250" cap="rnd">
            <a:solidFill>
              <a:schemeClr val="accent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09600" y="1521142"/>
            <a:ext cx="6251242" cy="1133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Blender 模型到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600" y="2265045"/>
            <a:ext cx="7346021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Unity 游戏物体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0560" y="3314700"/>
            <a:ext cx="94279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8C5A00"/>
                </a:solidFill>
                <a:latin typeface="+mj-lt"/>
                <a:ea typeface="+mj-ea"/>
                <a:cs typeface="+mj-cs"/>
              </a:rPr>
              <a:t>静态模型的 FBX 导出、导入与 Prefab 管线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7143750" y="742950"/>
            <a:ext cx="4248150" cy="4667250"/>
            <a:chOff x="7143750" y="742950"/>
            <a:chExt cx="4248150" cy="4667250"/>
          </a:xfrm>
        </p:grpSpPr>
        <p:sp>
          <p:nvSpPr>
            <p:cNvPr id="7" name="Rectangle 7"/>
            <p:cNvSpPr/>
            <p:nvPr/>
          </p:nvSpPr>
          <p:spPr>
            <a:xfrm>
              <a:off x="7143750" y="742950"/>
              <a:ext cx="4248150" cy="4667250"/>
            </a:xfrm>
            <a:prstGeom prst="roundRect">
              <a:avLst>
                <a:gd name="adj" fmla="val 6726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20356" y="1024890"/>
              <a:ext cx="2681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MODEL → FBX → PREFAB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7600950" y="1695450"/>
              <a:ext cx="1333500" cy="1752029"/>
              <a:chOff x="7600950" y="1695450"/>
              <a:chExt cx="1333500" cy="1752029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7600950" y="1695450"/>
                <a:ext cx="1333500" cy="1333500"/>
              </a:xfrm>
              <a:prstGeom prst="ellipse">
                <a:avLst/>
              </a:prstGeom>
              <a:solidFill>
                <a:srgbClr val="FFF0D1"/>
              </a:solidFill>
              <a:ln w="38100">
                <a:solidFill>
                  <a:schemeClr val="accent2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7967662" y="2025858"/>
                <a:ext cx="600075" cy="672651"/>
                <a:chOff x="7967662" y="2025858"/>
                <a:chExt cx="600075" cy="672651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7967662" y="2025858"/>
                  <a:ext cx="600075" cy="672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075" h="672651">
                      <a:moveTo>
                        <a:pt x="600075" y="469959"/>
                      </a:moveTo>
                      <a:lnTo>
                        <a:pt x="600075" y="202659"/>
                      </a:lnTo>
                      <a:cubicBezTo>
                        <a:pt x="600034" y="178980"/>
                        <a:pt x="587312" y="157138"/>
                        <a:pt x="566738" y="145418"/>
                      </a:cubicBezTo>
                      <a:lnTo>
                        <a:pt x="333375" y="11801"/>
                      </a:lnTo>
                      <a:cubicBezTo>
                        <a:pt x="312717" y="0"/>
                        <a:pt x="287358" y="0"/>
                        <a:pt x="266700" y="11801"/>
                      </a:cubicBezTo>
                      <a:lnTo>
                        <a:pt x="33338" y="145418"/>
                      </a:lnTo>
                      <a:cubicBezTo>
                        <a:pt x="12702" y="157253"/>
                        <a:pt x="0" y="179089"/>
                        <a:pt x="0" y="202692"/>
                      </a:cubicBezTo>
                      <a:lnTo>
                        <a:pt x="0" y="469992"/>
                      </a:lnTo>
                      <a:cubicBezTo>
                        <a:pt x="0" y="493628"/>
                        <a:pt x="12702" y="515431"/>
                        <a:pt x="33338" y="527232"/>
                      </a:cubicBezTo>
                      <a:lnTo>
                        <a:pt x="266700" y="660849"/>
                      </a:lnTo>
                      <a:cubicBezTo>
                        <a:pt x="287358" y="672651"/>
                        <a:pt x="312717" y="672651"/>
                        <a:pt x="333375" y="660849"/>
                      </a:cubicBezTo>
                      <a:lnTo>
                        <a:pt x="566738" y="527232"/>
                      </a:lnTo>
                      <a:cubicBezTo>
                        <a:pt x="587373" y="515398"/>
                        <a:pt x="600075" y="493562"/>
                        <a:pt x="600075" y="469959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267700" y="2362200"/>
                  <a:ext cx="9525" cy="3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3375">
                      <a:moveTo>
                        <a:pt x="0" y="3333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267700" y="2194179"/>
                  <a:ext cx="291036" cy="168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036" h="168021">
                      <a:moveTo>
                        <a:pt x="0" y="168021"/>
                      </a:moveTo>
                      <a:lnTo>
                        <a:pt x="291036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7976664" y="2194179"/>
                  <a:ext cx="291036" cy="168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036" h="168021">
                      <a:moveTo>
                        <a:pt x="0" y="0"/>
                      </a:moveTo>
                      <a:lnTo>
                        <a:pt x="291036" y="168021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757640" y="3066098"/>
                <a:ext cx="102012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95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Blender</a:t>
                </a:r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8877300" y="2362200"/>
              <a:ext cx="695325" cy="9525"/>
            </a:xfrm>
            <a:custGeom>
              <a:avLst/>
              <a:gdLst/>
              <a:ahLst/>
              <a:cxnLst/>
              <a:rect l="l" t="t" r="r" b="b"/>
              <a:pathLst>
                <a:path w="695325" h="9525">
                  <a:moveTo>
                    <a:pt x="0" y="0"/>
                  </a:moveTo>
                  <a:lnTo>
                    <a:pt x="695325" y="0"/>
                  </a:lnTo>
                </a:path>
              </a:pathLst>
            </a:custGeom>
            <a:noFill/>
            <a:ln w="57150" cap="rnd">
              <a:solidFill>
                <a:schemeClr val="dk2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410700" y="220980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0" y="0"/>
                  </a:moveTo>
                  <a:lnTo>
                    <a:pt x="190500" y="152400"/>
                  </a:lnTo>
                  <a:lnTo>
                    <a:pt x="0" y="304800"/>
                  </a:lnTo>
                </a:path>
              </a:pathLst>
            </a:custGeom>
            <a:noFill/>
            <a:ln w="57150" cap="rnd">
              <a:solidFill>
                <a:schemeClr val="dk2"/>
              </a:solidFill>
              <a:round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601200" y="1638300"/>
              <a:ext cx="1428750" cy="1480375"/>
              <a:chOff x="9601200" y="1638300"/>
              <a:chExt cx="1428750" cy="148037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9601200" y="1638300"/>
                <a:ext cx="1428750" cy="1447800"/>
              </a:xfrm>
              <a:prstGeom prst="roundRect">
                <a:avLst>
                  <a:gd name="adj" fmla="val 14667"/>
                </a:avLst>
              </a:prstGeom>
              <a:solidFill>
                <a:srgbClr val="FFFFFF"/>
              </a:solidFill>
              <a:ln w="38100">
                <a:solidFill>
                  <a:schemeClr val="accent2"/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10148888" y="1919288"/>
                <a:ext cx="333375" cy="428625"/>
                <a:chOff x="10148888" y="1919288"/>
                <a:chExt cx="333375" cy="428625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0363200" y="1919288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08401"/>
                        <a:pt x="10661" y="119062"/>
                        <a:pt x="23812" y="119062"/>
                      </a:cubicBezTo>
                      <a:lnTo>
                        <a:pt x="119062" y="119062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0148888" y="1919288"/>
                  <a:ext cx="33337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428625">
                      <a:moveTo>
                        <a:pt x="285750" y="428625"/>
                      </a:moveTo>
                      <a:lnTo>
                        <a:pt x="47625" y="428625"/>
                      </a:lnTo>
                      <a:cubicBezTo>
                        <a:pt x="21322" y="428625"/>
                        <a:pt x="0" y="407303"/>
                        <a:pt x="0" y="381000"/>
                      </a:cubicBezTo>
                      <a:lnTo>
                        <a:pt x="0" y="47625"/>
                      </a:ln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14312" y="0"/>
                      </a:lnTo>
                      <a:lnTo>
                        <a:pt x="333375" y="119062"/>
                      </a:lnTo>
                      <a:lnTo>
                        <a:pt x="333375" y="381000"/>
                      </a:lnTo>
                      <a:cubicBezTo>
                        <a:pt x="333375" y="407303"/>
                        <a:pt x="312053" y="428625"/>
                        <a:pt x="285750" y="428625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0315575" y="2133600"/>
                  <a:ext cx="95250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35719">
                      <a:moveTo>
                        <a:pt x="0" y="35719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0220325" y="2085975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43958"/>
                      </a:moveTo>
                      <a:lnTo>
                        <a:pt x="95250" y="83344"/>
                      </a:lnTo>
                      <a:lnTo>
                        <a:pt x="95250" y="190500"/>
                      </a:lnTo>
                      <a:lnTo>
                        <a:pt x="190500" y="146542"/>
                      </a:lnTo>
                      <a:lnTo>
                        <a:pt x="190500" y="43958"/>
                      </a:lnTo>
                      <a:lnTo>
                        <a:pt x="95250" y="0"/>
                      </a:lnTo>
                      <a:lnTo>
                        <a:pt x="0" y="43958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0220325" y="2133600"/>
                  <a:ext cx="952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42875">
                      <a:moveTo>
                        <a:pt x="0" y="0"/>
                      </a:moveTo>
                      <a:lnTo>
                        <a:pt x="0" y="100012"/>
                      </a:lnTo>
                      <a:lnTo>
                        <a:pt x="95250" y="142875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9954301" y="2500312"/>
                <a:ext cx="722547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8C5A00"/>
                    </a:solidFill>
                    <a:latin typeface="Consolas"/>
                    <a:ea typeface="Consolas"/>
                    <a:cs typeface="Consolas"/>
                  </a:rPr>
                  <a:t>.fbx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945243" y="2854642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明确交付</a:t>
                </a:r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9267825" y="34290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57150" cap="rnd">
              <a:solidFill>
                <a:schemeClr val="dk2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124950" y="3714750"/>
              <a:ext cx="285750" cy="161925"/>
            </a:xfrm>
            <a:custGeom>
              <a:avLst/>
              <a:gdLst/>
              <a:ahLst/>
              <a:cxnLst/>
              <a:rect l="l" t="t" r="r" b="b"/>
              <a:pathLst>
                <a:path w="285750" h="161925">
                  <a:moveTo>
                    <a:pt x="0" y="0"/>
                  </a:moveTo>
                  <a:lnTo>
                    <a:pt x="142875" y="161925"/>
                  </a:lnTo>
                  <a:lnTo>
                    <a:pt x="285750" y="0"/>
                  </a:lnTo>
                </a:path>
              </a:pathLst>
            </a:custGeom>
            <a:noFill/>
            <a:ln w="57150" cap="rnd">
              <a:solidFill>
                <a:schemeClr val="dk2"/>
              </a:solidFill>
              <a:round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772400" y="3981450"/>
              <a:ext cx="2990850" cy="1047750"/>
              <a:chOff x="7772400" y="3981450"/>
              <a:chExt cx="2990850" cy="10477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7772400" y="3981450"/>
                <a:ext cx="2990850" cy="1047750"/>
              </a:xfrm>
              <a:prstGeom prst="roundRect">
                <a:avLst>
                  <a:gd name="adj" fmla="val 20000"/>
                </a:avLst>
              </a:prstGeom>
              <a:solidFill>
                <a:srgbClr val="EAF0FA"/>
              </a:solidFill>
              <a:ln w="38100">
                <a:solidFill>
                  <a:schemeClr val="accent1"/>
                </a:solidFill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8089900" y="4305300"/>
                <a:ext cx="400050" cy="400050"/>
                <a:chOff x="8089900" y="4305300"/>
                <a:chExt cx="400050" cy="40005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8089900" y="4305300"/>
                  <a:ext cx="355599" cy="400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599" h="400049">
                      <a:moveTo>
                        <a:pt x="177800" y="400049"/>
                      </a:moveTo>
                      <a:lnTo>
                        <a:pt x="0" y="300037"/>
                      </a:lnTo>
                      <a:lnTo>
                        <a:pt x="0" y="100012"/>
                      </a:lnTo>
                      <a:lnTo>
                        <a:pt x="177800" y="0"/>
                      </a:lnTo>
                      <a:lnTo>
                        <a:pt x="355599" y="100012"/>
                      </a:lnTo>
                      <a:lnTo>
                        <a:pt x="355599" y="2000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267700" y="4405312"/>
                  <a:ext cx="1778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0012">
                      <a:moveTo>
                        <a:pt x="0" y="100012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267700" y="4505325"/>
                  <a:ext cx="95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0025">
                      <a:moveTo>
                        <a:pt x="0" y="0"/>
                      </a:moveTo>
                      <a:lnTo>
                        <a:pt x="0" y="2000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089900" y="4405312"/>
                  <a:ext cx="1778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0012">
                      <a:moveTo>
                        <a:pt x="177800" y="1000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334375" y="4638674"/>
                  <a:ext cx="155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9525">
                      <a:moveTo>
                        <a:pt x="0" y="0"/>
                      </a:moveTo>
                      <a:lnTo>
                        <a:pt x="155575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423274" y="4572000"/>
                  <a:ext cx="6667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33350">
                      <a:moveTo>
                        <a:pt x="0" y="0"/>
                      </a:moveTo>
                      <a:lnTo>
                        <a:pt x="66675" y="66675"/>
                      </a:lnTo>
                      <a:lnTo>
                        <a:pt x="0" y="1333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8694420" y="4195762"/>
                <a:ext cx="198286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Unity Prefab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697468" y="4584382"/>
                <a:ext cx="18603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材质 · 碰撞 · 脚本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85800" y="4705350"/>
            <a:ext cx="5810250" cy="838200"/>
            <a:chOff x="685800" y="4705350"/>
            <a:chExt cx="5810250" cy="838200"/>
          </a:xfrm>
        </p:grpSpPr>
        <p:sp>
          <p:nvSpPr>
            <p:cNvPr id="43" name="Rectangle 43"/>
            <p:cNvSpPr/>
            <p:nvPr/>
          </p:nvSpPr>
          <p:spPr>
            <a:xfrm>
              <a:off x="685800" y="4705350"/>
              <a:ext cx="5810250" cy="8382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962025" y="4981575"/>
              <a:ext cx="285751" cy="285751"/>
              <a:chOff x="962025" y="4981575"/>
              <a:chExt cx="285751" cy="28575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62025" y="520382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84276" y="49815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93775" y="501332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476756" y="5034915"/>
              <a:ext cx="42174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Source → Export → Import → Verify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697992" y="6274118"/>
            <a:ext cx="23387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基础课程 · 第 06 单元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65760"/>
            <a:ext cx="8192719" cy="819150"/>
            <a:chOff x="552450" y="365760"/>
            <a:chExt cx="8192719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65760"/>
              <a:ext cx="819271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从模型文件走到可用游戏物体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71500" y="933450"/>
              <a:ext cx="4762500" cy="133350"/>
            </a:xfrm>
            <a:custGeom>
              <a:avLst/>
              <a:gdLst/>
              <a:ahLst/>
              <a:cxnLst/>
              <a:rect l="l" t="t" r="r" b="b"/>
              <a:pathLst>
                <a:path w="4762500" h="133350">
                  <a:moveTo>
                    <a:pt x="0" y="76200"/>
                  </a:moveTo>
                  <a:cubicBezTo>
                    <a:pt x="1695450" y="0"/>
                    <a:pt x="3067050" y="133350"/>
                    <a:pt x="4762500" y="28575"/>
                  </a:cubicBezTo>
                </a:path>
              </a:pathLst>
            </a:custGeom>
            <a:noFill/>
            <a:ln w="66675" cap="rnd">
              <a:solidFill>
                <a:schemeClr val="accent2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800100" y="1338262"/>
            <a:ext cx="6787172" cy="4452938"/>
            <a:chOff x="800100" y="1338262"/>
            <a:chExt cx="6787172" cy="4452938"/>
          </a:xfrm>
        </p:grpSpPr>
        <p:sp>
          <p:nvSpPr>
            <p:cNvPr id="5" name="Freeform 5"/>
            <p:cNvSpPr/>
            <p:nvPr/>
          </p:nvSpPr>
          <p:spPr>
            <a:xfrm>
              <a:off x="990600" y="1524000"/>
              <a:ext cx="133350" cy="4229100"/>
            </a:xfrm>
            <a:custGeom>
              <a:avLst/>
              <a:gdLst/>
              <a:ahLst/>
              <a:cxnLst/>
              <a:rect l="l" t="t" r="r" b="b"/>
              <a:pathLst>
                <a:path w="133350" h="4229100">
                  <a:moveTo>
                    <a:pt x="76200" y="0"/>
                  </a:moveTo>
                  <a:cubicBezTo>
                    <a:pt x="0" y="1200150"/>
                    <a:pt x="133350" y="2952750"/>
                    <a:pt x="76200" y="4229100"/>
                  </a:cubicBezTo>
                </a:path>
              </a:pathLst>
            </a:custGeom>
            <a:noFill/>
            <a:ln w="47625" cap="rnd">
              <a:solidFill>
                <a:schemeClr val="accent4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19150" y="1338262"/>
              <a:ext cx="6084213" cy="528638"/>
              <a:chOff x="819150" y="1338262"/>
              <a:chExt cx="6084213" cy="528638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819150" y="137160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994280" y="152685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531620" y="1338262"/>
                <a:ext cx="6589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准备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715387" y="1394936"/>
                <a:ext cx="4187976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单位、尺寸、Origin、Rotation &amp; Scale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19150" y="2119312"/>
              <a:ext cx="5827319" cy="528638"/>
              <a:chOff x="819150" y="2119312"/>
              <a:chExt cx="5827319" cy="528638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819150" y="215265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94280" y="23079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31620" y="2119312"/>
                <a:ext cx="6589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导出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715387" y="2175986"/>
                <a:ext cx="393108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FBX 路径、对象、轴向、几何与动画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19150" y="2900362"/>
              <a:ext cx="6570859" cy="528638"/>
              <a:chOff x="819150" y="2900362"/>
              <a:chExt cx="6570859" cy="528638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819150" y="293370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94280" y="308895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31620" y="2900362"/>
                <a:ext cx="6589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导入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715387" y="2957036"/>
                <a:ext cx="467462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Scale、Normals、Tangents、UV、成本设置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19150" y="3681412"/>
              <a:ext cx="6768122" cy="528638"/>
              <a:chOff x="819150" y="3681412"/>
              <a:chExt cx="6768122" cy="528638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819150" y="371475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94280" y="38700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531620" y="3681412"/>
                <a:ext cx="6589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材质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715387" y="3738086"/>
                <a:ext cx="4871885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sRGB、Normal Map、数据贴图与 Smoothness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19150" y="4462462"/>
              <a:ext cx="6285186" cy="528638"/>
              <a:chOff x="819150" y="4462462"/>
              <a:chExt cx="6285186" cy="528638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819150" y="449580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94280" y="465105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531620" y="4462462"/>
                <a:ext cx="108229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Prefab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715387" y="4519136"/>
                <a:ext cx="4388949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外层对象承载 Collider、Rigidbody 与脚本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00100" y="5243512"/>
              <a:ext cx="5648325" cy="547688"/>
              <a:chOff x="800100" y="5243512"/>
              <a:chExt cx="5648325" cy="547688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800100" y="5257800"/>
                <a:ext cx="533400" cy="5334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94280" y="54321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6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531620" y="5243512"/>
                <a:ext cx="6589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验收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715387" y="5300186"/>
                <a:ext cx="373303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在实际场景中检查渲染、尺寸与碰撞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8229600" y="1657350"/>
            <a:ext cx="3333750" cy="3581400"/>
            <a:chOff x="8229600" y="1657350"/>
            <a:chExt cx="3333750" cy="3581400"/>
          </a:xfrm>
        </p:grpSpPr>
        <p:sp>
          <p:nvSpPr>
            <p:cNvPr id="37" name="Rectangle 37"/>
            <p:cNvSpPr/>
            <p:nvPr/>
          </p:nvSpPr>
          <p:spPr>
            <a:xfrm>
              <a:off x="8229600" y="1657350"/>
              <a:ext cx="3333750" cy="3581400"/>
            </a:xfrm>
            <a:prstGeom prst="roundRect">
              <a:avLst>
                <a:gd name="adj" fmla="val 8000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591675" y="2114550"/>
              <a:ext cx="685800" cy="685800"/>
              <a:chOff x="9591675" y="2114550"/>
              <a:chExt cx="685800" cy="685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591675" y="2114550"/>
                <a:ext cx="60960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685800">
                    <a:moveTo>
                      <a:pt x="304800" y="685800"/>
                    </a:moveTo>
                    <a:lnTo>
                      <a:pt x="0" y="514350"/>
                    </a:lnTo>
                    <a:lnTo>
                      <a:pt x="0" y="171450"/>
                    </a:lnTo>
                    <a:lnTo>
                      <a:pt x="304800" y="0"/>
                    </a:lnTo>
                    <a:lnTo>
                      <a:pt x="609600" y="171450"/>
                    </a:lnTo>
                    <a:lnTo>
                      <a:pt x="609600" y="3429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896475" y="22860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17145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896475" y="2457450"/>
                <a:ext cx="952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591675" y="22860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304800" y="1714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010775" y="2686050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163175" y="2571750"/>
                <a:ext cx="1143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28600">
                    <a:moveTo>
                      <a:pt x="0" y="0"/>
                    </a:moveTo>
                    <a:lnTo>
                      <a:pt x="114300" y="114300"/>
                    </a:ln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076258" y="302323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最终交付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72707" y="3577590"/>
              <a:ext cx="10475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Scale = 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39225" y="39204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朝向与轴心正确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39225" y="42633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材质和碰撞可用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782050" y="4743450"/>
              <a:ext cx="2228850" cy="323850"/>
            </a:xfrm>
            <a:prstGeom prst="roundRect">
              <a:avLst>
                <a:gd name="adj" fmla="val 50000"/>
              </a:avLst>
            </a:prstGeom>
            <a:solidFill>
              <a:srgbClr val="E8F5F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862348" y="4818221"/>
              <a:ext cx="20682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SCENE-READY PREFAB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64642" y="6521768"/>
            <a:ext cx="22885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Blender → Unity · 学习路线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2</a:t>
            </a:fld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6134512" cy="973074"/>
            <a:chOff x="552450" y="346710"/>
            <a:chExt cx="16134512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61345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提交明确导出的 FBX，不要让 Unity 依赖本机 Blender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稳定交付的关键，是把源文件、交换格式与运行时资产分开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66450" y="1733550"/>
            <a:ext cx="10987945" cy="3409950"/>
            <a:chOff x="366450" y="1733550"/>
            <a:chExt cx="10987945" cy="3409950"/>
          </a:xfrm>
        </p:grpSpPr>
        <p:grpSp>
          <p:nvGrpSpPr>
            <p:cNvPr id="18" name="Group 18"/>
            <p:cNvGrpSpPr/>
            <p:nvPr/>
          </p:nvGrpSpPr>
          <p:grpSpPr>
            <a:xfrm>
              <a:off x="366450" y="1733550"/>
              <a:ext cx="2734201" cy="3409950"/>
              <a:chOff x="366450" y="1733550"/>
              <a:chExt cx="2734201" cy="340995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1333500" y="1733550"/>
                <a:ext cx="800100" cy="80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1533525" y="1909372"/>
                <a:ext cx="400049" cy="448433"/>
                <a:chOff x="1533525" y="1909372"/>
                <a:chExt cx="400049" cy="448433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533525" y="1909372"/>
                  <a:ext cx="400049" cy="448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49" h="448433">
                      <a:moveTo>
                        <a:pt x="400049" y="313305"/>
                      </a:moveTo>
                      <a:lnTo>
                        <a:pt x="400049" y="135106"/>
                      </a:lnTo>
                      <a:cubicBezTo>
                        <a:pt x="400022" y="119320"/>
                        <a:pt x="391541" y="104758"/>
                        <a:pt x="377824" y="96945"/>
                      </a:cubicBezTo>
                      <a:lnTo>
                        <a:pt x="222250" y="7868"/>
                      </a:lnTo>
                      <a:cubicBezTo>
                        <a:pt x="208477" y="0"/>
                        <a:pt x="191572" y="0"/>
                        <a:pt x="177800" y="7868"/>
                      </a:cubicBezTo>
                      <a:lnTo>
                        <a:pt x="22225" y="96945"/>
                      </a:lnTo>
                      <a:cubicBezTo>
                        <a:pt x="8468" y="104835"/>
                        <a:pt x="0" y="119392"/>
                        <a:pt x="0" y="135128"/>
                      </a:cubicBezTo>
                      <a:lnTo>
                        <a:pt x="0" y="313328"/>
                      </a:lnTo>
                      <a:cubicBezTo>
                        <a:pt x="0" y="329085"/>
                        <a:pt x="8468" y="343620"/>
                        <a:pt x="22225" y="351488"/>
                      </a:cubicBezTo>
                      <a:lnTo>
                        <a:pt x="177800" y="440565"/>
                      </a:lnTo>
                      <a:cubicBezTo>
                        <a:pt x="191572" y="448433"/>
                        <a:pt x="208477" y="448433"/>
                        <a:pt x="222250" y="440565"/>
                      </a:cubicBezTo>
                      <a:lnTo>
                        <a:pt x="377824" y="351488"/>
                      </a:lnTo>
                      <a:cubicBezTo>
                        <a:pt x="391582" y="343598"/>
                        <a:pt x="400049" y="329041"/>
                        <a:pt x="400049" y="31330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733550" y="2133600"/>
                  <a:ext cx="9525" cy="22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2250">
                      <a:moveTo>
                        <a:pt x="0" y="2222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733550" y="2021586"/>
                  <a:ext cx="194024" cy="11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24" h="112014">
                      <a:moveTo>
                        <a:pt x="0" y="112014"/>
                      </a:moveTo>
                      <a:lnTo>
                        <a:pt x="194024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539526" y="2021586"/>
                  <a:ext cx="194024" cy="11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24" h="112014">
                      <a:moveTo>
                        <a:pt x="0" y="0"/>
                      </a:moveTo>
                      <a:lnTo>
                        <a:pt x="194024" y="112014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1" name="Rectangle 11"/>
              <p:cNvSpPr/>
              <p:nvPr/>
            </p:nvSpPr>
            <p:spPr>
              <a:xfrm>
                <a:off x="571500" y="2724150"/>
                <a:ext cx="2324100" cy="2419350"/>
              </a:xfrm>
              <a:prstGeom prst="roundRect">
                <a:avLst>
                  <a:gd name="adj" fmla="val 9016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66450" y="2867978"/>
                <a:ext cx="2734201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Blender 源文件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31195" y="3332798"/>
                <a:ext cx="16047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9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model.blend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91718" y="3803332"/>
                <a:ext cx="152762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建模与修改器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1718" y="4146232"/>
                <a:ext cx="19316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轴心、层级与 UV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781050" y="4648200"/>
                <a:ext cx="19050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22035" y="4722971"/>
                <a:ext cx="122302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团队内部保留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2971800" y="39433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295650" y="381000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3371850" y="1733550"/>
              <a:ext cx="2324100" cy="3409950"/>
              <a:chOff x="3371850" y="1733550"/>
              <a:chExt cx="2324100" cy="340995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4133850" y="1733550"/>
                <a:ext cx="800100" cy="80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4378325" y="1933575"/>
                <a:ext cx="355599" cy="422274"/>
                <a:chOff x="4378325" y="1933575"/>
                <a:chExt cx="355599" cy="422274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578350" y="1933575"/>
                  <a:ext cx="1111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11125">
                      <a:moveTo>
                        <a:pt x="0" y="0"/>
                      </a:moveTo>
                      <a:lnTo>
                        <a:pt x="0" y="88900"/>
                      </a:lnTo>
                      <a:cubicBezTo>
                        <a:pt x="0" y="101174"/>
                        <a:pt x="9950" y="111125"/>
                        <a:pt x="22225" y="111125"/>
                      </a:cubicBezTo>
                      <a:lnTo>
                        <a:pt x="111125" y="1111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378325" y="1933575"/>
                  <a:ext cx="355599" cy="422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599" h="422274">
                      <a:moveTo>
                        <a:pt x="144462" y="400049"/>
                      </a:moveTo>
                      <a:lnTo>
                        <a:pt x="44450" y="400049"/>
                      </a:lnTo>
                      <a:cubicBezTo>
                        <a:pt x="19901" y="400049"/>
                        <a:pt x="0" y="380149"/>
                        <a:pt x="0" y="355599"/>
                      </a:cubicBez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200025" y="0"/>
                      </a:lnTo>
                      <a:lnTo>
                        <a:pt x="311150" y="111125"/>
                      </a:lnTo>
                      <a:lnTo>
                        <a:pt x="311150" y="222250"/>
                      </a:lnTo>
                      <a:moveTo>
                        <a:pt x="200025" y="355599"/>
                      </a:moveTo>
                      <a:lnTo>
                        <a:pt x="355599" y="355599"/>
                      </a:lnTo>
                      <a:moveTo>
                        <a:pt x="288925" y="288925"/>
                      </a:moveTo>
                      <a:lnTo>
                        <a:pt x="355599" y="355599"/>
                      </a:lnTo>
                      <a:lnTo>
                        <a:pt x="288925" y="422274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5" name="Rectangle 25"/>
              <p:cNvSpPr/>
              <p:nvPr/>
            </p:nvSpPr>
            <p:spPr>
              <a:xfrm>
                <a:off x="3371850" y="2724150"/>
                <a:ext cx="2324100" cy="2419350"/>
              </a:xfrm>
              <a:prstGeom prst="roundRect">
                <a:avLst>
                  <a:gd name="adj" fmla="val 9016"/>
                </a:avLst>
              </a:prstGeom>
              <a:solidFill>
                <a:srgbClr val="FFF9E9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759251" y="2867978"/>
                <a:ext cx="1549298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明确导出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848690" y="3332798"/>
                <a:ext cx="137042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9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model.fbx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92068" y="3803332"/>
                <a:ext cx="152762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固定导出预设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592068" y="4146232"/>
                <a:ext cx="174974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可重现交换结果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3581400" y="4648200"/>
                <a:ext cx="19050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123811" y="4722971"/>
                <a:ext cx="82017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交付主体</a:t>
                </a: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5772150" y="39433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096000" y="381000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172200" y="1733550"/>
              <a:ext cx="2324100" cy="3409950"/>
              <a:chOff x="6172200" y="1733550"/>
              <a:chExt cx="2324100" cy="3409950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6934200" y="1733550"/>
                <a:ext cx="800100" cy="80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134225" y="1933575"/>
                <a:ext cx="400050" cy="400049"/>
                <a:chOff x="7134225" y="1933575"/>
                <a:chExt cx="400050" cy="400049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7400925" y="2044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222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134225" y="1933575"/>
                  <a:ext cx="400049" cy="400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49" h="400049">
                      <a:moveTo>
                        <a:pt x="0" y="66675"/>
                      </a:moveTo>
                      <a:cubicBezTo>
                        <a:pt x="0" y="29851"/>
                        <a:pt x="29851" y="0"/>
                        <a:pt x="66675" y="0"/>
                      </a:cubicBezTo>
                      <a:lnTo>
                        <a:pt x="333375" y="0"/>
                      </a:lnTo>
                      <a:cubicBezTo>
                        <a:pt x="370198" y="0"/>
                        <a:pt x="400049" y="29851"/>
                        <a:pt x="400049" y="66675"/>
                      </a:cubicBezTo>
                      <a:lnTo>
                        <a:pt x="400049" y="333375"/>
                      </a:lnTo>
                      <a:cubicBezTo>
                        <a:pt x="400049" y="370198"/>
                        <a:pt x="370198" y="400049"/>
                        <a:pt x="333375" y="400049"/>
                      </a:cubicBezTo>
                      <a:lnTo>
                        <a:pt x="66675" y="400049"/>
                      </a:lnTo>
                      <a:cubicBezTo>
                        <a:pt x="29851" y="400049"/>
                        <a:pt x="0" y="370198"/>
                        <a:pt x="0" y="333375"/>
                      </a:cubicBez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134225" y="2091528"/>
                  <a:ext cx="288925" cy="130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925" h="130972">
                      <a:moveTo>
                        <a:pt x="0" y="130972"/>
                      </a:moveTo>
                      <a:lnTo>
                        <a:pt x="111125" y="19847"/>
                      </a:lnTo>
                      <a:cubicBezTo>
                        <a:pt x="131750" y="0"/>
                        <a:pt x="157175" y="0"/>
                        <a:pt x="177800" y="19847"/>
                      </a:cubicBezTo>
                      <a:lnTo>
                        <a:pt x="288925" y="13097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378700" y="2135978"/>
                  <a:ext cx="155575" cy="86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86522">
                      <a:moveTo>
                        <a:pt x="0" y="42072"/>
                      </a:moveTo>
                      <a:lnTo>
                        <a:pt x="22225" y="19847"/>
                      </a:lnTo>
                      <a:cubicBezTo>
                        <a:pt x="42850" y="0"/>
                        <a:pt x="68275" y="0"/>
                        <a:pt x="88900" y="19847"/>
                      </a:cubicBezTo>
                      <a:lnTo>
                        <a:pt x="155575" y="8652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1" name="Rectangle 41"/>
              <p:cNvSpPr/>
              <p:nvPr/>
            </p:nvSpPr>
            <p:spPr>
              <a:xfrm>
                <a:off x="6172200" y="2724150"/>
                <a:ext cx="2324100" cy="2419350"/>
              </a:xfrm>
              <a:prstGeom prst="roundRect">
                <a:avLst>
                  <a:gd name="adj" fmla="val 9016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559601" y="2867978"/>
                <a:ext cx="1549298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2F8F6A"/>
                    </a:solidFill>
                    <a:latin typeface="+mj-lt"/>
                    <a:ea typeface="+mj-ea"/>
                    <a:cs typeface="+mj-cs"/>
                  </a:rPr>
                  <a:t>独立贴图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03499" y="3357086"/>
                <a:ext cx="226150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BaseColor / Normal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392418" y="3803332"/>
                <a:ext cx="197186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可单独压缩与替换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392418" y="4146232"/>
                <a:ext cx="152762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贴图类型明确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6381750" y="4648200"/>
                <a:ext cx="19050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924161" y="4722971"/>
                <a:ext cx="82017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独立管理</a:t>
                </a:r>
              </a:p>
            </p:txBody>
          </p:sp>
        </p:grpSp>
        <p:sp>
          <p:nvSpPr>
            <p:cNvPr id="49" name="Freeform 49"/>
            <p:cNvSpPr/>
            <p:nvPr/>
          </p:nvSpPr>
          <p:spPr>
            <a:xfrm>
              <a:off x="8572500" y="39433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896350" y="381000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914804" y="1733550"/>
              <a:ext cx="2439591" cy="3409950"/>
              <a:chOff x="8914804" y="1733550"/>
              <a:chExt cx="2439591" cy="3409950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9734550" y="1733550"/>
                <a:ext cx="800100" cy="800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9956800" y="1955800"/>
                <a:ext cx="355599" cy="377824"/>
                <a:chOff x="9956800" y="1955800"/>
                <a:chExt cx="355599" cy="377824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9956800" y="2244724"/>
                  <a:ext cx="355599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599" h="88900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68999"/>
                        <a:pt x="19901" y="88900"/>
                        <a:pt x="44450" y="88900"/>
                      </a:cubicBezTo>
                      <a:lnTo>
                        <a:pt x="311150" y="88900"/>
                      </a:lnTo>
                      <a:cubicBezTo>
                        <a:pt x="335699" y="88900"/>
                        <a:pt x="355599" y="68999"/>
                        <a:pt x="355599" y="44450"/>
                      </a:cubicBezTo>
                      <a:lnTo>
                        <a:pt x="355599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10023475" y="2111375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>
                      <a:moveTo>
                        <a:pt x="0" y="0"/>
                      </a:moveTo>
                      <a:lnTo>
                        <a:pt x="111125" y="111125"/>
                      </a:lnTo>
                      <a:lnTo>
                        <a:pt x="2222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10134600" y="1955800"/>
                  <a:ext cx="95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6700">
                      <a:moveTo>
                        <a:pt x="0" y="0"/>
                      </a:moveTo>
                      <a:lnTo>
                        <a:pt x="0" y="2667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6" name="Rectangle 56"/>
              <p:cNvSpPr/>
              <p:nvPr/>
            </p:nvSpPr>
            <p:spPr>
              <a:xfrm>
                <a:off x="8972550" y="2724150"/>
                <a:ext cx="2324100" cy="2419350"/>
              </a:xfrm>
              <a:prstGeom prst="roundRect">
                <a:avLst>
                  <a:gd name="adj" fmla="val 9016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914804" y="2867978"/>
                <a:ext cx="2439591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5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Unity Assets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229980" y="3357086"/>
                <a:ext cx="180924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FBX + Textures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192768" y="3803332"/>
                <a:ext cx="152762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创建管线材质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192768" y="4146232"/>
                <a:ext cx="189894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78118" indent="-178118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组合外层 Prefab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9182100" y="4648200"/>
                <a:ext cx="19050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623798" y="4722971"/>
                <a:ext cx="102160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运行时资产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1657350" y="5486400"/>
            <a:ext cx="9010140" cy="533400"/>
            <a:chOff x="1657350" y="5486400"/>
            <a:chExt cx="9010140" cy="533400"/>
          </a:xfrm>
        </p:grpSpPr>
        <p:sp>
          <p:nvSpPr>
            <p:cNvPr id="65" name="Rectangle 65"/>
            <p:cNvSpPr/>
            <p:nvPr/>
          </p:nvSpPr>
          <p:spPr>
            <a:xfrm>
              <a:off x="1657350" y="5486400"/>
              <a:ext cx="8877300" cy="533400"/>
            </a:xfrm>
            <a:prstGeom prst="roundRect">
              <a:avLst>
                <a:gd name="adj" fmla="val 32143"/>
              </a:avLst>
            </a:prstGeom>
            <a:solidFill>
              <a:srgbClr val="D85C45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1853119" y="5634581"/>
              <a:ext cx="256151" cy="220068"/>
              <a:chOff x="1853119" y="5634581"/>
              <a:chExt cx="256151" cy="22006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981200" y="57150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853119" y="563458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981200" y="58038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867409" y="5643086"/>
              <a:ext cx="880008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直接导入 .blend 会依赖本机 Blender 版本；程序化材质节点也不会完整自动转换</a:t>
              </a:r>
            </a:p>
          </p:txBody>
        </p:sp>
      </p:grpSp>
      <p:sp>
        <p:nvSpPr>
          <p:cNvPr id="72" name="Line 72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564642" y="6521768"/>
            <a:ext cx="22885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Blender → Unity · 交付边界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3</a:t>
            </a:fld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9447276" cy="973074"/>
            <a:chOff x="552450" y="346710"/>
            <a:chExt cx="9447276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94472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普通静态模型，先锁定这组核心值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2896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Consolas"/>
                  <a:ea typeface="Microsoft YaHei"/>
                  <a:cs typeface="Consolas"/>
                </a:rPr>
                <a:t>文件 &gt; 导出 &gt; FBX (.fbx)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466850"/>
            <a:ext cx="5334000" cy="2043684"/>
            <a:chOff x="571500" y="1466850"/>
            <a:chExt cx="5334000" cy="2043684"/>
          </a:xfrm>
        </p:grpSpPr>
        <p:sp>
          <p:nvSpPr>
            <p:cNvPr id="5" name="Rectangle 5"/>
            <p:cNvSpPr/>
            <p:nvPr/>
          </p:nvSpPr>
          <p:spPr>
            <a:xfrm>
              <a:off x="571500" y="1466850"/>
              <a:ext cx="5334000" cy="2038350"/>
            </a:xfrm>
            <a:prstGeom prst="roundRect">
              <a:avLst>
                <a:gd name="adj" fmla="val 11215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2114550" y="1466850"/>
              <a:ext cx="2247900" cy="457200"/>
            </a:xfrm>
            <a:prstGeom prst="roundRect">
              <a:avLst>
                <a:gd name="adj" fmla="val 4166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554986" y="1538288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导出范围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883444" y="2174555"/>
              <a:ext cx="385762" cy="432418"/>
              <a:chOff x="883444" y="2174555"/>
              <a:chExt cx="385762" cy="43241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83444" y="2174555"/>
                <a:ext cx="385762" cy="432418"/>
              </a:xfrm>
              <a:custGeom>
                <a:avLst/>
                <a:gdLst/>
                <a:ahLst/>
                <a:cxnLst/>
                <a:rect l="l" t="t" r="r" b="b"/>
                <a:pathLst>
                  <a:path w="385762" h="432418">
                    <a:moveTo>
                      <a:pt x="385762" y="302116"/>
                    </a:moveTo>
                    <a:lnTo>
                      <a:pt x="385762" y="130281"/>
                    </a:lnTo>
                    <a:cubicBezTo>
                      <a:pt x="385736" y="115059"/>
                      <a:pt x="377558" y="101017"/>
                      <a:pt x="364331" y="93483"/>
                    </a:cubicBezTo>
                    <a:lnTo>
                      <a:pt x="214312" y="7587"/>
                    </a:lnTo>
                    <a:cubicBezTo>
                      <a:pt x="201032" y="0"/>
                      <a:pt x="184730" y="0"/>
                      <a:pt x="171450" y="7587"/>
                    </a:cubicBezTo>
                    <a:lnTo>
                      <a:pt x="21431" y="93483"/>
                    </a:lnTo>
                    <a:cubicBezTo>
                      <a:pt x="8165" y="101091"/>
                      <a:pt x="0" y="115129"/>
                      <a:pt x="0" y="130302"/>
                    </a:cubicBezTo>
                    <a:lnTo>
                      <a:pt x="0" y="302138"/>
                    </a:lnTo>
                    <a:cubicBezTo>
                      <a:pt x="0" y="317332"/>
                      <a:pt x="8165" y="331349"/>
                      <a:pt x="21431" y="338935"/>
                    </a:cubicBezTo>
                    <a:lnTo>
                      <a:pt x="171450" y="424832"/>
                    </a:lnTo>
                    <a:cubicBezTo>
                      <a:pt x="184730" y="432418"/>
                      <a:pt x="201032" y="432418"/>
                      <a:pt x="214312" y="424832"/>
                    </a:cubicBezTo>
                    <a:lnTo>
                      <a:pt x="364331" y="338935"/>
                    </a:lnTo>
                    <a:cubicBezTo>
                      <a:pt x="377597" y="331327"/>
                      <a:pt x="385762" y="317290"/>
                      <a:pt x="385762" y="302116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6325" y="2390775"/>
                <a:ext cx="952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4312">
                    <a:moveTo>
                      <a:pt x="0" y="2143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325" y="2282762"/>
                <a:ext cx="187095" cy="108014"/>
              </a:xfrm>
              <a:custGeom>
                <a:avLst/>
                <a:gdLst/>
                <a:ahLst/>
                <a:cxnLst/>
                <a:rect l="l" t="t" r="r" b="b"/>
                <a:pathLst>
                  <a:path w="187095" h="108014">
                    <a:moveTo>
                      <a:pt x="0" y="108014"/>
                    </a:moveTo>
                    <a:lnTo>
                      <a:pt x="187095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89230" y="2282762"/>
                <a:ext cx="187095" cy="108014"/>
              </a:xfrm>
              <a:custGeom>
                <a:avLst/>
                <a:gdLst/>
                <a:ahLst/>
                <a:cxnLst/>
                <a:rect l="l" t="t" r="r" b="b"/>
                <a:pathLst>
                  <a:path w="187095" h="108014">
                    <a:moveTo>
                      <a:pt x="0" y="0"/>
                    </a:moveTo>
                    <a:lnTo>
                      <a:pt x="187095" y="108014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533906" y="21297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路径模式：自动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3906" y="24726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分批模式：关闭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33906" y="28155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限制到：选定的物体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33906" y="3158490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物体类型：网格；按需空物体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1466850"/>
            <a:ext cx="5334000" cy="2043684"/>
            <a:chOff x="6286500" y="1466850"/>
            <a:chExt cx="5334000" cy="2043684"/>
          </a:xfrm>
        </p:grpSpPr>
        <p:sp>
          <p:nvSpPr>
            <p:cNvPr id="18" name="Rectangle 18"/>
            <p:cNvSpPr/>
            <p:nvPr/>
          </p:nvSpPr>
          <p:spPr>
            <a:xfrm>
              <a:off x="6286500" y="1466850"/>
              <a:ext cx="5334000" cy="2038350"/>
            </a:xfrm>
            <a:prstGeom prst="roundRect">
              <a:avLst>
                <a:gd name="adj" fmla="val 11215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29550" y="1466850"/>
              <a:ext cx="2247900" cy="457200"/>
            </a:xfrm>
            <a:prstGeom prst="roundRect">
              <a:avLst>
                <a:gd name="adj" fmla="val 41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06028" y="1538288"/>
              <a:ext cx="6949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变换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598444" y="2197894"/>
              <a:ext cx="385763" cy="385763"/>
              <a:chOff x="6598444" y="2197894"/>
              <a:chExt cx="385763" cy="38576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598444" y="2197894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812756" y="2197894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171450"/>
                    </a:moveTo>
                    <a:lnTo>
                      <a:pt x="171450" y="107156"/>
                    </a:lnTo>
                    <a:cubicBezTo>
                      <a:pt x="171450" y="83484"/>
                      <a:pt x="152260" y="64294"/>
                      <a:pt x="128588" y="64294"/>
                    </a:cubicBezTo>
                    <a:lnTo>
                      <a:pt x="0" y="64294"/>
                    </a:lnTo>
                    <a:lnTo>
                      <a:pt x="64294" y="128588"/>
                    </a:lnTo>
                    <a:moveTo>
                      <a:pt x="64294" y="0"/>
                    </a:moveTo>
                    <a:lnTo>
                      <a:pt x="0" y="6429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98444" y="2412206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0"/>
                    </a:moveTo>
                    <a:lnTo>
                      <a:pt x="0" y="64294"/>
                    </a:lnTo>
                    <a:cubicBezTo>
                      <a:pt x="0" y="87966"/>
                      <a:pt x="19190" y="107156"/>
                      <a:pt x="42862" y="107156"/>
                    </a:cubicBezTo>
                    <a:lnTo>
                      <a:pt x="171450" y="107156"/>
                    </a:lnTo>
                    <a:lnTo>
                      <a:pt x="107156" y="42862"/>
                    </a:lnTo>
                    <a:moveTo>
                      <a:pt x="107156" y="171450"/>
                    </a:moveTo>
                    <a:lnTo>
                      <a:pt x="171450" y="107156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855619" y="2455069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248906" y="2129790"/>
              <a:ext cx="26300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Scale 1.00 · 全部局部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48906" y="2472690"/>
              <a:ext cx="2238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Forward -Z · Up 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48906" y="28155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应用单位：开启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48906" y="315849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空间变换开；应用变换关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3790950"/>
            <a:ext cx="5334000" cy="2043684"/>
            <a:chOff x="571500" y="3790950"/>
            <a:chExt cx="5334000" cy="2043684"/>
          </a:xfrm>
        </p:grpSpPr>
        <p:sp>
          <p:nvSpPr>
            <p:cNvPr id="31" name="Rectangle 31"/>
            <p:cNvSpPr/>
            <p:nvPr/>
          </p:nvSpPr>
          <p:spPr>
            <a:xfrm>
              <a:off x="571500" y="3790950"/>
              <a:ext cx="5334000" cy="2038350"/>
            </a:xfrm>
            <a:prstGeom prst="roundRect">
              <a:avLst>
                <a:gd name="adj" fmla="val 11215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114550" y="3790950"/>
              <a:ext cx="2247900" cy="457200"/>
            </a:xfrm>
            <a:prstGeom prst="roundRect">
              <a:avLst>
                <a:gd name="adj" fmla="val 41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554986" y="3862388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几何数据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902022" y="4521979"/>
              <a:ext cx="345753" cy="385778"/>
              <a:chOff x="902022" y="4521979"/>
              <a:chExt cx="345753" cy="38577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10900" y="4736298"/>
                <a:ext cx="216624" cy="171459"/>
              </a:xfrm>
              <a:custGeom>
                <a:avLst/>
                <a:gdLst/>
                <a:ahLst/>
                <a:cxnLst/>
                <a:rect l="l" t="t" r="r" b="b"/>
                <a:pathLst>
                  <a:path w="216624" h="171459">
                    <a:moveTo>
                      <a:pt x="22006" y="171459"/>
                    </a:moveTo>
                    <a:lnTo>
                      <a:pt x="194570" y="171459"/>
                    </a:lnTo>
                    <a:cubicBezTo>
                      <a:pt x="202280" y="171455"/>
                      <a:pt x="209361" y="167206"/>
                      <a:pt x="212992" y="160405"/>
                    </a:cubicBezTo>
                    <a:cubicBezTo>
                      <a:pt x="216624" y="153604"/>
                      <a:pt x="216215" y="145356"/>
                      <a:pt x="211929" y="138947"/>
                    </a:cubicBezTo>
                    <a:lnTo>
                      <a:pt x="125669" y="9331"/>
                    </a:lnTo>
                    <a:cubicBezTo>
                      <a:pt x="121806" y="3504"/>
                      <a:pt x="115279" y="0"/>
                      <a:pt x="108288" y="0"/>
                    </a:cubicBezTo>
                    <a:cubicBezTo>
                      <a:pt x="101296" y="0"/>
                      <a:pt x="94770" y="3504"/>
                      <a:pt x="90907" y="9331"/>
                    </a:cubicBezTo>
                    <a:lnTo>
                      <a:pt x="4646" y="138947"/>
                    </a:lnTo>
                    <a:cubicBezTo>
                      <a:pt x="392" y="145362"/>
                      <a:pt x="0" y="153593"/>
                      <a:pt x="3625" y="160383"/>
                    </a:cubicBezTo>
                    <a:cubicBezTo>
                      <a:pt x="7251" y="167172"/>
                      <a:pt x="14309" y="171426"/>
                      <a:pt x="22006" y="171459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02022" y="4521979"/>
                <a:ext cx="345753" cy="278621"/>
              </a:xfrm>
              <a:custGeom>
                <a:avLst/>
                <a:gdLst/>
                <a:ahLst/>
                <a:cxnLst/>
                <a:rect l="l" t="t" r="r" b="b"/>
                <a:pathLst>
                  <a:path w="345753" h="278621">
                    <a:moveTo>
                      <a:pt x="23856" y="278621"/>
                    </a:moveTo>
                    <a:lnTo>
                      <a:pt x="324751" y="278621"/>
                    </a:lnTo>
                    <a:cubicBezTo>
                      <a:pt x="336366" y="278621"/>
                      <a:pt x="345753" y="269127"/>
                      <a:pt x="345753" y="257425"/>
                    </a:cubicBezTo>
                    <a:cubicBezTo>
                      <a:pt x="345744" y="253371"/>
                      <a:pt x="344584" y="249403"/>
                      <a:pt x="342410" y="245981"/>
                    </a:cubicBezTo>
                    <a:lnTo>
                      <a:pt x="191963" y="9744"/>
                    </a:lnTo>
                    <a:cubicBezTo>
                      <a:pt x="188140" y="3679"/>
                      <a:pt x="181472" y="0"/>
                      <a:pt x="174303" y="0"/>
                    </a:cubicBezTo>
                    <a:cubicBezTo>
                      <a:pt x="167134" y="0"/>
                      <a:pt x="160466" y="3679"/>
                      <a:pt x="156644" y="9744"/>
                    </a:cubicBezTo>
                    <a:lnTo>
                      <a:pt x="6196" y="245981"/>
                    </a:lnTo>
                    <a:cubicBezTo>
                      <a:pt x="0" y="255831"/>
                      <a:pt x="2797" y="268827"/>
                      <a:pt x="12497" y="275256"/>
                    </a:cubicBezTo>
                    <a:cubicBezTo>
                      <a:pt x="15878" y="277452"/>
                      <a:pt x="19824" y="278621"/>
                      <a:pt x="23856" y="278621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533906" y="44538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平滑：仅法线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33906" y="47967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应用修改器：开启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33906" y="51396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细分、松散边：关闭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33906" y="5482590"/>
              <a:ext cx="28552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三角化 / 切线按项目统一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3790950"/>
            <a:ext cx="5334000" cy="2038350"/>
            <a:chOff x="6286500" y="3790950"/>
            <a:chExt cx="5334000" cy="2038350"/>
          </a:xfrm>
        </p:grpSpPr>
        <p:sp>
          <p:nvSpPr>
            <p:cNvPr id="42" name="Rectangle 42"/>
            <p:cNvSpPr/>
            <p:nvPr/>
          </p:nvSpPr>
          <p:spPr>
            <a:xfrm>
              <a:off x="6286500" y="3790950"/>
              <a:ext cx="5334000" cy="2038350"/>
            </a:xfrm>
            <a:prstGeom prst="roundRect">
              <a:avLst>
                <a:gd name="adj" fmla="val 11215"/>
              </a:avLst>
            </a:prstGeom>
            <a:solidFill>
              <a:srgbClr val="FFFFFF"/>
            </a:solidFill>
            <a:ln w="28575">
              <a:solidFill>
                <a:srgbClr val="D85C45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829550" y="3790950"/>
              <a:ext cx="2247900" cy="457200"/>
            </a:xfrm>
            <a:prstGeom prst="roundRect">
              <a:avLst>
                <a:gd name="adj" fmla="val 41667"/>
              </a:avLst>
            </a:prstGeom>
            <a:solidFill>
              <a:srgbClr val="D85C4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765923" y="3862388"/>
              <a:ext cx="23751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静态模型禁用项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575188" y="4514874"/>
              <a:ext cx="432257" cy="371365"/>
              <a:chOff x="6575188" y="4514874"/>
              <a:chExt cx="432257" cy="37136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791325" y="4650581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75188" y="4514874"/>
                <a:ext cx="432257" cy="371365"/>
              </a:xfrm>
              <a:custGeom>
                <a:avLst/>
                <a:gdLst/>
                <a:ahLst/>
                <a:cxnLst/>
                <a:rect l="l" t="t" r="r" b="b"/>
                <a:pathLst>
                  <a:path w="432257" h="371365">
                    <a:moveTo>
                      <a:pt x="181054" y="19786"/>
                    </a:moveTo>
                    <a:lnTo>
                      <a:pt x="7332" y="309836"/>
                    </a:lnTo>
                    <a:cubicBezTo>
                      <a:pt x="44" y="322456"/>
                      <a:pt x="0" y="337995"/>
                      <a:pt x="7215" y="350657"/>
                    </a:cubicBezTo>
                    <a:cubicBezTo>
                      <a:pt x="14430" y="363319"/>
                      <a:pt x="27821" y="371202"/>
                      <a:pt x="42393" y="371365"/>
                    </a:cubicBezTo>
                    <a:lnTo>
                      <a:pt x="389880" y="371365"/>
                    </a:lnTo>
                    <a:cubicBezTo>
                      <a:pt x="404445" y="371197"/>
                      <a:pt x="417829" y="363317"/>
                      <a:pt x="425043" y="350663"/>
                    </a:cubicBezTo>
                    <a:cubicBezTo>
                      <a:pt x="432257" y="338008"/>
                      <a:pt x="432218" y="322477"/>
                      <a:pt x="424941" y="309858"/>
                    </a:cubicBezTo>
                    <a:lnTo>
                      <a:pt x="251220" y="19764"/>
                    </a:lnTo>
                    <a:cubicBezTo>
                      <a:pt x="243786" y="7495"/>
                      <a:pt x="230482" y="0"/>
                      <a:pt x="216137" y="0"/>
                    </a:cubicBezTo>
                    <a:cubicBezTo>
                      <a:pt x="201791" y="0"/>
                      <a:pt x="188487" y="7495"/>
                      <a:pt x="181054" y="19764"/>
                    </a:cubicBez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91325" y="4800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14" y="0"/>
                    </a:ln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248906" y="44538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骨架：不选择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48906" y="47967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动画：关闭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48906" y="51396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自定义属性：关闭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49668" y="5498782"/>
              <a:ext cx="356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避免无关 Action 与关键帧进入 FBX</a:t>
              </a:r>
            </a:p>
          </p:txBody>
        </p:sp>
      </p:grpSp>
      <p:sp>
        <p:nvSpPr>
          <p:cNvPr id="54" name="Line 54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64642" y="6521768"/>
            <a:ext cx="30223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Blender → Unity · 静态模型导出预设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4</a:t>
            </a:fld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1329111" cy="973074"/>
            <a:chOff x="552450" y="346710"/>
            <a:chExt cx="11329111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132911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只导出需要的对象，保持贴图独立可管理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路径、分批与包括设置，决定 FBX 带走什么以及如何组织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504950"/>
            <a:ext cx="3429000" cy="4000500"/>
            <a:chOff x="571500" y="1504950"/>
            <a:chExt cx="3429000" cy="40005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3429000" cy="4000500"/>
            </a:xfrm>
            <a:prstGeom prst="roundRect">
              <a:avLst>
                <a:gd name="adj" fmla="val 7222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790700" y="1695450"/>
              <a:ext cx="990600" cy="99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2057400" y="1987550"/>
              <a:ext cx="457201" cy="381000"/>
            </a:xfrm>
            <a:custGeom>
              <a:avLst/>
              <a:gdLst/>
              <a:ahLst/>
              <a:cxnLst/>
              <a:rect l="l" t="t" r="r" b="b"/>
              <a:pathLst>
                <a:path w="457201" h="381000">
                  <a:moveTo>
                    <a:pt x="50800" y="0"/>
                  </a:moveTo>
                  <a:lnTo>
                    <a:pt x="152400" y="0"/>
                  </a:lnTo>
                  <a:lnTo>
                    <a:pt x="228600" y="76200"/>
                  </a:lnTo>
                  <a:lnTo>
                    <a:pt x="406401" y="76200"/>
                  </a:lnTo>
                  <a:cubicBezTo>
                    <a:pt x="434457" y="76200"/>
                    <a:pt x="457201" y="98944"/>
                    <a:pt x="457201" y="127000"/>
                  </a:cubicBezTo>
                  <a:lnTo>
                    <a:pt x="457201" y="330200"/>
                  </a:lnTo>
                  <a:cubicBezTo>
                    <a:pt x="457201" y="358257"/>
                    <a:pt x="434457" y="381000"/>
                    <a:pt x="406401" y="381000"/>
                  </a:cubicBezTo>
                  <a:lnTo>
                    <a:pt x="50800" y="381000"/>
                  </a:lnTo>
                  <a:cubicBezTo>
                    <a:pt x="22744" y="381000"/>
                    <a:pt x="0" y="358257"/>
                    <a:pt x="0" y="33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65783" y="268033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路径模式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8675" y="3245644"/>
              <a:ext cx="134421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推荐：自动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818" y="3650932"/>
              <a:ext cx="24161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近处文件使用相对路径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3974782"/>
              <a:ext cx="2396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Unity 中贴图独立管理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4412932"/>
              <a:ext cx="1917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避免：绝对 / 匹配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580" y="47529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换电脑或继承旧路径易失效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5124450"/>
              <a:ext cx="2895600" cy="2476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7743" y="5167789"/>
              <a:ext cx="28965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复制可用于打包，但通常不嵌入贴图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81500" y="1504950"/>
            <a:ext cx="3429000" cy="4000500"/>
            <a:chOff x="4381500" y="1504950"/>
            <a:chExt cx="3429000" cy="4000500"/>
          </a:xfrm>
        </p:grpSpPr>
        <p:sp>
          <p:nvSpPr>
            <p:cNvPr id="17" name="Rectangle 17"/>
            <p:cNvSpPr/>
            <p:nvPr/>
          </p:nvSpPr>
          <p:spPr>
            <a:xfrm>
              <a:off x="4381500" y="1504950"/>
              <a:ext cx="3429000" cy="4000500"/>
            </a:xfrm>
            <a:prstGeom prst="roundRect">
              <a:avLst>
                <a:gd name="adj" fmla="val 7222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600700" y="1695450"/>
              <a:ext cx="990600" cy="990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918200" y="1962150"/>
              <a:ext cx="381000" cy="457200"/>
              <a:chOff x="5918200" y="1962150"/>
              <a:chExt cx="381000" cy="457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172200" y="19621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0"/>
                    </a:moveTo>
                    <a:lnTo>
                      <a:pt x="0" y="101600"/>
                    </a:lnTo>
                    <a:cubicBezTo>
                      <a:pt x="0" y="115628"/>
                      <a:pt x="11372" y="127000"/>
                      <a:pt x="25400" y="127000"/>
                    </a:cubicBezTo>
                    <a:lnTo>
                      <a:pt x="127000" y="1270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019800" y="1962150"/>
                <a:ext cx="2794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355600">
                    <a:moveTo>
                      <a:pt x="228600" y="355600"/>
                    </a:moveTo>
                    <a:lnTo>
                      <a:pt x="50800" y="355600"/>
                    </a:lnTo>
                    <a:cubicBezTo>
                      <a:pt x="22744" y="355600"/>
                      <a:pt x="0" y="332856"/>
                      <a:pt x="0" y="304800"/>
                    </a:cubicBez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52400" y="0"/>
                    </a:lnTo>
                    <a:lnTo>
                      <a:pt x="279400" y="127000"/>
                    </a:lnTo>
                    <a:lnTo>
                      <a:pt x="279400" y="304800"/>
                    </a:lnTo>
                    <a:cubicBezTo>
                      <a:pt x="279400" y="332856"/>
                      <a:pt x="256656" y="355600"/>
                      <a:pt x="228600" y="3556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918200" y="2063750"/>
                <a:ext cx="2794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355600">
                    <a:moveTo>
                      <a:pt x="279400" y="254000"/>
                    </a:moveTo>
                    <a:lnTo>
                      <a:pt x="279400" y="304800"/>
                    </a:lnTo>
                    <a:cubicBezTo>
                      <a:pt x="279400" y="332856"/>
                      <a:pt x="256656" y="355600"/>
                      <a:pt x="228600" y="355600"/>
                    </a:cubicBezTo>
                    <a:lnTo>
                      <a:pt x="50800" y="355600"/>
                    </a:lnTo>
                    <a:cubicBezTo>
                      <a:pt x="22744" y="355600"/>
                      <a:pt x="0" y="332856"/>
                      <a:pt x="0" y="304800"/>
                    </a:cubicBez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275783" y="268033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分批模式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38675" y="3245644"/>
              <a:ext cx="187428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普通模型：关闭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9818" y="3650932"/>
              <a:ext cx="27648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当前选择导出为一个 FBX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39818" y="3974782"/>
              <a:ext cx="24161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零件可多选后一起导出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39818" y="44129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何时才开启？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40580" y="4752975"/>
              <a:ext cx="2695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按场景 / Collection 批量生成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5124450"/>
              <a:ext cx="2895600" cy="2476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08188" y="5167789"/>
              <a:ext cx="2175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只有大量规范化资源才需要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91500" y="1504950"/>
            <a:ext cx="3429000" cy="4000500"/>
            <a:chOff x="8191500" y="1504950"/>
            <a:chExt cx="3429000" cy="4000500"/>
          </a:xfrm>
        </p:grpSpPr>
        <p:sp>
          <p:nvSpPr>
            <p:cNvPr id="32" name="Rectangle 32"/>
            <p:cNvSpPr/>
            <p:nvPr/>
          </p:nvSpPr>
          <p:spPr>
            <a:xfrm>
              <a:off x="8191500" y="1504950"/>
              <a:ext cx="3429000" cy="4000500"/>
            </a:xfrm>
            <a:prstGeom prst="roundRect">
              <a:avLst>
                <a:gd name="adj" fmla="val 7222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9410700" y="1695450"/>
              <a:ext cx="990600" cy="990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677400" y="1934490"/>
              <a:ext cx="457201" cy="512496"/>
              <a:chOff x="9677400" y="1934490"/>
              <a:chExt cx="457201" cy="51249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677400" y="1934490"/>
                <a:ext cx="457201" cy="512496"/>
              </a:xfrm>
              <a:custGeom>
                <a:avLst/>
                <a:gdLst/>
                <a:ahLst/>
                <a:cxnLst/>
                <a:rect l="l" t="t" r="r" b="b"/>
                <a:pathLst>
                  <a:path w="457201" h="512496">
                    <a:moveTo>
                      <a:pt x="457201" y="358064"/>
                    </a:moveTo>
                    <a:lnTo>
                      <a:pt x="457201" y="154407"/>
                    </a:lnTo>
                    <a:cubicBezTo>
                      <a:pt x="457169" y="136366"/>
                      <a:pt x="447477" y="119724"/>
                      <a:pt x="431801" y="110795"/>
                    </a:cubicBezTo>
                    <a:lnTo>
                      <a:pt x="254000" y="8992"/>
                    </a:lnTo>
                    <a:cubicBezTo>
                      <a:pt x="238261" y="0"/>
                      <a:pt x="218940" y="0"/>
                      <a:pt x="203200" y="8992"/>
                    </a:cubicBezTo>
                    <a:lnTo>
                      <a:pt x="25400" y="110795"/>
                    </a:lnTo>
                    <a:cubicBezTo>
                      <a:pt x="9677" y="119812"/>
                      <a:pt x="0" y="136449"/>
                      <a:pt x="0" y="154432"/>
                    </a:cubicBezTo>
                    <a:lnTo>
                      <a:pt x="0" y="358090"/>
                    </a:lnTo>
                    <a:cubicBezTo>
                      <a:pt x="0" y="376098"/>
                      <a:pt x="9677" y="392710"/>
                      <a:pt x="25400" y="401701"/>
                    </a:cubicBezTo>
                    <a:lnTo>
                      <a:pt x="203200" y="503505"/>
                    </a:lnTo>
                    <a:cubicBezTo>
                      <a:pt x="218940" y="512496"/>
                      <a:pt x="238261" y="512496"/>
                      <a:pt x="254000" y="503505"/>
                    </a:cubicBezTo>
                    <a:lnTo>
                      <a:pt x="431801" y="401701"/>
                    </a:lnTo>
                    <a:cubicBezTo>
                      <a:pt x="447523" y="392684"/>
                      <a:pt x="457201" y="376047"/>
                      <a:pt x="457201" y="358064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906000" y="2190750"/>
                <a:ext cx="9525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0">
                    <a:moveTo>
                      <a:pt x="0" y="2540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906000" y="2062734"/>
                <a:ext cx="221742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21742" h="128016">
                    <a:moveTo>
                      <a:pt x="0" y="128016"/>
                    </a:moveTo>
                    <a:lnTo>
                      <a:pt x="221742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684258" y="2062734"/>
                <a:ext cx="221742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21742" h="128016">
                    <a:moveTo>
                      <a:pt x="0" y="0"/>
                    </a:moveTo>
                    <a:lnTo>
                      <a:pt x="221742" y="12801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9489034" y="2680335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包括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48675" y="3245644"/>
              <a:ext cx="24043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限制到：选定的物体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49818" y="3650932"/>
              <a:ext cx="1305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网格：开启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49818" y="3974782"/>
              <a:ext cx="26715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空物体：仅根节点 / 挂点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49818" y="4298632"/>
              <a:ext cx="2704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相机 / 灯光 / 骨架：关闭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49818" y="4622482"/>
              <a:ext cx="24161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自定义属性：默认关闭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458200" y="5124450"/>
              <a:ext cx="2895600" cy="2476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75968" y="5167789"/>
              <a:ext cx="1860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先在 3D 视图选好对象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171700" y="5657850"/>
            <a:ext cx="7848600" cy="420815"/>
            <a:chOff x="2171700" y="5657850"/>
            <a:chExt cx="7848600" cy="420815"/>
          </a:xfrm>
        </p:grpSpPr>
        <p:sp>
          <p:nvSpPr>
            <p:cNvPr id="48" name="Rectangle 48"/>
            <p:cNvSpPr/>
            <p:nvPr/>
          </p:nvSpPr>
          <p:spPr>
            <a:xfrm>
              <a:off x="2171700" y="5657850"/>
              <a:ext cx="7848600" cy="400050"/>
            </a:xfrm>
            <a:prstGeom prst="roundRect">
              <a:avLst>
                <a:gd name="adj" fmla="val 42857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383040" y="5755958"/>
              <a:ext cx="54259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最稳妥的原则：视图里选什么，FBX 就只带走什么</a:t>
              </a:r>
            </a:p>
          </p:txBody>
        </p:sp>
      </p:grpSp>
      <p:sp>
        <p:nvSpPr>
          <p:cNvPr id="51" name="Line 51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64642" y="6521768"/>
            <a:ext cx="28388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Blender → Unity · 文件与对象范围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5</a:t>
            </a:fld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0511089" cy="973074"/>
            <a:chOff x="552450" y="346710"/>
            <a:chExt cx="10511089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051108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尺寸和朝向，应在 Blender 源头正确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5599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不要把 Unity 的 Transform 缩放当作长期补救工具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0550" y="1504950"/>
            <a:ext cx="4095750" cy="3943350"/>
            <a:chOff x="590550" y="1504950"/>
            <a:chExt cx="4095750" cy="3943350"/>
          </a:xfrm>
        </p:grpSpPr>
        <p:sp>
          <p:nvSpPr>
            <p:cNvPr id="5" name="Rectangle 5"/>
            <p:cNvSpPr/>
            <p:nvPr/>
          </p:nvSpPr>
          <p:spPr>
            <a:xfrm>
              <a:off x="590550" y="1504950"/>
              <a:ext cx="4095750" cy="3943350"/>
            </a:xfrm>
            <a:prstGeom prst="roundRect">
              <a:avLst>
                <a:gd name="adj" fmla="val 6763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1976" y="1686878"/>
              <a:ext cx="37928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Blender → Unity 轴向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695450" y="2609850"/>
              <a:ext cx="2266950" cy="2209800"/>
              <a:chOff x="1695450" y="2609850"/>
              <a:chExt cx="2266950" cy="2209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628900" y="4038600"/>
                <a:ext cx="131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14450" h="9525">
                    <a:moveTo>
                      <a:pt x="0" y="0"/>
                    </a:moveTo>
                    <a:lnTo>
                      <a:pt x="1314450" y="0"/>
                    </a:lnTo>
                  </a:path>
                </a:pathLst>
              </a:custGeom>
              <a:noFill/>
              <a:ln w="57150" cap="rnd">
                <a:solidFill>
                  <a:srgbClr val="D85C4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628900" y="2628900"/>
                <a:ext cx="95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09700">
                    <a:moveTo>
                      <a:pt x="0" y="1409700"/>
                    </a:moveTo>
                    <a:lnTo>
                      <a:pt x="0" y="0"/>
                    </a:lnTo>
                  </a:path>
                </a:pathLst>
              </a:custGeom>
              <a:noFill/>
              <a:ln w="57150" cap="rnd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714500" y="4038600"/>
                <a:ext cx="9144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762000">
                    <a:moveTo>
                      <a:pt x="914400" y="0"/>
                    </a:moveTo>
                    <a:lnTo>
                      <a:pt x="0" y="762000"/>
                    </a:ln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3790950" y="3914775"/>
                <a:ext cx="1714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47650">
                    <a:moveTo>
                      <a:pt x="0" y="0"/>
                    </a:moveTo>
                    <a:lnTo>
                      <a:pt x="171450" y="123825"/>
                    </a:lnTo>
                    <a:lnTo>
                      <a:pt x="0" y="247650"/>
                    </a:lnTo>
                  </a:path>
                </a:pathLst>
              </a:custGeom>
              <a:noFill/>
              <a:ln w="57150" cap="rnd">
                <a:solidFill>
                  <a:srgbClr val="D85C45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505075" y="2609850"/>
                <a:ext cx="2476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90500">
                    <a:moveTo>
                      <a:pt x="0" y="190500"/>
                    </a:moveTo>
                    <a:lnTo>
                      <a:pt x="123825" y="0"/>
                    </a:lnTo>
                    <a:lnTo>
                      <a:pt x="247650" y="190500"/>
                    </a:lnTo>
                  </a:path>
                </a:pathLst>
              </a:custGeom>
              <a:noFill/>
              <a:ln w="57150" cap="rnd">
                <a:solidFill>
                  <a:schemeClr val="accent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95450" y="4629150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152400" y="0"/>
                    </a:moveTo>
                    <a:lnTo>
                      <a:pt x="0" y="190500"/>
                    </a:lnTo>
                    <a:lnTo>
                      <a:pt x="238125" y="152400"/>
                    </a:ln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2228850" y="3638550"/>
              <a:ext cx="800100" cy="8001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1A1A1A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2428875" y="3814372"/>
              <a:ext cx="400049" cy="448433"/>
              <a:chOff x="2428875" y="3814372"/>
              <a:chExt cx="400049" cy="44843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2428875" y="3814372"/>
                <a:ext cx="400049" cy="448433"/>
              </a:xfrm>
              <a:custGeom>
                <a:avLst/>
                <a:gdLst/>
                <a:ahLst/>
                <a:cxnLst/>
                <a:rect l="l" t="t" r="r" b="b"/>
                <a:pathLst>
                  <a:path w="400049" h="448433">
                    <a:moveTo>
                      <a:pt x="400049" y="313305"/>
                    </a:moveTo>
                    <a:lnTo>
                      <a:pt x="400049" y="135106"/>
                    </a:lnTo>
                    <a:cubicBezTo>
                      <a:pt x="400022" y="119320"/>
                      <a:pt x="391541" y="104758"/>
                      <a:pt x="377824" y="96945"/>
                    </a:cubicBezTo>
                    <a:lnTo>
                      <a:pt x="222250" y="7868"/>
                    </a:lnTo>
                    <a:cubicBezTo>
                      <a:pt x="208477" y="0"/>
                      <a:pt x="191572" y="0"/>
                      <a:pt x="177800" y="7868"/>
                    </a:cubicBezTo>
                    <a:lnTo>
                      <a:pt x="22225" y="96945"/>
                    </a:lnTo>
                    <a:cubicBezTo>
                      <a:pt x="8468" y="104835"/>
                      <a:pt x="0" y="119392"/>
                      <a:pt x="0" y="135128"/>
                    </a:cubicBezTo>
                    <a:lnTo>
                      <a:pt x="0" y="313328"/>
                    </a:lnTo>
                    <a:cubicBezTo>
                      <a:pt x="0" y="329085"/>
                      <a:pt x="8468" y="343620"/>
                      <a:pt x="22225" y="351488"/>
                    </a:cubicBezTo>
                    <a:lnTo>
                      <a:pt x="177800" y="440565"/>
                    </a:lnTo>
                    <a:cubicBezTo>
                      <a:pt x="191572" y="448433"/>
                      <a:pt x="208477" y="448433"/>
                      <a:pt x="222250" y="440565"/>
                    </a:cubicBezTo>
                    <a:lnTo>
                      <a:pt x="377824" y="351488"/>
                    </a:lnTo>
                    <a:cubicBezTo>
                      <a:pt x="391582" y="343598"/>
                      <a:pt x="400049" y="329041"/>
                      <a:pt x="400049" y="31330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628900" y="4038600"/>
                <a:ext cx="95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0">
                    <a:moveTo>
                      <a:pt x="0" y="2222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628900" y="3926586"/>
                <a:ext cx="194024" cy="112014"/>
              </a:xfrm>
              <a:custGeom>
                <a:avLst/>
                <a:gdLst/>
                <a:ahLst/>
                <a:cxnLst/>
                <a:rect l="l" t="t" r="r" b="b"/>
                <a:pathLst>
                  <a:path w="194024" h="112014">
                    <a:moveTo>
                      <a:pt x="0" y="112014"/>
                    </a:moveTo>
                    <a:lnTo>
                      <a:pt x="194024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434876" y="3926586"/>
                <a:ext cx="194024" cy="112014"/>
              </a:xfrm>
              <a:custGeom>
                <a:avLst/>
                <a:gdLst/>
                <a:ahLst/>
                <a:cxnLst/>
                <a:rect l="l" t="t" r="r" b="b"/>
                <a:pathLst>
                  <a:path w="194024" h="112014">
                    <a:moveTo>
                      <a:pt x="0" y="0"/>
                    </a:moveTo>
                    <a:lnTo>
                      <a:pt x="194024" y="112014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058412" y="3928586"/>
              <a:ext cx="15922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D85C45"/>
                  </a:solidFill>
                  <a:latin typeface="Consolas"/>
                  <a:ea typeface="Consolas"/>
                  <a:cs typeface="Consolas"/>
                </a:rPr>
                <a:t>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63012" y="2461736"/>
              <a:ext cx="51990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Y UP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7087" y="4881086"/>
              <a:ext cx="147314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-Z FORWARD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43000" y="5086350"/>
              <a:ext cx="299085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820947" y="512016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使用空间变换：开启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029200" y="1504950"/>
            <a:ext cx="6591300" cy="1141095"/>
            <a:chOff x="5029200" y="1504950"/>
            <a:chExt cx="6591300" cy="1141095"/>
          </a:xfrm>
        </p:grpSpPr>
        <p:sp>
          <p:nvSpPr>
            <p:cNvPr id="26" name="Rectangle 26"/>
            <p:cNvSpPr/>
            <p:nvPr/>
          </p:nvSpPr>
          <p:spPr>
            <a:xfrm>
              <a:off x="5029200" y="1504950"/>
              <a:ext cx="6591300" cy="1123950"/>
            </a:xfrm>
            <a:prstGeom prst="roundRect">
              <a:avLst>
                <a:gd name="adj" fmla="val 18644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343525" y="1838325"/>
              <a:ext cx="342900" cy="342900"/>
              <a:chOff x="5343525" y="1838325"/>
              <a:chExt cx="342900" cy="3429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343525" y="1838325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21431" y="0"/>
                    </a:moveTo>
                    <a:lnTo>
                      <a:pt x="321469" y="0"/>
                    </a:lnTo>
                    <a:cubicBezTo>
                      <a:pt x="333305" y="0"/>
                      <a:pt x="342900" y="9595"/>
                      <a:pt x="342900" y="21431"/>
                    </a:cubicBezTo>
                    <a:lnTo>
                      <a:pt x="342900" y="128588"/>
                    </a:lnTo>
                    <a:cubicBezTo>
                      <a:pt x="342900" y="140424"/>
                      <a:pt x="333305" y="150019"/>
                      <a:pt x="321469" y="150019"/>
                    </a:cubicBezTo>
                    <a:lnTo>
                      <a:pt x="171450" y="150019"/>
                    </a:lnTo>
                    <a:cubicBezTo>
                      <a:pt x="159614" y="150019"/>
                      <a:pt x="150019" y="159614"/>
                      <a:pt x="150019" y="171450"/>
                    </a:cubicBezTo>
                    <a:lnTo>
                      <a:pt x="150019" y="321469"/>
                    </a:lnTo>
                    <a:cubicBezTo>
                      <a:pt x="150019" y="333305"/>
                      <a:pt x="140424" y="342900"/>
                      <a:pt x="128588" y="342900"/>
                    </a:cubicBezTo>
                    <a:lnTo>
                      <a:pt x="21431" y="342900"/>
                    </a:lnTo>
                    <a:cubicBezTo>
                      <a:pt x="9595" y="342900"/>
                      <a:pt x="0" y="333305"/>
                      <a:pt x="0" y="321469"/>
                    </a:cubicBez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343525" y="1924050"/>
                <a:ext cx="428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9525">
                    <a:moveTo>
                      <a:pt x="0" y="0"/>
                    </a:moveTo>
                    <a:lnTo>
                      <a:pt x="42862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343525" y="2009775"/>
                <a:ext cx="642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9525">
                    <a:moveTo>
                      <a:pt x="0" y="0"/>
                    </a:moveTo>
                    <a:lnTo>
                      <a:pt x="64294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343525" y="2095500"/>
                <a:ext cx="428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9525">
                    <a:moveTo>
                      <a:pt x="0" y="0"/>
                    </a:moveTo>
                    <a:lnTo>
                      <a:pt x="42862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429250" y="1838325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514975" y="1838325"/>
                <a:ext cx="9525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4294">
                    <a:moveTo>
                      <a:pt x="0" y="0"/>
                    </a:moveTo>
                    <a:lnTo>
                      <a:pt x="0" y="64294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600700" y="1838325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5949696" y="1629728"/>
              <a:ext cx="32250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1. 单位与真实尺寸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53887" y="2061686"/>
              <a:ext cx="510951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Metric · Unit Scale 1.0 · 1 Blender Unit = 1 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55030" y="2352675"/>
              <a:ext cx="3569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导出缩放保持 1.00，并开启“应用单位”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029200" y="2819400"/>
            <a:ext cx="6591300" cy="1141095"/>
            <a:chOff x="5029200" y="2819400"/>
            <a:chExt cx="6591300" cy="1141095"/>
          </a:xfrm>
        </p:grpSpPr>
        <p:sp>
          <p:nvSpPr>
            <p:cNvPr id="39" name="Rectangle 39"/>
            <p:cNvSpPr/>
            <p:nvPr/>
          </p:nvSpPr>
          <p:spPr>
            <a:xfrm>
              <a:off x="5029200" y="2819400"/>
              <a:ext cx="6591300" cy="1123950"/>
            </a:xfrm>
            <a:prstGeom prst="roundRect">
              <a:avLst>
                <a:gd name="adj" fmla="val 18644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5322094" y="3131344"/>
              <a:ext cx="407194" cy="385763"/>
              <a:chOff x="5322094" y="3131344"/>
              <a:chExt cx="407194" cy="38576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514975" y="3131344"/>
                <a:ext cx="150019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235744">
                    <a:moveTo>
                      <a:pt x="0" y="0"/>
                    </a:moveTo>
                    <a:cubicBezTo>
                      <a:pt x="82853" y="0"/>
                      <a:pt x="150019" y="67166"/>
                      <a:pt x="150019" y="150019"/>
                    </a:cubicBezTo>
                    <a:lnTo>
                      <a:pt x="150019" y="235744"/>
                    </a:lnTo>
                    <a:lnTo>
                      <a:pt x="85725" y="1714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664994" y="3302794"/>
                <a:ext cx="64294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64294">
                    <a:moveTo>
                      <a:pt x="64294" y="0"/>
                    </a:moveTo>
                    <a:lnTo>
                      <a:pt x="0" y="6429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322094" y="3270647"/>
                <a:ext cx="214312" cy="246459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46459">
                    <a:moveTo>
                      <a:pt x="107156" y="128588"/>
                    </a:moveTo>
                    <a:lnTo>
                      <a:pt x="0" y="64294"/>
                    </a:lnTo>
                    <a:lnTo>
                      <a:pt x="107156" y="0"/>
                    </a:lnTo>
                    <a:lnTo>
                      <a:pt x="214312" y="64294"/>
                    </a:lnTo>
                    <a:lnTo>
                      <a:pt x="214312" y="182166"/>
                    </a:lnTo>
                    <a:lnTo>
                      <a:pt x="107156" y="246459"/>
                    </a:lnTo>
                    <a:lnTo>
                      <a:pt x="107156" y="12858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322094" y="3334941"/>
                <a:ext cx="1071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82166">
                    <a:moveTo>
                      <a:pt x="0" y="0"/>
                    </a:moveTo>
                    <a:lnTo>
                      <a:pt x="0" y="117872"/>
                    </a:lnTo>
                    <a:lnTo>
                      <a:pt x="107156" y="182166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429250" y="3335262"/>
                <a:ext cx="107156" cy="64937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64937">
                    <a:moveTo>
                      <a:pt x="0" y="64937"/>
                    </a:moveTo>
                    <a:lnTo>
                      <a:pt x="107156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5949696" y="2944178"/>
              <a:ext cx="28441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2. 应用对象变换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53887" y="3376136"/>
              <a:ext cx="48130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Ctrl + A &gt; Rotation &amp; Scale → Scale (1,1,1)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55030" y="3667125"/>
              <a:ext cx="3872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导出面板里的实验性“应用变换”仍保持关闭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029200" y="4133850"/>
            <a:ext cx="8115167" cy="1314450"/>
            <a:chOff x="5029200" y="4133850"/>
            <a:chExt cx="8115167" cy="1314450"/>
          </a:xfrm>
        </p:grpSpPr>
        <p:sp>
          <p:nvSpPr>
            <p:cNvPr id="50" name="Rectangle 50"/>
            <p:cNvSpPr/>
            <p:nvPr/>
          </p:nvSpPr>
          <p:spPr>
            <a:xfrm>
              <a:off x="5029200" y="4133850"/>
              <a:ext cx="6591300" cy="1314450"/>
            </a:xfrm>
            <a:prstGeom prst="roundRect">
              <a:avLst>
                <a:gd name="adj" fmla="val 15942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5322094" y="4483894"/>
              <a:ext cx="385763" cy="385763"/>
              <a:chOff x="5322094" y="4483894"/>
              <a:chExt cx="385763" cy="38576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322094" y="4483894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536406" y="4483894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171450"/>
                    </a:moveTo>
                    <a:lnTo>
                      <a:pt x="171450" y="107156"/>
                    </a:lnTo>
                    <a:cubicBezTo>
                      <a:pt x="171450" y="83484"/>
                      <a:pt x="152260" y="64294"/>
                      <a:pt x="128588" y="64294"/>
                    </a:cubicBezTo>
                    <a:lnTo>
                      <a:pt x="0" y="64294"/>
                    </a:lnTo>
                    <a:lnTo>
                      <a:pt x="64294" y="128588"/>
                    </a:lnTo>
                    <a:moveTo>
                      <a:pt x="64294" y="0"/>
                    </a:moveTo>
                    <a:lnTo>
                      <a:pt x="0" y="64294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322094" y="4698206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0"/>
                    </a:moveTo>
                    <a:lnTo>
                      <a:pt x="0" y="64294"/>
                    </a:lnTo>
                    <a:cubicBezTo>
                      <a:pt x="0" y="87966"/>
                      <a:pt x="19190" y="107156"/>
                      <a:pt x="42862" y="107156"/>
                    </a:cubicBezTo>
                    <a:lnTo>
                      <a:pt x="171450" y="107156"/>
                    </a:lnTo>
                    <a:lnTo>
                      <a:pt x="107156" y="42862"/>
                    </a:lnTo>
                    <a:moveTo>
                      <a:pt x="107156" y="171450"/>
                    </a:moveTo>
                    <a:lnTo>
                      <a:pt x="171450" y="107156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579269" y="4741069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949696" y="4258628"/>
              <a:ext cx="50354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3. Origin 是游戏行为的支点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53887" y="4709636"/>
              <a:ext cx="719048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门的 Origin 放铰链，转动时才符合预期；同类资源保持同一轴心规则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962650" y="5086350"/>
              <a:ext cx="531495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60666" y="5120164"/>
              <a:ext cx="5318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如果 Unity 必须 Scale=0.01 才正常，应回 Blender 修单位与尺寸</a:t>
              </a:r>
            </a:p>
          </p:txBody>
        </p:sp>
      </p:grpSp>
      <p:sp>
        <p:nvSpPr>
          <p:cNvPr id="61" name="Line 61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4642" y="6521768"/>
            <a:ext cx="32608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Blender → Unity · 单位、轴向与 Origin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6</a:t>
            </a:fld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1074839" cy="973074"/>
            <a:chOff x="552450" y="346710"/>
            <a:chExt cx="11074839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10748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导出最终 Mesh，但不要夹带无关数据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73362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几何选项决定“导出后的形状”，骨架与动画决定“是否多带一套系统”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466850"/>
            <a:ext cx="3824478" cy="1943100"/>
            <a:chOff x="552450" y="1466850"/>
            <a:chExt cx="3824478" cy="194310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3524250" cy="1943100"/>
            </a:xfrm>
            <a:prstGeom prst="roundRect">
              <a:avLst>
                <a:gd name="adj" fmla="val 10784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842963" y="1758950"/>
              <a:ext cx="350838" cy="330201"/>
            </a:xfrm>
            <a:custGeom>
              <a:avLst/>
              <a:gdLst/>
              <a:ahLst/>
              <a:cxnLst/>
              <a:rect l="l" t="t" r="r" b="b"/>
              <a:pathLst>
                <a:path w="350838" h="330201">
                  <a:moveTo>
                    <a:pt x="268288" y="288925"/>
                  </a:moveTo>
                  <a:cubicBezTo>
                    <a:pt x="291084" y="288925"/>
                    <a:pt x="309563" y="307405"/>
                    <a:pt x="309563" y="330201"/>
                  </a:cubicBezTo>
                  <a:cubicBezTo>
                    <a:pt x="309563" y="307405"/>
                    <a:pt x="328042" y="288925"/>
                    <a:pt x="350838" y="288925"/>
                  </a:cubicBezTo>
                  <a:cubicBezTo>
                    <a:pt x="328042" y="288925"/>
                    <a:pt x="309563" y="270446"/>
                    <a:pt x="309563" y="247650"/>
                  </a:cubicBezTo>
                  <a:cubicBezTo>
                    <a:pt x="309563" y="270446"/>
                    <a:pt x="291084" y="288925"/>
                    <a:pt x="268288" y="288925"/>
                  </a:cubicBezTo>
                  <a:moveTo>
                    <a:pt x="268288" y="41275"/>
                  </a:moveTo>
                  <a:cubicBezTo>
                    <a:pt x="291084" y="41275"/>
                    <a:pt x="309563" y="59755"/>
                    <a:pt x="309563" y="82550"/>
                  </a:cubicBezTo>
                  <a:cubicBezTo>
                    <a:pt x="309563" y="59755"/>
                    <a:pt x="328042" y="41275"/>
                    <a:pt x="350838" y="41275"/>
                  </a:cubicBezTo>
                  <a:cubicBezTo>
                    <a:pt x="328042" y="41275"/>
                    <a:pt x="309563" y="22796"/>
                    <a:pt x="309563" y="0"/>
                  </a:cubicBezTo>
                  <a:cubicBezTo>
                    <a:pt x="309563" y="22796"/>
                    <a:pt x="291084" y="41275"/>
                    <a:pt x="268288" y="41275"/>
                  </a:cubicBezTo>
                  <a:moveTo>
                    <a:pt x="123825" y="288925"/>
                  </a:moveTo>
                  <a:cubicBezTo>
                    <a:pt x="123825" y="220539"/>
                    <a:pt x="179264" y="165100"/>
                    <a:pt x="247650" y="165100"/>
                  </a:cubicBezTo>
                  <a:cubicBezTo>
                    <a:pt x="179264" y="165100"/>
                    <a:pt x="123825" y="109662"/>
                    <a:pt x="123825" y="41275"/>
                  </a:cubicBezTo>
                  <a:cubicBezTo>
                    <a:pt x="123825" y="109662"/>
                    <a:pt x="68387" y="165100"/>
                    <a:pt x="0" y="165100"/>
                  </a:cubicBezTo>
                  <a:cubicBezTo>
                    <a:pt x="68387" y="165100"/>
                    <a:pt x="123825" y="220539"/>
                    <a:pt x="123825" y="288925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35608" y="1703070"/>
              <a:ext cx="21750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平滑：仅法线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2668" y="2260282"/>
              <a:ext cx="36042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Unity 可导入 Blender 的自定义法线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668" y="26031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保留已处理的平滑与硬边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3048000"/>
              <a:ext cx="310515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07523" y="3081814"/>
              <a:ext cx="2014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Unity Normals = Import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33875" y="1466850"/>
            <a:ext cx="3524250" cy="1943100"/>
            <a:chOff x="4333875" y="1466850"/>
            <a:chExt cx="3524250" cy="1943100"/>
          </a:xfrm>
        </p:grpSpPr>
        <p:sp>
          <p:nvSpPr>
            <p:cNvPr id="13" name="Rectangle 13"/>
            <p:cNvSpPr/>
            <p:nvPr/>
          </p:nvSpPr>
          <p:spPr>
            <a:xfrm>
              <a:off x="4333875" y="1466850"/>
              <a:ext cx="3524250" cy="1943100"/>
            </a:xfrm>
            <a:prstGeom prst="roundRect">
              <a:avLst>
                <a:gd name="adj" fmla="val 10784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645025" y="1758950"/>
              <a:ext cx="330200" cy="330200"/>
              <a:chOff x="4645025" y="1758950"/>
              <a:chExt cx="330200" cy="330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727575" y="175895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0" y="41275"/>
                    </a:moveTo>
                    <a:cubicBezTo>
                      <a:pt x="0" y="18479"/>
                      <a:pt x="18479" y="0"/>
                      <a:pt x="41275" y="0"/>
                    </a:cubicBezTo>
                    <a:lnTo>
                      <a:pt x="206375" y="0"/>
                    </a:lnTo>
                    <a:cubicBezTo>
                      <a:pt x="229171" y="0"/>
                      <a:pt x="247650" y="18479"/>
                      <a:pt x="247650" y="41275"/>
                    </a:cubicBezTo>
                    <a:lnTo>
                      <a:pt x="247650" y="206375"/>
                    </a:lnTo>
                    <a:cubicBezTo>
                      <a:pt x="247650" y="229171"/>
                      <a:pt x="229171" y="247650"/>
                      <a:pt x="206375" y="247650"/>
                    </a:cubicBezTo>
                    <a:lnTo>
                      <a:pt x="41275" y="247650"/>
                    </a:lnTo>
                    <a:cubicBezTo>
                      <a:pt x="18479" y="247650"/>
                      <a:pt x="0" y="229171"/>
                      <a:pt x="0" y="206375"/>
                    </a:cubicBez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645025" y="184150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247650" y="165100"/>
                    </a:moveTo>
                    <a:lnTo>
                      <a:pt x="247650" y="206375"/>
                    </a:lnTo>
                    <a:cubicBezTo>
                      <a:pt x="247650" y="229171"/>
                      <a:pt x="229171" y="247650"/>
                      <a:pt x="206375" y="247650"/>
                    </a:cubicBezTo>
                    <a:lnTo>
                      <a:pt x="41275" y="247650"/>
                    </a:lnTo>
                    <a:cubicBezTo>
                      <a:pt x="18479" y="247650"/>
                      <a:pt x="0" y="229171"/>
                      <a:pt x="0" y="206375"/>
                    </a:cubicBezTo>
                    <a:lnTo>
                      <a:pt x="0" y="41275"/>
                    </a:lnTo>
                    <a:cubicBezTo>
                      <a:pt x="0" y="18479"/>
                      <a:pt x="18479" y="0"/>
                      <a:pt x="41275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17033" y="1703070"/>
              <a:ext cx="25334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应用修改器：开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54093" y="2260282"/>
              <a:ext cx="31029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导出修改器计算后的最终 Mesh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54093" y="26031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静态模型通常最符合预期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543425" y="3048000"/>
              <a:ext cx="310515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8188" y="3081814"/>
              <a:ext cx="2175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形态键资产需先验证兼容性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115300" y="1466850"/>
            <a:ext cx="3524250" cy="1943100"/>
            <a:chOff x="8115300" y="1466850"/>
            <a:chExt cx="3524250" cy="1943100"/>
          </a:xfrm>
        </p:grpSpPr>
        <p:sp>
          <p:nvSpPr>
            <p:cNvPr id="23" name="Rectangle 23"/>
            <p:cNvSpPr/>
            <p:nvPr/>
          </p:nvSpPr>
          <p:spPr>
            <a:xfrm>
              <a:off x="8115300" y="1466850"/>
              <a:ext cx="3524250" cy="1943100"/>
            </a:xfrm>
            <a:prstGeom prst="roundRect">
              <a:avLst>
                <a:gd name="adj" fmla="val 10784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423703" y="1738299"/>
              <a:ext cx="332948" cy="371490"/>
              <a:chOff x="8423703" y="1738299"/>
              <a:chExt cx="332948" cy="37149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528548" y="1944680"/>
                <a:ext cx="208601" cy="165109"/>
              </a:xfrm>
              <a:custGeom>
                <a:avLst/>
                <a:gdLst/>
                <a:ahLst/>
                <a:cxnLst/>
                <a:rect l="l" t="t" r="r" b="b"/>
                <a:pathLst>
                  <a:path w="208601" h="165109">
                    <a:moveTo>
                      <a:pt x="21191" y="165109"/>
                    </a:moveTo>
                    <a:lnTo>
                      <a:pt x="187364" y="165109"/>
                    </a:lnTo>
                    <a:cubicBezTo>
                      <a:pt x="194788" y="165105"/>
                      <a:pt x="201607" y="161014"/>
                      <a:pt x="205104" y="154465"/>
                    </a:cubicBezTo>
                    <a:cubicBezTo>
                      <a:pt x="208601" y="147915"/>
                      <a:pt x="208208" y="139973"/>
                      <a:pt x="204080" y="133801"/>
                    </a:cubicBezTo>
                    <a:lnTo>
                      <a:pt x="121014" y="8986"/>
                    </a:lnTo>
                    <a:cubicBezTo>
                      <a:pt x="117295" y="3374"/>
                      <a:pt x="111010" y="0"/>
                      <a:pt x="104277" y="0"/>
                    </a:cubicBezTo>
                    <a:cubicBezTo>
                      <a:pt x="97545" y="0"/>
                      <a:pt x="91260" y="3374"/>
                      <a:pt x="87540" y="8986"/>
                    </a:cubicBezTo>
                    <a:lnTo>
                      <a:pt x="4474" y="133801"/>
                    </a:lnTo>
                    <a:cubicBezTo>
                      <a:pt x="378" y="139978"/>
                      <a:pt x="0" y="147905"/>
                      <a:pt x="3491" y="154443"/>
                    </a:cubicBezTo>
                    <a:cubicBezTo>
                      <a:pt x="6982" y="160981"/>
                      <a:pt x="13779" y="165077"/>
                      <a:pt x="21191" y="165109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423703" y="1738299"/>
                <a:ext cx="332948" cy="268302"/>
              </a:xfrm>
              <a:custGeom>
                <a:avLst/>
                <a:gdLst/>
                <a:ahLst/>
                <a:cxnLst/>
                <a:rect l="l" t="t" r="r" b="b"/>
                <a:pathLst>
                  <a:path w="332948" h="268302">
                    <a:moveTo>
                      <a:pt x="22972" y="268302"/>
                    </a:moveTo>
                    <a:lnTo>
                      <a:pt x="312723" y="268302"/>
                    </a:lnTo>
                    <a:cubicBezTo>
                      <a:pt x="323909" y="268302"/>
                      <a:pt x="332948" y="259159"/>
                      <a:pt x="332948" y="247891"/>
                    </a:cubicBezTo>
                    <a:cubicBezTo>
                      <a:pt x="332939" y="243987"/>
                      <a:pt x="331822" y="240166"/>
                      <a:pt x="329729" y="236871"/>
                    </a:cubicBezTo>
                    <a:lnTo>
                      <a:pt x="184853" y="9383"/>
                    </a:lnTo>
                    <a:cubicBezTo>
                      <a:pt x="181172" y="3543"/>
                      <a:pt x="174751" y="0"/>
                      <a:pt x="167848" y="0"/>
                    </a:cubicBezTo>
                    <a:cubicBezTo>
                      <a:pt x="160944" y="0"/>
                      <a:pt x="154523" y="3543"/>
                      <a:pt x="150842" y="9383"/>
                    </a:cubicBezTo>
                    <a:lnTo>
                      <a:pt x="5967" y="236871"/>
                    </a:lnTo>
                    <a:cubicBezTo>
                      <a:pt x="0" y="246357"/>
                      <a:pt x="2693" y="258871"/>
                      <a:pt x="12034" y="265062"/>
                    </a:cubicBezTo>
                    <a:cubicBezTo>
                      <a:pt x="15290" y="267176"/>
                      <a:pt x="19090" y="268302"/>
                      <a:pt x="22972" y="268302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998458" y="1703070"/>
              <a:ext cx="25334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三角化：按管线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5518" y="22602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普通静态模型可默认关闭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35518" y="26031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重要法线烘焙资产统一策略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24850" y="3048000"/>
              <a:ext cx="310515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89613" y="3081814"/>
              <a:ext cx="2175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同类资产不要混用不同规则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52450" y="3638550"/>
            <a:ext cx="3775100" cy="1943100"/>
            <a:chOff x="552450" y="3638550"/>
            <a:chExt cx="3775100" cy="1943100"/>
          </a:xfrm>
        </p:grpSpPr>
        <p:sp>
          <p:nvSpPr>
            <p:cNvPr id="33" name="Rectangle 33"/>
            <p:cNvSpPr/>
            <p:nvPr/>
          </p:nvSpPr>
          <p:spPr>
            <a:xfrm>
              <a:off x="552450" y="3638550"/>
              <a:ext cx="3524250" cy="1943100"/>
            </a:xfrm>
            <a:prstGeom prst="roundRect">
              <a:avLst>
                <a:gd name="adj" fmla="val 10784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42963" y="3910013"/>
              <a:ext cx="371476" cy="371476"/>
              <a:chOff x="842963" y="3910013"/>
              <a:chExt cx="371476" cy="37147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152526" y="4033838"/>
                <a:ext cx="6191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1913" h="123825">
                    <a:moveTo>
                      <a:pt x="0" y="0"/>
                    </a:moveTo>
                    <a:lnTo>
                      <a:pt x="61913" y="61913"/>
                    </a:lnTo>
                    <a:lnTo>
                      <a:pt x="0" y="123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90613" y="4095750"/>
                <a:ext cx="123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9525">
                    <a:moveTo>
                      <a:pt x="0" y="0"/>
                    </a:moveTo>
                    <a:lnTo>
                      <a:pt x="1238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42963" y="4033838"/>
                <a:ext cx="6191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1913" h="123825">
                    <a:moveTo>
                      <a:pt x="61913" y="0"/>
                    </a:moveTo>
                    <a:lnTo>
                      <a:pt x="0" y="61913"/>
                    </a:lnTo>
                    <a:lnTo>
                      <a:pt x="61913" y="123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42963" y="4095750"/>
                <a:ext cx="123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9525">
                    <a:moveTo>
                      <a:pt x="0" y="0"/>
                    </a:moveTo>
                    <a:lnTo>
                      <a:pt x="1238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66788" y="4219576"/>
                <a:ext cx="123825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61913">
                    <a:moveTo>
                      <a:pt x="0" y="0"/>
                    </a:moveTo>
                    <a:lnTo>
                      <a:pt x="61913" y="61913"/>
                    </a:lnTo>
                    <a:lnTo>
                      <a:pt x="1238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28700" y="4157663"/>
                <a:ext cx="95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">
                    <a:moveTo>
                      <a:pt x="0" y="0"/>
                    </a:moveTo>
                    <a:lnTo>
                      <a:pt x="0" y="123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66788" y="3910013"/>
                <a:ext cx="123825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61913">
                    <a:moveTo>
                      <a:pt x="123825" y="61913"/>
                    </a:moveTo>
                    <a:lnTo>
                      <a:pt x="61913" y="0"/>
                    </a:lnTo>
                    <a:lnTo>
                      <a:pt x="0" y="61913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28700" y="3910013"/>
                <a:ext cx="95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">
                    <a:moveTo>
                      <a:pt x="0" y="0"/>
                    </a:moveTo>
                    <a:lnTo>
                      <a:pt x="0" y="123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435608" y="3874770"/>
              <a:ext cx="28919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切线空间：默认关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2668" y="4431982"/>
              <a:ext cx="34327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通常让 Unity 用 MikkTSpace 计算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2668" y="4774882"/>
              <a:ext cx="28325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使用法线贴图时不可设 None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" y="5219700"/>
              <a:ext cx="3105150" cy="228600"/>
            </a:xfrm>
            <a:prstGeom prst="roundRect">
              <a:avLst>
                <a:gd name="adj" fmla="val 50000"/>
              </a:avLst>
            </a:prstGeom>
            <a:solidFill>
              <a:srgbClr val="EAF0F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383487" y="5253514"/>
              <a:ext cx="18621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Calculate Mikktspace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333875" y="3638550"/>
            <a:ext cx="3524250" cy="1943100"/>
            <a:chOff x="4333875" y="3638550"/>
            <a:chExt cx="3524250" cy="1943100"/>
          </a:xfrm>
        </p:grpSpPr>
        <p:sp>
          <p:nvSpPr>
            <p:cNvPr id="49" name="Rectangle 49"/>
            <p:cNvSpPr/>
            <p:nvPr/>
          </p:nvSpPr>
          <p:spPr>
            <a:xfrm>
              <a:off x="4333875" y="3638550"/>
              <a:ext cx="3524250" cy="1943100"/>
            </a:xfrm>
            <a:prstGeom prst="roundRect">
              <a:avLst>
                <a:gd name="adj" fmla="val 10784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4615328" y="3900953"/>
              <a:ext cx="389595" cy="389595"/>
              <a:chOff x="4615328" y="3900953"/>
              <a:chExt cx="389595" cy="38959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615328" y="3900953"/>
                <a:ext cx="389595" cy="389595"/>
              </a:xfrm>
              <a:custGeom>
                <a:avLst/>
                <a:gdLst/>
                <a:ahLst/>
                <a:cxnLst/>
                <a:rect l="l" t="t" r="r" b="b"/>
                <a:pathLst>
                  <a:path w="389595" h="389595">
                    <a:moveTo>
                      <a:pt x="160230" y="36240"/>
                    </a:moveTo>
                    <a:cubicBezTo>
                      <a:pt x="169021" y="0"/>
                      <a:pt x="220574" y="0"/>
                      <a:pt x="229366" y="36240"/>
                    </a:cubicBezTo>
                    <a:cubicBezTo>
                      <a:pt x="232041" y="47282"/>
                      <a:pt x="239829" y="56382"/>
                      <a:pt x="250326" y="60731"/>
                    </a:cubicBezTo>
                    <a:cubicBezTo>
                      <a:pt x="260823" y="65080"/>
                      <a:pt x="272765" y="64154"/>
                      <a:pt x="282466" y="58239"/>
                    </a:cubicBezTo>
                    <a:cubicBezTo>
                      <a:pt x="314310" y="38840"/>
                      <a:pt x="350776" y="75286"/>
                      <a:pt x="331377" y="107150"/>
                    </a:cubicBezTo>
                    <a:cubicBezTo>
                      <a:pt x="325471" y="116847"/>
                      <a:pt x="324547" y="128780"/>
                      <a:pt x="328891" y="139270"/>
                    </a:cubicBezTo>
                    <a:cubicBezTo>
                      <a:pt x="333234" y="149760"/>
                      <a:pt x="342324" y="157547"/>
                      <a:pt x="353356" y="160230"/>
                    </a:cubicBezTo>
                    <a:cubicBezTo>
                      <a:pt x="389595" y="169021"/>
                      <a:pt x="389595" y="220574"/>
                      <a:pt x="353356" y="229366"/>
                    </a:cubicBezTo>
                    <a:cubicBezTo>
                      <a:pt x="342314" y="232041"/>
                      <a:pt x="333213" y="239829"/>
                      <a:pt x="328864" y="250326"/>
                    </a:cubicBezTo>
                    <a:cubicBezTo>
                      <a:pt x="324516" y="260823"/>
                      <a:pt x="325441" y="272765"/>
                      <a:pt x="331356" y="282466"/>
                    </a:cubicBezTo>
                    <a:cubicBezTo>
                      <a:pt x="350755" y="314310"/>
                      <a:pt x="314310" y="350776"/>
                      <a:pt x="282445" y="331377"/>
                    </a:cubicBezTo>
                    <a:cubicBezTo>
                      <a:pt x="272749" y="325471"/>
                      <a:pt x="260815" y="324547"/>
                      <a:pt x="250325" y="328891"/>
                    </a:cubicBezTo>
                    <a:cubicBezTo>
                      <a:pt x="239835" y="333234"/>
                      <a:pt x="232048" y="342324"/>
                      <a:pt x="229366" y="353356"/>
                    </a:cubicBezTo>
                    <a:cubicBezTo>
                      <a:pt x="220574" y="389595"/>
                      <a:pt x="169021" y="389595"/>
                      <a:pt x="160230" y="353356"/>
                    </a:cubicBezTo>
                    <a:cubicBezTo>
                      <a:pt x="157554" y="342314"/>
                      <a:pt x="149766" y="333213"/>
                      <a:pt x="139269" y="328864"/>
                    </a:cubicBezTo>
                    <a:cubicBezTo>
                      <a:pt x="128773" y="324516"/>
                      <a:pt x="116830" y="325441"/>
                      <a:pt x="107129" y="331356"/>
                    </a:cubicBezTo>
                    <a:cubicBezTo>
                      <a:pt x="75286" y="350755"/>
                      <a:pt x="38819" y="314310"/>
                      <a:pt x="58218" y="282445"/>
                    </a:cubicBezTo>
                    <a:cubicBezTo>
                      <a:pt x="64125" y="272749"/>
                      <a:pt x="65048" y="260815"/>
                      <a:pt x="60705" y="250325"/>
                    </a:cubicBezTo>
                    <a:cubicBezTo>
                      <a:pt x="56361" y="239835"/>
                      <a:pt x="47272" y="232048"/>
                      <a:pt x="36240" y="229366"/>
                    </a:cubicBezTo>
                    <a:cubicBezTo>
                      <a:pt x="0" y="220574"/>
                      <a:pt x="0" y="169021"/>
                      <a:pt x="36240" y="160230"/>
                    </a:cubicBezTo>
                    <a:cubicBezTo>
                      <a:pt x="47282" y="157554"/>
                      <a:pt x="56382" y="149766"/>
                      <a:pt x="60731" y="139269"/>
                    </a:cubicBezTo>
                    <a:cubicBezTo>
                      <a:pt x="65080" y="128773"/>
                      <a:pt x="64154" y="116830"/>
                      <a:pt x="58239" y="107129"/>
                    </a:cubicBezTo>
                    <a:cubicBezTo>
                      <a:pt x="38840" y="75286"/>
                      <a:pt x="75286" y="38819"/>
                      <a:pt x="107150" y="58218"/>
                    </a:cubicBezTo>
                    <a:cubicBezTo>
                      <a:pt x="127788" y="70766"/>
                      <a:pt x="154534" y="59663"/>
                      <a:pt x="160230" y="36240"/>
                    </a:cubicBezTo>
                  </a:path>
                </a:pathLst>
              </a:custGeom>
              <a:noFill/>
              <a:ln w="19050">
                <a:solidFill>
                  <a:schemeClr val="dk2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748213" y="4033838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0" y="61913"/>
                    </a:moveTo>
                    <a:cubicBezTo>
                      <a:pt x="0" y="96106"/>
                      <a:pt x="27719" y="123825"/>
                      <a:pt x="61913" y="123825"/>
                    </a:cubicBezTo>
                    <a:cubicBezTo>
                      <a:pt x="96106" y="123825"/>
                      <a:pt x="123825" y="96106"/>
                      <a:pt x="123825" y="61913"/>
                    </a:cubicBezTo>
                    <a:cubicBezTo>
                      <a:pt x="123825" y="27719"/>
                      <a:pt x="96106" y="0"/>
                      <a:pt x="61913" y="0"/>
                    </a:cubicBezTo>
                    <a:cubicBezTo>
                      <a:pt x="27719" y="0"/>
                      <a:pt x="0" y="27719"/>
                      <a:pt x="0" y="61913"/>
                    </a:cubicBezTo>
                  </a:path>
                </a:pathLst>
              </a:custGeom>
              <a:noFill/>
              <a:ln w="19050">
                <a:solidFill>
                  <a:schemeClr val="dk2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5217033" y="3874770"/>
              <a:ext cx="25334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不需要就不导出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54093" y="44319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细分曲面、松散边：关闭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54093" y="4774882"/>
              <a:ext cx="2482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顶点色未使用时选择“无”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543425" y="5219700"/>
              <a:ext cx="310515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918077" y="5253514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只提交运行时真正需要的数据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115300" y="3638550"/>
            <a:ext cx="3775100" cy="1943100"/>
            <a:chOff x="8115300" y="3638550"/>
            <a:chExt cx="3775100" cy="1943100"/>
          </a:xfrm>
        </p:grpSpPr>
        <p:sp>
          <p:nvSpPr>
            <p:cNvPr id="59" name="Rectangle 59"/>
            <p:cNvSpPr/>
            <p:nvPr/>
          </p:nvSpPr>
          <p:spPr>
            <a:xfrm>
              <a:off x="8115300" y="3638550"/>
              <a:ext cx="3524250" cy="1943100"/>
            </a:xfrm>
            <a:prstGeom prst="roundRect">
              <a:avLst>
                <a:gd name="adj" fmla="val 10784"/>
              </a:avLst>
            </a:prstGeom>
            <a:solidFill>
              <a:srgbClr val="FFFFFF"/>
            </a:solidFill>
            <a:ln w="28575">
              <a:solidFill>
                <a:srgbClr val="D85C45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383419" y="3903156"/>
              <a:ext cx="416248" cy="357612"/>
              <a:chOff x="8383419" y="3903156"/>
              <a:chExt cx="416248" cy="357612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591550" y="4033838"/>
                <a:ext cx="95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2550">
                    <a:moveTo>
                      <a:pt x="0" y="0"/>
                    </a:moveTo>
                    <a:lnTo>
                      <a:pt x="0" y="82550"/>
                    </a:ln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3419" y="3903156"/>
                <a:ext cx="416248" cy="357612"/>
              </a:xfrm>
              <a:custGeom>
                <a:avLst/>
                <a:gdLst/>
                <a:ahLst/>
                <a:cxnLst/>
                <a:rect l="l" t="t" r="r" b="b"/>
                <a:pathLst>
                  <a:path w="416248" h="357612">
                    <a:moveTo>
                      <a:pt x="174348" y="19053"/>
                    </a:moveTo>
                    <a:lnTo>
                      <a:pt x="7060" y="298361"/>
                    </a:lnTo>
                    <a:cubicBezTo>
                      <a:pt x="43" y="310514"/>
                      <a:pt x="0" y="325478"/>
                      <a:pt x="6948" y="337670"/>
                    </a:cubicBezTo>
                    <a:cubicBezTo>
                      <a:pt x="13896" y="349863"/>
                      <a:pt x="26791" y="357454"/>
                      <a:pt x="40823" y="357612"/>
                    </a:cubicBezTo>
                    <a:lnTo>
                      <a:pt x="375440" y="357612"/>
                    </a:lnTo>
                    <a:cubicBezTo>
                      <a:pt x="389466" y="357450"/>
                      <a:pt x="402355" y="349862"/>
                      <a:pt x="409301" y="337676"/>
                    </a:cubicBezTo>
                    <a:cubicBezTo>
                      <a:pt x="416248" y="325489"/>
                      <a:pt x="416210" y="310533"/>
                      <a:pt x="409203" y="298382"/>
                    </a:cubicBezTo>
                    <a:lnTo>
                      <a:pt x="241916" y="19032"/>
                    </a:lnTo>
                    <a:cubicBezTo>
                      <a:pt x="234757" y="7217"/>
                      <a:pt x="221946" y="0"/>
                      <a:pt x="208132" y="0"/>
                    </a:cubicBezTo>
                    <a:cubicBezTo>
                      <a:pt x="194317" y="0"/>
                      <a:pt x="181507" y="7217"/>
                      <a:pt x="174348" y="19032"/>
                    </a:cubicBez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591550" y="41783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8998458" y="3874770"/>
              <a:ext cx="28919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D85C45"/>
                  </a:solidFill>
                  <a:latin typeface="+mj-lt"/>
                  <a:ea typeface="+mj-ea"/>
                  <a:cs typeface="+mj-cs"/>
                </a:rPr>
                <a:t>骨架与动画：关闭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35518" y="44319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物体类型中不选骨架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35518" y="4774882"/>
              <a:ext cx="22602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最下方“动画”取消勾选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324850" y="5219700"/>
              <a:ext cx="3105150" cy="228600"/>
            </a:xfrm>
            <a:prstGeom prst="roundRect">
              <a:avLst>
                <a:gd name="adj" fmla="val 50000"/>
              </a:avLst>
            </a:prstGeom>
            <a:solidFill>
              <a:srgbClr val="FFF0D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900399" y="5253514"/>
              <a:ext cx="19540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避免无关 Clip 与 Action</a:t>
              </a:r>
            </a:p>
          </p:txBody>
        </p:sp>
      </p:grpSp>
      <p:sp>
        <p:nvSpPr>
          <p:cNvPr id="70" name="Line 70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564642" y="6521768"/>
            <a:ext cx="22885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Blender → Unity · 几何数据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7</a:t>
            </a:fld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0079483" cy="973074"/>
            <a:chOff x="552450" y="346710"/>
            <a:chExt cx="10079483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007948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把正确设置保存成 Unity_静态模型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预设减少重复劳动，但每次仍要复核与当前选择有关的选项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52650" y="1466850"/>
            <a:ext cx="7886700" cy="1104900"/>
            <a:chOff x="2152650" y="1466850"/>
            <a:chExt cx="7886700" cy="1104900"/>
          </a:xfrm>
        </p:grpSpPr>
        <p:sp>
          <p:nvSpPr>
            <p:cNvPr id="5" name="Rectangle 5"/>
            <p:cNvSpPr/>
            <p:nvPr/>
          </p:nvSpPr>
          <p:spPr>
            <a:xfrm>
              <a:off x="2152650" y="1466850"/>
              <a:ext cx="7886700" cy="1104900"/>
            </a:xfrm>
            <a:prstGeom prst="roundRect">
              <a:avLst>
                <a:gd name="adj" fmla="val 22414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2499384" y="1794534"/>
              <a:ext cx="449532" cy="449532"/>
              <a:chOff x="2499384" y="1794534"/>
              <a:chExt cx="449532" cy="44953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2499384" y="1794534"/>
                <a:ext cx="449532" cy="449532"/>
              </a:xfrm>
              <a:custGeom>
                <a:avLst/>
                <a:gdLst/>
                <a:ahLst/>
                <a:cxnLst/>
                <a:rect l="l" t="t" r="r" b="b"/>
                <a:pathLst>
                  <a:path w="449532" h="449532">
                    <a:moveTo>
                      <a:pt x="184880" y="41815"/>
                    </a:moveTo>
                    <a:cubicBezTo>
                      <a:pt x="195024" y="0"/>
                      <a:pt x="254508" y="0"/>
                      <a:pt x="264652" y="41815"/>
                    </a:cubicBezTo>
                    <a:cubicBezTo>
                      <a:pt x="267739" y="54556"/>
                      <a:pt x="276726" y="65056"/>
                      <a:pt x="288837" y="70074"/>
                    </a:cubicBezTo>
                    <a:cubicBezTo>
                      <a:pt x="300949" y="75092"/>
                      <a:pt x="314728" y="74024"/>
                      <a:pt x="325922" y="67199"/>
                    </a:cubicBezTo>
                    <a:cubicBezTo>
                      <a:pt x="362664" y="44815"/>
                      <a:pt x="404741" y="86868"/>
                      <a:pt x="382357" y="123634"/>
                    </a:cubicBezTo>
                    <a:cubicBezTo>
                      <a:pt x="375542" y="134823"/>
                      <a:pt x="374477" y="148592"/>
                      <a:pt x="379489" y="160696"/>
                    </a:cubicBezTo>
                    <a:cubicBezTo>
                      <a:pt x="384500" y="172800"/>
                      <a:pt x="394988" y="181785"/>
                      <a:pt x="407718" y="184880"/>
                    </a:cubicBezTo>
                    <a:cubicBezTo>
                      <a:pt x="449532" y="195024"/>
                      <a:pt x="449532" y="254508"/>
                      <a:pt x="407718" y="264652"/>
                    </a:cubicBezTo>
                    <a:cubicBezTo>
                      <a:pt x="394977" y="267739"/>
                      <a:pt x="384476" y="276726"/>
                      <a:pt x="379458" y="288837"/>
                    </a:cubicBezTo>
                    <a:cubicBezTo>
                      <a:pt x="374440" y="300949"/>
                      <a:pt x="375509" y="314728"/>
                      <a:pt x="382334" y="325922"/>
                    </a:cubicBezTo>
                    <a:cubicBezTo>
                      <a:pt x="404717" y="362664"/>
                      <a:pt x="362664" y="404741"/>
                      <a:pt x="325898" y="382357"/>
                    </a:cubicBezTo>
                    <a:cubicBezTo>
                      <a:pt x="314709" y="375542"/>
                      <a:pt x="300940" y="374477"/>
                      <a:pt x="288837" y="379489"/>
                    </a:cubicBezTo>
                    <a:cubicBezTo>
                      <a:pt x="276733" y="384500"/>
                      <a:pt x="267748" y="394988"/>
                      <a:pt x="264652" y="407718"/>
                    </a:cubicBezTo>
                    <a:cubicBezTo>
                      <a:pt x="254508" y="449532"/>
                      <a:pt x="195024" y="449532"/>
                      <a:pt x="184880" y="407718"/>
                    </a:cubicBezTo>
                    <a:cubicBezTo>
                      <a:pt x="181793" y="394977"/>
                      <a:pt x="172807" y="384476"/>
                      <a:pt x="160695" y="379458"/>
                    </a:cubicBezTo>
                    <a:cubicBezTo>
                      <a:pt x="148584" y="374440"/>
                      <a:pt x="134804" y="375509"/>
                      <a:pt x="123611" y="382334"/>
                    </a:cubicBezTo>
                    <a:cubicBezTo>
                      <a:pt x="86868" y="404717"/>
                      <a:pt x="44791" y="362664"/>
                      <a:pt x="67175" y="325898"/>
                    </a:cubicBezTo>
                    <a:cubicBezTo>
                      <a:pt x="73990" y="314709"/>
                      <a:pt x="75056" y="300940"/>
                      <a:pt x="70044" y="288837"/>
                    </a:cubicBezTo>
                    <a:cubicBezTo>
                      <a:pt x="65032" y="276733"/>
                      <a:pt x="54544" y="267748"/>
                      <a:pt x="41815" y="264652"/>
                    </a:cubicBezTo>
                    <a:cubicBezTo>
                      <a:pt x="0" y="254508"/>
                      <a:pt x="0" y="195024"/>
                      <a:pt x="41815" y="184880"/>
                    </a:cubicBezTo>
                    <a:cubicBezTo>
                      <a:pt x="54556" y="181793"/>
                      <a:pt x="65056" y="172807"/>
                      <a:pt x="70074" y="160695"/>
                    </a:cubicBezTo>
                    <a:cubicBezTo>
                      <a:pt x="75092" y="148584"/>
                      <a:pt x="74024" y="134804"/>
                      <a:pt x="67199" y="123611"/>
                    </a:cubicBezTo>
                    <a:cubicBezTo>
                      <a:pt x="44815" y="86868"/>
                      <a:pt x="86868" y="44791"/>
                      <a:pt x="123635" y="67175"/>
                    </a:cubicBezTo>
                    <a:cubicBezTo>
                      <a:pt x="147447" y="81653"/>
                      <a:pt x="178308" y="68842"/>
                      <a:pt x="184880" y="41815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2652712" y="19478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3208782" y="16973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操作项预设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048250" y="1695450"/>
              <a:ext cx="3429000" cy="64770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541191" y="1855470"/>
              <a:ext cx="24431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Unity_静态模型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129712" y="1828800"/>
              <a:ext cx="357188" cy="404812"/>
              <a:chOff x="9129712" y="1828800"/>
              <a:chExt cx="357188" cy="40481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129712" y="1828800"/>
                <a:ext cx="285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81000">
                    <a:moveTo>
                      <a:pt x="109895" y="381000"/>
                    </a:moveTo>
                    <a:lnTo>
                      <a:pt x="47625" y="381000"/>
                    </a:lnTo>
                    <a:cubicBezTo>
                      <a:pt x="21322" y="381000"/>
                      <a:pt x="0" y="359678"/>
                      <a:pt x="0" y="33337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238125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344025" y="2138362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224962" y="19240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224962" y="20193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</p:grpSp>
      <p:grpSp>
        <p:nvGrpSpPr>
          <p:cNvPr id="64" name="Group 64"/>
          <p:cNvGrpSpPr/>
          <p:nvPr/>
        </p:nvGrpSpPr>
        <p:grpSpPr>
          <a:xfrm>
            <a:off x="571500" y="3143250"/>
            <a:ext cx="10953750" cy="2686050"/>
            <a:chOff x="571500" y="3143250"/>
            <a:chExt cx="10953750" cy="2686050"/>
          </a:xfrm>
        </p:grpSpPr>
        <p:sp>
          <p:nvSpPr>
            <p:cNvPr id="18" name="Freeform 18"/>
            <p:cNvSpPr/>
            <p:nvPr/>
          </p:nvSpPr>
          <p:spPr>
            <a:xfrm>
              <a:off x="1571625" y="3467100"/>
              <a:ext cx="9048750" cy="9525"/>
            </a:xfrm>
            <a:custGeom>
              <a:avLst/>
              <a:gdLst/>
              <a:ahLst/>
              <a:cxnLst/>
              <a:rect l="l" t="t" r="r" b="b"/>
              <a:pathLst>
                <a:path w="9048750" h="9525">
                  <a:moveTo>
                    <a:pt x="0" y="0"/>
                  </a:moveTo>
                  <a:lnTo>
                    <a:pt x="9048750" y="0"/>
                  </a:lnTo>
                </a:path>
              </a:pathLst>
            </a:custGeom>
            <a:noFill/>
            <a:ln w="47625" cap="rnd">
              <a:solidFill>
                <a:schemeClr val="accent4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71500" y="3143250"/>
              <a:ext cx="2000250" cy="2686050"/>
              <a:chOff x="571500" y="3143250"/>
              <a:chExt cx="2000250" cy="268605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247775" y="3143250"/>
                <a:ext cx="647700" cy="647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492512" y="33585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571500" y="3924300"/>
                <a:ext cx="2000250" cy="1905000"/>
              </a:xfrm>
              <a:prstGeom prst="roundRect">
                <a:avLst>
                  <a:gd name="adj" fmla="val 10000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88111" y="4062412"/>
                <a:ext cx="1367028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选中对象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27544" y="4516279"/>
                <a:ext cx="128816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零件全部多选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27544" y="4830604"/>
                <a:ext cx="128816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排除无关对象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800100" y="5353050"/>
                <a:ext cx="15430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86581" y="5405914"/>
                <a:ext cx="137008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8C5A00"/>
                    </a:solidFill>
                    <a:latin typeface="Consolas"/>
                    <a:ea typeface="Consolas"/>
                    <a:cs typeface="Consolas"/>
                  </a:rPr>
                  <a:t>Selection ready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799554" y="3143250"/>
              <a:ext cx="2020893" cy="2686050"/>
              <a:chOff x="2799554" y="3143250"/>
              <a:chExt cx="2020893" cy="268605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3486150" y="3143250"/>
                <a:ext cx="647700" cy="647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730887" y="33585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2809875" y="3924300"/>
                <a:ext cx="2000250" cy="1905000"/>
              </a:xfrm>
              <a:prstGeom prst="roundRect">
                <a:avLst>
                  <a:gd name="adj" fmla="val 10000"/>
                </a:avLst>
              </a:prstGeom>
              <a:solidFill>
                <a:srgbClr val="FFF9E9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3126486" y="4062412"/>
                <a:ext cx="1367028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套用预设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799554" y="4516279"/>
                <a:ext cx="202089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选择 Unity_静态模型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059906" y="4830604"/>
                <a:ext cx="150018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恢复统一基础值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3038475" y="5353050"/>
                <a:ext cx="15430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3201457" y="5405914"/>
                <a:ext cx="121708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8C5A00"/>
                    </a:solidFill>
                    <a:latin typeface="Consolas"/>
                    <a:ea typeface="Consolas"/>
                    <a:cs typeface="Consolas"/>
                  </a:rPr>
                  <a:t>Preset loaded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048250" y="3143250"/>
              <a:ext cx="2000250" cy="2686050"/>
              <a:chOff x="5048250" y="3143250"/>
              <a:chExt cx="2000250" cy="2686050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5724525" y="3143250"/>
                <a:ext cx="647700" cy="647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969262" y="33585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5048250" y="3924300"/>
                <a:ext cx="2000250" cy="1905000"/>
              </a:xfrm>
              <a:prstGeom prst="roundRect">
                <a:avLst>
                  <a:gd name="adj" fmla="val 10000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364861" y="4062412"/>
                <a:ext cx="1367028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复核范围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616321" y="4516279"/>
                <a:ext cx="86410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选定物体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88393" y="4830604"/>
                <a:ext cx="131996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网格 / 空物体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5276850" y="5353050"/>
                <a:ext cx="15430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417197" y="5405914"/>
                <a:ext cx="126235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Scope checked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7286625" y="3143250"/>
              <a:ext cx="2000250" cy="2686050"/>
              <a:chOff x="7286625" y="3143250"/>
              <a:chExt cx="2000250" cy="268605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7962900" y="3143250"/>
                <a:ext cx="647700" cy="647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207637" y="33585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7286625" y="3924300"/>
                <a:ext cx="2000250" cy="1905000"/>
              </a:xfrm>
              <a:prstGeom prst="roundRect">
                <a:avLst>
                  <a:gd name="adj" fmla="val 10000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603236" y="4062412"/>
                <a:ext cx="1367028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复核数据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748683" y="4516279"/>
                <a:ext cx="107613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变换与几何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520754" y="4830604"/>
                <a:ext cx="153199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骨架 / 动画关闭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7515225" y="5353050"/>
                <a:ext cx="15430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705122" y="5405914"/>
                <a:ext cx="11632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Data checked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9525000" y="3143250"/>
              <a:ext cx="2000250" cy="2686050"/>
              <a:chOff x="9525000" y="3143250"/>
              <a:chExt cx="2000250" cy="2686050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10201275" y="3143250"/>
                <a:ext cx="647700" cy="647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446012" y="33585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9525000" y="3924300"/>
                <a:ext cx="2000250" cy="1905000"/>
              </a:xfrm>
              <a:prstGeom prst="roundRect">
                <a:avLst>
                  <a:gd name="adj" fmla="val 10000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9673590" y="4062412"/>
                <a:ext cx="170307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2F8F6A"/>
                    </a:solidFill>
                    <a:latin typeface="+mj-lt"/>
                    <a:ea typeface="+mj-ea"/>
                    <a:cs typeface="+mj-cs"/>
                  </a:rPr>
                  <a:t>导出并测试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755429" y="4516279"/>
                <a:ext cx="153939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FBX + 独立贴图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809516" y="4830604"/>
                <a:ext cx="143121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在 Unity Apply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9753600" y="5353050"/>
                <a:ext cx="15430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840081" y="5405914"/>
                <a:ext cx="137008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2F8F6A"/>
                    </a:solidFill>
                    <a:latin typeface="Consolas"/>
                    <a:ea typeface="Consolas"/>
                    <a:cs typeface="Consolas"/>
                  </a:rPr>
                  <a:t>Verified export</a:t>
                </a:r>
              </a:p>
            </p:txBody>
          </p:sp>
        </p:grpSp>
      </p:grpSp>
      <p:sp>
        <p:nvSpPr>
          <p:cNvPr id="65" name="Line 65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564642" y="6521768"/>
            <a:ext cx="28388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Blender → Unity · 可复用导出动作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8</a:t>
            </a:fld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3291596" cy="973074"/>
            <a:chOff x="552450" y="346710"/>
            <a:chExt cx="13291596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329159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尺寸、法线、UV 与运行时成本逐项检查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6240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选中 Project 中的 FBX，在 Model 页签修改后点击 Apply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7225" y="1468755"/>
            <a:ext cx="6988417" cy="4739640"/>
            <a:chOff x="657225" y="1468755"/>
            <a:chExt cx="6988417" cy="4739640"/>
          </a:xfrm>
        </p:grpSpPr>
        <p:sp>
          <p:nvSpPr>
            <p:cNvPr id="5" name="Freeform 5"/>
            <p:cNvSpPr/>
            <p:nvPr/>
          </p:nvSpPr>
          <p:spPr>
            <a:xfrm>
              <a:off x="838200" y="1752600"/>
              <a:ext cx="114300" cy="4019550"/>
            </a:xfrm>
            <a:custGeom>
              <a:avLst/>
              <a:gdLst/>
              <a:ahLst/>
              <a:cxnLst/>
              <a:rect l="l" t="t" r="r" b="b"/>
              <a:pathLst>
                <a:path w="114300" h="4019550">
                  <a:moveTo>
                    <a:pt x="57150" y="0"/>
                  </a:moveTo>
                  <a:cubicBezTo>
                    <a:pt x="0" y="1238250"/>
                    <a:pt x="114300" y="3048000"/>
                    <a:pt x="57150" y="4019550"/>
                  </a:cubicBezTo>
                </a:path>
              </a:pathLst>
            </a:custGeom>
            <a:noFill/>
            <a:ln w="38100" cap="rnd">
              <a:solidFill>
                <a:schemeClr val="accent4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657225" y="1468755"/>
              <a:ext cx="6007669" cy="643890"/>
              <a:chOff x="657225" y="1468755"/>
              <a:chExt cx="6007669" cy="64389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657225" y="15144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26126" y="1658779"/>
                <a:ext cx="13844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22832" y="1468755"/>
                <a:ext cx="534206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Scale Factor = 1，Convert Units 开启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325880" y="1819275"/>
                <a:ext cx="33950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实例 Scale 为 (1,1,1) 时尺寸应正确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57225" y="2287905"/>
              <a:ext cx="5271396" cy="643890"/>
              <a:chOff x="657225" y="2287905"/>
              <a:chExt cx="5271396" cy="64389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657225" y="233362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26126" y="2477929"/>
                <a:ext cx="13844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22832" y="2287905"/>
                <a:ext cx="460578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检查朝向与 Bake Axis Conversion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325880" y="2638425"/>
                <a:ext cx="42557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横躺、反向或异常根节点旋转都说明轴向需统一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57225" y="3107055"/>
              <a:ext cx="6748743" cy="643890"/>
              <a:chOff x="657225" y="3107055"/>
              <a:chExt cx="6748743" cy="64389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57225" y="3152775"/>
                <a:ext cx="476250" cy="4762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26126" y="3297079"/>
                <a:ext cx="13844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322832" y="3107055"/>
                <a:ext cx="608313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Normals = Import，Tangents = MikkTSpace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25880" y="3457575"/>
                <a:ext cx="56586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保留 Blender 法线；法线贴图资产不能把 Tangents 设为 None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7225" y="3926205"/>
              <a:ext cx="6988417" cy="643890"/>
              <a:chOff x="657225" y="3926205"/>
              <a:chExt cx="6988417" cy="64389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657225" y="3971925"/>
                <a:ext cx="476250" cy="476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26126" y="4116229"/>
                <a:ext cx="13844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22832" y="3926205"/>
                <a:ext cx="632281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Read/Write 默认关闭，Compression 先低后高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325880" y="4276725"/>
                <a:ext cx="47253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只有脚本需要读取 Mesh 时才开；确认外观后再压缩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57225" y="4745355"/>
              <a:ext cx="5527727" cy="643890"/>
              <a:chOff x="657225" y="4745355"/>
              <a:chExt cx="5527727" cy="64389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57225" y="4791075"/>
                <a:ext cx="476250" cy="47625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26126" y="4935379"/>
                <a:ext cx="13844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322832" y="4745355"/>
                <a:ext cx="486212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Generate Colliders 只适合快速原型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325880" y="5095875"/>
                <a:ext cx="47277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正式资源用外层 Prefab 的简单 Collider 或专用低模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57225" y="5564505"/>
              <a:ext cx="5953887" cy="643890"/>
              <a:chOff x="657225" y="5564505"/>
              <a:chExt cx="5953887" cy="64389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657225" y="5610225"/>
                <a:ext cx="476250" cy="4762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26126" y="5754529"/>
                <a:ext cx="13844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6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322832" y="5564505"/>
                <a:ext cx="401631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按需 Generate Lightmap UVs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325880" y="5915025"/>
                <a:ext cx="52852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静态烘焙模型无第二套 UV 时可开，但仍要查接缝和重叠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8439150" y="1600200"/>
            <a:ext cx="3143250" cy="4097465"/>
            <a:chOff x="8439150" y="1600200"/>
            <a:chExt cx="3143250" cy="4097465"/>
          </a:xfrm>
        </p:grpSpPr>
        <p:sp>
          <p:nvSpPr>
            <p:cNvPr id="37" name="Rectangle 37"/>
            <p:cNvSpPr/>
            <p:nvPr/>
          </p:nvSpPr>
          <p:spPr>
            <a:xfrm>
              <a:off x="8439150" y="1600200"/>
              <a:ext cx="3143250" cy="400050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59368" y="1822132"/>
              <a:ext cx="25514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FBX IMPORTER / MODEL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8705850" y="2247900"/>
              <a:ext cx="2609850" cy="1352550"/>
              <a:chOff x="8705850" y="2247900"/>
              <a:chExt cx="2609850" cy="13525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705850" y="2247900"/>
                <a:ext cx="2609850" cy="1352550"/>
              </a:xfrm>
              <a:prstGeom prst="roundRect">
                <a:avLst>
                  <a:gd name="adj" fmla="val 1267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9710738" y="2547938"/>
                <a:ext cx="600075" cy="771525"/>
                <a:chOff x="9710738" y="2547938"/>
                <a:chExt cx="600075" cy="771525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10096500" y="2547938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0"/>
                      </a:moveTo>
                      <a:lnTo>
                        <a:pt x="0" y="171450"/>
                      </a:lnTo>
                      <a:cubicBezTo>
                        <a:pt x="0" y="195122"/>
                        <a:pt x="19190" y="214312"/>
                        <a:pt x="42862" y="214312"/>
                      </a:cubicBezTo>
                      <a:lnTo>
                        <a:pt x="214312" y="214312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9710738" y="2547938"/>
                  <a:ext cx="600075" cy="77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075" h="771525">
                      <a:moveTo>
                        <a:pt x="514350" y="771525"/>
                      </a:moveTo>
                      <a:lnTo>
                        <a:pt x="85725" y="771525"/>
                      </a:lnTo>
                      <a:cubicBezTo>
                        <a:pt x="38380" y="771525"/>
                        <a:pt x="0" y="733145"/>
                        <a:pt x="0" y="685800"/>
                      </a:cubicBezTo>
                      <a:lnTo>
                        <a:pt x="0" y="85725"/>
                      </a:lnTo>
                      <a:cubicBezTo>
                        <a:pt x="0" y="38380"/>
                        <a:pt x="38380" y="0"/>
                        <a:pt x="85725" y="0"/>
                      </a:cubicBezTo>
                      <a:lnTo>
                        <a:pt x="385762" y="0"/>
                      </a:lnTo>
                      <a:lnTo>
                        <a:pt x="600075" y="214312"/>
                      </a:lnTo>
                      <a:lnTo>
                        <a:pt x="600075" y="685800"/>
                      </a:lnTo>
                      <a:cubicBezTo>
                        <a:pt x="600075" y="733145"/>
                        <a:pt x="561695" y="771525"/>
                        <a:pt x="514350" y="771525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0010775" y="2933700"/>
                  <a:ext cx="171450" cy="6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64294">
                      <a:moveTo>
                        <a:pt x="0" y="64294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9839325" y="2847975"/>
                  <a:ext cx="3429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42900">
                      <a:moveTo>
                        <a:pt x="0" y="79124"/>
                      </a:moveTo>
                      <a:lnTo>
                        <a:pt x="171450" y="150019"/>
                      </a:lnTo>
                      <a:lnTo>
                        <a:pt x="171450" y="342900"/>
                      </a:lnTo>
                      <a:lnTo>
                        <a:pt x="342900" y="263776"/>
                      </a:lnTo>
                      <a:lnTo>
                        <a:pt x="342900" y="79124"/>
                      </a:lnTo>
                      <a:lnTo>
                        <a:pt x="171450" y="0"/>
                      </a:lnTo>
                      <a:lnTo>
                        <a:pt x="0" y="79124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9839325" y="2933700"/>
                  <a:ext cx="17145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57175">
                      <a:moveTo>
                        <a:pt x="0" y="0"/>
                      </a:moveTo>
                      <a:lnTo>
                        <a:pt x="0" y="180022"/>
                      </a:lnTo>
                      <a:lnTo>
                        <a:pt x="171450" y="25717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</p:grpSp>
        <p:grpSp>
          <p:nvGrpSpPr>
            <p:cNvPr id="55" name="Group 55"/>
            <p:cNvGrpSpPr/>
            <p:nvPr/>
          </p:nvGrpSpPr>
          <p:grpSpPr>
            <a:xfrm>
              <a:off x="8717280" y="3838575"/>
              <a:ext cx="2510790" cy="1436370"/>
              <a:chOff x="8717280" y="3838575"/>
              <a:chExt cx="2510790" cy="1436370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8717280" y="3838575"/>
                <a:ext cx="12596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D8D2C5"/>
                    </a:solidFill>
                    <a:latin typeface="Consolas"/>
                    <a:ea typeface="Consolas"/>
                    <a:cs typeface="Consolas"/>
                  </a:rPr>
                  <a:t>Scale Factor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1096215" y="38385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500" b="1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717280" y="4219575"/>
                <a:ext cx="78877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D8D2C5"/>
                    </a:solidFill>
                    <a:latin typeface="Consolas"/>
                    <a:ea typeface="Consolas"/>
                    <a:cs typeface="Consolas"/>
                  </a:rPr>
                  <a:t>Normals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517243" y="4219575"/>
                <a:ext cx="71082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500" b="1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Import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717280" y="4600575"/>
                <a:ext cx="91001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D8D2C5"/>
                    </a:solidFill>
                    <a:latin typeface="Consolas"/>
                    <a:ea typeface="Consolas"/>
                    <a:cs typeface="Consolas"/>
                  </a:rPr>
                  <a:t>Tangents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0037663" y="4600575"/>
                <a:ext cx="119040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500" b="1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MikkTSpace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717280" y="4981575"/>
                <a:ext cx="12522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D8D2C5"/>
                    </a:solidFill>
                    <a:latin typeface="Consolas"/>
                    <a:ea typeface="Consolas"/>
                    <a:cs typeface="Consolas"/>
                  </a:rPr>
                  <a:t>Read / Write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813180" y="4981575"/>
                <a:ext cx="41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Off</a:t>
                </a:r>
              </a:p>
            </p:txBody>
          </p:sp>
        </p:grpSp>
        <p:sp>
          <p:nvSpPr>
            <p:cNvPr id="56" name="Rectangle 56"/>
            <p:cNvSpPr/>
            <p:nvPr/>
          </p:nvSpPr>
          <p:spPr>
            <a:xfrm>
              <a:off x="9124950" y="5295900"/>
              <a:ext cx="1771650" cy="381000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707556" y="5374958"/>
              <a:ext cx="606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Apply</a:t>
              </a:r>
            </a:p>
          </p:txBody>
        </p:sp>
      </p:grpSp>
      <p:sp>
        <p:nvSpPr>
          <p:cNvPr id="59" name="Line 59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564642" y="6521768"/>
            <a:ext cx="35165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Blender → Unity · Model Import Settings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9</a:t>
            </a:fld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0635521" cy="973074"/>
            <a:chOff x="552450" y="346710"/>
            <a:chExt cx="10635521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06355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静态模型在 Unity 里也应保持“静态”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6655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Rig 与 Animation 是最容易暴露 Blender 导出遗漏的两个页签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581150"/>
            <a:ext cx="3429000" cy="3668839"/>
            <a:chOff x="571500" y="1581150"/>
            <a:chExt cx="3429000" cy="3668839"/>
          </a:xfrm>
        </p:grpSpPr>
        <p:sp>
          <p:nvSpPr>
            <p:cNvPr id="5" name="Rectangle 5"/>
            <p:cNvSpPr/>
            <p:nvPr/>
          </p:nvSpPr>
          <p:spPr>
            <a:xfrm>
              <a:off x="571500" y="1581150"/>
              <a:ext cx="3429000" cy="3638550"/>
            </a:xfrm>
            <a:prstGeom prst="roundRect">
              <a:avLst>
                <a:gd name="adj" fmla="val 7222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771650" y="1771650"/>
              <a:ext cx="1028700" cy="1028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2031265" y="2031265"/>
              <a:ext cx="509469" cy="509469"/>
              <a:chOff x="2031265" y="2031265"/>
              <a:chExt cx="509469" cy="50946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031265" y="2031265"/>
                <a:ext cx="509469" cy="509469"/>
              </a:xfrm>
              <a:custGeom>
                <a:avLst/>
                <a:gdLst/>
                <a:ahLst/>
                <a:cxnLst/>
                <a:rect l="l" t="t" r="r" b="b"/>
                <a:pathLst>
                  <a:path w="509469" h="509469">
                    <a:moveTo>
                      <a:pt x="209531" y="47390"/>
                    </a:moveTo>
                    <a:cubicBezTo>
                      <a:pt x="221027" y="0"/>
                      <a:pt x="288442" y="0"/>
                      <a:pt x="299939" y="47390"/>
                    </a:cubicBezTo>
                    <a:cubicBezTo>
                      <a:pt x="303437" y="61830"/>
                      <a:pt x="313622" y="73730"/>
                      <a:pt x="327349" y="79417"/>
                    </a:cubicBezTo>
                    <a:cubicBezTo>
                      <a:pt x="341075" y="85104"/>
                      <a:pt x="356692" y="83893"/>
                      <a:pt x="369377" y="76159"/>
                    </a:cubicBezTo>
                    <a:cubicBezTo>
                      <a:pt x="411019" y="50790"/>
                      <a:pt x="458706" y="98450"/>
                      <a:pt x="433338" y="140119"/>
                    </a:cubicBezTo>
                    <a:cubicBezTo>
                      <a:pt x="425614" y="152799"/>
                      <a:pt x="424406" y="168404"/>
                      <a:pt x="430087" y="182122"/>
                    </a:cubicBezTo>
                    <a:cubicBezTo>
                      <a:pt x="435767" y="195839"/>
                      <a:pt x="447653" y="206022"/>
                      <a:pt x="462079" y="209531"/>
                    </a:cubicBezTo>
                    <a:cubicBezTo>
                      <a:pt x="509469" y="221027"/>
                      <a:pt x="509469" y="288442"/>
                      <a:pt x="462079" y="299939"/>
                    </a:cubicBezTo>
                    <a:cubicBezTo>
                      <a:pt x="447640" y="303437"/>
                      <a:pt x="435739" y="313622"/>
                      <a:pt x="430052" y="327349"/>
                    </a:cubicBezTo>
                    <a:cubicBezTo>
                      <a:pt x="424365" y="341075"/>
                      <a:pt x="425576" y="356692"/>
                      <a:pt x="433311" y="369377"/>
                    </a:cubicBezTo>
                    <a:cubicBezTo>
                      <a:pt x="458679" y="411019"/>
                      <a:pt x="411019" y="458706"/>
                      <a:pt x="369350" y="433338"/>
                    </a:cubicBezTo>
                    <a:cubicBezTo>
                      <a:pt x="356670" y="425614"/>
                      <a:pt x="341065" y="424406"/>
                      <a:pt x="327348" y="430087"/>
                    </a:cubicBezTo>
                    <a:cubicBezTo>
                      <a:pt x="313630" y="435767"/>
                      <a:pt x="303447" y="447653"/>
                      <a:pt x="299939" y="462079"/>
                    </a:cubicBezTo>
                    <a:cubicBezTo>
                      <a:pt x="288442" y="509469"/>
                      <a:pt x="221027" y="509469"/>
                      <a:pt x="209531" y="462079"/>
                    </a:cubicBezTo>
                    <a:cubicBezTo>
                      <a:pt x="206032" y="447640"/>
                      <a:pt x="195847" y="435739"/>
                      <a:pt x="182121" y="430052"/>
                    </a:cubicBezTo>
                    <a:cubicBezTo>
                      <a:pt x="168395" y="424365"/>
                      <a:pt x="152778" y="425576"/>
                      <a:pt x="140092" y="433311"/>
                    </a:cubicBezTo>
                    <a:cubicBezTo>
                      <a:pt x="98450" y="458679"/>
                      <a:pt x="50763" y="411019"/>
                      <a:pt x="76132" y="369350"/>
                    </a:cubicBezTo>
                    <a:cubicBezTo>
                      <a:pt x="83855" y="356670"/>
                      <a:pt x="85063" y="341065"/>
                      <a:pt x="79383" y="327348"/>
                    </a:cubicBezTo>
                    <a:cubicBezTo>
                      <a:pt x="73703" y="313630"/>
                      <a:pt x="61817" y="303447"/>
                      <a:pt x="47390" y="299939"/>
                    </a:cubicBezTo>
                    <a:cubicBezTo>
                      <a:pt x="0" y="288442"/>
                      <a:pt x="0" y="221027"/>
                      <a:pt x="47390" y="209531"/>
                    </a:cubicBezTo>
                    <a:cubicBezTo>
                      <a:pt x="61830" y="206032"/>
                      <a:pt x="73730" y="195847"/>
                      <a:pt x="79417" y="182121"/>
                    </a:cubicBezTo>
                    <a:cubicBezTo>
                      <a:pt x="85104" y="168395"/>
                      <a:pt x="83893" y="152778"/>
                      <a:pt x="76159" y="140092"/>
                    </a:cubicBezTo>
                    <a:cubicBezTo>
                      <a:pt x="50790" y="98450"/>
                      <a:pt x="98450" y="50763"/>
                      <a:pt x="140119" y="76132"/>
                    </a:cubicBezTo>
                    <a:cubicBezTo>
                      <a:pt x="167106" y="92540"/>
                      <a:pt x="202082" y="78021"/>
                      <a:pt x="209531" y="4739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205037" y="2205037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2"/>
                    </a:moveTo>
                    <a:cubicBezTo>
                      <a:pt x="0" y="125677"/>
                      <a:pt x="36248" y="161925"/>
                      <a:pt x="80962" y="161925"/>
                    </a:cubicBezTo>
                    <a:cubicBezTo>
                      <a:pt x="125677" y="161925"/>
                      <a:pt x="161925" y="125677"/>
                      <a:pt x="161925" y="80962"/>
                    </a:cubicBezTo>
                    <a:cubicBezTo>
                      <a:pt x="161925" y="36248"/>
                      <a:pt x="125677" y="0"/>
                      <a:pt x="80962" y="0"/>
                    </a:cubicBezTo>
                    <a:cubicBezTo>
                      <a:pt x="36248" y="0"/>
                      <a:pt x="0" y="36248"/>
                      <a:pt x="0" y="809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015974" y="2829878"/>
              <a:ext cx="5400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Rig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9341" y="3368040"/>
              <a:ext cx="18533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Animation Type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38250" y="3790950"/>
              <a:ext cx="2095500" cy="666750"/>
            </a:xfrm>
            <a:prstGeom prst="roundRect">
              <a:avLst>
                <a:gd name="adj" fmla="val 25714"/>
              </a:avLst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46531" y="3937635"/>
              <a:ext cx="8789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None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7697" y="4641532"/>
              <a:ext cx="14966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不建立 Avatar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89126" y="49272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不解释为角色骨骼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81500" y="1581150"/>
            <a:ext cx="3429000" cy="3668839"/>
            <a:chOff x="4381500" y="1581150"/>
            <a:chExt cx="3429000" cy="3668839"/>
          </a:xfrm>
        </p:grpSpPr>
        <p:sp>
          <p:nvSpPr>
            <p:cNvPr id="17" name="Rectangle 17"/>
            <p:cNvSpPr/>
            <p:nvPr/>
          </p:nvSpPr>
          <p:spPr>
            <a:xfrm>
              <a:off x="4381500" y="1581150"/>
              <a:ext cx="3429000" cy="3638550"/>
            </a:xfrm>
            <a:prstGeom prst="roundRect">
              <a:avLst>
                <a:gd name="adj" fmla="val 7222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581650" y="1771650"/>
              <a:ext cx="1028700" cy="102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907087" y="2070100"/>
              <a:ext cx="404813" cy="458787"/>
              <a:chOff x="5907087" y="2070100"/>
              <a:chExt cx="404813" cy="45878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907087" y="2070100"/>
                <a:ext cx="323850" cy="431799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431799">
                    <a:moveTo>
                      <a:pt x="124547" y="431799"/>
                    </a:moveTo>
                    <a:lnTo>
                      <a:pt x="53975" y="431799"/>
                    </a:lnTo>
                    <a:cubicBezTo>
                      <a:pt x="24165" y="431799"/>
                      <a:pt x="0" y="407634"/>
                      <a:pt x="0" y="377825"/>
                    </a:cubicBez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269875" y="0"/>
                    </a:lnTo>
                    <a:cubicBezTo>
                      <a:pt x="299684" y="0"/>
                      <a:pt x="323850" y="24165"/>
                      <a:pt x="323850" y="53975"/>
                    </a:cubicBezTo>
                    <a:lnTo>
                      <a:pt x="323850" y="2698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149975" y="2420937"/>
                <a:ext cx="1619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07950">
                    <a:moveTo>
                      <a:pt x="0" y="53975"/>
                    </a:moveTo>
                    <a:lnTo>
                      <a:pt x="53975" y="107950"/>
                    </a:ln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015037" y="2178050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015037" y="228600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290109" y="2846070"/>
              <a:ext cx="16117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Animation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35813" y="3368040"/>
              <a:ext cx="21203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Import Animation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048250" y="3790950"/>
              <a:ext cx="2095500" cy="666750"/>
            </a:xfrm>
            <a:prstGeom prst="roundRect">
              <a:avLst>
                <a:gd name="adj" fmla="val 25714"/>
              </a:avLst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09277" y="3937635"/>
              <a:ext cx="7734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OFF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99186" y="4641532"/>
              <a:ext cx="1593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不生成无关 Clip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88064" y="49272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减少导入内容与误解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91500" y="1581150"/>
            <a:ext cx="3429000" cy="3638550"/>
            <a:chOff x="8191500" y="1581150"/>
            <a:chExt cx="3429000" cy="3638550"/>
          </a:xfrm>
        </p:grpSpPr>
        <p:sp>
          <p:nvSpPr>
            <p:cNvPr id="31" name="Rectangle 31"/>
            <p:cNvSpPr/>
            <p:nvPr/>
          </p:nvSpPr>
          <p:spPr>
            <a:xfrm>
              <a:off x="8191500" y="1581150"/>
              <a:ext cx="3429000" cy="3638550"/>
            </a:xfrm>
            <a:prstGeom prst="roundRect">
              <a:avLst>
                <a:gd name="adj" fmla="val 7222"/>
              </a:avLst>
            </a:prstGeom>
            <a:solidFill>
              <a:srgbClr val="FFFFFF"/>
            </a:solidFill>
            <a:ln w="28575">
              <a:solidFill>
                <a:srgbClr val="D85C45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9391650" y="1771650"/>
              <a:ext cx="1028700" cy="1028700"/>
            </a:xfrm>
            <a:prstGeom prst="ellipse">
              <a:avLst/>
            </a:prstGeom>
            <a:solidFill>
              <a:srgbClr val="D85C45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633828" y="2034147"/>
              <a:ext cx="544322" cy="467645"/>
              <a:chOff x="9633828" y="2034147"/>
              <a:chExt cx="544322" cy="46764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906000" y="2205037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33828" y="2034147"/>
                <a:ext cx="544322" cy="467645"/>
              </a:xfrm>
              <a:custGeom>
                <a:avLst/>
                <a:gdLst/>
                <a:ahLst/>
                <a:cxnLst/>
                <a:rect l="l" t="t" r="r" b="b"/>
                <a:pathLst>
                  <a:path w="544322" h="467645">
                    <a:moveTo>
                      <a:pt x="227993" y="24915"/>
                    </a:moveTo>
                    <a:lnTo>
                      <a:pt x="9233" y="390164"/>
                    </a:lnTo>
                    <a:cubicBezTo>
                      <a:pt x="56" y="406056"/>
                      <a:pt x="0" y="425623"/>
                      <a:pt x="9086" y="441568"/>
                    </a:cubicBezTo>
                    <a:cubicBezTo>
                      <a:pt x="18171" y="457512"/>
                      <a:pt x="35034" y="467439"/>
                      <a:pt x="53384" y="467645"/>
                    </a:cubicBezTo>
                    <a:lnTo>
                      <a:pt x="490959" y="467645"/>
                    </a:lnTo>
                    <a:cubicBezTo>
                      <a:pt x="509301" y="467433"/>
                      <a:pt x="526155" y="457510"/>
                      <a:pt x="535239" y="441575"/>
                    </a:cubicBezTo>
                    <a:cubicBezTo>
                      <a:pt x="544322" y="425639"/>
                      <a:pt x="544274" y="406081"/>
                      <a:pt x="535111" y="390191"/>
                    </a:cubicBezTo>
                    <a:lnTo>
                      <a:pt x="316350" y="24888"/>
                    </a:lnTo>
                    <a:cubicBezTo>
                      <a:pt x="306989" y="9438"/>
                      <a:pt x="290237" y="0"/>
                      <a:pt x="272172" y="0"/>
                    </a:cubicBezTo>
                    <a:cubicBezTo>
                      <a:pt x="254107" y="0"/>
                      <a:pt x="237354" y="9438"/>
                      <a:pt x="227993" y="248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906000" y="23939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7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488670" y="2829878"/>
              <a:ext cx="28346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D85C45"/>
                  </a:solidFill>
                  <a:latin typeface="+mj-lt"/>
                  <a:ea typeface="+mj-ea"/>
                  <a:cs typeface="+mj-cs"/>
                </a:rPr>
                <a:t>仍然出现 Clip？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8487" y="3433286"/>
              <a:ext cx="5051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症状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68868" y="3765232"/>
              <a:ext cx="24428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Unity 显示无关动画片段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68487" y="4195286"/>
              <a:ext cx="5051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根因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8868" y="4527232"/>
              <a:ext cx="26814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Blender 导出时动画未关闭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477250" y="4857750"/>
              <a:ext cx="2857500" cy="247650"/>
            </a:xfrm>
            <a:prstGeom prst="roundRect">
              <a:avLst>
                <a:gd name="adj" fmla="val 50000"/>
              </a:avLst>
            </a:prstGeom>
            <a:solidFill>
              <a:srgbClr val="FFF0D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00436" y="4901089"/>
              <a:ext cx="24111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回 Blender 修导出预设并重导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24050" y="5334000"/>
            <a:ext cx="7943850" cy="735139"/>
            <a:chOff x="1924050" y="5334000"/>
            <a:chExt cx="7943850" cy="735139"/>
          </a:xfrm>
        </p:grpSpPr>
        <p:sp>
          <p:nvSpPr>
            <p:cNvPr id="45" name="Freeform 45"/>
            <p:cNvSpPr/>
            <p:nvPr/>
          </p:nvSpPr>
          <p:spPr>
            <a:xfrm>
              <a:off x="1962150" y="5467350"/>
              <a:ext cx="7905750" cy="495300"/>
            </a:xfrm>
            <a:custGeom>
              <a:avLst/>
              <a:gdLst/>
              <a:ahLst/>
              <a:cxnLst/>
              <a:rect l="l" t="t" r="r" b="b"/>
              <a:pathLst>
                <a:path w="7905750" h="495300">
                  <a:moveTo>
                    <a:pt x="7905750" y="0"/>
                  </a:moveTo>
                  <a:cubicBezTo>
                    <a:pt x="6743700" y="495300"/>
                    <a:pt x="1104900" y="495300"/>
                    <a:pt x="0" y="19050"/>
                  </a:cubicBezTo>
                </a:path>
              </a:pathLst>
            </a:custGeom>
            <a:noFill/>
            <a:ln w="57150" cap="rnd">
              <a:solidFill>
                <a:schemeClr val="accent2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924050" y="5334000"/>
              <a:ext cx="228600" cy="266700"/>
            </a:xfrm>
            <a:custGeom>
              <a:avLst/>
              <a:gdLst/>
              <a:ahLst/>
              <a:cxnLst/>
              <a:rect l="l" t="t" r="r" b="b"/>
              <a:pathLst>
                <a:path w="228600" h="266700">
                  <a:moveTo>
                    <a:pt x="190500" y="0"/>
                  </a:moveTo>
                  <a:lnTo>
                    <a:pt x="0" y="152400"/>
                  </a:lnTo>
                  <a:lnTo>
                    <a:pt x="228600" y="266700"/>
                  </a:lnTo>
                </a:path>
              </a:pathLst>
            </a:custGeom>
            <a:noFill/>
            <a:ln w="57150" cap="rnd">
              <a:solidFill>
                <a:schemeClr val="accent2"/>
              </a:solidFill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054891" y="5746432"/>
              <a:ext cx="57012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导入异常优先回到源头修正，不在 Unity 里长期打补丁</a:t>
              </a:r>
            </a:p>
          </p:txBody>
        </p:sp>
      </p:grpSp>
      <p:sp>
        <p:nvSpPr>
          <p:cNvPr id="49" name="Line 49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564642" y="6521768"/>
            <a:ext cx="295811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Blender → Unity · Rig 与 Animation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10</a:t>
            </a:fld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2583668" cy="973074"/>
            <a:chOff x="552450" y="346710"/>
            <a:chExt cx="12583668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258366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程序化材质不会自动还原，贴图类型必须明确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7038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Blender 负责输出贴图，Unity 负责按当前渲染管线重新组装材质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52450" y="1600200"/>
            <a:ext cx="11010900" cy="3524250"/>
            <a:chOff x="552450" y="1600200"/>
            <a:chExt cx="11010900" cy="3524250"/>
          </a:xfrm>
        </p:grpSpPr>
        <p:grpSp>
          <p:nvGrpSpPr>
            <p:cNvPr id="19" name="Group 19"/>
            <p:cNvGrpSpPr/>
            <p:nvPr/>
          </p:nvGrpSpPr>
          <p:grpSpPr>
            <a:xfrm>
              <a:off x="552450" y="1600200"/>
              <a:ext cx="2438400" cy="3524250"/>
              <a:chOff x="552450" y="1600200"/>
              <a:chExt cx="2438400" cy="352425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1409700" y="1600200"/>
                <a:ext cx="723900" cy="723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1593056" y="1783556"/>
                <a:ext cx="357187" cy="357187"/>
                <a:chOff x="1593056" y="1783556"/>
                <a:chExt cx="357187" cy="357187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831181" y="1882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98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593056" y="1783556"/>
                  <a:ext cx="357187" cy="357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87" h="357187">
                      <a:moveTo>
                        <a:pt x="0" y="59531"/>
                      </a:moveTo>
                      <a:cubicBezTo>
                        <a:pt x="0" y="26653"/>
                        <a:pt x="26653" y="0"/>
                        <a:pt x="59531" y="0"/>
                      </a:cubicBezTo>
                      <a:lnTo>
                        <a:pt x="297656" y="0"/>
                      </a:lnTo>
                      <a:cubicBezTo>
                        <a:pt x="330534" y="0"/>
                        <a:pt x="357187" y="26653"/>
                        <a:pt x="357187" y="59531"/>
                      </a:cubicBezTo>
                      <a:lnTo>
                        <a:pt x="357187" y="297656"/>
                      </a:lnTo>
                      <a:cubicBezTo>
                        <a:pt x="357187" y="330534"/>
                        <a:pt x="330534" y="357187"/>
                        <a:pt x="297656" y="357187"/>
                      </a:cubicBezTo>
                      <a:lnTo>
                        <a:pt x="59531" y="357187"/>
                      </a:lnTo>
                      <a:cubicBezTo>
                        <a:pt x="26653" y="357187"/>
                        <a:pt x="0" y="330534"/>
                        <a:pt x="0" y="297656"/>
                      </a:cubicBezTo>
                      <a:lnTo>
                        <a:pt x="0" y="5953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593056" y="1924585"/>
                  <a:ext cx="257968" cy="116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968" h="116939">
                      <a:moveTo>
                        <a:pt x="0" y="116939"/>
                      </a:moveTo>
                      <a:lnTo>
                        <a:pt x="99219" y="17720"/>
                      </a:lnTo>
                      <a:cubicBezTo>
                        <a:pt x="117634" y="0"/>
                        <a:pt x="140335" y="0"/>
                        <a:pt x="158750" y="17720"/>
                      </a:cubicBezTo>
                      <a:lnTo>
                        <a:pt x="257968" y="11693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811337" y="1964273"/>
                  <a:ext cx="138906" cy="77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06" h="77252">
                      <a:moveTo>
                        <a:pt x="0" y="37564"/>
                      </a:moveTo>
                      <a:lnTo>
                        <a:pt x="19844" y="17720"/>
                      </a:lnTo>
                      <a:cubicBezTo>
                        <a:pt x="38259" y="0"/>
                        <a:pt x="60960" y="0"/>
                        <a:pt x="79375" y="17720"/>
                      </a:cubicBezTo>
                      <a:lnTo>
                        <a:pt x="138906" y="7725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1" name="Rectangle 11"/>
              <p:cNvSpPr/>
              <p:nvPr/>
            </p:nvSpPr>
            <p:spPr>
              <a:xfrm>
                <a:off x="552450" y="2457450"/>
                <a:ext cx="2438400" cy="2667000"/>
              </a:xfrm>
              <a:prstGeom prst="roundRect">
                <a:avLst>
                  <a:gd name="adj" fmla="val 8594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91657" y="2598420"/>
                <a:ext cx="19599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1. 独立贴图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73049" y="3125629"/>
                <a:ext cx="102506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BaseColor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73049" y="3468529"/>
                <a:ext cx="71158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Normal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3049" y="3811429"/>
                <a:ext cx="137445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Metallic / AO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73049" y="4154329"/>
                <a:ext cx="107213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Roughness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4686300"/>
                <a:ext cx="20193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64060" y="4748689"/>
                <a:ext cx="18151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不要依赖嵌入材质节点</a:t>
                </a:r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3086100" y="3790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333750" y="365760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3409950" y="1600200"/>
              <a:ext cx="2438400" cy="3524250"/>
              <a:chOff x="3409950" y="1600200"/>
              <a:chExt cx="2438400" cy="352425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4267200" y="1600200"/>
                <a:ext cx="723900" cy="72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4470400" y="1803400"/>
                <a:ext cx="317499" cy="337343"/>
                <a:chOff x="4470400" y="1803400"/>
                <a:chExt cx="317499" cy="337343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470400" y="2061368"/>
                  <a:ext cx="317499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499" h="79375">
                      <a:moveTo>
                        <a:pt x="0" y="0"/>
                      </a:moveTo>
                      <a:lnTo>
                        <a:pt x="0" y="39687"/>
                      </a:lnTo>
                      <a:cubicBezTo>
                        <a:pt x="0" y="61606"/>
                        <a:pt x="17769" y="79375"/>
                        <a:pt x="39687" y="79375"/>
                      </a:cubicBezTo>
                      <a:lnTo>
                        <a:pt x="277812" y="79375"/>
                      </a:lnTo>
                      <a:cubicBezTo>
                        <a:pt x="299731" y="79375"/>
                        <a:pt x="317499" y="61606"/>
                        <a:pt x="317499" y="39687"/>
                      </a:cubicBezTo>
                      <a:lnTo>
                        <a:pt x="317499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529931" y="1942306"/>
                  <a:ext cx="198437" cy="99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437" h="99219">
                      <a:moveTo>
                        <a:pt x="0" y="0"/>
                      </a:moveTo>
                      <a:lnTo>
                        <a:pt x="99219" y="99219"/>
                      </a:lnTo>
                      <a:lnTo>
                        <a:pt x="198437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629150" y="1803400"/>
                  <a:ext cx="9525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38125">
                      <a:moveTo>
                        <a:pt x="0" y="0"/>
                      </a:moveTo>
                      <a:lnTo>
                        <a:pt x="0" y="2381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7" name="Rectangle 27"/>
              <p:cNvSpPr/>
              <p:nvPr/>
            </p:nvSpPr>
            <p:spPr>
              <a:xfrm>
                <a:off x="3409950" y="2457450"/>
                <a:ext cx="2438400" cy="2667000"/>
              </a:xfrm>
              <a:prstGeom prst="roundRect">
                <a:avLst>
                  <a:gd name="adj" fmla="val 8594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649157" y="2598420"/>
                <a:ext cx="19599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2. 导入类型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630549" y="3125629"/>
                <a:ext cx="207410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Base Color：sRGB 开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630549" y="3468529"/>
                <a:ext cx="208522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Normal：Normal Map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630549" y="3811429"/>
                <a:ext cx="212522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Metal / AO：sRGB 关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630549" y="4154329"/>
                <a:ext cx="202185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Mask 数据：sRGB 关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619500" y="4686300"/>
                <a:ext cx="20193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811672" y="4748689"/>
                <a:ext cx="16349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颜色与数据不可混淆</a:t>
                </a:r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5943600" y="3790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191250" y="365760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267450" y="1600200"/>
              <a:ext cx="3115633" cy="3524250"/>
              <a:chOff x="6267450" y="1600200"/>
              <a:chExt cx="3115633" cy="352425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7124700" y="1600200"/>
                <a:ext cx="723900" cy="723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7308056" y="1783556"/>
                <a:ext cx="357187" cy="358194"/>
                <a:chOff x="7308056" y="1783556"/>
                <a:chExt cx="357187" cy="358194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7308056" y="1783556"/>
                  <a:ext cx="357187" cy="358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87" h="358194">
                      <a:moveTo>
                        <a:pt x="178593" y="357187"/>
                      </a:moveTo>
                      <a:cubicBezTo>
                        <a:pt x="79959" y="357187"/>
                        <a:pt x="0" y="277228"/>
                        <a:pt x="0" y="178593"/>
                      </a:cubicBezTo>
                      <a:cubicBezTo>
                        <a:pt x="0" y="79959"/>
                        <a:pt x="79959" y="0"/>
                        <a:pt x="178593" y="0"/>
                      </a:cubicBezTo>
                      <a:cubicBezTo>
                        <a:pt x="277217" y="0"/>
                        <a:pt x="357187" y="71080"/>
                        <a:pt x="357187" y="158750"/>
                      </a:cubicBezTo>
                      <a:cubicBezTo>
                        <a:pt x="357187" y="179784"/>
                        <a:pt x="347781" y="199985"/>
                        <a:pt x="331033" y="214868"/>
                      </a:cubicBezTo>
                      <a:cubicBezTo>
                        <a:pt x="314285" y="229751"/>
                        <a:pt x="291564" y="238125"/>
                        <a:pt x="267890" y="238125"/>
                      </a:cubicBezTo>
                      <a:lnTo>
                        <a:pt x="218281" y="238125"/>
                      </a:lnTo>
                      <a:cubicBezTo>
                        <a:pt x="200065" y="237831"/>
                        <a:pt x="183988" y="249978"/>
                        <a:pt x="179294" y="267581"/>
                      </a:cubicBezTo>
                      <a:cubicBezTo>
                        <a:pt x="174600" y="285184"/>
                        <a:pt x="182494" y="303723"/>
                        <a:pt x="198437" y="312539"/>
                      </a:cubicBezTo>
                      <a:cubicBezTo>
                        <a:pt x="206561" y="320035"/>
                        <a:pt x="209006" y="331873"/>
                        <a:pt x="204517" y="341974"/>
                      </a:cubicBezTo>
                      <a:cubicBezTo>
                        <a:pt x="200027" y="352075"/>
                        <a:pt x="189601" y="358194"/>
                        <a:pt x="178593" y="357187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397353" y="1912540"/>
                  <a:ext cx="39687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87" h="39687">
                      <a:moveTo>
                        <a:pt x="0" y="19844"/>
                      </a:moveTo>
                      <a:cubicBezTo>
                        <a:pt x="0" y="30803"/>
                        <a:pt x="8884" y="39687"/>
                        <a:pt x="19844" y="39687"/>
                      </a:cubicBezTo>
                      <a:cubicBezTo>
                        <a:pt x="30803" y="39687"/>
                        <a:pt x="39687" y="30803"/>
                        <a:pt x="39687" y="19844"/>
                      </a:cubicBezTo>
                      <a:cubicBezTo>
                        <a:pt x="39687" y="8884"/>
                        <a:pt x="30803" y="0"/>
                        <a:pt x="19844" y="0"/>
                      </a:cubicBezTo>
                      <a:cubicBezTo>
                        <a:pt x="8884" y="0"/>
                        <a:pt x="0" y="8884"/>
                        <a:pt x="0" y="19844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476728" y="1853009"/>
                  <a:ext cx="39687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87" h="39687">
                      <a:moveTo>
                        <a:pt x="0" y="19844"/>
                      </a:moveTo>
                      <a:cubicBezTo>
                        <a:pt x="0" y="30803"/>
                        <a:pt x="8884" y="39687"/>
                        <a:pt x="19844" y="39687"/>
                      </a:cubicBezTo>
                      <a:cubicBezTo>
                        <a:pt x="30803" y="39687"/>
                        <a:pt x="39687" y="30803"/>
                        <a:pt x="39687" y="19844"/>
                      </a:cubicBezTo>
                      <a:cubicBezTo>
                        <a:pt x="39687" y="8884"/>
                        <a:pt x="30803" y="0"/>
                        <a:pt x="19844" y="0"/>
                      </a:cubicBezTo>
                      <a:cubicBezTo>
                        <a:pt x="8884" y="0"/>
                        <a:pt x="0" y="8884"/>
                        <a:pt x="0" y="19844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556103" y="1912540"/>
                  <a:ext cx="39687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87" h="39687">
                      <a:moveTo>
                        <a:pt x="0" y="19844"/>
                      </a:moveTo>
                      <a:cubicBezTo>
                        <a:pt x="0" y="30803"/>
                        <a:pt x="8884" y="39687"/>
                        <a:pt x="19844" y="39687"/>
                      </a:cubicBezTo>
                      <a:cubicBezTo>
                        <a:pt x="30803" y="39687"/>
                        <a:pt x="39687" y="30803"/>
                        <a:pt x="39687" y="19844"/>
                      </a:cubicBezTo>
                      <a:cubicBezTo>
                        <a:pt x="39687" y="8884"/>
                        <a:pt x="30803" y="0"/>
                        <a:pt x="19844" y="0"/>
                      </a:cubicBezTo>
                      <a:cubicBezTo>
                        <a:pt x="8884" y="0"/>
                        <a:pt x="0" y="8884"/>
                        <a:pt x="0" y="19844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4" name="Rectangle 44"/>
              <p:cNvSpPr/>
              <p:nvPr/>
            </p:nvSpPr>
            <p:spPr>
              <a:xfrm>
                <a:off x="6267450" y="2457450"/>
                <a:ext cx="2438400" cy="2667000"/>
              </a:xfrm>
              <a:prstGeom prst="roundRect">
                <a:avLst>
                  <a:gd name="adj" fmla="val 8594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315657" y="2598420"/>
                <a:ext cx="23419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2F8F6A"/>
                    </a:solidFill>
                    <a:latin typeface="+mj-lt"/>
                    <a:ea typeface="+mj-ea"/>
                    <a:cs typeface="+mj-cs"/>
                  </a:rPr>
                  <a:t>3. Unity 材质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488049" y="3125629"/>
                <a:ext cx="266450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选择 URP / HDRP / Built-in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488049" y="3468529"/>
                <a:ext cx="121455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对应 Shader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488430" y="3857625"/>
                <a:ext cx="28946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D85C45"/>
                    </a:solidFill>
                    <a:latin typeface="Consolas"/>
                    <a:ea typeface="Consolas"/>
                    <a:cs typeface="Consolas"/>
                  </a:rPr>
                  <a:t>Smoothness = 1 - Roughness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488049" y="4192429"/>
                <a:ext cx="254524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通过 Remapped Materials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6477000" y="4686300"/>
                <a:ext cx="20193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759283" y="4748689"/>
                <a:ext cx="145473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材质资产独立复用</a:t>
                </a:r>
              </a:p>
            </p:txBody>
          </p:sp>
        </p:grpSp>
        <p:sp>
          <p:nvSpPr>
            <p:cNvPr id="53" name="Freeform 53"/>
            <p:cNvSpPr/>
            <p:nvPr/>
          </p:nvSpPr>
          <p:spPr>
            <a:xfrm>
              <a:off x="8801100" y="3790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048750" y="365760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9124950" y="1600200"/>
              <a:ext cx="2438400" cy="3524250"/>
              <a:chOff x="9124950" y="1600200"/>
              <a:chExt cx="2438400" cy="3524250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9982200" y="1600200"/>
                <a:ext cx="723900" cy="723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10165556" y="1783556"/>
                <a:ext cx="357187" cy="357187"/>
                <a:chOff x="10165556" y="1783556"/>
                <a:chExt cx="357187" cy="357187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10264775" y="1882775"/>
                  <a:ext cx="158750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158750">
                      <a:moveTo>
                        <a:pt x="0" y="79375"/>
                      </a:moveTo>
                      <a:cubicBezTo>
                        <a:pt x="0" y="123212"/>
                        <a:pt x="35537" y="158750"/>
                        <a:pt x="79375" y="158750"/>
                      </a:cubicBezTo>
                      <a:cubicBezTo>
                        <a:pt x="123212" y="158750"/>
                        <a:pt x="158750" y="123212"/>
                        <a:pt x="158750" y="79375"/>
                      </a:cubicBezTo>
                      <a:cubicBezTo>
                        <a:pt x="158750" y="35537"/>
                        <a:pt x="123212" y="0"/>
                        <a:pt x="79375" y="0"/>
                      </a:cubicBezTo>
                      <a:cubicBezTo>
                        <a:pt x="35537" y="0"/>
                        <a:pt x="0" y="35537"/>
                        <a:pt x="0" y="7937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10165556" y="1783556"/>
                  <a:ext cx="357187" cy="357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87" h="357187">
                      <a:moveTo>
                        <a:pt x="0" y="178593"/>
                      </a:moveTo>
                      <a:lnTo>
                        <a:pt x="19844" y="178593"/>
                      </a:lnTo>
                      <a:moveTo>
                        <a:pt x="178593" y="0"/>
                      </a:moveTo>
                      <a:lnTo>
                        <a:pt x="178593" y="19844"/>
                      </a:lnTo>
                      <a:moveTo>
                        <a:pt x="337343" y="178593"/>
                      </a:moveTo>
                      <a:lnTo>
                        <a:pt x="357187" y="178593"/>
                      </a:lnTo>
                      <a:moveTo>
                        <a:pt x="178593" y="337343"/>
                      </a:moveTo>
                      <a:lnTo>
                        <a:pt x="178593" y="357187"/>
                      </a:lnTo>
                      <a:moveTo>
                        <a:pt x="51594" y="51594"/>
                      </a:moveTo>
                      <a:lnTo>
                        <a:pt x="65484" y="65484"/>
                      </a:lnTo>
                      <a:moveTo>
                        <a:pt x="305593" y="51594"/>
                      </a:moveTo>
                      <a:lnTo>
                        <a:pt x="291703" y="65484"/>
                      </a:lnTo>
                      <a:moveTo>
                        <a:pt x="291703" y="291703"/>
                      </a:moveTo>
                      <a:lnTo>
                        <a:pt x="305593" y="305593"/>
                      </a:lnTo>
                      <a:moveTo>
                        <a:pt x="65484" y="291703"/>
                      </a:moveTo>
                      <a:lnTo>
                        <a:pt x="51594" y="30559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9" name="Rectangle 59"/>
              <p:cNvSpPr/>
              <p:nvPr/>
            </p:nvSpPr>
            <p:spPr>
              <a:xfrm>
                <a:off x="9124950" y="2457450"/>
                <a:ext cx="2438400" cy="2667000"/>
              </a:xfrm>
              <a:prstGeom prst="roundRect">
                <a:avLst>
                  <a:gd name="adj" fmla="val 8594"/>
                </a:avLst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364157" y="2598420"/>
                <a:ext cx="19599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4. 最终画面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345168" y="31365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粉红模型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45930" y="3457575"/>
                <a:ext cx="197205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Shader 与管线不兼容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345168" y="38795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白色模型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345930" y="420052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材质或贴图未映射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9334500" y="4686300"/>
                <a:ext cx="20193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9616783" y="4748689"/>
                <a:ext cx="145473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在场景灯光下验收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1695450" y="5486400"/>
            <a:ext cx="8801100" cy="533400"/>
            <a:chOff x="1695450" y="5486400"/>
            <a:chExt cx="8801100" cy="533400"/>
          </a:xfrm>
        </p:grpSpPr>
        <p:sp>
          <p:nvSpPr>
            <p:cNvPr id="69" name="Rectangle 69"/>
            <p:cNvSpPr/>
            <p:nvPr/>
          </p:nvSpPr>
          <p:spPr>
            <a:xfrm>
              <a:off x="1695450" y="5486400"/>
              <a:ext cx="8801100" cy="533400"/>
            </a:xfrm>
            <a:prstGeom prst="roundRect">
              <a:avLst>
                <a:gd name="adj" fmla="val 3214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801391" y="5643086"/>
              <a:ext cx="658921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Blender 节点图是制作环境；Unity 材质才是运行时渲染配置</a:t>
              </a:r>
            </a:p>
          </p:txBody>
        </p:sp>
      </p:grpSp>
      <p:sp>
        <p:nvSpPr>
          <p:cNvPr id="72" name="Line 72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564642" y="6521768"/>
            <a:ext cx="24719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Blender → Unity · 材质与贴图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11</a:t>
            </a:fld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9368866" cy="973074"/>
            <a:chOff x="552450" y="346710"/>
            <a:chExt cx="9368866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936886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不要直接修改 FBX 内部对象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65247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重导入会重建导入层级；游戏组件应放在稳定的外层 Prefab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1485900"/>
            <a:ext cx="7124700" cy="4305300"/>
            <a:chOff x="571500" y="1485900"/>
            <a:chExt cx="7124700" cy="4305300"/>
          </a:xfrm>
        </p:grpSpPr>
        <p:sp>
          <p:nvSpPr>
            <p:cNvPr id="5" name="Rectangle 5"/>
            <p:cNvSpPr/>
            <p:nvPr/>
          </p:nvSpPr>
          <p:spPr>
            <a:xfrm>
              <a:off x="571500" y="1485900"/>
              <a:ext cx="7124700" cy="4305300"/>
            </a:xfrm>
            <a:prstGeom prst="roundRect">
              <a:avLst>
                <a:gd name="adj" fmla="val 6195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  <a:custDash>
                <a:ds d="333333" sp="233333"/>
              </a:custDash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20750" y="1757363"/>
              <a:ext cx="371476" cy="371476"/>
              <a:chOff x="920750" y="1757363"/>
              <a:chExt cx="371476" cy="37147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20750" y="1757363"/>
                <a:ext cx="330201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371476">
                    <a:moveTo>
                      <a:pt x="165100" y="371476"/>
                    </a:moveTo>
                    <a:lnTo>
                      <a:pt x="0" y="278607"/>
                    </a:lnTo>
                    <a:lnTo>
                      <a:pt x="0" y="92869"/>
                    </a:lnTo>
                    <a:lnTo>
                      <a:pt x="165100" y="0"/>
                    </a:lnTo>
                    <a:lnTo>
                      <a:pt x="330201" y="92869"/>
                    </a:lnTo>
                    <a:lnTo>
                      <a:pt x="330201" y="18573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85850" y="1850231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92869"/>
                    </a:move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85850" y="1943100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0750" y="1850231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165100" y="9286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47763" y="2066926"/>
                <a:ext cx="144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9525">
                    <a:moveTo>
                      <a:pt x="0" y="0"/>
                    </a:moveTo>
                    <a:lnTo>
                      <a:pt x="14446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30313" y="2005013"/>
                <a:ext cx="6191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1913" h="123825">
                    <a:moveTo>
                      <a:pt x="0" y="0"/>
                    </a:moveTo>
                    <a:lnTo>
                      <a:pt x="61913" y="61913"/>
                    </a:lnTo>
                    <a:lnTo>
                      <a:pt x="0" y="1238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72946" y="1763078"/>
              <a:ext cx="34017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ObjectRoot.prefab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857250" y="2400300"/>
              <a:ext cx="3048000" cy="2914650"/>
              <a:chOff x="857250" y="2400300"/>
              <a:chExt cx="3048000" cy="29146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857250" y="2400300"/>
                <a:ext cx="3048000" cy="2914650"/>
              </a:xfrm>
              <a:prstGeom prst="roundRect">
                <a:avLst>
                  <a:gd name="adj" fmla="val 7190"/>
                </a:avLst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1150879" y="2653982"/>
                <a:ext cx="336876" cy="340748"/>
                <a:chOff x="1150879" y="2653982"/>
                <a:chExt cx="336876" cy="340748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1150879" y="2781300"/>
                  <a:ext cx="209558" cy="213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8" h="213430">
                      <a:moveTo>
                        <a:pt x="152408" y="0"/>
                      </a:moveTo>
                      <a:lnTo>
                        <a:pt x="11761" y="141313"/>
                      </a:lnTo>
                      <a:cubicBezTo>
                        <a:pt x="4233" y="148791"/>
                        <a:pt x="0" y="158963"/>
                        <a:pt x="0" y="169574"/>
                      </a:cubicBezTo>
                      <a:cubicBezTo>
                        <a:pt x="0" y="180184"/>
                        <a:pt x="4233" y="190356"/>
                        <a:pt x="11761" y="197834"/>
                      </a:cubicBezTo>
                      <a:cubicBezTo>
                        <a:pt x="27441" y="213430"/>
                        <a:pt x="52774" y="213430"/>
                        <a:pt x="68454" y="197834"/>
                      </a:cubicBezTo>
                      <a:lnTo>
                        <a:pt x="209558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252168" y="2653982"/>
                  <a:ext cx="235587" cy="2355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87" h="235587">
                      <a:moveTo>
                        <a:pt x="178887" y="228150"/>
                      </a:moveTo>
                      <a:lnTo>
                        <a:pt x="228150" y="178887"/>
                      </a:lnTo>
                      <a:cubicBezTo>
                        <a:pt x="235587" y="171448"/>
                        <a:pt x="235587" y="159389"/>
                        <a:pt x="228150" y="151950"/>
                      </a:cubicBezTo>
                      <a:lnTo>
                        <a:pt x="83637" y="7437"/>
                      </a:lnTo>
                      <a:cubicBezTo>
                        <a:pt x="76198" y="0"/>
                        <a:pt x="64139" y="0"/>
                        <a:pt x="56700" y="7437"/>
                      </a:cubicBezTo>
                      <a:lnTo>
                        <a:pt x="7437" y="56700"/>
                      </a:lnTo>
                      <a:cubicBezTo>
                        <a:pt x="0" y="64139"/>
                        <a:pt x="0" y="76198"/>
                        <a:pt x="7437" y="83637"/>
                      </a:cubicBezTo>
                      <a:lnTo>
                        <a:pt x="151950" y="228150"/>
                      </a:lnTo>
                      <a:cubicBezTo>
                        <a:pt x="159389" y="235587"/>
                        <a:pt x="171448" y="235587"/>
                        <a:pt x="178887" y="22815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683258" y="2646045"/>
                <a:ext cx="145816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游戏能力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76706" y="3253740"/>
                <a:ext cx="95353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Collider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76706" y="3672840"/>
                <a:ext cx="1157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Rigidbody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76706" y="4091940"/>
                <a:ext cx="21331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Gameplay Scripts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76706" y="4511040"/>
                <a:ext cx="23845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交互点 / 音效 / 特效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1066800" y="4953000"/>
                <a:ext cx="26289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99423" y="4986814"/>
                <a:ext cx="216365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Unity 维护，重导入不丢失</a:t>
                </a:r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4000500" y="38481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248150" y="371475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4362450" y="2400300"/>
              <a:ext cx="3048000" cy="2914650"/>
              <a:chOff x="4362450" y="2400300"/>
              <a:chExt cx="3048000" cy="29146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362450" y="2400300"/>
                <a:ext cx="3048000" cy="2914650"/>
              </a:xfrm>
              <a:prstGeom prst="roundRect">
                <a:avLst>
                  <a:gd name="adj" fmla="val 7190"/>
                </a:avLst>
              </a:prstGeom>
              <a:solidFill>
                <a:srgbClr val="FFF9E9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4629150" y="2647950"/>
                <a:ext cx="381000" cy="342900"/>
                <a:chOff x="4629150" y="2647950"/>
                <a:chExt cx="381000" cy="3429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781550" y="26479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705350" y="27813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781550" y="29146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933950" y="29146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29150" y="29146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857750" y="27813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686300" y="285750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5715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762500" y="27241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5715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838700" y="27241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4914900" y="285750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4838700" y="285750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3810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4762500" y="285750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5188458" y="2646045"/>
                <a:ext cx="103366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Model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4686300" y="3276600"/>
                <a:ext cx="2400300" cy="1219200"/>
              </a:xfrm>
              <a:prstGeom prst="roundRect">
                <a:avLst>
                  <a:gd name="adj" fmla="val 15625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5038725" y="3609975"/>
                <a:ext cx="400050" cy="514350"/>
                <a:chOff x="5038725" y="3609975"/>
                <a:chExt cx="400050" cy="51435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5295900" y="3609975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0"/>
                      </a:moveTo>
                      <a:lnTo>
                        <a:pt x="0" y="114300"/>
                      </a:lnTo>
                      <a:cubicBezTo>
                        <a:pt x="0" y="130082"/>
                        <a:pt x="12793" y="142875"/>
                        <a:pt x="28575" y="142875"/>
                      </a:cubicBezTo>
                      <a:lnTo>
                        <a:pt x="142875" y="142875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038725" y="3609975"/>
                  <a:ext cx="400050" cy="51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514350">
                      <a:moveTo>
                        <a:pt x="342900" y="514350"/>
                      </a:moveTo>
                      <a:lnTo>
                        <a:pt x="57150" y="514350"/>
                      </a:lnTo>
                      <a:cubicBezTo>
                        <a:pt x="25587" y="514350"/>
                        <a:pt x="0" y="488763"/>
                        <a:pt x="0" y="45720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257175" y="0"/>
                      </a:lnTo>
                      <a:lnTo>
                        <a:pt x="400050" y="142875"/>
                      </a:lnTo>
                      <a:lnTo>
                        <a:pt x="400050" y="457200"/>
                      </a:lnTo>
                      <a:cubicBezTo>
                        <a:pt x="400050" y="488763"/>
                        <a:pt x="374463" y="514350"/>
                        <a:pt x="342900" y="5143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5238750" y="3867150"/>
                  <a:ext cx="114300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2862">
                      <a:moveTo>
                        <a:pt x="0" y="42862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5124450" y="381000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52749"/>
                      </a:moveTo>
                      <a:lnTo>
                        <a:pt x="114300" y="100012"/>
                      </a:lnTo>
                      <a:lnTo>
                        <a:pt x="114300" y="228600"/>
                      </a:lnTo>
                      <a:lnTo>
                        <a:pt x="228600" y="175851"/>
                      </a:lnTo>
                      <a:lnTo>
                        <a:pt x="228600" y="52749"/>
                      </a:lnTo>
                      <a:lnTo>
                        <a:pt x="114300" y="0"/>
                      </a:lnTo>
                      <a:lnTo>
                        <a:pt x="0" y="52749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5124450" y="3867150"/>
                  <a:ext cx="1143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71450">
                      <a:moveTo>
                        <a:pt x="0" y="0"/>
                      </a:moveTo>
                      <a:lnTo>
                        <a:pt x="0" y="120015"/>
                      </a:lnTo>
                      <a:lnTo>
                        <a:pt x="114300" y="1714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5763768" y="3574732"/>
                <a:ext cx="15163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Imported FBX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764149" y="3925729"/>
                <a:ext cx="142442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Mesh / 子层级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678299" y="4649629"/>
                <a:ext cx="234829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可单独调整模型局部旋转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4572000" y="4953000"/>
                <a:ext cx="26289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4798978" y="4986814"/>
                <a:ext cx="217494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Blender 重导入会更新这里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8020050" y="1581150"/>
            <a:ext cx="3600450" cy="1828800"/>
            <a:chOff x="8020050" y="1581150"/>
            <a:chExt cx="3600450" cy="1828800"/>
          </a:xfrm>
        </p:grpSpPr>
        <p:sp>
          <p:nvSpPr>
            <p:cNvPr id="57" name="Rectangle 57"/>
            <p:cNvSpPr/>
            <p:nvPr/>
          </p:nvSpPr>
          <p:spPr>
            <a:xfrm>
              <a:off x="8020050" y="1581150"/>
              <a:ext cx="3600450" cy="1828800"/>
            </a:xfrm>
            <a:prstGeom prst="roundRect">
              <a:avLst>
                <a:gd name="adj" fmla="val 12500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8308181" y="1828621"/>
              <a:ext cx="357187" cy="400387"/>
              <a:chOff x="8308181" y="1828621"/>
              <a:chExt cx="357187" cy="400387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308181" y="1828621"/>
                <a:ext cx="357187" cy="400387"/>
              </a:xfrm>
              <a:custGeom>
                <a:avLst/>
                <a:gdLst/>
                <a:ahLst/>
                <a:cxnLst/>
                <a:rect l="l" t="t" r="r" b="b"/>
                <a:pathLst>
                  <a:path w="357187" h="400387">
                    <a:moveTo>
                      <a:pt x="357187" y="279737"/>
                    </a:moveTo>
                    <a:lnTo>
                      <a:pt x="357187" y="120630"/>
                    </a:lnTo>
                    <a:cubicBezTo>
                      <a:pt x="357162" y="106536"/>
                      <a:pt x="349590" y="93534"/>
                      <a:pt x="337343" y="86558"/>
                    </a:cubicBezTo>
                    <a:lnTo>
                      <a:pt x="198437" y="7025"/>
                    </a:lnTo>
                    <a:cubicBezTo>
                      <a:pt x="186141" y="0"/>
                      <a:pt x="171046" y="0"/>
                      <a:pt x="158750" y="7025"/>
                    </a:cubicBezTo>
                    <a:lnTo>
                      <a:pt x="19844" y="86558"/>
                    </a:lnTo>
                    <a:cubicBezTo>
                      <a:pt x="7560" y="93603"/>
                      <a:pt x="0" y="106600"/>
                      <a:pt x="0" y="120650"/>
                    </a:cubicBezTo>
                    <a:lnTo>
                      <a:pt x="0" y="279757"/>
                    </a:lnTo>
                    <a:cubicBezTo>
                      <a:pt x="0" y="293826"/>
                      <a:pt x="7560" y="306804"/>
                      <a:pt x="19844" y="313828"/>
                    </a:cubicBezTo>
                    <a:lnTo>
                      <a:pt x="158750" y="393362"/>
                    </a:lnTo>
                    <a:cubicBezTo>
                      <a:pt x="171046" y="400387"/>
                      <a:pt x="186141" y="400387"/>
                      <a:pt x="198437" y="393362"/>
                    </a:cubicBezTo>
                    <a:lnTo>
                      <a:pt x="337343" y="313828"/>
                    </a:lnTo>
                    <a:cubicBezTo>
                      <a:pt x="349626" y="306784"/>
                      <a:pt x="357187" y="293786"/>
                      <a:pt x="357187" y="279737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486775" y="2028825"/>
                <a:ext cx="9525" cy="1984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8437">
                    <a:moveTo>
                      <a:pt x="0" y="198437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486775" y="1928812"/>
                <a:ext cx="17323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3236" h="100012">
                    <a:moveTo>
                      <a:pt x="0" y="100012"/>
                    </a:moveTo>
                    <a:lnTo>
                      <a:pt x="173236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13539" y="1928812"/>
                <a:ext cx="17323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3236" h="100012">
                    <a:moveTo>
                      <a:pt x="0" y="0"/>
                    </a:moveTo>
                    <a:lnTo>
                      <a:pt x="173236" y="100012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8883396" y="1829752"/>
              <a:ext cx="23416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Blender 负责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58937" y="2385536"/>
              <a:ext cx="263229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Mesh · 层级 · 轴心 · UV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58937" y="2766536"/>
              <a:ext cx="264160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尺寸 · 法线 · 修改器结果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60461" y="3122771"/>
              <a:ext cx="22339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输出稳定、可重现的 FBX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020050" y="3638550"/>
            <a:ext cx="3600450" cy="2152650"/>
            <a:chOff x="8020050" y="3638550"/>
            <a:chExt cx="3600450" cy="2152650"/>
          </a:xfrm>
        </p:grpSpPr>
        <p:sp>
          <p:nvSpPr>
            <p:cNvPr id="68" name="Rectangle 68"/>
            <p:cNvSpPr/>
            <p:nvPr/>
          </p:nvSpPr>
          <p:spPr>
            <a:xfrm>
              <a:off x="8020050" y="3638550"/>
              <a:ext cx="3600450" cy="2152650"/>
            </a:xfrm>
            <a:prstGeom prst="roundRect">
              <a:avLst>
                <a:gd name="adj" fmla="val 10619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8316389" y="3913914"/>
              <a:ext cx="350912" cy="354946"/>
              <a:chOff x="8316389" y="3913914"/>
              <a:chExt cx="350912" cy="35494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316389" y="4046537"/>
                <a:ext cx="218289" cy="222323"/>
              </a:xfrm>
              <a:custGeom>
                <a:avLst/>
                <a:gdLst/>
                <a:ahLst/>
                <a:cxnLst/>
                <a:rect l="l" t="t" r="r" b="b"/>
                <a:pathLst>
                  <a:path w="218289" h="222323">
                    <a:moveTo>
                      <a:pt x="158758" y="0"/>
                    </a:moveTo>
                    <a:lnTo>
                      <a:pt x="12251" y="147201"/>
                    </a:lnTo>
                    <a:cubicBezTo>
                      <a:pt x="4410" y="154990"/>
                      <a:pt x="0" y="165586"/>
                      <a:pt x="0" y="176639"/>
                    </a:cubicBezTo>
                    <a:cubicBezTo>
                      <a:pt x="0" y="187692"/>
                      <a:pt x="4410" y="198288"/>
                      <a:pt x="12251" y="206077"/>
                    </a:cubicBezTo>
                    <a:cubicBezTo>
                      <a:pt x="28584" y="222323"/>
                      <a:pt x="54973" y="222323"/>
                      <a:pt x="71306" y="206077"/>
                    </a:cubicBezTo>
                    <a:lnTo>
                      <a:pt x="218289" y="59531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421898" y="3913914"/>
                <a:ext cx="245403" cy="245403"/>
              </a:xfrm>
              <a:custGeom>
                <a:avLst/>
                <a:gdLst/>
                <a:ahLst/>
                <a:cxnLst/>
                <a:rect l="l" t="t" r="r" b="b"/>
                <a:pathLst>
                  <a:path w="245403" h="245403">
                    <a:moveTo>
                      <a:pt x="186340" y="237656"/>
                    </a:moveTo>
                    <a:lnTo>
                      <a:pt x="237656" y="186340"/>
                    </a:lnTo>
                    <a:cubicBezTo>
                      <a:pt x="245403" y="178591"/>
                      <a:pt x="245403" y="166030"/>
                      <a:pt x="237656" y="158281"/>
                    </a:cubicBezTo>
                    <a:lnTo>
                      <a:pt x="87122" y="7747"/>
                    </a:lnTo>
                    <a:cubicBezTo>
                      <a:pt x="79373" y="0"/>
                      <a:pt x="66811" y="0"/>
                      <a:pt x="59062" y="7747"/>
                    </a:cubicBezTo>
                    <a:lnTo>
                      <a:pt x="7747" y="59062"/>
                    </a:lnTo>
                    <a:cubicBezTo>
                      <a:pt x="0" y="66811"/>
                      <a:pt x="0" y="79373"/>
                      <a:pt x="7747" y="87122"/>
                    </a:cubicBezTo>
                    <a:lnTo>
                      <a:pt x="158281" y="237656"/>
                    </a:lnTo>
                    <a:cubicBezTo>
                      <a:pt x="166030" y="245403"/>
                      <a:pt x="178591" y="245403"/>
                      <a:pt x="186340" y="237656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8883396" y="3887152"/>
              <a:ext cx="19323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Unity 负责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58937" y="4442936"/>
              <a:ext cx="207551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材质映射 · Collider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58937" y="4823936"/>
              <a:ext cx="28368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Rigidbody · 脚本 · Prefab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58937" y="5204936"/>
              <a:ext cx="23397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场景测试与运行时行为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267700" y="5524500"/>
              <a:ext cx="3105150" cy="1905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899169" y="5529739"/>
              <a:ext cx="18422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职责分离 = 重导入安全</a:t>
              </a:r>
            </a:p>
          </p:txBody>
        </p:sp>
      </p:grpSp>
      <p:sp>
        <p:nvSpPr>
          <p:cNvPr id="79" name="Line 79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564642" y="6521768"/>
            <a:ext cx="25820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Blender → Unity · 外层 Prefab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12</a:t>
            </a:fld>
          </a:p>
        </p:txBody>
      </p: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5476318" cy="819150"/>
            <a:chOff x="552450" y="346710"/>
            <a:chExt cx="15476318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54763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最终验收：Scale=1、朝向正确、材质正常、碰撞可用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71500" y="933450"/>
              <a:ext cx="5619750" cy="133350"/>
            </a:xfrm>
            <a:custGeom>
              <a:avLst/>
              <a:gdLst/>
              <a:ahLst/>
              <a:cxnLst/>
              <a:rect l="l" t="t" r="r" b="b"/>
              <a:pathLst>
                <a:path w="5619750" h="133350">
                  <a:moveTo>
                    <a:pt x="0" y="76200"/>
                  </a:moveTo>
                  <a:cubicBezTo>
                    <a:pt x="1809750" y="0"/>
                    <a:pt x="3524250" y="133350"/>
                    <a:pt x="5619750" y="19050"/>
                  </a:cubicBezTo>
                </a:path>
              </a:pathLst>
            </a:custGeom>
            <a:noFill/>
            <a:ln w="66675" cap="rnd">
              <a:solidFill>
                <a:schemeClr val="accent2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809750" y="1352550"/>
            <a:ext cx="8572500" cy="1123950"/>
            <a:chOff x="1809750" y="1352550"/>
            <a:chExt cx="8572500" cy="1123950"/>
          </a:xfrm>
        </p:grpSpPr>
        <p:sp>
          <p:nvSpPr>
            <p:cNvPr id="5" name="Rectangle 5"/>
            <p:cNvSpPr/>
            <p:nvPr/>
          </p:nvSpPr>
          <p:spPr>
            <a:xfrm>
              <a:off x="1809750" y="1352550"/>
              <a:ext cx="8572500" cy="1123950"/>
            </a:xfrm>
            <a:prstGeom prst="roundRect">
              <a:avLst>
                <a:gd name="adj" fmla="val 23729"/>
              </a:avLst>
            </a:prstGeom>
            <a:solidFill>
              <a:srgbClr val="E8F5F0"/>
            </a:solidFill>
            <a:ln w="38100">
              <a:solidFill>
                <a:schemeClr val="accent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2133600" y="1514475"/>
              <a:ext cx="800100" cy="80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383631" y="1743075"/>
              <a:ext cx="321469" cy="364331"/>
              <a:chOff x="2383631" y="1743075"/>
              <a:chExt cx="321469" cy="3643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383631" y="1743075"/>
                <a:ext cx="2571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342900">
                    <a:moveTo>
                      <a:pt x="98905" y="342900"/>
                    </a:moveTo>
                    <a:lnTo>
                      <a:pt x="42862" y="342900"/>
                    </a:lnTo>
                    <a:cubicBezTo>
                      <a:pt x="19190" y="342900"/>
                      <a:pt x="0" y="323710"/>
                      <a:pt x="0" y="300038"/>
                    </a:cubicBez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21431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576512" y="2021681"/>
                <a:ext cx="128588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85725">
                    <a:moveTo>
                      <a:pt x="0" y="42862"/>
                    </a:moveTo>
                    <a:lnTo>
                      <a:pt x="42862" y="85725"/>
                    </a:lnTo>
                    <a:lnTo>
                      <a:pt x="1285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469356" y="18288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469356" y="1914525"/>
                <a:ext cx="428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9525">
                    <a:moveTo>
                      <a:pt x="0" y="0"/>
                    </a:moveTo>
                    <a:lnTo>
                      <a:pt x="42862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3167634" y="1537335"/>
              <a:ext cx="651976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资产交付完成，不是“能导入”就结束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72587" y="2004536"/>
              <a:ext cx="651967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必须在实际场景中验证尺寸、方向、渲染、碰撞和重导入安全性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86149" y="3105150"/>
            <a:ext cx="10920051" cy="2819400"/>
            <a:chOff x="586149" y="3105150"/>
            <a:chExt cx="10920051" cy="2819400"/>
          </a:xfrm>
        </p:grpSpPr>
        <p:sp>
          <p:nvSpPr>
            <p:cNvPr id="15" name="Freeform 15"/>
            <p:cNvSpPr/>
            <p:nvPr/>
          </p:nvSpPr>
          <p:spPr>
            <a:xfrm>
              <a:off x="1619250" y="3429000"/>
              <a:ext cx="8953500" cy="9525"/>
            </a:xfrm>
            <a:custGeom>
              <a:avLst/>
              <a:gdLst/>
              <a:ahLst/>
              <a:cxnLst/>
              <a:rect l="l" t="t" r="r" b="b"/>
              <a:pathLst>
                <a:path w="8953500" h="9525">
                  <a:moveTo>
                    <a:pt x="0" y="0"/>
                  </a:moveTo>
                  <a:lnTo>
                    <a:pt x="8953500" y="0"/>
                  </a:lnTo>
                </a:path>
              </a:pathLst>
            </a:custGeom>
            <a:noFill/>
            <a:ln w="47625" cap="rnd">
              <a:solidFill>
                <a:schemeClr val="accent4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86149" y="3105150"/>
              <a:ext cx="2066201" cy="2819400"/>
              <a:chOff x="586149" y="3105150"/>
              <a:chExt cx="2066201" cy="28194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1295400" y="3105150"/>
                <a:ext cx="647700" cy="647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540137" y="33204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647700" y="3886200"/>
                <a:ext cx="1943100" cy="2038350"/>
              </a:xfrm>
              <a:prstGeom prst="roundRect">
                <a:avLst>
                  <a:gd name="adj" fmla="val 9804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1376362" y="4147323"/>
                <a:ext cx="485774" cy="544526"/>
                <a:chOff x="1376362" y="4147323"/>
                <a:chExt cx="485774" cy="544526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376362" y="4147323"/>
                  <a:ext cx="485774" cy="544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4" h="544526">
                      <a:moveTo>
                        <a:pt x="485774" y="380442"/>
                      </a:moveTo>
                      <a:lnTo>
                        <a:pt x="485774" y="164057"/>
                      </a:lnTo>
                      <a:cubicBezTo>
                        <a:pt x="485741" y="144888"/>
                        <a:pt x="475443" y="127207"/>
                        <a:pt x="458787" y="117719"/>
                      </a:cubicBezTo>
                      <a:lnTo>
                        <a:pt x="269875" y="9554"/>
                      </a:lnTo>
                      <a:cubicBezTo>
                        <a:pt x="253151" y="0"/>
                        <a:pt x="232623" y="0"/>
                        <a:pt x="215900" y="9554"/>
                      </a:cubicBezTo>
                      <a:lnTo>
                        <a:pt x="26987" y="117719"/>
                      </a:lnTo>
                      <a:cubicBezTo>
                        <a:pt x="10282" y="127300"/>
                        <a:pt x="0" y="144977"/>
                        <a:pt x="0" y="164084"/>
                      </a:cubicBezTo>
                      <a:lnTo>
                        <a:pt x="0" y="380469"/>
                      </a:lnTo>
                      <a:cubicBezTo>
                        <a:pt x="0" y="399603"/>
                        <a:pt x="10282" y="417253"/>
                        <a:pt x="26987" y="426807"/>
                      </a:cubicBezTo>
                      <a:lnTo>
                        <a:pt x="215900" y="534973"/>
                      </a:lnTo>
                      <a:cubicBezTo>
                        <a:pt x="232623" y="544526"/>
                        <a:pt x="253151" y="544526"/>
                        <a:pt x="269875" y="534973"/>
                      </a:cubicBezTo>
                      <a:lnTo>
                        <a:pt x="458787" y="426807"/>
                      </a:lnTo>
                      <a:cubicBezTo>
                        <a:pt x="475492" y="417226"/>
                        <a:pt x="485774" y="399549"/>
                        <a:pt x="485774" y="380442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619250" y="4419600"/>
                  <a:ext cx="9525" cy="26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9875">
                      <a:moveTo>
                        <a:pt x="0" y="269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619250" y="4283583"/>
                  <a:ext cx="235601" cy="136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601" h="136017">
                      <a:moveTo>
                        <a:pt x="0" y="136017"/>
                      </a:moveTo>
                      <a:lnTo>
                        <a:pt x="235601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383649" y="4283583"/>
                  <a:ext cx="235601" cy="136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601" h="136017">
                      <a:moveTo>
                        <a:pt x="0" y="0"/>
                      </a:moveTo>
                      <a:lnTo>
                        <a:pt x="235601" y="136017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586149" y="4786312"/>
                <a:ext cx="2066201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Blender 源头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11990" y="5229225"/>
                <a:ext cx="20145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单位 / Scale / Origin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92480" y="5514975"/>
                <a:ext cx="1653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轴向和 Mesh 正确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876550" y="3105150"/>
              <a:ext cx="1943100" cy="2819400"/>
              <a:chOff x="2876550" y="3105150"/>
              <a:chExt cx="1943100" cy="28194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3524250" y="3105150"/>
                <a:ext cx="647700" cy="647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768987" y="33204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2876550" y="3886200"/>
                <a:ext cx="1943100" cy="2038350"/>
              </a:xfrm>
              <a:prstGeom prst="roundRect">
                <a:avLst>
                  <a:gd name="adj" fmla="val 9804"/>
                </a:avLst>
              </a:prstGeom>
              <a:solidFill>
                <a:srgbClr val="FFF9E9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3659187" y="4176712"/>
                <a:ext cx="431799" cy="512762"/>
                <a:chOff x="3659187" y="4176712"/>
                <a:chExt cx="431799" cy="512762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3902075" y="4176712"/>
                  <a:ext cx="134937" cy="134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937" h="134937">
                      <a:moveTo>
                        <a:pt x="0" y="0"/>
                      </a:moveTo>
                      <a:lnTo>
                        <a:pt x="0" y="107950"/>
                      </a:lnTo>
                      <a:cubicBezTo>
                        <a:pt x="0" y="122855"/>
                        <a:pt x="12083" y="134937"/>
                        <a:pt x="26987" y="134937"/>
                      </a:cubicBezTo>
                      <a:lnTo>
                        <a:pt x="134937" y="134937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659187" y="4176712"/>
                  <a:ext cx="431799" cy="512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1799" h="512762">
                      <a:moveTo>
                        <a:pt x="175419" y="485774"/>
                      </a:moveTo>
                      <a:lnTo>
                        <a:pt x="53975" y="485774"/>
                      </a:lnTo>
                      <a:cubicBezTo>
                        <a:pt x="24165" y="485774"/>
                        <a:pt x="0" y="461609"/>
                        <a:pt x="0" y="431799"/>
                      </a:cubicBezTo>
                      <a:lnTo>
                        <a:pt x="0" y="53975"/>
                      </a:lnTo>
                      <a:cubicBezTo>
                        <a:pt x="0" y="24165"/>
                        <a:pt x="24165" y="0"/>
                        <a:pt x="53975" y="0"/>
                      </a:cubicBezTo>
                      <a:lnTo>
                        <a:pt x="242887" y="0"/>
                      </a:lnTo>
                      <a:lnTo>
                        <a:pt x="377825" y="134937"/>
                      </a:lnTo>
                      <a:lnTo>
                        <a:pt x="377825" y="269875"/>
                      </a:lnTo>
                      <a:moveTo>
                        <a:pt x="242887" y="431799"/>
                      </a:moveTo>
                      <a:lnTo>
                        <a:pt x="431799" y="431799"/>
                      </a:lnTo>
                      <a:moveTo>
                        <a:pt x="350837" y="350837"/>
                      </a:moveTo>
                      <a:lnTo>
                        <a:pt x="431799" y="431799"/>
                      </a:lnTo>
                      <a:lnTo>
                        <a:pt x="350837" y="512762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3030769" y="4786312"/>
                <a:ext cx="1634661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FBX 导出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118580" y="5229225"/>
                <a:ext cx="1459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选定对象 / 网格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992374" y="5514975"/>
                <a:ext cx="17114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-Z / Y · 动画关闭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5105400" y="3105150"/>
              <a:ext cx="1943100" cy="2819400"/>
              <a:chOff x="5105400" y="3105150"/>
              <a:chExt cx="1943100" cy="281940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5753100" y="3105150"/>
                <a:ext cx="647700" cy="647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997837" y="33204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5105400" y="3886200"/>
                <a:ext cx="1943100" cy="2038350"/>
              </a:xfrm>
              <a:prstGeom prst="roundRect">
                <a:avLst>
                  <a:gd name="adj" fmla="val 9804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5861050" y="4203700"/>
                <a:ext cx="431799" cy="458787"/>
                <a:chOff x="5861050" y="4203700"/>
                <a:chExt cx="431799" cy="458787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5861050" y="4554537"/>
                  <a:ext cx="431799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1799" h="107950">
                      <a:moveTo>
                        <a:pt x="0" y="0"/>
                      </a:moveTo>
                      <a:lnTo>
                        <a:pt x="0" y="53975"/>
                      </a:lnTo>
                      <a:cubicBezTo>
                        <a:pt x="0" y="83784"/>
                        <a:pt x="24165" y="107950"/>
                        <a:pt x="53975" y="107950"/>
                      </a:cubicBezTo>
                      <a:lnTo>
                        <a:pt x="377825" y="107950"/>
                      </a:lnTo>
                      <a:cubicBezTo>
                        <a:pt x="407634" y="107950"/>
                        <a:pt x="431799" y="83784"/>
                        <a:pt x="431799" y="53975"/>
                      </a:cubicBezTo>
                      <a:lnTo>
                        <a:pt x="431799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942012" y="4392612"/>
                  <a:ext cx="269875" cy="134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75" h="134937">
                      <a:moveTo>
                        <a:pt x="0" y="0"/>
                      </a:moveTo>
                      <a:lnTo>
                        <a:pt x="134937" y="134937"/>
                      </a:lnTo>
                      <a:lnTo>
                        <a:pt x="269875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076950" y="4203700"/>
                  <a:ext cx="952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23850">
                      <a:moveTo>
                        <a:pt x="0" y="0"/>
                      </a:moveTo>
                      <a:lnTo>
                        <a:pt x="0" y="3238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5224455" y="4786312"/>
                <a:ext cx="170499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Unity 导入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223415" y="5229225"/>
                <a:ext cx="17070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Scale 1 / Normals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243417" y="5514975"/>
                <a:ext cx="16670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Rig None / 无动画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145826" y="3105150"/>
              <a:ext cx="2319947" cy="2819400"/>
              <a:chOff x="7145826" y="3105150"/>
              <a:chExt cx="2319947" cy="281940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7981950" y="3105150"/>
                <a:ext cx="647700" cy="647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226687" y="33204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7334250" y="3886200"/>
                <a:ext cx="1943100" cy="2038350"/>
              </a:xfrm>
              <a:prstGeom prst="roundRect">
                <a:avLst>
                  <a:gd name="adj" fmla="val 9804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8062912" y="4176712"/>
                <a:ext cx="485774" cy="487144"/>
                <a:chOff x="8062912" y="4176712"/>
                <a:chExt cx="485774" cy="487144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8062912" y="4176712"/>
                  <a:ext cx="485774" cy="4871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4" h="487144">
                      <a:moveTo>
                        <a:pt x="242887" y="485774"/>
                      </a:moveTo>
                      <a:cubicBezTo>
                        <a:pt x="108744" y="485774"/>
                        <a:pt x="0" y="377030"/>
                        <a:pt x="0" y="242887"/>
                      </a:cubicBezTo>
                      <a:cubicBezTo>
                        <a:pt x="0" y="108744"/>
                        <a:pt x="108744" y="0"/>
                        <a:pt x="242887" y="0"/>
                      </a:cubicBezTo>
                      <a:cubicBezTo>
                        <a:pt x="377015" y="0"/>
                        <a:pt x="485774" y="96669"/>
                        <a:pt x="485774" y="215900"/>
                      </a:cubicBezTo>
                      <a:cubicBezTo>
                        <a:pt x="485774" y="244506"/>
                        <a:pt x="472982" y="271980"/>
                        <a:pt x="450205" y="292220"/>
                      </a:cubicBezTo>
                      <a:cubicBezTo>
                        <a:pt x="427428" y="312461"/>
                        <a:pt x="396527" y="323850"/>
                        <a:pt x="364331" y="323850"/>
                      </a:cubicBezTo>
                      <a:lnTo>
                        <a:pt x="296862" y="323850"/>
                      </a:lnTo>
                      <a:cubicBezTo>
                        <a:pt x="272088" y="323450"/>
                        <a:pt x="250224" y="339970"/>
                        <a:pt x="243840" y="363910"/>
                      </a:cubicBezTo>
                      <a:cubicBezTo>
                        <a:pt x="237456" y="387851"/>
                        <a:pt x="248191" y="413063"/>
                        <a:pt x="269875" y="425053"/>
                      </a:cubicBezTo>
                      <a:cubicBezTo>
                        <a:pt x="280923" y="435247"/>
                        <a:pt x="284248" y="451348"/>
                        <a:pt x="278143" y="465085"/>
                      </a:cubicBezTo>
                      <a:cubicBezTo>
                        <a:pt x="272037" y="478823"/>
                        <a:pt x="257858" y="487144"/>
                        <a:pt x="242887" y="485774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184356" y="4352131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7"/>
                      </a:moveTo>
                      <a:cubicBezTo>
                        <a:pt x="0" y="41892"/>
                        <a:pt x="12083" y="53975"/>
                        <a:pt x="26987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  <a:cubicBezTo>
                        <a:pt x="53975" y="12083"/>
                        <a:pt x="41892" y="0"/>
                        <a:pt x="26987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8292306" y="4271169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7"/>
                      </a:moveTo>
                      <a:cubicBezTo>
                        <a:pt x="0" y="41892"/>
                        <a:pt x="12083" y="53975"/>
                        <a:pt x="26987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  <a:cubicBezTo>
                        <a:pt x="53975" y="12083"/>
                        <a:pt x="41892" y="0"/>
                        <a:pt x="26987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8400256" y="4352131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7"/>
                      </a:moveTo>
                      <a:cubicBezTo>
                        <a:pt x="0" y="41892"/>
                        <a:pt x="12083" y="53975"/>
                        <a:pt x="26987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  <a:cubicBezTo>
                        <a:pt x="53975" y="12083"/>
                        <a:pt x="41892" y="0"/>
                        <a:pt x="26987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7145826" y="4786312"/>
                <a:ext cx="2319947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材质与 Prefab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421690" y="5229225"/>
                <a:ext cx="176822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贴图类型与 Shader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591425" y="55149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游戏组件放外层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9563100" y="3105150"/>
              <a:ext cx="1943100" cy="2819400"/>
              <a:chOff x="9563100" y="3105150"/>
              <a:chExt cx="1943100" cy="2819400"/>
            </a:xfrm>
          </p:grpSpPr>
          <p:sp>
            <p:nvSpPr>
              <p:cNvPr id="61" name="Ellipse 61"/>
              <p:cNvSpPr/>
              <p:nvPr/>
            </p:nvSpPr>
            <p:spPr>
              <a:xfrm>
                <a:off x="10210800" y="3105150"/>
                <a:ext cx="647700" cy="647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10455537" y="33204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63" name="Rectangle 63"/>
              <p:cNvSpPr/>
              <p:nvPr/>
            </p:nvSpPr>
            <p:spPr>
              <a:xfrm>
                <a:off x="9563100" y="3886200"/>
                <a:ext cx="1943100" cy="2038350"/>
              </a:xfrm>
              <a:prstGeom prst="roundRect">
                <a:avLst>
                  <a:gd name="adj" fmla="val 9804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>
                <a:off x="10318750" y="4176712"/>
                <a:ext cx="485774" cy="485775"/>
                <a:chOff x="10318750" y="4176712"/>
                <a:chExt cx="485774" cy="485775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10318750" y="4176712"/>
                  <a:ext cx="431799" cy="485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1799" h="485774">
                      <a:moveTo>
                        <a:pt x="215900" y="485774"/>
                      </a:moveTo>
                      <a:lnTo>
                        <a:pt x="0" y="364331"/>
                      </a:lnTo>
                      <a:lnTo>
                        <a:pt x="0" y="121444"/>
                      </a:lnTo>
                      <a:lnTo>
                        <a:pt x="215900" y="0"/>
                      </a:lnTo>
                      <a:lnTo>
                        <a:pt x="431799" y="121444"/>
                      </a:lnTo>
                      <a:lnTo>
                        <a:pt x="431799" y="242887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10534650" y="4298156"/>
                  <a:ext cx="215900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0" h="121444">
                      <a:moveTo>
                        <a:pt x="0" y="121444"/>
                      </a:moveTo>
                      <a:lnTo>
                        <a:pt x="2159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10534650" y="4419600"/>
                  <a:ext cx="9525" cy="2428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2887">
                      <a:moveTo>
                        <a:pt x="0" y="0"/>
                      </a:moveTo>
                      <a:lnTo>
                        <a:pt x="0" y="242887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10318750" y="4298156"/>
                  <a:ext cx="215900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0" h="121444">
                      <a:moveTo>
                        <a:pt x="215900" y="12144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10615612" y="4581524"/>
                  <a:ext cx="1889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12" h="9525">
                      <a:moveTo>
                        <a:pt x="0" y="0"/>
                      </a:moveTo>
                      <a:lnTo>
                        <a:pt x="188912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10723562" y="4500562"/>
                  <a:ext cx="80962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161925">
                      <a:moveTo>
                        <a:pt x="0" y="0"/>
                      </a:moveTo>
                      <a:lnTo>
                        <a:pt x="80962" y="80962"/>
                      </a:lnTo>
                      <a:lnTo>
                        <a:pt x="0" y="161925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9851136" y="4786312"/>
                <a:ext cx="1367028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2F8F6A"/>
                    </a:solidFill>
                    <a:latin typeface="+mj-lt"/>
                    <a:ea typeface="+mj-ea"/>
                    <a:cs typeface="+mj-cs"/>
                  </a:rPr>
                  <a:t>场景验收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9820275" y="522922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渲染与碰撞正确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921240" y="55149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可安全重导入</a:t>
                </a:r>
              </a:p>
            </p:txBody>
          </p:sp>
        </p:grpSp>
      </p:grpSp>
      <p:sp>
        <p:nvSpPr>
          <p:cNvPr id="76" name="Line 76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564642" y="6521768"/>
            <a:ext cx="28388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Blender → Unity · 快速检查与交付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AD0CD78-36C6-4707-BCB4-8AF0B012F865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13</a:t>
            </a:fld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2026-07-18T15:31:32Z</dcterms:created>
  <dcterms:modified xsi:type="dcterms:W3CDTF">2026-07-18T15:31:32Z</dcterms:modified>
  <cp:category/>
  <cp:contentStatus/>
</cp:coreProperties>
</file>